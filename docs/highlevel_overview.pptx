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1"/>
  </p:notesMasterIdLst>
  <p:sldIdLst>
    <p:sldId id="256" r:id="rId2"/>
    <p:sldId id="277" r:id="rId3"/>
    <p:sldId id="276" r:id="rId4"/>
    <p:sldId id="257" r:id="rId5"/>
    <p:sldId id="258" r:id="rId6"/>
    <p:sldId id="259" r:id="rId7"/>
    <p:sldId id="261" r:id="rId8"/>
    <p:sldId id="260" r:id="rId9"/>
    <p:sldId id="262" r:id="rId10"/>
    <p:sldId id="264" r:id="rId11"/>
    <p:sldId id="265" r:id="rId12"/>
    <p:sldId id="272" r:id="rId13"/>
    <p:sldId id="263" r:id="rId14"/>
    <p:sldId id="273" r:id="rId15"/>
    <p:sldId id="266" r:id="rId16"/>
    <p:sldId id="269" r:id="rId17"/>
    <p:sldId id="268" r:id="rId18"/>
    <p:sldId id="278" r:id="rId19"/>
    <p:sldId id="271" r:id="rId20"/>
    <p:sldId id="275" r:id="rId21"/>
    <p:sldId id="274" r:id="rId22"/>
    <p:sldId id="279" r:id="rId23"/>
    <p:sldId id="280" r:id="rId24"/>
    <p:sldId id="281" r:id="rId25"/>
    <p:sldId id="286" r:id="rId26"/>
    <p:sldId id="282" r:id="rId27"/>
    <p:sldId id="284" r:id="rId28"/>
    <p:sldId id="285" r:id="rId29"/>
    <p:sldId id="270" r:id="rId30"/>
    <p:sldId id="289" r:id="rId31"/>
    <p:sldId id="288" r:id="rId32"/>
    <p:sldId id="290" r:id="rId33"/>
    <p:sldId id="292" r:id="rId34"/>
    <p:sldId id="291" r:id="rId35"/>
    <p:sldId id="293" r:id="rId36"/>
    <p:sldId id="294" r:id="rId37"/>
    <p:sldId id="295" r:id="rId38"/>
    <p:sldId id="296" r:id="rId39"/>
    <p:sldId id="298" r:id="rId40"/>
    <p:sldId id="309" r:id="rId41"/>
    <p:sldId id="300" r:id="rId42"/>
    <p:sldId id="301" r:id="rId43"/>
    <p:sldId id="302" r:id="rId44"/>
    <p:sldId id="303" r:id="rId45"/>
    <p:sldId id="304" r:id="rId46"/>
    <p:sldId id="305" r:id="rId47"/>
    <p:sldId id="306" r:id="rId48"/>
    <p:sldId id="307" r:id="rId49"/>
    <p:sldId id="308" r:id="rId5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1F543A-8395-42F7-A33C-0245E9460DB4}" v="12" dt="2026-07-07T21:00:08.0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0"/>
  </p:normalViewPr>
  <p:slideViewPr>
    <p:cSldViewPr snapToGrid="0" snapToObjects="1">
      <p:cViewPr varScale="1">
        <p:scale>
          <a:sx n="78" d="100"/>
          <a:sy n="78" d="100"/>
        </p:scale>
        <p:origin x="13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62565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This deck covers Claude Code's two persistent-instruction systems: CLAUDE.md and Rules. We'll look at what each one is, how CLAUDE.md behaves across multiple files, recommended sizing, what to do when it grows too large, how Rules work, a direct comparison, and how each system resolves scope.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D9AEF-9654-15E0-D485-191A928E69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5B1B3C-5A41-91C3-F2B7-7DEDBB2958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6E1BAD-022D-BCB5-83B7-479E93700063}"/>
              </a:ext>
            </a:extLst>
          </p:cNvPr>
          <p:cNvSpPr>
            <a:spLocks noGrp="1"/>
          </p:cNvSpPr>
          <p:nvPr>
            <p:ph type="body" idx="1"/>
          </p:nvPr>
        </p:nvSpPr>
        <p:spPr/>
        <p:txBody>
          <a:bodyPr/>
          <a:lstStyle/>
          <a:p>
            <a:r>
              <a:rPr lang="en-US" dirty="0"/>
              <a:t>Title slide. This deck covers Claude Code's two persistent-instruction systems: CLAUDE.md and Rules. We'll look at what each one is, how CLAUDE.md behaves across multiple files, recommended sizing, what to do when it grows too large, how Rules work, a direct comparison, and how each system resolves scope.</a:t>
            </a:r>
          </a:p>
        </p:txBody>
      </p:sp>
      <p:sp>
        <p:nvSpPr>
          <p:cNvPr id="4" name="Slide Number Placeholder 3">
            <a:extLst>
              <a:ext uri="{FF2B5EF4-FFF2-40B4-BE49-F238E27FC236}">
                <a16:creationId xmlns:a16="http://schemas.microsoft.com/office/drawing/2014/main" id="{1424D15C-85A6-C8D8-EDDE-8BE5DDAACCF0}"/>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3866031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is: A markdown file that gives Claude persistent, plain-text instructions for a project, personal workflow, or entire organization. Claude reads it automatically at the start of every session — no manual re-explaining required. It lives at multiple scope levels that combine, not replace each other: managed policy, user (~/.claude/CLAUDE.md), project (CLAUDE.md), and local (CLAUDE.local.md). Best kept lean and stable — build commands, conventions, project layout, and 'always do X' facts every session needs.
When it's used: Loaded automatically at the start of every Claude Code conversation, before any prompt is sent. Files above the working directory load in full at launch; files in subdirectories load on demand when Claude reads files there. Edited directly, or via the /memory command which opens the right file for the chosen scope. Complemented by auto memory (MEMORY.md) — notes Claude writes itself about build commands, debugging insights, and preferences it learns during a session.
Recommended size: Under 200 lines per CLAUDE.md file is Anthropic's official target, stated directly in the Claude Code docs. CLAUDE.md is delivered as a user message after the system prompt, not enforced configuration — so how much competes for attention affects how reliably it's followed. Longer files consume more context tokens and measurably reduce adherence to any single instruction. CLAUDE.md files load in full regardless of length — there's no truncation — but shorter files still produce better results. This differs from auto memory's MEMORY.md, which is capped: only the first 200 lines or 25KB (whichever comes first) load at session start.
When it outgrows its budget, four moves, roughly in order of impact:
1. Move path-specific content to Rules: If an entry only matters for one part of the codebase, relocate it to a path-scoped file in .claude/rules/ — it then loads only when Claude touches matching files. This is the only move that actually reduces what's loaded by default.
2. Split into topic files and link them with @path references: For large, mature projects it's common and reasonable to break CLAUDE.md into topic files — running.md, architecture.md, testing.md, deployment.md — and pull them back in with @path syntax from the root CLAUDE.md. This is a genuinely good pattern for organization, discoverability, and reducing merge conflicts in git. My honest judgment: do this once your CLAUDE.md is hard to navigate or multiple people keep editing the same file. The important caveat, which is easy to miss: @path references do NOT reduce context usage. Imported files are expanded and loaded into context in full at session launch, exactly as if the content were pasted inline. So splitting files this way solves a maintainability and readability problem, not a context-budget problem. If your actual goal is fewer tokens loaded, Rules with path scoping is the correct tool, not @path references. Many teams reach for @path references first because it mirrors how they already think about code organization (separate files by concern), and that's a fine instinct for organization — just don't expect it to fix an adherence or token problem.
3. Move multi-step procedures to Skills: A repeatable workflow (not a standing fact) belongs in a skill, which loads on demand rather than in every session.
4. Trim what Claude already knows: If Claude discovers something correctly on its own within a session, it doesn't need a permanent line — that's what auto memory (MEMORY.md) is for.
In large monorepos, you can also exclude ancestor CLAUDE.md files that aren't relevant to your team's work using claudeMdExcludes, instead of reading through them every session.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they combine: Claude walks up the directory tree from your working directory, collecting every CLAUDE.md and CLAUDE.local.md file it finds. All discovered files are concatenated — not merged, not filtered. Nothing is dropped or overridden outright. Order: content runs from the filesystem root down to your working directory, so the file closest to where you launched Claude is read last. Within one directory, CLAUDE.local.md is appended after CLAUDE.md, so personal notes are read last at that level. Subdirectory files below your working directory are not loaded at launch — they load on demand, only when Claude reads a file in that subdirectory.
Known issues: Conflicts aren't resolved by strict precedence. Docs describe later-read files as carrying more weight, but this is a soft tendency, not a guarantee — Claude may pick either instruction. Anthropic's own team has flagged this as a documentation ambiguity: it isn't fully specified whether root-level or working-directory-level files win on conflict. In large monorepos, unrelated ancestor CLAUDE.md files from other teams get pulled in automatically and add noise. Mitigations: keep instructions non-contradictory across files, run /memory to see exactly what's loaded, and use claudeMdExcludes to skip irrelevant ancestor files.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is: A directory of separate markdown files (.claude/rules/*.md) that break a large CLAUDE.md into focused, topic-specific instructions. Every rule file loads with the same high priority as CLAUDE.md — no special configuration needed. Rules can carry YAML frontmatter with a paths field, scoping them to specific files or directories (e.g. src/api/**/*.ts). Rules without a paths field are unconditional and apply everywhere, just like CLAUDE.md.
When it's used: Unconditional rules load into context at session launch, alongside CLAUDE.md. Path-scoped rules activate only when Claude reads or works on a file matching the glob pattern — keeping unrelated context out of the way. Ideal for teams: separate files reduce merge conflicts and let each domain (frontend, API, security, testing) own its own rule file. Personal rules can also live at ~/.claude/rules/ and apply across every project.
Path-specific rules in detail: Rules can be scoped to specific files using YAML frontmatter with a paths field. These conditional rules only apply when Claude is working with files matching the specified patterns, e.g.:
---
paths:
  - "src/api/**/*.ts"
---
# API Development Rules
- All API endpoints must include input validation
Rules without a paths field are loaded unconditionally and apply to all files. Path-scoped rules trigger when Claude reads files matching the pattern, not on every tool use — so the cost of adding many scoped rules is low, since most of them stay dormant most of the time.
Glob pattern examples: **/*.ts matches all TypeScript files in any directory; src/**/* matches all files under src/; *.md matches markdown files in the project root; src/components/*.tsx matches React components in a specific directory. You can specify multiple patterns and use brace expansion to match multiple extensions in one pattern, e.g. paths: ["src/**/*.{ts,tsx}", "lib/**/*.ts", "tests/**/*.test.ts"].
Why this matters in practice: the real payoff of glob-based scoping is centralized management. Without it, keeping a consistent style guide or testing convention across a codebase means duplicating that guidance into a rules file inside every subfolder — easy to get out of sync, and painful to update later. With a single glob like paths: ["**/*.ts"], one rule file (e.g. code-style.md) applies uniformly to every matching file across the entire repo, regardless of how deeply nested it is. Anyone can find and update the single source of truth for style, testing, or security conventions instead of hunting through the tree for scattered copies. This is the same reasoning that applies to test conventions, API design standards, or security checklists — one file, one place, enforced everywhere the pattern matches.
The .claude/rules/ directory also supports symlinks, so a shared set of rules can be linked into multiple projects — both a whole shared directory and individual files can be symlinked in, and circular symlinks are detected and handled gracefully.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/init is the fastest way to set up project memory. Claude analyzes your codebase and creates a file with build commands, test instructions, and project conventions it discovers. If a CLAUDE.md already exists, /init suggests improvements rather than overwriting it — refine from there with instructions Claude wouldn't discover on its own. Setting CLAUDE_CODE_NEW_INIT=1 enables an interactive multi-phase flow: /init asks which artifacts to set up (CLAUDE.md files, skills, hooks), explores the codebase with a subagent, fills gaps via follow-up questions, and presents a reviewable proposal before writing any files. Running /init in a repo that already has an AGENTS.md reads it and incorporates relevant parts into the generated CLAUDE.md; it also reads other tool configs like .cursorrules, .devin/rules/, and .windsurfrules.
/memory lists all CLAUDE.md, CLAUDE.local.md, and rules files loaded in the current session, lets you toggle auto memory on or off, and provides a link to open the auto memory folder. Selecting any file opens it directly in your editor. This is the primary tool for verifying your CLAUDE.md and CLAUDE.local.md files are actually being loaded — if a file isn't listed, Claude can't see it, which is the first thing to check when Claude doesn't seem to be following an instruction.
You can also just ask Claude conversationally: 'remember that we always use TypeScript strict mode' saves it to auto memory, while 'add this to CLAUDE.md' or manually editing via /memory makes it a persistent instruction.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 memory lets Claude accumulate knowledge across sessions without you writing anything. Claude saves notes for itself as it works: build commands, debugging insights, architecture notes, code style preferences, and workflow habits. Claude doesn't save something every session — it decides what's worth remembering based on whether the information would be useful in a future conversation. Requires Claude Code v2.1.59 or later.
Storage: each project gets its own memory directory at ~/.claude/projects/&lt;project&gt;/memory/. The &lt;project&gt; path is derived from the git repository, so all worktrees and subdirectories within the same repo share one auto memory directory. Auto memory is machine-local — files are not shared across machines or cloud environments.
The directory contains a MEMORY.md entrypoint and optional topic files (debugging.md, api-conventions.md, etc.). MEMORY.md acts as an index; Claude reads and writes files in this directory throughout a session, using MEMORY.md to track what's stored where.
How it loads: the first 200 lines of MEMORY.md, or the first 25KB, whichever comes first, are loaded at the start of every conversation. Content beyond that threshold is not loaded at session start. This limit applies only to MEMORY.md — CLAUDE.md files are loaded in full regardless of length, though shorter files still produce better adherence. Topic files like debugging.md are not loaded at startup; Claude reads them on demand using its standard file tools when it needs the information.
Enable or disable: Auto memory is on by default. Toggle it via /memory in a session, or set autoMemoryEnabled: false in project settings, or set the CLAUDE_CODE_DISABLE_AUTO_MEMORY=1 environment variable.
When you ask Claude to remember something, like 'always use pnpm, not npm,' Claude saves it to auto memory. To add instructions to CLAUDE.md instead, ask Claude directly ('add this to CLAUDE.md') or edit the file yourself via /memory. Subagents can also maintain their own auto memory.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Comparison: CLAUDE.md is a single file with broad, always-relevant scope, loaded every session at launch — best for commands, conventions, and project overview, but gets unwieldy past ~200 lines. Rules are multiple modular files with narrow, path-specific scope, loaded at launch or on file match — best for API, testing, security, and styling conventions, and they scale cleanly with fewer merge conflicts as teams grow.
Why both are required: CLAUDE.md keeps the core, always-needed context small and stable — everything in it competes for the same high-priority attention. As a project grows, cramming every domain-specific detail into one file makes it long, harder to maintain, and easier to contradict. Rules solve this by letting deep or path-specific instructions live separately and load only when relevant.
What goes where — put it in CLAUDE.md when: it's true every single session regardless of which files Claude touches; it's a fact a new teammate would need on day one (build commands, project layout, architecture, naming conventions); Claude made the same mistake twice or a code review caught something it should have already known; it's short and stable, not a multi-step procedure or path-specific.
Put it in a Rule when: it only matters for one area of the codebase (API code, tests, a frontend package, security-sensitive files); you want it to load only when Claude actually works with matching files via paths frontmatter and glob patterns; your CLAUDE.md is approaching or past ~200 lines and this entry is a good candidate to peel off; multiple teams maintain different domains and separate rule files avoid merge conflicts a shared CLAUDE.md would cause. Rule of thumb: if it's true everywhere, it's CLAUDE.md; if it's true somewhere, it's a Rule.
How scope is resolved — CLAUDE.md: no frontmatter or targeting syntax; scope is determined entirely by where the file lives in the directory tree. Managed policy and user-level files apply everywhere, on every project. A project-root CLAUDE.md applies to that whole project, loaded in full at launch. A CLAUDE.md placed inside a subdirectory only activates when Claude reads a file inside that subdirectory.
Rules: a rule file with no paths field is unconditional, loading at launch with the same priority as CLAUDE.md. Adding YAML frontmatter with a paths field scopes it explicitly using glob patterns like src/api/**/*.ts. Path-scoped rules trigger the moment Claude reads a matching file — not on every tool call — and can combine multiple patterns with brace expansion, e.g. src/**/*.{ts,tsx}. User-level rules (~/.claude/rules/) load before project rules, so project-specific rules take priority when both exist.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9E9F3-BCF9-4E31-DD44-2E95F4BE2F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2A3001-2DC7-5F39-0AE6-A4AC5C44C6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3D3F21-FF16-C4EB-0AA3-3B03FE88634A}"/>
              </a:ext>
            </a:extLst>
          </p:cNvPr>
          <p:cNvSpPr>
            <a:spLocks noGrp="1"/>
          </p:cNvSpPr>
          <p:nvPr>
            <p:ph type="body" idx="1"/>
          </p:nvPr>
        </p:nvSpPr>
        <p:spPr/>
        <p:txBody>
          <a:bodyPr/>
          <a:lstStyle/>
          <a:p>
            <a:r>
              <a:rPr lang="en-US" dirty="0"/>
              <a:t>Title slide. This deck covers Claude Code's two persistent-instruction systems: CLAUDE.md and Rules. We'll look at what each one is, how CLAUDE.md behaves across multiple files, recommended sizing, what to do when it grows too large, how Rules work, a direct comparison, and how each system resolves scope.</a:t>
            </a:r>
          </a:p>
        </p:txBody>
      </p:sp>
      <p:sp>
        <p:nvSpPr>
          <p:cNvPr id="4" name="Slide Number Placeholder 3">
            <a:extLst>
              <a:ext uri="{FF2B5EF4-FFF2-40B4-BE49-F238E27FC236}">
                <a16:creationId xmlns:a16="http://schemas.microsoft.com/office/drawing/2014/main" id="{8A18F3D5-7E0D-07CF-A81B-28D1610CCD28}"/>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41429545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147B6-FF7F-7A2F-E56E-B9A5CCFC8F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524C21-2ACA-94B1-DC59-408F8D8232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6BD443-0865-4CCC-F3A5-860F8243EFD2}"/>
              </a:ext>
            </a:extLst>
          </p:cNvPr>
          <p:cNvSpPr>
            <a:spLocks noGrp="1"/>
          </p:cNvSpPr>
          <p:nvPr>
            <p:ph type="body" idx="1"/>
          </p:nvPr>
        </p:nvSpPr>
        <p:spPr/>
        <p:txBody>
          <a:bodyPr/>
          <a:lstStyle/>
          <a:p>
            <a:r>
              <a:rPr lang="en-US" dirty="0"/>
              <a:t>Title slide. This deck covers Claude Code's two persistent-instruction systems: CLAUDE.md and Rules. We'll look at what each one is, how CLAUDE.md behaves across multiple files, recommended sizing, what to do when it grows too large, how Rules work, a direct comparison, and how each system resolves scope.</a:t>
            </a:r>
          </a:p>
        </p:txBody>
      </p:sp>
      <p:sp>
        <p:nvSpPr>
          <p:cNvPr id="4" name="Slide Number Placeholder 3">
            <a:extLst>
              <a:ext uri="{FF2B5EF4-FFF2-40B4-BE49-F238E27FC236}">
                <a16:creationId xmlns:a16="http://schemas.microsoft.com/office/drawing/2014/main" id="{478489B5-7FE4-8706-C4FC-66691F2CA439}"/>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4523307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Example: https://github.com/DmitryLukyanov/ClaudeCodeDemo/blob/master/.claude/commands/create-command.md</a:t>
            </a:r>
          </a:p>
        </p:txBody>
      </p:sp>
    </p:spTree>
    <p:extLst>
      <p:ext uri="{BB962C8B-B14F-4D97-AF65-F5344CB8AC3E}">
        <p14:creationId xmlns:p14="http://schemas.microsoft.com/office/powerpoint/2010/main" val="28005769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0DBDF-EEE9-53E5-7522-5E5D144C0E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340A01-09FF-0A63-8BDD-1F475DF2AD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5BAB2A-815B-6698-1C8C-6E09606E23E1}"/>
              </a:ext>
            </a:extLst>
          </p:cNvPr>
          <p:cNvSpPr>
            <a:spLocks noGrp="1"/>
          </p:cNvSpPr>
          <p:nvPr>
            <p:ph type="body" idx="1"/>
          </p:nvPr>
        </p:nvSpPr>
        <p:spPr/>
        <p:txBody>
          <a:bodyPr/>
          <a:lstStyle/>
          <a:p>
            <a:r>
              <a:rPr lang="en-US" dirty="0"/>
              <a:t>Title slide. This deck covers Claude Code's two persistent-instruction systems: CLAUDE.md and Rules. We'll look at what each one is, how CLAUDE.md behaves across multiple files, recommended sizing, what to do when it grows too large, how Rules work, a direct comparison, and how each system resolves scope.</a:t>
            </a:r>
          </a:p>
        </p:txBody>
      </p:sp>
      <p:sp>
        <p:nvSpPr>
          <p:cNvPr id="4" name="Slide Number Placeholder 3">
            <a:extLst>
              <a:ext uri="{FF2B5EF4-FFF2-40B4-BE49-F238E27FC236}">
                <a16:creationId xmlns:a16="http://schemas.microsoft.com/office/drawing/2014/main" id="{0469C04B-8893-793A-CE88-09E2D6ADBF66}"/>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7851465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Example: https://github.com/DmitryLukyanov/ClaudeCodeDemo/tree/master/.claude/skills</a:t>
            </a:r>
          </a:p>
        </p:txBody>
      </p:sp>
    </p:spTree>
    <p:extLst>
      <p:ext uri="{BB962C8B-B14F-4D97-AF65-F5344CB8AC3E}">
        <p14:creationId xmlns:p14="http://schemas.microsoft.com/office/powerpoint/2010/main" val="36457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5508C-1D2B-4B95-D034-377E917DF8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DF571D-6D38-D9FC-86CC-4EAFA4FA98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1C8C25-6F9A-6C60-AD5A-0FCF2862ED42}"/>
              </a:ext>
            </a:extLst>
          </p:cNvPr>
          <p:cNvSpPr>
            <a:spLocks noGrp="1"/>
          </p:cNvSpPr>
          <p:nvPr>
            <p:ph type="body" idx="1"/>
          </p:nvPr>
        </p:nvSpPr>
        <p:spPr/>
        <p:txBody>
          <a:bodyPr/>
          <a:lstStyle/>
          <a:p>
            <a:r>
              <a:rPr lang="en-US" dirty="0"/>
              <a:t>Title slide. This deck covers Claude Code's two persistent-instruction systems: CLAUDE.md and Rules. We'll look at what each one is, how CLAUDE.md behaves across multiple files, recommended sizing, what to do when it grows too large, how Rules work, a direct comparison, and how each system resolves scope.</a:t>
            </a:r>
          </a:p>
        </p:txBody>
      </p:sp>
      <p:sp>
        <p:nvSpPr>
          <p:cNvPr id="4" name="Slide Number Placeholder 3">
            <a:extLst>
              <a:ext uri="{FF2B5EF4-FFF2-40B4-BE49-F238E27FC236}">
                <a16:creationId xmlns:a16="http://schemas.microsoft.com/office/drawing/2014/main" id="{30228C51-45B2-18A6-B51F-D1E81F76D6B4}"/>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192874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Examples: https://github.com/DmitryLukyanov/ClaudeCodeDemo/tree/master/.claude/agents</a:t>
            </a:r>
          </a:p>
        </p:txBody>
      </p:sp>
    </p:spTree>
    <p:extLst>
      <p:ext uri="{BB962C8B-B14F-4D97-AF65-F5344CB8AC3E}">
        <p14:creationId xmlns:p14="http://schemas.microsoft.com/office/powerpoint/2010/main" val="26258415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C5418-A0CF-6A84-980A-DE2BA1EECC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EA419A-F1D9-349D-1615-B905E341B5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6D72B0-B47E-019C-B36F-7FA912BE38B8}"/>
              </a:ext>
            </a:extLst>
          </p:cNvPr>
          <p:cNvSpPr>
            <a:spLocks noGrp="1"/>
          </p:cNvSpPr>
          <p:nvPr>
            <p:ph type="body" idx="1"/>
          </p:nvPr>
        </p:nvSpPr>
        <p:spPr/>
        <p:txBody>
          <a:bodyPr/>
          <a:lstStyle/>
          <a:p>
            <a:r>
              <a:rPr lang="en-US" dirty="0"/>
              <a:t>Title slide. This deck covers Claude Code's two persistent-instruction systems: CLAUDE.md and Rules. We'll look at what each one is, how CLAUDE.md behaves across multiple files, recommended sizing, what to do when it grows too large, how Rules work, a direct comparison, and how each system resolves scope.</a:t>
            </a:r>
          </a:p>
        </p:txBody>
      </p:sp>
      <p:sp>
        <p:nvSpPr>
          <p:cNvPr id="4" name="Slide Number Placeholder 3">
            <a:extLst>
              <a:ext uri="{FF2B5EF4-FFF2-40B4-BE49-F238E27FC236}">
                <a16:creationId xmlns:a16="http://schemas.microsoft.com/office/drawing/2014/main" id="{C5FC6798-9922-9F7D-81C2-B7E0EB843E1A}"/>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8160502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Examples: https://github.com/DmitryLukyanov/ClaudeCodeDemo/tree/master/.claude/hooks</a:t>
            </a:r>
          </a:p>
        </p:txBody>
      </p:sp>
    </p:spTree>
    <p:extLst>
      <p:ext uri="{BB962C8B-B14F-4D97-AF65-F5344CB8AC3E}">
        <p14:creationId xmlns:p14="http://schemas.microsoft.com/office/powerpoint/2010/main" val="22624173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5F3F9-D71F-D4BD-F525-E1633DDC80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BD6974-E49F-4D26-CEF4-78C6C77496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6E2F61-214F-1AFD-1BB7-AA666AFB5B6B}"/>
              </a:ext>
            </a:extLst>
          </p:cNvPr>
          <p:cNvSpPr>
            <a:spLocks noGrp="1"/>
          </p:cNvSpPr>
          <p:nvPr>
            <p:ph type="body" idx="1"/>
          </p:nvPr>
        </p:nvSpPr>
        <p:spPr/>
        <p:txBody>
          <a:bodyPr/>
          <a:lstStyle/>
          <a:p>
            <a:r>
              <a:rPr lang="en-US" dirty="0"/>
              <a:t>Title slide. This deck covers Claude Code's two persistent-instruction systems: CLAUDE.md and Rules. We'll look at what each one is, how CLAUDE.md behaves across multiple files, recommended sizing, what to do when it grows too large, how Rules work, a direct comparison, and how each system resolves scope.</a:t>
            </a:r>
          </a:p>
        </p:txBody>
      </p:sp>
      <p:sp>
        <p:nvSpPr>
          <p:cNvPr id="4" name="Slide Number Placeholder 3">
            <a:extLst>
              <a:ext uri="{FF2B5EF4-FFF2-40B4-BE49-F238E27FC236}">
                <a16:creationId xmlns:a16="http://schemas.microsoft.com/office/drawing/2014/main" id="{849DBA70-CCED-C742-3601-7B80C8826247}"/>
              </a:ext>
            </a:extLst>
          </p:cNvPr>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7584766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E2315-9F8C-8CC3-EB5C-8580476B0E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FA73C3-7FE6-0873-0923-F09A29521B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BD9859-5D6B-8D13-7365-DBD971C34016}"/>
              </a:ext>
            </a:extLst>
          </p:cNvPr>
          <p:cNvSpPr>
            <a:spLocks noGrp="1"/>
          </p:cNvSpPr>
          <p:nvPr>
            <p:ph type="body" idx="1"/>
          </p:nvPr>
        </p:nvSpPr>
        <p:spPr/>
        <p:txBody>
          <a:bodyPr/>
          <a:lstStyle/>
          <a:p>
            <a:r>
              <a:rPr lang="en-US" dirty="0"/>
              <a:t>Title slide. This deck covers Claude Code's two persistent-instruction systems: CLAUDE.md and Rules. We'll look at what each one is, how CLAUDE.md behaves across multiple files, recommended sizing, what to do when it grows too large, how Rules work, a direct comparison, and how each system resolves scope.</a:t>
            </a:r>
          </a:p>
        </p:txBody>
      </p:sp>
      <p:sp>
        <p:nvSpPr>
          <p:cNvPr id="4" name="Slide Number Placeholder 3">
            <a:extLst>
              <a:ext uri="{FF2B5EF4-FFF2-40B4-BE49-F238E27FC236}">
                <a16:creationId xmlns:a16="http://schemas.microsoft.com/office/drawing/2014/main" id="{F259503A-711C-907D-2FC7-2024D1A7A71A}"/>
              </a:ext>
            </a:extLst>
          </p:cNvPr>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298110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1DC50-F1AF-E915-ECA1-BF170FA5D2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F82BB8-3425-3D6E-91B2-EA12F08D36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41BA09-AA31-A0E6-3181-76A391E43E15}"/>
              </a:ext>
            </a:extLst>
          </p:cNvPr>
          <p:cNvSpPr>
            <a:spLocks noGrp="1"/>
          </p:cNvSpPr>
          <p:nvPr>
            <p:ph type="body" idx="1"/>
          </p:nvPr>
        </p:nvSpPr>
        <p:spPr/>
        <p:txBody>
          <a:bodyPr/>
          <a:lstStyle/>
          <a:p>
            <a:r>
              <a:rPr lang="en-US" dirty="0"/>
              <a:t>Title slide. This deck covers Claude Code's two persistent-instruction systems: CLAUDE.md and Rules. We'll look at what each one is, how CLAUDE.md behaves across multiple files, recommended sizing, what to do when it grows too large, how Rules work, a direct comparison, and how each system resolves scope.</a:t>
            </a:r>
          </a:p>
        </p:txBody>
      </p:sp>
      <p:sp>
        <p:nvSpPr>
          <p:cNvPr id="4" name="Slide Number Placeholder 3">
            <a:extLst>
              <a:ext uri="{FF2B5EF4-FFF2-40B4-BE49-F238E27FC236}">
                <a16:creationId xmlns:a16="http://schemas.microsoft.com/office/drawing/2014/main" id="{7C94227E-A105-9AFD-BCB4-0BF27B44F1D0}"/>
              </a:ext>
            </a:extLst>
          </p:cNvPr>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35117132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https://github.com/DmitryLukyanov/ClaudeCodeDemo/blob/master/scripts/run-reverse-engineer.py</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hyperlink" Target="https://code.claude.com/docs/en/sub-agents#available-tools" TargetMode="Externa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413"/>
        </a:solidFill>
        <a:effectLst/>
      </p:bgPr>
    </p:bg>
    <p:spTree>
      <p:nvGrpSpPr>
        <p:cNvPr id="1" name=""/>
        <p:cNvGrpSpPr/>
        <p:nvPr/>
      </p:nvGrpSpPr>
      <p:grpSpPr>
        <a:xfrm>
          <a:off x="0" y="0"/>
          <a:ext cx="0" cy="0"/>
          <a:chOff x="0" y="0"/>
          <a:chExt cx="0" cy="0"/>
        </a:xfrm>
      </p:grpSpPr>
      <p:sp>
        <p:nvSpPr>
          <p:cNvPr id="2" name="Text 0"/>
          <p:cNvSpPr/>
          <p:nvPr/>
        </p:nvSpPr>
        <p:spPr>
          <a:xfrm>
            <a:off x="457200" y="320040"/>
            <a:ext cx="1371600" cy="1371600"/>
          </a:xfrm>
          <a:prstGeom prst="rect">
            <a:avLst/>
          </a:prstGeom>
          <a:noFill/>
          <a:ln/>
        </p:spPr>
        <p:txBody>
          <a:bodyPr wrap="square" rtlCol="0" anchor="ctr"/>
          <a:lstStyle/>
          <a:p>
            <a:pPr marL="0" indent="0">
              <a:buNone/>
            </a:pPr>
            <a:r>
              <a:rPr lang="en-US" sz="9000" b="1" dirty="0">
                <a:solidFill>
                  <a:srgbClr val="232220"/>
                </a:solidFill>
                <a:latin typeface="Poppins" pitchFamily="34" charset="0"/>
                <a:ea typeface="Poppins" pitchFamily="34" charset="-122"/>
                <a:cs typeface="Poppins" pitchFamily="34" charset="-120"/>
              </a:rPr>
              <a:t>{</a:t>
            </a:r>
            <a:endParaRPr lang="en-US" sz="9000" dirty="0"/>
          </a:p>
        </p:txBody>
      </p:sp>
      <p:sp>
        <p:nvSpPr>
          <p:cNvPr id="3" name="Text 1"/>
          <p:cNvSpPr/>
          <p:nvPr/>
        </p:nvSpPr>
        <p:spPr>
          <a:xfrm>
            <a:off x="10424160" y="5120640"/>
            <a:ext cx="1371600" cy="1371600"/>
          </a:xfrm>
          <a:prstGeom prst="rect">
            <a:avLst/>
          </a:prstGeom>
          <a:noFill/>
          <a:ln/>
        </p:spPr>
        <p:txBody>
          <a:bodyPr wrap="square" rtlCol="0" anchor="ctr"/>
          <a:lstStyle/>
          <a:p>
            <a:pPr marL="0" indent="0" algn="r">
              <a:buNone/>
            </a:pPr>
            <a:r>
              <a:rPr lang="en-US" sz="9000" b="1" dirty="0">
                <a:solidFill>
                  <a:srgbClr val="232220"/>
                </a:solidFill>
                <a:latin typeface="Poppins" pitchFamily="34" charset="0"/>
                <a:ea typeface="Poppins" pitchFamily="34" charset="-122"/>
                <a:cs typeface="Poppins" pitchFamily="34" charset="-120"/>
              </a:rPr>
              <a:t>}</a:t>
            </a:r>
            <a:endParaRPr lang="en-US" sz="9000" dirty="0"/>
          </a:p>
        </p:txBody>
      </p:sp>
      <p:sp>
        <p:nvSpPr>
          <p:cNvPr id="4" name="Text 2"/>
          <p:cNvSpPr/>
          <p:nvPr/>
        </p:nvSpPr>
        <p:spPr>
          <a:xfrm>
            <a:off x="822960" y="1965960"/>
            <a:ext cx="7315200" cy="365760"/>
          </a:xfrm>
          <a:prstGeom prst="rect">
            <a:avLst/>
          </a:prstGeom>
          <a:noFill/>
          <a:ln/>
        </p:spPr>
        <p:txBody>
          <a:bodyPr wrap="square" rtlCol="0" anchor="ctr"/>
          <a:lstStyle/>
          <a:p>
            <a:pPr marL="0" indent="0">
              <a:buNone/>
            </a:pPr>
            <a:r>
              <a:rPr lang="en-US" sz="1300" b="1" kern="0" spc="300" dirty="0">
                <a:solidFill>
                  <a:srgbClr val="D97757"/>
                </a:solidFill>
                <a:latin typeface="Poppins" pitchFamily="34" charset="0"/>
                <a:ea typeface="Poppins" pitchFamily="34" charset="-122"/>
                <a:cs typeface="Poppins" pitchFamily="34" charset="-120"/>
              </a:rPr>
              <a:t>ANTHROPIC</a:t>
            </a:r>
            <a:endParaRPr lang="en-US" sz="1300" dirty="0"/>
          </a:p>
        </p:txBody>
      </p:sp>
      <p:sp>
        <p:nvSpPr>
          <p:cNvPr id="5" name="Text 3"/>
          <p:cNvSpPr/>
          <p:nvPr/>
        </p:nvSpPr>
        <p:spPr>
          <a:xfrm>
            <a:off x="822960" y="2331720"/>
            <a:ext cx="10515600" cy="1188720"/>
          </a:xfrm>
          <a:prstGeom prst="rect">
            <a:avLst/>
          </a:prstGeom>
          <a:noFill/>
          <a:ln/>
        </p:spPr>
        <p:txBody>
          <a:bodyPr wrap="square" lIns="0" tIns="0" rIns="0" bIns="0" rtlCol="0" anchor="ctr"/>
          <a:lstStyle/>
          <a:p>
            <a:pPr marL="0" indent="0">
              <a:buNone/>
            </a:pPr>
            <a:r>
              <a:rPr lang="en-US" sz="4400" b="1" dirty="0">
                <a:solidFill>
                  <a:srgbClr val="FAF9F5"/>
                </a:solidFill>
                <a:latin typeface="Poppins" pitchFamily="34" charset="0"/>
                <a:ea typeface="Poppins" pitchFamily="34" charset="-122"/>
                <a:cs typeface="Poppins" pitchFamily="34" charset="-120"/>
              </a:rPr>
              <a:t>Claude Code in Use</a:t>
            </a:r>
            <a:endParaRPr lang="en-US" sz="4400" dirty="0"/>
          </a:p>
        </p:txBody>
      </p:sp>
      <p:sp>
        <p:nvSpPr>
          <p:cNvPr id="6" name="Text 4"/>
          <p:cNvSpPr/>
          <p:nvPr/>
        </p:nvSpPr>
        <p:spPr>
          <a:xfrm>
            <a:off x="822960" y="3474720"/>
            <a:ext cx="8686800" cy="731520"/>
          </a:xfrm>
          <a:prstGeom prst="rect">
            <a:avLst/>
          </a:prstGeom>
          <a:noFill/>
          <a:ln/>
        </p:spPr>
        <p:txBody>
          <a:bodyPr wrap="square" rtlCol="0" anchor="ctr"/>
          <a:lstStyle/>
          <a:p>
            <a:pPr marL="0" indent="0">
              <a:buNone/>
            </a:pPr>
            <a:r>
              <a:rPr lang="en-US" sz="1500" dirty="0">
                <a:solidFill>
                  <a:srgbClr val="C9C7BC"/>
                </a:solidFill>
                <a:latin typeface="Lora" pitchFamily="34" charset="0"/>
                <a:ea typeface="Lora" pitchFamily="34" charset="-122"/>
                <a:cs typeface="Lora" pitchFamily="34" charset="-120"/>
              </a:rPr>
              <a:t>A closer look</a:t>
            </a:r>
            <a:endParaRPr lang="en-US" sz="1500" dirty="0"/>
          </a:p>
        </p:txBody>
      </p:sp>
      <p:sp>
        <p:nvSpPr>
          <p:cNvPr id="7" name="Shape 5"/>
          <p:cNvSpPr/>
          <p:nvPr/>
        </p:nvSpPr>
        <p:spPr>
          <a:xfrm>
            <a:off x="822960" y="4343400"/>
            <a:ext cx="82296" cy="82296"/>
          </a:xfrm>
          <a:prstGeom prst="ellipse">
            <a:avLst/>
          </a:prstGeom>
          <a:solidFill>
            <a:srgbClr val="D97757"/>
          </a:solidFill>
          <a:ln/>
        </p:spPr>
        <p:txBody>
          <a:bodyPr/>
          <a:lstStyle/>
          <a:p>
            <a:endParaRPr lang="en-US"/>
          </a:p>
        </p:txBody>
      </p:sp>
      <p:sp>
        <p:nvSpPr>
          <p:cNvPr id="8" name="Shape 6"/>
          <p:cNvSpPr/>
          <p:nvPr/>
        </p:nvSpPr>
        <p:spPr>
          <a:xfrm>
            <a:off x="1005840" y="4343400"/>
            <a:ext cx="82296" cy="82296"/>
          </a:xfrm>
          <a:prstGeom prst="ellipse">
            <a:avLst/>
          </a:prstGeom>
          <a:solidFill>
            <a:srgbClr val="6A9BCC"/>
          </a:solidFill>
          <a:ln/>
        </p:spPr>
        <p:txBody>
          <a:bodyPr/>
          <a:lstStyle/>
          <a:p>
            <a:endParaRPr lang="en-US"/>
          </a:p>
        </p:txBody>
      </p:sp>
      <p:sp>
        <p:nvSpPr>
          <p:cNvPr id="9" name="Shape 7"/>
          <p:cNvSpPr/>
          <p:nvPr/>
        </p:nvSpPr>
        <p:spPr>
          <a:xfrm>
            <a:off x="1188720" y="4343400"/>
            <a:ext cx="82296" cy="82296"/>
          </a:xfrm>
          <a:prstGeom prst="ellipse">
            <a:avLst/>
          </a:prstGeom>
          <a:solidFill>
            <a:srgbClr val="788C5D"/>
          </a:solidFill>
          <a:ln/>
        </p:spPr>
        <p:txBody>
          <a:bodyPr/>
          <a:lstStyle/>
          <a:p>
            <a:endParaRPr lang="en-US"/>
          </a:p>
        </p:txBody>
      </p:sp>
      <p:sp>
        <p:nvSpPr>
          <p:cNvPr id="10" name="Text 8"/>
          <p:cNvSpPr/>
          <p:nvPr/>
        </p:nvSpPr>
        <p:spPr>
          <a:xfrm>
            <a:off x="822960" y="6263640"/>
            <a:ext cx="7315200" cy="274320"/>
          </a:xfrm>
          <a:prstGeom prst="rect">
            <a:avLst/>
          </a:prstGeom>
          <a:noFill/>
          <a:ln/>
        </p:spPr>
        <p:txBody>
          <a:bodyPr wrap="square" rtlCol="0" anchor="ctr"/>
          <a:lstStyle/>
          <a:p>
            <a:pPr marL="0" indent="0">
              <a:buNone/>
            </a:pPr>
            <a:r>
              <a:rPr lang="en-US" sz="1100" dirty="0">
                <a:solidFill>
                  <a:srgbClr val="B0AEA5"/>
                </a:solidFill>
                <a:latin typeface="Lora" pitchFamily="34" charset="0"/>
                <a:ea typeface="Lora" pitchFamily="34" charset="-122"/>
                <a:cs typeface="Lora" pitchFamily="34" charset="-120"/>
              </a:rPr>
              <a:t>Prepared Overview  •  Claude Code Memory Systems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41413"/>
        </a:solidFill>
        <a:effectLst/>
      </p:bgPr>
    </p:bg>
    <p:spTree>
      <p:nvGrpSpPr>
        <p:cNvPr id="1" name="">
          <a:extLst>
            <a:ext uri="{FF2B5EF4-FFF2-40B4-BE49-F238E27FC236}">
              <a16:creationId xmlns:a16="http://schemas.microsoft.com/office/drawing/2014/main" id="{CE4BA77E-18B3-ADBF-6527-9835F469734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DDECBA5-E475-599D-C615-B1E86CA70C09}"/>
              </a:ext>
            </a:extLst>
          </p:cNvPr>
          <p:cNvSpPr/>
          <p:nvPr/>
        </p:nvSpPr>
        <p:spPr>
          <a:xfrm>
            <a:off x="457200" y="320040"/>
            <a:ext cx="1371600" cy="1371600"/>
          </a:xfrm>
          <a:prstGeom prst="rect">
            <a:avLst/>
          </a:prstGeom>
          <a:noFill/>
          <a:ln/>
        </p:spPr>
        <p:txBody>
          <a:bodyPr wrap="square" rtlCol="0" anchor="ctr"/>
          <a:lstStyle/>
          <a:p>
            <a:pPr marL="0" indent="0">
              <a:buNone/>
            </a:pPr>
            <a:r>
              <a:rPr lang="en-US" sz="9000" b="1" dirty="0">
                <a:solidFill>
                  <a:srgbClr val="232220"/>
                </a:solidFill>
                <a:latin typeface="Poppins" pitchFamily="34" charset="0"/>
                <a:ea typeface="Poppins" pitchFamily="34" charset="-122"/>
                <a:cs typeface="Poppins" pitchFamily="34" charset="-120"/>
              </a:rPr>
              <a:t>{</a:t>
            </a:r>
            <a:endParaRPr lang="en-US" sz="9000" dirty="0"/>
          </a:p>
        </p:txBody>
      </p:sp>
      <p:sp>
        <p:nvSpPr>
          <p:cNvPr id="3" name="Text 1">
            <a:extLst>
              <a:ext uri="{FF2B5EF4-FFF2-40B4-BE49-F238E27FC236}">
                <a16:creationId xmlns:a16="http://schemas.microsoft.com/office/drawing/2014/main" id="{C8ACF905-C2F8-5FF2-4A67-5340BD7DED90}"/>
              </a:ext>
            </a:extLst>
          </p:cNvPr>
          <p:cNvSpPr/>
          <p:nvPr/>
        </p:nvSpPr>
        <p:spPr>
          <a:xfrm>
            <a:off x="10424160" y="5120640"/>
            <a:ext cx="1371600" cy="1371600"/>
          </a:xfrm>
          <a:prstGeom prst="rect">
            <a:avLst/>
          </a:prstGeom>
          <a:noFill/>
          <a:ln/>
        </p:spPr>
        <p:txBody>
          <a:bodyPr wrap="square" rtlCol="0" anchor="ctr"/>
          <a:lstStyle/>
          <a:p>
            <a:pPr marL="0" indent="0" algn="r">
              <a:buNone/>
            </a:pPr>
            <a:r>
              <a:rPr lang="en-US" sz="9000" b="1" dirty="0">
                <a:solidFill>
                  <a:srgbClr val="232220"/>
                </a:solidFill>
                <a:latin typeface="Poppins" pitchFamily="34" charset="0"/>
                <a:ea typeface="Poppins" pitchFamily="34" charset="-122"/>
                <a:cs typeface="Poppins" pitchFamily="34" charset="-120"/>
              </a:rPr>
              <a:t>}</a:t>
            </a:r>
            <a:endParaRPr lang="en-US" sz="9000" dirty="0"/>
          </a:p>
        </p:txBody>
      </p:sp>
      <p:sp>
        <p:nvSpPr>
          <p:cNvPr id="5" name="Text 3">
            <a:extLst>
              <a:ext uri="{FF2B5EF4-FFF2-40B4-BE49-F238E27FC236}">
                <a16:creationId xmlns:a16="http://schemas.microsoft.com/office/drawing/2014/main" id="{0AA4DDCF-1CBA-9AEB-68A3-0A747C091CEF}"/>
              </a:ext>
            </a:extLst>
          </p:cNvPr>
          <p:cNvSpPr/>
          <p:nvPr/>
        </p:nvSpPr>
        <p:spPr>
          <a:xfrm>
            <a:off x="822960" y="2331720"/>
            <a:ext cx="10515600" cy="1188720"/>
          </a:xfrm>
          <a:prstGeom prst="rect">
            <a:avLst/>
          </a:prstGeom>
          <a:noFill/>
          <a:ln/>
        </p:spPr>
        <p:txBody>
          <a:bodyPr wrap="square" lIns="0" tIns="0" rIns="0" bIns="0" rtlCol="0" anchor="ctr"/>
          <a:lstStyle/>
          <a:p>
            <a:pPr marL="0" indent="0">
              <a:buNone/>
            </a:pPr>
            <a:r>
              <a:rPr lang="en-US" sz="4400" b="1" dirty="0">
                <a:solidFill>
                  <a:srgbClr val="FAF9F5"/>
                </a:solidFill>
                <a:latin typeface="Poppins" pitchFamily="34" charset="0"/>
                <a:ea typeface="Poppins" pitchFamily="34" charset="-122"/>
                <a:cs typeface="Poppins" pitchFamily="34" charset="-120"/>
              </a:rPr>
              <a:t>Overview</a:t>
            </a:r>
            <a:endParaRPr lang="en-US" sz="4400" dirty="0"/>
          </a:p>
        </p:txBody>
      </p:sp>
    </p:spTree>
    <p:extLst>
      <p:ext uri="{BB962C8B-B14F-4D97-AF65-F5344CB8AC3E}">
        <p14:creationId xmlns:p14="http://schemas.microsoft.com/office/powerpoint/2010/main" val="32134217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0096414-3DCC-8677-AF51-8479A9B0FEEB}"/>
              </a:ext>
            </a:extLst>
          </p:cNvPr>
          <p:cNvSpPr/>
          <p:nvPr/>
        </p:nvSpPr>
        <p:spPr>
          <a:xfrm>
            <a:off x="457200" y="320040"/>
            <a:ext cx="8229600" cy="54864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Permission Modes</a:t>
            </a:r>
            <a:endParaRPr lang="en-US" sz="3200" dirty="0"/>
          </a:p>
        </p:txBody>
      </p:sp>
      <p:sp>
        <p:nvSpPr>
          <p:cNvPr id="3" name="Text 1">
            <a:extLst>
              <a:ext uri="{FF2B5EF4-FFF2-40B4-BE49-F238E27FC236}">
                <a16:creationId xmlns:a16="http://schemas.microsoft.com/office/drawing/2014/main" id="{4DE197CD-4C61-718A-30E7-DAD2E6273A85}"/>
              </a:ext>
            </a:extLst>
          </p:cNvPr>
          <p:cNvSpPr/>
          <p:nvPr/>
        </p:nvSpPr>
        <p:spPr>
          <a:xfrm>
            <a:off x="457200" y="841248"/>
            <a:ext cx="10515600" cy="365760"/>
          </a:xfrm>
          <a:prstGeom prst="rect">
            <a:avLst/>
          </a:prstGeom>
          <a:noFill/>
          <a:ln/>
        </p:spPr>
        <p:txBody>
          <a:bodyPr wrap="square" lIns="0" tIns="0" rIns="0" bIns="0" rtlCol="0" anchor="ctr"/>
          <a:lstStyle/>
          <a:p>
            <a:pPr marL="0" indent="0">
              <a:buNone/>
            </a:pPr>
            <a:r>
              <a:rPr lang="en-US" sz="1400" dirty="0">
                <a:solidFill>
                  <a:srgbClr val="475569"/>
                </a:solidFill>
                <a:latin typeface="Calibri" pitchFamily="34" charset="0"/>
                <a:ea typeface="Calibri" pitchFamily="34" charset="-122"/>
                <a:cs typeface="Calibri" pitchFamily="34" charset="-120"/>
              </a:rPr>
              <a:t>Control how often Claude Code pauses to ask before editing files or running commands</a:t>
            </a:r>
            <a:endParaRPr lang="en-US" sz="1400" dirty="0"/>
          </a:p>
        </p:txBody>
      </p:sp>
      <p:graphicFrame>
        <p:nvGraphicFramePr>
          <p:cNvPr id="4" name="Table 0">
            <a:extLst>
              <a:ext uri="{FF2B5EF4-FFF2-40B4-BE49-F238E27FC236}">
                <a16:creationId xmlns:a16="http://schemas.microsoft.com/office/drawing/2014/main" id="{DE236629-125D-83E0-D2B3-DDDDB9886C71}"/>
              </a:ext>
            </a:extLst>
          </p:cNvPr>
          <p:cNvGraphicFramePr>
            <a:graphicFrameLocks noGrp="1"/>
          </p:cNvGraphicFramePr>
          <p:nvPr>
            <p:extLst>
              <p:ext uri="{D42A27DB-BD31-4B8C-83A1-F6EECF244321}">
                <p14:modId xmlns:p14="http://schemas.microsoft.com/office/powerpoint/2010/main" val="3842241136"/>
              </p:ext>
            </p:extLst>
          </p:nvPr>
        </p:nvGraphicFramePr>
        <p:xfrm>
          <a:off x="457200" y="1371600"/>
          <a:ext cx="11247120" cy="3968496"/>
        </p:xfrm>
        <a:graphic>
          <a:graphicData uri="http://schemas.openxmlformats.org/drawingml/2006/table">
            <a:tbl>
              <a:tblPr/>
              <a:tblGrid>
                <a:gridCol w="201168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566928">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Mode</a:t>
                      </a:r>
                      <a:endParaRPr lang="en-US" sz="1300" dirty="0">
                        <a:latin typeface="Calibri" charset="0"/>
                        <a:ea typeface="Calibri" charset="0"/>
                        <a:cs typeface="Calibri" charset="0"/>
                      </a:endParaRPr>
                    </a:p>
                  </a:txBody>
                  <a:tcPr marL="101600" marR="101600" marT="50800" marB="50800" anchor="ctr">
                    <a:lnL w="6350" cap="flat" cmpd="sng" algn="ctr">
                      <a:solidFill>
                        <a:srgbClr val="D9DFEC"/>
                      </a:solidFill>
                      <a:prstDash val="solid"/>
                      <a:round/>
                      <a:headEnd type="none" w="med" len="med"/>
                      <a:tailEnd type="none" w="med" len="med"/>
                    </a:lnL>
                    <a:lnR w="6350" cap="flat" cmpd="sng" algn="ctr">
                      <a:solidFill>
                        <a:srgbClr val="D9DFEC"/>
                      </a:solidFill>
                      <a:prstDash val="solid"/>
                      <a:round/>
                      <a:headEnd type="none" w="med" len="med"/>
                      <a:tailEnd type="none" w="med" len="med"/>
                    </a:lnR>
                    <a:lnT w="6350" cap="flat" cmpd="sng" algn="ctr">
                      <a:solidFill>
                        <a:srgbClr val="D9DFEC"/>
                      </a:solidFill>
                      <a:prstDash val="solid"/>
                      <a:round/>
                      <a:headEnd type="none" w="med" len="med"/>
                      <a:tailEnd type="none" w="med" len="med"/>
                    </a:lnT>
                    <a:lnB w="6350" cap="flat" cmpd="sng" algn="ctr">
                      <a:solidFill>
                        <a:srgbClr val="D9DFEC"/>
                      </a:solidFill>
                      <a:prstDash val="solid"/>
                      <a:round/>
                      <a:headEnd type="none" w="med" len="med"/>
                      <a:tailEnd type="none" w="med" len="med"/>
                    </a:lnB>
                    <a:solidFill>
                      <a:srgbClr val="1E2761"/>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What runs without asking</a:t>
                      </a:r>
                      <a:endParaRPr lang="en-US" sz="1300" dirty="0">
                        <a:latin typeface="Calibri" charset="0"/>
                        <a:ea typeface="Calibri" charset="0"/>
                        <a:cs typeface="Calibri" charset="0"/>
                      </a:endParaRPr>
                    </a:p>
                  </a:txBody>
                  <a:tcPr marL="101600" marR="101600" marT="50800" marB="50800" anchor="ctr">
                    <a:lnL w="6350" cap="flat" cmpd="sng" algn="ctr">
                      <a:solidFill>
                        <a:srgbClr val="D9DFEC"/>
                      </a:solidFill>
                      <a:prstDash val="solid"/>
                      <a:round/>
                      <a:headEnd type="none" w="med" len="med"/>
                      <a:tailEnd type="none" w="med" len="med"/>
                    </a:lnL>
                    <a:lnR w="6350" cap="flat" cmpd="sng" algn="ctr">
                      <a:solidFill>
                        <a:srgbClr val="D9DFEC"/>
                      </a:solidFill>
                      <a:prstDash val="solid"/>
                      <a:round/>
                      <a:headEnd type="none" w="med" len="med"/>
                      <a:tailEnd type="none" w="med" len="med"/>
                    </a:lnR>
                    <a:lnT w="6350" cap="flat" cmpd="sng" algn="ctr">
                      <a:solidFill>
                        <a:srgbClr val="D9DFEC"/>
                      </a:solidFill>
                      <a:prstDash val="solid"/>
                      <a:round/>
                      <a:headEnd type="none" w="med" len="med"/>
                      <a:tailEnd type="none" w="med" len="med"/>
                    </a:lnT>
                    <a:lnB w="6350" cap="flat" cmpd="sng" algn="ctr">
                      <a:solidFill>
                        <a:srgbClr val="D9DFEC"/>
                      </a:solidFill>
                      <a:prstDash val="solid"/>
                      <a:round/>
                      <a:headEnd type="none" w="med" len="med"/>
                      <a:tailEnd type="none" w="med" len="med"/>
                    </a:lnB>
                    <a:solidFill>
                      <a:srgbClr val="1E2761"/>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Best for</a:t>
                      </a:r>
                      <a:endParaRPr lang="en-US" sz="1300" dirty="0">
                        <a:latin typeface="Calibri" charset="0"/>
                        <a:ea typeface="Calibri" charset="0"/>
                        <a:cs typeface="Calibri" charset="0"/>
                      </a:endParaRPr>
                    </a:p>
                  </a:txBody>
                  <a:tcPr marL="101600" marR="101600" marT="50800" marB="50800" anchor="ctr">
                    <a:lnL w="6350" cap="flat" cmpd="sng" algn="ctr">
                      <a:solidFill>
                        <a:srgbClr val="D9DFEC"/>
                      </a:solidFill>
                      <a:prstDash val="solid"/>
                      <a:round/>
                      <a:headEnd type="none" w="med" len="med"/>
                      <a:tailEnd type="none" w="med" len="med"/>
                    </a:lnL>
                    <a:lnR w="6350" cap="flat" cmpd="sng" algn="ctr">
                      <a:solidFill>
                        <a:srgbClr val="D9DFEC"/>
                      </a:solidFill>
                      <a:prstDash val="solid"/>
                      <a:round/>
                      <a:headEnd type="none" w="med" len="med"/>
                      <a:tailEnd type="none" w="med" len="med"/>
                    </a:lnR>
                    <a:lnT w="6350" cap="flat" cmpd="sng" algn="ctr">
                      <a:solidFill>
                        <a:srgbClr val="D9DFEC"/>
                      </a:solidFill>
                      <a:prstDash val="solid"/>
                      <a:round/>
                      <a:headEnd type="none" w="med" len="med"/>
                      <a:tailEnd type="none" w="med" len="med"/>
                    </a:lnT>
                    <a:lnB w="6350" cap="flat" cmpd="sng" algn="ctr">
                      <a:solidFill>
                        <a:srgbClr val="D9DFE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66928">
                <a:tc>
                  <a:txBody>
                    <a:bodyPr/>
                    <a:lstStyle/>
                    <a:p>
                      <a:pPr marL="0" indent="0" algn="l">
                        <a:buNone/>
                      </a:pPr>
                      <a:r>
                        <a:rPr lang="en-US" sz="1250" b="1" dirty="0">
                          <a:solidFill>
                            <a:srgbClr val="3B4FA0"/>
                          </a:solidFill>
                          <a:latin typeface="Courier New" pitchFamily="34" charset="0"/>
                          <a:ea typeface="Courier New" pitchFamily="34" charset="-122"/>
                          <a:cs typeface="Courier New" pitchFamily="34" charset="-120"/>
                        </a:rPr>
                        <a:t>default</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D9DFEC"/>
                      </a:solidFill>
                      <a:prstDash val="solid"/>
                      <a:round/>
                      <a:headEnd type="none" w="med" len="med"/>
                      <a:tailEnd type="none" w="med" len="med"/>
                    </a:lnL>
                    <a:lnR w="6350" cap="flat" cmpd="sng" algn="ctr">
                      <a:solidFill>
                        <a:srgbClr val="D9DFEC"/>
                      </a:solidFill>
                      <a:prstDash val="solid"/>
                      <a:round/>
                      <a:headEnd type="none" w="med" len="med"/>
                      <a:tailEnd type="none" w="med" len="med"/>
                    </a:lnR>
                    <a:lnT w="6350" cap="flat" cmpd="sng" algn="ctr">
                      <a:solidFill>
                        <a:srgbClr val="D9DFEC"/>
                      </a:solidFill>
                      <a:prstDash val="solid"/>
                      <a:round/>
                      <a:headEnd type="none" w="med" len="med"/>
                      <a:tailEnd type="none" w="med" len="med"/>
                    </a:lnT>
                    <a:lnB w="6350" cap="flat" cmpd="sng" algn="ctr">
                      <a:solidFill>
                        <a:srgbClr val="D9DFE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937"/>
                          </a:solidFill>
                          <a:latin typeface="Calibri" pitchFamily="34" charset="0"/>
                          <a:ea typeface="Calibri" pitchFamily="34" charset="-122"/>
                          <a:cs typeface="Calibri" pitchFamily="34" charset="-120"/>
                        </a:rPr>
                        <a:t>Reads only</a:t>
                      </a:r>
                      <a:endParaRPr lang="en-US" sz="1250" dirty="0">
                        <a:latin typeface="Calibri" charset="0"/>
                        <a:ea typeface="Calibri" charset="0"/>
                        <a:cs typeface="Calibri" charset="0"/>
                      </a:endParaRPr>
                    </a:p>
                  </a:txBody>
                  <a:tcPr marL="101600" marR="101600" marT="50800" marB="50800" anchor="ctr">
                    <a:lnL w="6350" cap="flat" cmpd="sng" algn="ctr">
                      <a:solidFill>
                        <a:srgbClr val="D9DFEC"/>
                      </a:solidFill>
                      <a:prstDash val="solid"/>
                      <a:round/>
                      <a:headEnd type="none" w="med" len="med"/>
                      <a:tailEnd type="none" w="med" len="med"/>
                    </a:lnL>
                    <a:lnR w="6350" cap="flat" cmpd="sng" algn="ctr">
                      <a:solidFill>
                        <a:srgbClr val="D9DFEC"/>
                      </a:solidFill>
                      <a:prstDash val="solid"/>
                      <a:round/>
                      <a:headEnd type="none" w="med" len="med"/>
                      <a:tailEnd type="none" w="med" len="med"/>
                    </a:lnR>
                    <a:lnT w="6350" cap="flat" cmpd="sng" algn="ctr">
                      <a:solidFill>
                        <a:srgbClr val="D9DFEC"/>
                      </a:solidFill>
                      <a:prstDash val="solid"/>
                      <a:round/>
                      <a:headEnd type="none" w="med" len="med"/>
                      <a:tailEnd type="none" w="med" len="med"/>
                    </a:lnT>
                    <a:lnB w="6350" cap="flat" cmpd="sng" algn="ctr">
                      <a:solidFill>
                        <a:srgbClr val="D9DFE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937"/>
                          </a:solidFill>
                          <a:latin typeface="Calibri" pitchFamily="34" charset="0"/>
                          <a:ea typeface="Calibri" pitchFamily="34" charset="-122"/>
                          <a:cs typeface="Calibri" pitchFamily="34" charset="-120"/>
                        </a:rPr>
                        <a:t>Getting started, sensitive work</a:t>
                      </a:r>
                      <a:endParaRPr lang="en-US" sz="1250" dirty="0">
                        <a:latin typeface="Calibri" charset="0"/>
                        <a:ea typeface="Calibri" charset="0"/>
                        <a:cs typeface="Calibri" charset="0"/>
                      </a:endParaRPr>
                    </a:p>
                  </a:txBody>
                  <a:tcPr marL="101600" marR="101600" marT="50800" marB="50800" anchor="ctr">
                    <a:lnL w="6350" cap="flat" cmpd="sng" algn="ctr">
                      <a:solidFill>
                        <a:srgbClr val="D9DFEC"/>
                      </a:solidFill>
                      <a:prstDash val="solid"/>
                      <a:round/>
                      <a:headEnd type="none" w="med" len="med"/>
                      <a:tailEnd type="none" w="med" len="med"/>
                    </a:lnL>
                    <a:lnR w="6350" cap="flat" cmpd="sng" algn="ctr">
                      <a:solidFill>
                        <a:srgbClr val="D9DFEC"/>
                      </a:solidFill>
                      <a:prstDash val="solid"/>
                      <a:round/>
                      <a:headEnd type="none" w="med" len="med"/>
                      <a:tailEnd type="none" w="med" len="med"/>
                    </a:lnR>
                    <a:lnT w="6350" cap="flat" cmpd="sng" algn="ctr">
                      <a:solidFill>
                        <a:srgbClr val="D9DFEC"/>
                      </a:solidFill>
                      <a:prstDash val="solid"/>
                      <a:round/>
                      <a:headEnd type="none" w="med" len="med"/>
                      <a:tailEnd type="none" w="med" len="med"/>
                    </a:lnT>
                    <a:lnB w="6350" cap="flat" cmpd="sng" algn="ctr">
                      <a:solidFill>
                        <a:srgbClr val="D9DF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250" b="1" dirty="0">
                          <a:solidFill>
                            <a:srgbClr val="3B4FA0"/>
                          </a:solidFill>
                          <a:latin typeface="Courier New" pitchFamily="34" charset="0"/>
                          <a:ea typeface="Courier New" pitchFamily="34" charset="-122"/>
                          <a:cs typeface="Courier New" pitchFamily="34" charset="-120"/>
                        </a:rPr>
                        <a:t>acceptEdits</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D9DFEC"/>
                      </a:solidFill>
                      <a:prstDash val="solid"/>
                      <a:round/>
                      <a:headEnd type="none" w="med" len="med"/>
                      <a:tailEnd type="none" w="med" len="med"/>
                    </a:lnL>
                    <a:lnR w="6350" cap="flat" cmpd="sng" algn="ctr">
                      <a:solidFill>
                        <a:srgbClr val="D9DFEC"/>
                      </a:solidFill>
                      <a:prstDash val="solid"/>
                      <a:round/>
                      <a:headEnd type="none" w="med" len="med"/>
                      <a:tailEnd type="none" w="med" len="med"/>
                    </a:lnR>
                    <a:lnT w="6350" cap="flat" cmpd="sng" algn="ctr">
                      <a:solidFill>
                        <a:srgbClr val="D9DFEC"/>
                      </a:solidFill>
                      <a:prstDash val="solid"/>
                      <a:round/>
                      <a:headEnd type="none" w="med" len="med"/>
                      <a:tailEnd type="none" w="med" len="med"/>
                    </a:lnT>
                    <a:lnB w="6350" cap="flat" cmpd="sng" algn="ctr">
                      <a:solidFill>
                        <a:srgbClr val="D9DFEC"/>
                      </a:solidFill>
                      <a:prstDash val="solid"/>
                      <a:round/>
                      <a:headEnd type="none" w="med" len="med"/>
                      <a:tailEnd type="none" w="med" len="med"/>
                    </a:lnB>
                    <a:solidFill>
                      <a:srgbClr val="F4F6FB"/>
                    </a:solidFill>
                  </a:tcPr>
                </a:tc>
                <a:tc>
                  <a:txBody>
                    <a:bodyPr/>
                    <a:lstStyle/>
                    <a:p>
                      <a:pPr marL="0" indent="0" algn="l">
                        <a:buNone/>
                      </a:pPr>
                      <a:r>
                        <a:rPr lang="en-US" sz="1250" dirty="0">
                          <a:solidFill>
                            <a:srgbClr val="1F2937"/>
                          </a:solidFill>
                          <a:latin typeface="Calibri" pitchFamily="34" charset="0"/>
                          <a:ea typeface="Calibri" pitchFamily="34" charset="-122"/>
                          <a:cs typeface="Calibri" pitchFamily="34" charset="-120"/>
                        </a:rPr>
                        <a:t>Reads, file edits, and common filesystem commands</a:t>
                      </a:r>
                      <a:endParaRPr lang="en-US" sz="1250" dirty="0">
                        <a:latin typeface="Calibri" charset="0"/>
                        <a:ea typeface="Calibri" charset="0"/>
                        <a:cs typeface="Calibri" charset="0"/>
                      </a:endParaRPr>
                    </a:p>
                  </a:txBody>
                  <a:tcPr marL="101600" marR="101600" marT="50800" marB="50800" anchor="ctr">
                    <a:lnL w="6350" cap="flat" cmpd="sng" algn="ctr">
                      <a:solidFill>
                        <a:srgbClr val="D9DFEC"/>
                      </a:solidFill>
                      <a:prstDash val="solid"/>
                      <a:round/>
                      <a:headEnd type="none" w="med" len="med"/>
                      <a:tailEnd type="none" w="med" len="med"/>
                    </a:lnL>
                    <a:lnR w="6350" cap="flat" cmpd="sng" algn="ctr">
                      <a:solidFill>
                        <a:srgbClr val="D9DFEC"/>
                      </a:solidFill>
                      <a:prstDash val="solid"/>
                      <a:round/>
                      <a:headEnd type="none" w="med" len="med"/>
                      <a:tailEnd type="none" w="med" len="med"/>
                    </a:lnR>
                    <a:lnT w="6350" cap="flat" cmpd="sng" algn="ctr">
                      <a:solidFill>
                        <a:srgbClr val="D9DFEC"/>
                      </a:solidFill>
                      <a:prstDash val="solid"/>
                      <a:round/>
                      <a:headEnd type="none" w="med" len="med"/>
                      <a:tailEnd type="none" w="med" len="med"/>
                    </a:lnT>
                    <a:lnB w="6350" cap="flat" cmpd="sng" algn="ctr">
                      <a:solidFill>
                        <a:srgbClr val="D9DFEC"/>
                      </a:solidFill>
                      <a:prstDash val="solid"/>
                      <a:round/>
                      <a:headEnd type="none" w="med" len="med"/>
                      <a:tailEnd type="none" w="med" len="med"/>
                    </a:lnB>
                    <a:solidFill>
                      <a:srgbClr val="F4F6FB"/>
                    </a:solidFill>
                  </a:tcPr>
                </a:tc>
                <a:tc>
                  <a:txBody>
                    <a:bodyPr/>
                    <a:lstStyle/>
                    <a:p>
                      <a:pPr marL="0" indent="0" algn="l">
                        <a:buNone/>
                      </a:pPr>
                      <a:r>
                        <a:rPr lang="en-US" sz="1250" dirty="0">
                          <a:solidFill>
                            <a:srgbClr val="1F2937"/>
                          </a:solidFill>
                          <a:latin typeface="Calibri" pitchFamily="34" charset="0"/>
                          <a:ea typeface="Calibri" pitchFamily="34" charset="-122"/>
                          <a:cs typeface="Calibri" pitchFamily="34" charset="-120"/>
                        </a:rPr>
                        <a:t>Iterating on code you're reviewing</a:t>
                      </a:r>
                      <a:endParaRPr lang="en-US" sz="1250" dirty="0">
                        <a:latin typeface="Calibri" charset="0"/>
                        <a:ea typeface="Calibri" charset="0"/>
                        <a:cs typeface="Calibri" charset="0"/>
                      </a:endParaRPr>
                    </a:p>
                  </a:txBody>
                  <a:tcPr marL="101600" marR="101600" marT="50800" marB="50800" anchor="ctr">
                    <a:lnL w="6350" cap="flat" cmpd="sng" algn="ctr">
                      <a:solidFill>
                        <a:srgbClr val="D9DFEC"/>
                      </a:solidFill>
                      <a:prstDash val="solid"/>
                      <a:round/>
                      <a:headEnd type="none" w="med" len="med"/>
                      <a:tailEnd type="none" w="med" len="med"/>
                    </a:lnL>
                    <a:lnR w="6350" cap="flat" cmpd="sng" algn="ctr">
                      <a:solidFill>
                        <a:srgbClr val="D9DFEC"/>
                      </a:solidFill>
                      <a:prstDash val="solid"/>
                      <a:round/>
                      <a:headEnd type="none" w="med" len="med"/>
                      <a:tailEnd type="none" w="med" len="med"/>
                    </a:lnR>
                    <a:lnT w="6350" cap="flat" cmpd="sng" algn="ctr">
                      <a:solidFill>
                        <a:srgbClr val="D9DFEC"/>
                      </a:solidFill>
                      <a:prstDash val="solid"/>
                      <a:round/>
                      <a:headEnd type="none" w="med" len="med"/>
                      <a:tailEnd type="none" w="med" len="med"/>
                    </a:lnT>
                    <a:lnB w="6350" cap="flat" cmpd="sng" algn="ctr">
                      <a:solidFill>
                        <a:srgbClr val="D9DFEC"/>
                      </a:solidFill>
                      <a:prstDash val="solid"/>
                      <a:round/>
                      <a:headEnd type="none" w="med" len="med"/>
                      <a:tailEnd type="none" w="med" len="med"/>
                    </a:lnB>
                    <a:solidFill>
                      <a:srgbClr val="F4F6FB"/>
                    </a:solidFill>
                  </a:tcPr>
                </a:tc>
                <a:extLst>
                  <a:ext uri="{0D108BD9-81ED-4DB2-BD59-A6C34878D82A}">
                    <a16:rowId xmlns:a16="http://schemas.microsoft.com/office/drawing/2014/main" val="10002"/>
                  </a:ext>
                </a:extLst>
              </a:tr>
              <a:tr h="566928">
                <a:tc>
                  <a:txBody>
                    <a:bodyPr/>
                    <a:lstStyle/>
                    <a:p>
                      <a:pPr marL="0" indent="0" algn="l">
                        <a:buNone/>
                      </a:pPr>
                      <a:r>
                        <a:rPr lang="en-US" sz="1250" b="1" dirty="0">
                          <a:solidFill>
                            <a:srgbClr val="3B4FA0"/>
                          </a:solidFill>
                          <a:latin typeface="Courier New" pitchFamily="34" charset="0"/>
                          <a:ea typeface="Courier New" pitchFamily="34" charset="-122"/>
                          <a:cs typeface="Courier New" pitchFamily="34" charset="-120"/>
                        </a:rPr>
                        <a:t>plan</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D9DFEC"/>
                      </a:solidFill>
                      <a:prstDash val="solid"/>
                      <a:round/>
                      <a:headEnd type="none" w="med" len="med"/>
                      <a:tailEnd type="none" w="med" len="med"/>
                    </a:lnL>
                    <a:lnR w="6350" cap="flat" cmpd="sng" algn="ctr">
                      <a:solidFill>
                        <a:srgbClr val="D9DFEC"/>
                      </a:solidFill>
                      <a:prstDash val="solid"/>
                      <a:round/>
                      <a:headEnd type="none" w="med" len="med"/>
                      <a:tailEnd type="none" w="med" len="med"/>
                    </a:lnR>
                    <a:lnT w="6350" cap="flat" cmpd="sng" algn="ctr">
                      <a:solidFill>
                        <a:srgbClr val="D9DFEC"/>
                      </a:solidFill>
                      <a:prstDash val="solid"/>
                      <a:round/>
                      <a:headEnd type="none" w="med" len="med"/>
                      <a:tailEnd type="none" w="med" len="med"/>
                    </a:lnT>
                    <a:lnB w="6350" cap="flat" cmpd="sng" algn="ctr">
                      <a:solidFill>
                        <a:srgbClr val="D9DFE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937"/>
                          </a:solidFill>
                          <a:latin typeface="Calibri" pitchFamily="34" charset="0"/>
                          <a:ea typeface="Calibri" pitchFamily="34" charset="-122"/>
                          <a:cs typeface="Calibri" pitchFamily="34" charset="-120"/>
                        </a:rPr>
                        <a:t>Reads only</a:t>
                      </a:r>
                      <a:endParaRPr lang="en-US" sz="1250" dirty="0">
                        <a:latin typeface="Calibri" charset="0"/>
                        <a:ea typeface="Calibri" charset="0"/>
                        <a:cs typeface="Calibri" charset="0"/>
                      </a:endParaRPr>
                    </a:p>
                  </a:txBody>
                  <a:tcPr marL="101600" marR="101600" marT="50800" marB="50800" anchor="ctr">
                    <a:lnL w="6350" cap="flat" cmpd="sng" algn="ctr">
                      <a:solidFill>
                        <a:srgbClr val="D9DFEC"/>
                      </a:solidFill>
                      <a:prstDash val="solid"/>
                      <a:round/>
                      <a:headEnd type="none" w="med" len="med"/>
                      <a:tailEnd type="none" w="med" len="med"/>
                    </a:lnL>
                    <a:lnR w="6350" cap="flat" cmpd="sng" algn="ctr">
                      <a:solidFill>
                        <a:srgbClr val="D9DFEC"/>
                      </a:solidFill>
                      <a:prstDash val="solid"/>
                      <a:round/>
                      <a:headEnd type="none" w="med" len="med"/>
                      <a:tailEnd type="none" w="med" len="med"/>
                    </a:lnR>
                    <a:lnT w="6350" cap="flat" cmpd="sng" algn="ctr">
                      <a:solidFill>
                        <a:srgbClr val="D9DFEC"/>
                      </a:solidFill>
                      <a:prstDash val="solid"/>
                      <a:round/>
                      <a:headEnd type="none" w="med" len="med"/>
                      <a:tailEnd type="none" w="med" len="med"/>
                    </a:lnT>
                    <a:lnB w="6350" cap="flat" cmpd="sng" algn="ctr">
                      <a:solidFill>
                        <a:srgbClr val="D9DFE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937"/>
                          </a:solidFill>
                          <a:latin typeface="Calibri" pitchFamily="34" charset="0"/>
                          <a:ea typeface="Calibri" pitchFamily="34" charset="-122"/>
                          <a:cs typeface="Calibri" pitchFamily="34" charset="-120"/>
                        </a:rPr>
                        <a:t>Exploring a codebase before changing it</a:t>
                      </a:r>
                      <a:endParaRPr lang="en-US" sz="1250" dirty="0">
                        <a:latin typeface="Calibri" charset="0"/>
                        <a:ea typeface="Calibri" charset="0"/>
                        <a:cs typeface="Calibri" charset="0"/>
                      </a:endParaRPr>
                    </a:p>
                  </a:txBody>
                  <a:tcPr marL="101600" marR="101600" marT="50800" marB="50800" anchor="ctr">
                    <a:lnL w="6350" cap="flat" cmpd="sng" algn="ctr">
                      <a:solidFill>
                        <a:srgbClr val="D9DFEC"/>
                      </a:solidFill>
                      <a:prstDash val="solid"/>
                      <a:round/>
                      <a:headEnd type="none" w="med" len="med"/>
                      <a:tailEnd type="none" w="med" len="med"/>
                    </a:lnL>
                    <a:lnR w="6350" cap="flat" cmpd="sng" algn="ctr">
                      <a:solidFill>
                        <a:srgbClr val="D9DFEC"/>
                      </a:solidFill>
                      <a:prstDash val="solid"/>
                      <a:round/>
                      <a:headEnd type="none" w="med" len="med"/>
                      <a:tailEnd type="none" w="med" len="med"/>
                    </a:lnR>
                    <a:lnT w="6350" cap="flat" cmpd="sng" algn="ctr">
                      <a:solidFill>
                        <a:srgbClr val="D9DFEC"/>
                      </a:solidFill>
                      <a:prstDash val="solid"/>
                      <a:round/>
                      <a:headEnd type="none" w="med" len="med"/>
                      <a:tailEnd type="none" w="med" len="med"/>
                    </a:lnT>
                    <a:lnB w="6350" cap="flat" cmpd="sng" algn="ctr">
                      <a:solidFill>
                        <a:srgbClr val="D9DF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1250" b="1" dirty="0">
                          <a:solidFill>
                            <a:srgbClr val="3B4FA0"/>
                          </a:solidFill>
                          <a:latin typeface="Courier New" pitchFamily="34" charset="0"/>
                          <a:ea typeface="Courier New" pitchFamily="34" charset="-122"/>
                          <a:cs typeface="Courier New" pitchFamily="34" charset="-120"/>
                        </a:rPr>
                        <a:t>auto</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D9DFEC"/>
                      </a:solidFill>
                      <a:prstDash val="solid"/>
                      <a:round/>
                      <a:headEnd type="none" w="med" len="med"/>
                      <a:tailEnd type="none" w="med" len="med"/>
                    </a:lnL>
                    <a:lnR w="6350" cap="flat" cmpd="sng" algn="ctr">
                      <a:solidFill>
                        <a:srgbClr val="D9DFEC"/>
                      </a:solidFill>
                      <a:prstDash val="solid"/>
                      <a:round/>
                      <a:headEnd type="none" w="med" len="med"/>
                      <a:tailEnd type="none" w="med" len="med"/>
                    </a:lnR>
                    <a:lnT w="6350" cap="flat" cmpd="sng" algn="ctr">
                      <a:solidFill>
                        <a:srgbClr val="D9DFEC"/>
                      </a:solidFill>
                      <a:prstDash val="solid"/>
                      <a:round/>
                      <a:headEnd type="none" w="med" len="med"/>
                      <a:tailEnd type="none" w="med" len="med"/>
                    </a:lnT>
                    <a:lnB w="6350" cap="flat" cmpd="sng" algn="ctr">
                      <a:solidFill>
                        <a:srgbClr val="D9DFEC"/>
                      </a:solidFill>
                      <a:prstDash val="solid"/>
                      <a:round/>
                      <a:headEnd type="none" w="med" len="med"/>
                      <a:tailEnd type="none" w="med" len="med"/>
                    </a:lnB>
                    <a:solidFill>
                      <a:srgbClr val="F4F6FB"/>
                    </a:solidFill>
                  </a:tcPr>
                </a:tc>
                <a:tc>
                  <a:txBody>
                    <a:bodyPr/>
                    <a:lstStyle/>
                    <a:p>
                      <a:pPr marL="0" indent="0" algn="l">
                        <a:buNone/>
                      </a:pPr>
                      <a:r>
                        <a:rPr lang="en-US" sz="1250" dirty="0">
                          <a:solidFill>
                            <a:srgbClr val="1F2937"/>
                          </a:solidFill>
                          <a:latin typeface="Calibri" pitchFamily="34" charset="0"/>
                          <a:ea typeface="Calibri" pitchFamily="34" charset="-122"/>
                          <a:cs typeface="Calibri" pitchFamily="34" charset="-120"/>
                        </a:rPr>
                        <a:t>Everything, with background safety checks</a:t>
                      </a:r>
                      <a:endParaRPr lang="en-US" sz="1250" dirty="0">
                        <a:latin typeface="Calibri" charset="0"/>
                        <a:ea typeface="Calibri" charset="0"/>
                        <a:cs typeface="Calibri" charset="0"/>
                      </a:endParaRPr>
                    </a:p>
                  </a:txBody>
                  <a:tcPr marL="101600" marR="101600" marT="50800" marB="50800" anchor="ctr">
                    <a:lnL w="6350" cap="flat" cmpd="sng" algn="ctr">
                      <a:solidFill>
                        <a:srgbClr val="D9DFEC"/>
                      </a:solidFill>
                      <a:prstDash val="solid"/>
                      <a:round/>
                      <a:headEnd type="none" w="med" len="med"/>
                      <a:tailEnd type="none" w="med" len="med"/>
                    </a:lnL>
                    <a:lnR w="6350" cap="flat" cmpd="sng" algn="ctr">
                      <a:solidFill>
                        <a:srgbClr val="D9DFEC"/>
                      </a:solidFill>
                      <a:prstDash val="solid"/>
                      <a:round/>
                      <a:headEnd type="none" w="med" len="med"/>
                      <a:tailEnd type="none" w="med" len="med"/>
                    </a:lnR>
                    <a:lnT w="6350" cap="flat" cmpd="sng" algn="ctr">
                      <a:solidFill>
                        <a:srgbClr val="D9DFEC"/>
                      </a:solidFill>
                      <a:prstDash val="solid"/>
                      <a:round/>
                      <a:headEnd type="none" w="med" len="med"/>
                      <a:tailEnd type="none" w="med" len="med"/>
                    </a:lnT>
                    <a:lnB w="6350" cap="flat" cmpd="sng" algn="ctr">
                      <a:solidFill>
                        <a:srgbClr val="D9DFEC"/>
                      </a:solidFill>
                      <a:prstDash val="solid"/>
                      <a:round/>
                      <a:headEnd type="none" w="med" len="med"/>
                      <a:tailEnd type="none" w="med" len="med"/>
                    </a:lnB>
                    <a:solidFill>
                      <a:srgbClr val="F4F6FB"/>
                    </a:solidFill>
                  </a:tcPr>
                </a:tc>
                <a:tc>
                  <a:txBody>
                    <a:bodyPr/>
                    <a:lstStyle/>
                    <a:p>
                      <a:pPr marL="0" indent="0" algn="l">
                        <a:buNone/>
                      </a:pPr>
                      <a:r>
                        <a:rPr lang="en-US" sz="1250" dirty="0">
                          <a:solidFill>
                            <a:srgbClr val="1F2937"/>
                          </a:solidFill>
                          <a:latin typeface="Calibri" pitchFamily="34" charset="0"/>
                          <a:ea typeface="Calibri" pitchFamily="34" charset="-122"/>
                          <a:cs typeface="Calibri" pitchFamily="34" charset="-120"/>
                        </a:rPr>
                        <a:t>Long tasks, reducing prompt fatigue</a:t>
                      </a:r>
                      <a:endParaRPr lang="en-US" sz="1250" dirty="0">
                        <a:latin typeface="Calibri" charset="0"/>
                        <a:ea typeface="Calibri" charset="0"/>
                        <a:cs typeface="Calibri" charset="0"/>
                      </a:endParaRPr>
                    </a:p>
                  </a:txBody>
                  <a:tcPr marL="101600" marR="101600" marT="50800" marB="50800" anchor="ctr">
                    <a:lnL w="6350" cap="flat" cmpd="sng" algn="ctr">
                      <a:solidFill>
                        <a:srgbClr val="D9DFEC"/>
                      </a:solidFill>
                      <a:prstDash val="solid"/>
                      <a:round/>
                      <a:headEnd type="none" w="med" len="med"/>
                      <a:tailEnd type="none" w="med" len="med"/>
                    </a:lnL>
                    <a:lnR w="6350" cap="flat" cmpd="sng" algn="ctr">
                      <a:solidFill>
                        <a:srgbClr val="D9DFEC"/>
                      </a:solidFill>
                      <a:prstDash val="solid"/>
                      <a:round/>
                      <a:headEnd type="none" w="med" len="med"/>
                      <a:tailEnd type="none" w="med" len="med"/>
                    </a:lnR>
                    <a:lnT w="6350" cap="flat" cmpd="sng" algn="ctr">
                      <a:solidFill>
                        <a:srgbClr val="D9DFEC"/>
                      </a:solidFill>
                      <a:prstDash val="solid"/>
                      <a:round/>
                      <a:headEnd type="none" w="med" len="med"/>
                      <a:tailEnd type="none" w="med" len="med"/>
                    </a:lnT>
                    <a:lnB w="6350" cap="flat" cmpd="sng" algn="ctr">
                      <a:solidFill>
                        <a:srgbClr val="D9DFEC"/>
                      </a:solidFill>
                      <a:prstDash val="solid"/>
                      <a:round/>
                      <a:headEnd type="none" w="med" len="med"/>
                      <a:tailEnd type="none" w="med" len="med"/>
                    </a:lnB>
                    <a:solidFill>
                      <a:srgbClr val="F4F6FB"/>
                    </a:solidFill>
                  </a:tcPr>
                </a:tc>
                <a:extLst>
                  <a:ext uri="{0D108BD9-81ED-4DB2-BD59-A6C34878D82A}">
                    <a16:rowId xmlns:a16="http://schemas.microsoft.com/office/drawing/2014/main" val="10004"/>
                  </a:ext>
                </a:extLst>
              </a:tr>
              <a:tr h="566928">
                <a:tc>
                  <a:txBody>
                    <a:bodyPr/>
                    <a:lstStyle/>
                    <a:p>
                      <a:pPr marL="0" indent="0" algn="l">
                        <a:buNone/>
                      </a:pPr>
                      <a:r>
                        <a:rPr lang="en-US" sz="1250" b="1" dirty="0">
                          <a:solidFill>
                            <a:srgbClr val="3B4FA0"/>
                          </a:solidFill>
                          <a:latin typeface="Courier New" pitchFamily="34" charset="0"/>
                          <a:ea typeface="Courier New" pitchFamily="34" charset="-122"/>
                          <a:cs typeface="Courier New" pitchFamily="34" charset="-120"/>
                        </a:rPr>
                        <a:t>dontAsk</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D9DFEC"/>
                      </a:solidFill>
                      <a:prstDash val="solid"/>
                      <a:round/>
                      <a:headEnd type="none" w="med" len="med"/>
                      <a:tailEnd type="none" w="med" len="med"/>
                    </a:lnL>
                    <a:lnR w="6350" cap="flat" cmpd="sng" algn="ctr">
                      <a:solidFill>
                        <a:srgbClr val="D9DFEC"/>
                      </a:solidFill>
                      <a:prstDash val="solid"/>
                      <a:round/>
                      <a:headEnd type="none" w="med" len="med"/>
                      <a:tailEnd type="none" w="med" len="med"/>
                    </a:lnR>
                    <a:lnT w="6350" cap="flat" cmpd="sng" algn="ctr">
                      <a:solidFill>
                        <a:srgbClr val="D9DFEC"/>
                      </a:solidFill>
                      <a:prstDash val="solid"/>
                      <a:round/>
                      <a:headEnd type="none" w="med" len="med"/>
                      <a:tailEnd type="none" w="med" len="med"/>
                    </a:lnT>
                    <a:lnB w="6350" cap="flat" cmpd="sng" algn="ctr">
                      <a:solidFill>
                        <a:srgbClr val="D9DFE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937"/>
                          </a:solidFill>
                          <a:latin typeface="Calibri" pitchFamily="34" charset="0"/>
                          <a:ea typeface="Calibri" pitchFamily="34" charset="-122"/>
                          <a:cs typeface="Calibri" pitchFamily="34" charset="-120"/>
                        </a:rPr>
                        <a:t>Only pre-approved tools</a:t>
                      </a:r>
                      <a:endParaRPr lang="en-US" sz="1250" dirty="0">
                        <a:latin typeface="Calibri" charset="0"/>
                        <a:ea typeface="Calibri" charset="0"/>
                        <a:cs typeface="Calibri" charset="0"/>
                      </a:endParaRPr>
                    </a:p>
                  </a:txBody>
                  <a:tcPr marL="101600" marR="101600" marT="50800" marB="50800" anchor="ctr">
                    <a:lnL w="6350" cap="flat" cmpd="sng" algn="ctr">
                      <a:solidFill>
                        <a:srgbClr val="D9DFEC"/>
                      </a:solidFill>
                      <a:prstDash val="solid"/>
                      <a:round/>
                      <a:headEnd type="none" w="med" len="med"/>
                      <a:tailEnd type="none" w="med" len="med"/>
                    </a:lnL>
                    <a:lnR w="6350" cap="flat" cmpd="sng" algn="ctr">
                      <a:solidFill>
                        <a:srgbClr val="D9DFEC"/>
                      </a:solidFill>
                      <a:prstDash val="solid"/>
                      <a:round/>
                      <a:headEnd type="none" w="med" len="med"/>
                      <a:tailEnd type="none" w="med" len="med"/>
                    </a:lnR>
                    <a:lnT w="6350" cap="flat" cmpd="sng" algn="ctr">
                      <a:solidFill>
                        <a:srgbClr val="D9DFEC"/>
                      </a:solidFill>
                      <a:prstDash val="solid"/>
                      <a:round/>
                      <a:headEnd type="none" w="med" len="med"/>
                      <a:tailEnd type="none" w="med" len="med"/>
                    </a:lnT>
                    <a:lnB w="6350" cap="flat" cmpd="sng" algn="ctr">
                      <a:solidFill>
                        <a:srgbClr val="D9DFE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937"/>
                          </a:solidFill>
                          <a:latin typeface="Calibri" pitchFamily="34" charset="0"/>
                          <a:ea typeface="Calibri" pitchFamily="34" charset="-122"/>
                          <a:cs typeface="Calibri" pitchFamily="34" charset="-120"/>
                        </a:rPr>
                        <a:t>Locked-down CI and scripts</a:t>
                      </a:r>
                      <a:endParaRPr lang="en-US" sz="1250" dirty="0">
                        <a:latin typeface="Calibri" charset="0"/>
                        <a:ea typeface="Calibri" charset="0"/>
                        <a:cs typeface="Calibri" charset="0"/>
                      </a:endParaRPr>
                    </a:p>
                  </a:txBody>
                  <a:tcPr marL="101600" marR="101600" marT="50800" marB="50800" anchor="ctr">
                    <a:lnL w="6350" cap="flat" cmpd="sng" algn="ctr">
                      <a:solidFill>
                        <a:srgbClr val="D9DFEC"/>
                      </a:solidFill>
                      <a:prstDash val="solid"/>
                      <a:round/>
                      <a:headEnd type="none" w="med" len="med"/>
                      <a:tailEnd type="none" w="med" len="med"/>
                    </a:lnL>
                    <a:lnR w="6350" cap="flat" cmpd="sng" algn="ctr">
                      <a:solidFill>
                        <a:srgbClr val="D9DFEC"/>
                      </a:solidFill>
                      <a:prstDash val="solid"/>
                      <a:round/>
                      <a:headEnd type="none" w="med" len="med"/>
                      <a:tailEnd type="none" w="med" len="med"/>
                    </a:lnR>
                    <a:lnT w="6350" cap="flat" cmpd="sng" algn="ctr">
                      <a:solidFill>
                        <a:srgbClr val="D9DFEC"/>
                      </a:solidFill>
                      <a:prstDash val="solid"/>
                      <a:round/>
                      <a:headEnd type="none" w="med" len="med"/>
                      <a:tailEnd type="none" w="med" len="med"/>
                    </a:lnT>
                    <a:lnB w="6350" cap="flat" cmpd="sng" algn="ctr">
                      <a:solidFill>
                        <a:srgbClr val="D9DF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marL="0" indent="0" algn="l">
                        <a:buNone/>
                      </a:pPr>
                      <a:r>
                        <a:rPr lang="en-US" sz="1250" b="1" dirty="0">
                          <a:solidFill>
                            <a:srgbClr val="3B4FA0"/>
                          </a:solidFill>
                          <a:latin typeface="Courier New" pitchFamily="34" charset="0"/>
                          <a:ea typeface="Courier New" pitchFamily="34" charset="-122"/>
                          <a:cs typeface="Courier New" pitchFamily="34" charset="-120"/>
                        </a:rPr>
                        <a:t>bypassPermissions</a:t>
                      </a:r>
                      <a:endParaRPr lang="en-US" sz="1250" dirty="0">
                        <a:latin typeface="Courier New" charset="0"/>
                        <a:ea typeface="Courier New" charset="0"/>
                        <a:cs typeface="Courier New" charset="0"/>
                      </a:endParaRPr>
                    </a:p>
                  </a:txBody>
                  <a:tcPr marL="101600" marR="101600" marT="50800" marB="50800" anchor="ctr">
                    <a:lnL w="6350" cap="flat" cmpd="sng" algn="ctr">
                      <a:solidFill>
                        <a:srgbClr val="D9DFEC"/>
                      </a:solidFill>
                      <a:prstDash val="solid"/>
                      <a:round/>
                      <a:headEnd type="none" w="med" len="med"/>
                      <a:tailEnd type="none" w="med" len="med"/>
                    </a:lnL>
                    <a:lnR w="6350" cap="flat" cmpd="sng" algn="ctr">
                      <a:solidFill>
                        <a:srgbClr val="D9DFEC"/>
                      </a:solidFill>
                      <a:prstDash val="solid"/>
                      <a:round/>
                      <a:headEnd type="none" w="med" len="med"/>
                      <a:tailEnd type="none" w="med" len="med"/>
                    </a:lnR>
                    <a:lnT w="6350" cap="flat" cmpd="sng" algn="ctr">
                      <a:solidFill>
                        <a:srgbClr val="D9DFEC"/>
                      </a:solidFill>
                      <a:prstDash val="solid"/>
                      <a:round/>
                      <a:headEnd type="none" w="med" len="med"/>
                      <a:tailEnd type="none" w="med" len="med"/>
                    </a:lnT>
                    <a:lnB w="6350" cap="flat" cmpd="sng" algn="ctr">
                      <a:solidFill>
                        <a:srgbClr val="D9DFEC"/>
                      </a:solidFill>
                      <a:prstDash val="solid"/>
                      <a:round/>
                      <a:headEnd type="none" w="med" len="med"/>
                      <a:tailEnd type="none" w="med" len="med"/>
                    </a:lnB>
                    <a:solidFill>
                      <a:srgbClr val="F4F6FB"/>
                    </a:solidFill>
                  </a:tcPr>
                </a:tc>
                <a:tc>
                  <a:txBody>
                    <a:bodyPr/>
                    <a:lstStyle/>
                    <a:p>
                      <a:pPr marL="0" indent="0" algn="l">
                        <a:buNone/>
                      </a:pPr>
                      <a:r>
                        <a:rPr lang="en-US" sz="1250" dirty="0">
                          <a:solidFill>
                            <a:srgbClr val="1F2937"/>
                          </a:solidFill>
                          <a:latin typeface="Calibri" pitchFamily="34" charset="0"/>
                          <a:ea typeface="Calibri" pitchFamily="34" charset="-122"/>
                          <a:cs typeface="Calibri" pitchFamily="34" charset="-120"/>
                        </a:rPr>
                        <a:t>Everything</a:t>
                      </a:r>
                      <a:endParaRPr lang="en-US" sz="1250" dirty="0">
                        <a:latin typeface="Calibri" charset="0"/>
                        <a:ea typeface="Calibri" charset="0"/>
                        <a:cs typeface="Calibri" charset="0"/>
                      </a:endParaRPr>
                    </a:p>
                  </a:txBody>
                  <a:tcPr marL="101600" marR="101600" marT="50800" marB="50800" anchor="ctr">
                    <a:lnL w="6350" cap="flat" cmpd="sng" algn="ctr">
                      <a:solidFill>
                        <a:srgbClr val="D9DFEC"/>
                      </a:solidFill>
                      <a:prstDash val="solid"/>
                      <a:round/>
                      <a:headEnd type="none" w="med" len="med"/>
                      <a:tailEnd type="none" w="med" len="med"/>
                    </a:lnL>
                    <a:lnR w="6350" cap="flat" cmpd="sng" algn="ctr">
                      <a:solidFill>
                        <a:srgbClr val="D9DFEC"/>
                      </a:solidFill>
                      <a:prstDash val="solid"/>
                      <a:round/>
                      <a:headEnd type="none" w="med" len="med"/>
                      <a:tailEnd type="none" w="med" len="med"/>
                    </a:lnR>
                    <a:lnT w="6350" cap="flat" cmpd="sng" algn="ctr">
                      <a:solidFill>
                        <a:srgbClr val="D9DFEC"/>
                      </a:solidFill>
                      <a:prstDash val="solid"/>
                      <a:round/>
                      <a:headEnd type="none" w="med" len="med"/>
                      <a:tailEnd type="none" w="med" len="med"/>
                    </a:lnT>
                    <a:lnB w="6350" cap="flat" cmpd="sng" algn="ctr">
                      <a:solidFill>
                        <a:srgbClr val="D9DFEC"/>
                      </a:solidFill>
                      <a:prstDash val="solid"/>
                      <a:round/>
                      <a:headEnd type="none" w="med" len="med"/>
                      <a:tailEnd type="none" w="med" len="med"/>
                    </a:lnB>
                    <a:solidFill>
                      <a:srgbClr val="F4F6FB"/>
                    </a:solidFill>
                  </a:tcPr>
                </a:tc>
                <a:tc>
                  <a:txBody>
                    <a:bodyPr/>
                    <a:lstStyle/>
                    <a:p>
                      <a:pPr marL="0" indent="0" algn="l">
                        <a:buNone/>
                      </a:pPr>
                      <a:r>
                        <a:rPr lang="en-US" sz="1250" dirty="0">
                          <a:solidFill>
                            <a:srgbClr val="1F2937"/>
                          </a:solidFill>
                          <a:latin typeface="Calibri" pitchFamily="34" charset="0"/>
                          <a:ea typeface="Calibri" pitchFamily="34" charset="-122"/>
                          <a:cs typeface="Calibri" pitchFamily="34" charset="-120"/>
                        </a:rPr>
                        <a:t>Isolated containers and VMs only</a:t>
                      </a:r>
                      <a:endParaRPr lang="en-US" sz="1250" dirty="0">
                        <a:latin typeface="Calibri" charset="0"/>
                        <a:ea typeface="Calibri" charset="0"/>
                        <a:cs typeface="Calibri" charset="0"/>
                      </a:endParaRPr>
                    </a:p>
                  </a:txBody>
                  <a:tcPr marL="101600" marR="101600" marT="50800" marB="50800" anchor="ctr">
                    <a:lnL w="6350" cap="flat" cmpd="sng" algn="ctr">
                      <a:solidFill>
                        <a:srgbClr val="D9DFEC"/>
                      </a:solidFill>
                      <a:prstDash val="solid"/>
                      <a:round/>
                      <a:headEnd type="none" w="med" len="med"/>
                      <a:tailEnd type="none" w="med" len="med"/>
                    </a:lnL>
                    <a:lnR w="6350" cap="flat" cmpd="sng" algn="ctr">
                      <a:solidFill>
                        <a:srgbClr val="D9DFEC"/>
                      </a:solidFill>
                      <a:prstDash val="solid"/>
                      <a:round/>
                      <a:headEnd type="none" w="med" len="med"/>
                      <a:tailEnd type="none" w="med" len="med"/>
                    </a:lnR>
                    <a:lnT w="6350" cap="flat" cmpd="sng" algn="ctr">
                      <a:solidFill>
                        <a:srgbClr val="D9DFEC"/>
                      </a:solidFill>
                      <a:prstDash val="solid"/>
                      <a:round/>
                      <a:headEnd type="none" w="med" len="med"/>
                      <a:tailEnd type="none" w="med" len="med"/>
                    </a:lnT>
                    <a:lnB w="6350" cap="flat" cmpd="sng" algn="ctr">
                      <a:solidFill>
                        <a:srgbClr val="D9DFEC"/>
                      </a:solidFill>
                      <a:prstDash val="solid"/>
                      <a:round/>
                      <a:headEnd type="none" w="med" len="med"/>
                      <a:tailEnd type="none" w="med" len="med"/>
                    </a:lnB>
                    <a:solidFill>
                      <a:srgbClr val="F4F6FB"/>
                    </a:solidFill>
                  </a:tcPr>
                </a:tc>
                <a:extLst>
                  <a:ext uri="{0D108BD9-81ED-4DB2-BD59-A6C34878D82A}">
                    <a16:rowId xmlns:a16="http://schemas.microsoft.com/office/drawing/2014/main" val="10006"/>
                  </a:ext>
                </a:extLst>
              </a:tr>
            </a:tbl>
          </a:graphicData>
        </a:graphic>
      </p:graphicFrame>
      <p:sp>
        <p:nvSpPr>
          <p:cNvPr id="5" name="Shape 2">
            <a:extLst>
              <a:ext uri="{FF2B5EF4-FFF2-40B4-BE49-F238E27FC236}">
                <a16:creationId xmlns:a16="http://schemas.microsoft.com/office/drawing/2014/main" id="{89110CFD-CE50-FBA9-FBEF-03E4097964EF}"/>
              </a:ext>
            </a:extLst>
          </p:cNvPr>
          <p:cNvSpPr/>
          <p:nvPr/>
        </p:nvSpPr>
        <p:spPr>
          <a:xfrm>
            <a:off x="457200" y="5623560"/>
            <a:ext cx="11247120" cy="777240"/>
          </a:xfrm>
          <a:prstGeom prst="roundRect">
            <a:avLst>
              <a:gd name="adj" fmla="val 9412"/>
            </a:avLst>
          </a:prstGeom>
          <a:solidFill>
            <a:srgbClr val="CADCFC">
              <a:alpha val="60000"/>
            </a:srgbClr>
          </a:solidFill>
          <a:ln w="9525">
            <a:solidFill>
              <a:srgbClr val="B7C6EE"/>
            </a:solidFill>
            <a:prstDash val="solid"/>
          </a:ln>
        </p:spPr>
        <p:txBody>
          <a:bodyPr/>
          <a:lstStyle/>
          <a:p>
            <a:endParaRPr lang="en-US"/>
          </a:p>
        </p:txBody>
      </p:sp>
      <p:sp>
        <p:nvSpPr>
          <p:cNvPr id="6" name="Text 3">
            <a:extLst>
              <a:ext uri="{FF2B5EF4-FFF2-40B4-BE49-F238E27FC236}">
                <a16:creationId xmlns:a16="http://schemas.microsoft.com/office/drawing/2014/main" id="{18E84543-ABB6-D328-D4CB-B6BD307D4BEC}"/>
              </a:ext>
            </a:extLst>
          </p:cNvPr>
          <p:cNvSpPr/>
          <p:nvPr/>
        </p:nvSpPr>
        <p:spPr>
          <a:xfrm>
            <a:off x="685800" y="5623560"/>
            <a:ext cx="10789920" cy="777240"/>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Protected paths: </a:t>
            </a:r>
            <a:r>
              <a:rPr lang="en-US" sz="1250" dirty="0">
                <a:solidFill>
                  <a:srgbClr val="475569"/>
                </a:solidFill>
                <a:latin typeface="Calibri" pitchFamily="34" charset="0"/>
                <a:ea typeface="Calibri" pitchFamily="34" charset="-122"/>
                <a:cs typeface="Calibri" pitchFamily="34" charset="-120"/>
              </a:rPr>
              <a:t>Writes to sensitive paths like .git, .claude, and shell config files are never auto-approved in any mode except bypassPermissions.</a:t>
            </a:r>
            <a:endParaRPr lang="en-US" sz="1250" dirty="0"/>
          </a:p>
        </p:txBody>
      </p:sp>
      <p:sp>
        <p:nvSpPr>
          <p:cNvPr id="7" name="Text 4">
            <a:extLst>
              <a:ext uri="{FF2B5EF4-FFF2-40B4-BE49-F238E27FC236}">
                <a16:creationId xmlns:a16="http://schemas.microsoft.com/office/drawing/2014/main" id="{2C48EC5A-F2BB-D1C3-71FA-35B2BDF9B5A6}"/>
              </a:ext>
            </a:extLst>
          </p:cNvPr>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Source: code.claude.com/docs/en/permission-modes</a:t>
            </a:r>
            <a:endParaRPr lang="en-US" sz="900" dirty="0"/>
          </a:p>
        </p:txBody>
      </p:sp>
    </p:spTree>
    <p:extLst>
      <p:ext uri="{BB962C8B-B14F-4D97-AF65-F5344CB8AC3E}">
        <p14:creationId xmlns:p14="http://schemas.microsoft.com/office/powerpoint/2010/main" val="1711601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640080" y="320040"/>
            <a:ext cx="6400800" cy="548640"/>
          </a:xfrm>
          <a:prstGeom prst="rect">
            <a:avLst/>
          </a:prstGeom>
          <a:noFill/>
          <a:ln/>
        </p:spPr>
        <p:txBody>
          <a:bodyPr wrap="square" lIns="0" tIns="0" rIns="0" bIns="0" rtlCol="0" anchor="ctr"/>
          <a:lstStyle/>
          <a:p>
            <a:pPr marL="0" indent="0">
              <a:buNone/>
            </a:pPr>
            <a:r>
              <a:rPr lang="en-US" sz="2600" b="1" dirty="0">
                <a:solidFill>
                  <a:srgbClr val="141413"/>
                </a:solidFill>
                <a:latin typeface="Poppins" pitchFamily="34" charset="0"/>
                <a:ea typeface="Poppins" pitchFamily="34" charset="-122"/>
                <a:cs typeface="Poppins" pitchFamily="34" charset="-120"/>
              </a:rPr>
              <a:t>CLAUDE.md</a:t>
            </a:r>
            <a:endParaRPr lang="en-US" sz="2600" dirty="0"/>
          </a:p>
        </p:txBody>
      </p:sp>
      <p:sp>
        <p:nvSpPr>
          <p:cNvPr id="3" name="Text 1"/>
          <p:cNvSpPr/>
          <p:nvPr/>
        </p:nvSpPr>
        <p:spPr>
          <a:xfrm>
            <a:off x="640080" y="841248"/>
            <a:ext cx="6400800" cy="274320"/>
          </a:xfrm>
          <a:prstGeom prst="rect">
            <a:avLst/>
          </a:prstGeom>
          <a:noFill/>
          <a:ln/>
        </p:spPr>
        <p:txBody>
          <a:bodyPr wrap="square" rtlCol="0" anchor="ctr"/>
          <a:lstStyle/>
          <a:p>
            <a:pPr marL="0" indent="0">
              <a:buNone/>
            </a:pPr>
            <a:r>
              <a:rPr lang="en-US" sz="1200" b="1" dirty="0">
                <a:solidFill>
                  <a:srgbClr val="D97757"/>
                </a:solidFill>
                <a:latin typeface="Poppins" pitchFamily="34" charset="0"/>
                <a:ea typeface="Poppins" pitchFamily="34" charset="-122"/>
                <a:cs typeface="Poppins" pitchFamily="34" charset="-120"/>
              </a:rPr>
              <a:t>Persistent project &amp; personal memory</a:t>
            </a:r>
            <a:endParaRPr lang="en-US" sz="1200" dirty="0"/>
          </a:p>
        </p:txBody>
      </p:sp>
      <p:sp>
        <p:nvSpPr>
          <p:cNvPr id="4" name="Shape 2"/>
          <p:cNvSpPr/>
          <p:nvPr/>
        </p:nvSpPr>
        <p:spPr>
          <a:xfrm>
            <a:off x="640080" y="1280160"/>
            <a:ext cx="5349240" cy="1874520"/>
          </a:xfrm>
          <a:prstGeom prst="roundRect">
            <a:avLst>
              <a:gd name="adj" fmla="val 3902"/>
            </a:avLst>
          </a:prstGeom>
          <a:solidFill>
            <a:srgbClr val="FFFFFF"/>
          </a:solidFill>
          <a:ln/>
          <a:effectLst>
            <a:outerShdw blurRad="101600" dist="38100" dir="5400000" algn="bl" rotWithShape="0">
              <a:srgbClr val="000000">
                <a:alpha val="12000"/>
              </a:srgbClr>
            </a:outerShdw>
          </a:effectLst>
        </p:spPr>
        <p:txBody>
          <a:bodyPr/>
          <a:lstStyle/>
          <a:p>
            <a:endParaRPr lang="en-US"/>
          </a:p>
        </p:txBody>
      </p:sp>
      <p:sp>
        <p:nvSpPr>
          <p:cNvPr id="5" name="Text 3"/>
          <p:cNvSpPr/>
          <p:nvPr/>
        </p:nvSpPr>
        <p:spPr>
          <a:xfrm>
            <a:off x="914400" y="1417320"/>
            <a:ext cx="4846320" cy="274320"/>
          </a:xfrm>
          <a:prstGeom prst="rect">
            <a:avLst/>
          </a:prstGeom>
          <a:noFill/>
          <a:ln/>
        </p:spPr>
        <p:txBody>
          <a:bodyPr wrap="square" lIns="0" tIns="0" rIns="0" bIns="0" rtlCol="0" anchor="ctr"/>
          <a:lstStyle/>
          <a:p>
            <a:pPr marL="0" indent="0">
              <a:buNone/>
            </a:pPr>
            <a:r>
              <a:rPr lang="en-US" sz="1300" b="1" dirty="0">
                <a:solidFill>
                  <a:srgbClr val="141413"/>
                </a:solidFill>
                <a:latin typeface="Poppins" pitchFamily="34" charset="0"/>
                <a:ea typeface="Poppins" pitchFamily="34" charset="-122"/>
                <a:cs typeface="Poppins" pitchFamily="34" charset="-120"/>
              </a:rPr>
              <a:t>What it is</a:t>
            </a:r>
            <a:endParaRPr lang="en-US" sz="1300" dirty="0"/>
          </a:p>
        </p:txBody>
      </p:sp>
      <p:sp>
        <p:nvSpPr>
          <p:cNvPr id="6" name="Text 4"/>
          <p:cNvSpPr/>
          <p:nvPr/>
        </p:nvSpPr>
        <p:spPr>
          <a:xfrm>
            <a:off x="914400" y="1719072"/>
            <a:ext cx="4846320" cy="1371600"/>
          </a:xfrm>
          <a:prstGeom prst="rect">
            <a:avLst/>
          </a:prstGeom>
          <a:noFill/>
          <a:ln/>
        </p:spPr>
        <p:txBody>
          <a:bodyPr wrap="square" rtlCol="0" anchor="t"/>
          <a:lstStyle/>
          <a:p>
            <a:pPr marL="342900" indent="-342900">
              <a:spcAft>
                <a:spcPts val="600"/>
              </a:spcAft>
              <a:buSzPct val="100000"/>
              <a:buChar char="•"/>
            </a:pPr>
            <a:r>
              <a:rPr lang="en-US" sz="1150" dirty="0">
                <a:solidFill>
                  <a:srgbClr val="55534A"/>
                </a:solidFill>
                <a:latin typeface="Lora" pitchFamily="34" charset="0"/>
                <a:ea typeface="Lora" pitchFamily="34" charset="-122"/>
                <a:cs typeface="Lora" pitchFamily="34" charset="-120"/>
              </a:rPr>
              <a:t>Persistent, plain-text instructions</a:t>
            </a:r>
            <a:endParaRPr lang="en-US" sz="1150" dirty="0"/>
          </a:p>
          <a:p>
            <a:pPr marL="342900" indent="-342900">
              <a:spcAft>
                <a:spcPts val="600"/>
              </a:spcAft>
              <a:buSzPct val="100000"/>
              <a:buChar char="•"/>
            </a:pPr>
            <a:r>
              <a:rPr lang="en-US" sz="1150" dirty="0">
                <a:solidFill>
                  <a:srgbClr val="55534A"/>
                </a:solidFill>
                <a:latin typeface="Lora" pitchFamily="34" charset="0"/>
                <a:ea typeface="Lora" pitchFamily="34" charset="-122"/>
                <a:cs typeface="Lora" pitchFamily="34" charset="-120"/>
              </a:rPr>
              <a:t>Read automatically every session</a:t>
            </a:r>
            <a:endParaRPr lang="en-US" sz="1150" dirty="0"/>
          </a:p>
          <a:p>
            <a:pPr marL="342900" indent="-342900">
              <a:spcAft>
                <a:spcPts val="600"/>
              </a:spcAft>
              <a:buSzPct val="100000"/>
              <a:buChar char="•"/>
            </a:pPr>
            <a:r>
              <a:rPr lang="en-US" sz="1150" dirty="0">
                <a:solidFill>
                  <a:srgbClr val="55534A"/>
                </a:solidFill>
                <a:latin typeface="Lora" pitchFamily="34" charset="0"/>
                <a:ea typeface="Lora" pitchFamily="34" charset="-122"/>
                <a:cs typeface="Lora" pitchFamily="34" charset="-120"/>
              </a:rPr>
              <a:t>Multiple scope levels, all combined</a:t>
            </a:r>
            <a:endParaRPr lang="en-US" sz="1150" dirty="0"/>
          </a:p>
          <a:p>
            <a:pPr marL="342900" indent="-342900">
              <a:buSzPct val="100000"/>
              <a:buChar char="•"/>
            </a:pPr>
            <a:r>
              <a:rPr lang="en-US" sz="1150" dirty="0">
                <a:solidFill>
                  <a:srgbClr val="55534A"/>
                </a:solidFill>
                <a:latin typeface="Lora" pitchFamily="34" charset="0"/>
                <a:ea typeface="Lora" pitchFamily="34" charset="-122"/>
                <a:cs typeface="Lora" pitchFamily="34" charset="-120"/>
              </a:rPr>
              <a:t>Keep it lean and stable</a:t>
            </a:r>
            <a:endParaRPr lang="en-US" sz="1150" dirty="0"/>
          </a:p>
        </p:txBody>
      </p:sp>
      <p:sp>
        <p:nvSpPr>
          <p:cNvPr id="7" name="Shape 5"/>
          <p:cNvSpPr/>
          <p:nvPr/>
        </p:nvSpPr>
        <p:spPr>
          <a:xfrm>
            <a:off x="6172200" y="1280160"/>
            <a:ext cx="5349240" cy="1874520"/>
          </a:xfrm>
          <a:prstGeom prst="roundRect">
            <a:avLst>
              <a:gd name="adj" fmla="val 3902"/>
            </a:avLst>
          </a:prstGeom>
          <a:solidFill>
            <a:srgbClr val="141413"/>
          </a:solidFill>
          <a:ln/>
          <a:effectLst>
            <a:outerShdw blurRad="101600" dist="38100" dir="5400000" algn="bl" rotWithShape="0">
              <a:srgbClr val="000000">
                <a:alpha val="12000"/>
              </a:srgbClr>
            </a:outerShdw>
          </a:effectLst>
        </p:spPr>
        <p:txBody>
          <a:bodyPr/>
          <a:lstStyle/>
          <a:p>
            <a:endParaRPr lang="en-US"/>
          </a:p>
        </p:txBody>
      </p:sp>
      <p:sp>
        <p:nvSpPr>
          <p:cNvPr id="8" name="Text 6"/>
          <p:cNvSpPr/>
          <p:nvPr/>
        </p:nvSpPr>
        <p:spPr>
          <a:xfrm>
            <a:off x="6446520" y="1417320"/>
            <a:ext cx="4846320" cy="274320"/>
          </a:xfrm>
          <a:prstGeom prst="rect">
            <a:avLst/>
          </a:prstGeom>
          <a:noFill/>
          <a:ln/>
        </p:spPr>
        <p:txBody>
          <a:bodyPr wrap="square" lIns="0" tIns="0" rIns="0" bIns="0" rtlCol="0" anchor="ctr"/>
          <a:lstStyle/>
          <a:p>
            <a:pPr marL="0" indent="0">
              <a:buNone/>
            </a:pPr>
            <a:r>
              <a:rPr lang="en-US" sz="1300" b="1" dirty="0">
                <a:solidFill>
                  <a:srgbClr val="FAF9F5"/>
                </a:solidFill>
                <a:latin typeface="Poppins" pitchFamily="34" charset="0"/>
                <a:ea typeface="Poppins" pitchFamily="34" charset="-122"/>
                <a:cs typeface="Poppins" pitchFamily="34" charset="-120"/>
              </a:rPr>
              <a:t>When it's used</a:t>
            </a:r>
            <a:endParaRPr lang="en-US" sz="1300" dirty="0"/>
          </a:p>
        </p:txBody>
      </p:sp>
      <p:sp>
        <p:nvSpPr>
          <p:cNvPr id="9" name="Text 7"/>
          <p:cNvSpPr/>
          <p:nvPr/>
        </p:nvSpPr>
        <p:spPr>
          <a:xfrm>
            <a:off x="6446520" y="1719072"/>
            <a:ext cx="4846320" cy="1371600"/>
          </a:xfrm>
          <a:prstGeom prst="rect">
            <a:avLst/>
          </a:prstGeom>
          <a:noFill/>
          <a:ln/>
        </p:spPr>
        <p:txBody>
          <a:bodyPr wrap="square" rtlCol="0" anchor="t"/>
          <a:lstStyle/>
          <a:p>
            <a:pPr marL="342900" indent="-342900">
              <a:spcAft>
                <a:spcPts val="600"/>
              </a:spcAft>
              <a:buSzPct val="100000"/>
              <a:buChar char="•"/>
            </a:pPr>
            <a:r>
              <a:rPr lang="en-US" sz="1150" dirty="0">
                <a:solidFill>
                  <a:srgbClr val="C9C7BC"/>
                </a:solidFill>
                <a:latin typeface="Lora" pitchFamily="34" charset="0"/>
                <a:ea typeface="Lora" pitchFamily="34" charset="-122"/>
                <a:cs typeface="Lora" pitchFamily="34" charset="-120"/>
              </a:rPr>
              <a:t>Loaded before the first prompt</a:t>
            </a:r>
            <a:endParaRPr lang="en-US" sz="1150" dirty="0"/>
          </a:p>
          <a:p>
            <a:pPr marL="342900" indent="-342900">
              <a:spcAft>
                <a:spcPts val="600"/>
              </a:spcAft>
              <a:buSzPct val="100000"/>
              <a:buChar char="•"/>
            </a:pPr>
            <a:r>
              <a:rPr lang="en-US" sz="1150" dirty="0">
                <a:solidFill>
                  <a:srgbClr val="C9C7BC"/>
                </a:solidFill>
                <a:latin typeface="Lora" pitchFamily="34" charset="0"/>
                <a:ea typeface="Lora" pitchFamily="34" charset="-122"/>
                <a:cs typeface="Lora" pitchFamily="34" charset="-120"/>
              </a:rPr>
              <a:t>Subdirectory files load on demand</a:t>
            </a:r>
            <a:endParaRPr lang="en-US" sz="1150" dirty="0"/>
          </a:p>
          <a:p>
            <a:pPr marL="342900" indent="-342900">
              <a:spcAft>
                <a:spcPts val="600"/>
              </a:spcAft>
              <a:buSzPct val="100000"/>
              <a:buChar char="•"/>
            </a:pPr>
            <a:r>
              <a:rPr lang="en-US" sz="1150" dirty="0">
                <a:solidFill>
                  <a:srgbClr val="C9C7BC"/>
                </a:solidFill>
                <a:latin typeface="Lora" pitchFamily="34" charset="0"/>
                <a:ea typeface="Lora" pitchFamily="34" charset="-122"/>
                <a:cs typeface="Lora" pitchFamily="34" charset="-120"/>
              </a:rPr>
              <a:t>Editable via /memory</a:t>
            </a:r>
            <a:endParaRPr lang="en-US" sz="1150" dirty="0"/>
          </a:p>
          <a:p>
            <a:pPr marL="342900" indent="-342900">
              <a:buSzPct val="100000"/>
              <a:buChar char="•"/>
            </a:pPr>
            <a:r>
              <a:rPr lang="en-US" sz="1150" dirty="0">
                <a:solidFill>
                  <a:srgbClr val="C9C7BC"/>
                </a:solidFill>
                <a:latin typeface="Lora" pitchFamily="34" charset="0"/>
                <a:ea typeface="Lora" pitchFamily="34" charset="-122"/>
                <a:cs typeface="Lora" pitchFamily="34" charset="-120"/>
              </a:rPr>
              <a:t>Complemented by auto memory</a:t>
            </a:r>
            <a:endParaRPr lang="en-US" sz="1150" dirty="0"/>
          </a:p>
        </p:txBody>
      </p:sp>
      <p:sp>
        <p:nvSpPr>
          <p:cNvPr id="10" name="Shape 8"/>
          <p:cNvSpPr/>
          <p:nvPr/>
        </p:nvSpPr>
        <p:spPr>
          <a:xfrm>
            <a:off x="640080" y="3291840"/>
            <a:ext cx="10881360" cy="1530462"/>
          </a:xfrm>
          <a:prstGeom prst="roundRect">
            <a:avLst>
              <a:gd name="adj" fmla="val 5333"/>
            </a:avLst>
          </a:prstGeom>
          <a:solidFill>
            <a:srgbClr val="FFFFFF"/>
          </a:solidFill>
          <a:ln/>
          <a:effectLst>
            <a:outerShdw blurRad="101600" dist="38100" dir="5400000" algn="bl" rotWithShape="0">
              <a:srgbClr val="000000">
                <a:alpha val="12000"/>
              </a:srgbClr>
            </a:outerShdw>
          </a:effectLst>
        </p:spPr>
        <p:txBody>
          <a:bodyPr/>
          <a:lstStyle/>
          <a:p>
            <a:endParaRPr lang="en-US"/>
          </a:p>
        </p:txBody>
      </p:sp>
      <p:sp>
        <p:nvSpPr>
          <p:cNvPr id="11" name="Text 9"/>
          <p:cNvSpPr/>
          <p:nvPr/>
        </p:nvSpPr>
        <p:spPr>
          <a:xfrm>
            <a:off x="914400" y="3410712"/>
            <a:ext cx="5486400" cy="274320"/>
          </a:xfrm>
          <a:prstGeom prst="rect">
            <a:avLst/>
          </a:prstGeom>
          <a:noFill/>
          <a:ln/>
        </p:spPr>
        <p:txBody>
          <a:bodyPr wrap="square" lIns="0" tIns="0" rIns="0" bIns="0" rtlCol="0" anchor="ctr"/>
          <a:lstStyle/>
          <a:p>
            <a:pPr marL="0" indent="0">
              <a:buNone/>
            </a:pPr>
            <a:r>
              <a:rPr lang="en-US" sz="1250" b="1" dirty="0">
                <a:solidFill>
                  <a:srgbClr val="D97757"/>
                </a:solidFill>
                <a:latin typeface="Poppins" pitchFamily="34" charset="0"/>
                <a:ea typeface="Poppins" pitchFamily="34" charset="-122"/>
                <a:cs typeface="Poppins" pitchFamily="34" charset="-120"/>
              </a:rPr>
              <a:t>Key consideration</a:t>
            </a:r>
            <a:endParaRPr lang="en-US" sz="1250" dirty="0"/>
          </a:p>
        </p:txBody>
      </p:sp>
      <p:sp>
        <p:nvSpPr>
          <p:cNvPr id="12" name="Text 10"/>
          <p:cNvSpPr/>
          <p:nvPr/>
        </p:nvSpPr>
        <p:spPr>
          <a:xfrm>
            <a:off x="914400" y="3703320"/>
            <a:ext cx="9966960" cy="914400"/>
          </a:xfrm>
          <a:prstGeom prst="rect">
            <a:avLst/>
          </a:prstGeom>
          <a:noFill/>
          <a:ln/>
        </p:spPr>
        <p:txBody>
          <a:bodyPr wrap="square" rtlCol="0" anchor="t"/>
          <a:lstStyle/>
          <a:p>
            <a:pPr marL="342900" indent="-342900">
              <a:spcAft>
                <a:spcPts val="800"/>
              </a:spcAft>
              <a:buSzPct val="100000"/>
              <a:buChar char="•"/>
            </a:pPr>
            <a:r>
              <a:rPr lang="en-US" sz="1250" dirty="0">
                <a:solidFill>
                  <a:srgbClr val="141413"/>
                </a:solidFill>
                <a:latin typeface="Lora" pitchFamily="34" charset="0"/>
                <a:ea typeface="Lora" pitchFamily="34" charset="-122"/>
                <a:cs typeface="Lora" pitchFamily="34" charset="-120"/>
              </a:rPr>
              <a:t>Target under 200 lines per file</a:t>
            </a:r>
            <a:endParaRPr lang="en-US" sz="1250" dirty="0"/>
          </a:p>
          <a:p>
            <a:pPr marL="342900" indent="-342900">
              <a:spcAft>
                <a:spcPts val="400"/>
              </a:spcAft>
              <a:buSzPct val="100000"/>
              <a:buChar char="•"/>
            </a:pPr>
            <a:r>
              <a:rPr lang="en-US" sz="1250" dirty="0">
                <a:solidFill>
                  <a:srgbClr val="141413"/>
                </a:solidFill>
                <a:latin typeface="Lora" pitchFamily="34" charset="0"/>
                <a:ea typeface="Lora" pitchFamily="34" charset="-122"/>
                <a:cs typeface="Lora" pitchFamily="34" charset="-120"/>
              </a:rPr>
              <a:t>Splitting into topic files (running.md, architecture.md, testing.md) works well for organization</a:t>
            </a:r>
            <a:endParaRPr lang="en-US" sz="1250" dirty="0"/>
          </a:p>
          <a:p>
            <a:pPr marL="685800" lvl="1" indent="-342900">
              <a:buSzPct val="100000"/>
              <a:buChar char="•"/>
            </a:pPr>
            <a:r>
              <a:rPr lang="en-US" sz="1250" dirty="0">
                <a:solidFill>
                  <a:srgbClr val="141413"/>
                </a:solidFill>
                <a:latin typeface="Lora" pitchFamily="34" charset="0"/>
                <a:ea typeface="Lora" pitchFamily="34" charset="-122"/>
                <a:cs typeface="Lora" pitchFamily="34" charset="-120"/>
              </a:rPr>
              <a:t>But referencing them with @path doesn't reduce context — they still load in full. Use Rules when you need less to load.</a:t>
            </a:r>
          </a:p>
          <a:p>
            <a:pPr marL="228600" indent="-342900">
              <a:buSzPct val="100000"/>
              <a:buChar char="•"/>
            </a:pPr>
            <a:r>
              <a:rPr lang="en-US" sz="1250" dirty="0">
                <a:solidFill>
                  <a:srgbClr val="141413"/>
                </a:solidFill>
                <a:latin typeface="Lora" pitchFamily="34" charset="0"/>
              </a:rPr>
              <a:t>Also supported options: CLAUDE.local.md and ~/.claude/CLAUDE.md</a:t>
            </a:r>
            <a:endParaRPr lang="en-US" sz="1250" dirty="0"/>
          </a:p>
        </p:txBody>
      </p:sp>
      <p:sp>
        <p:nvSpPr>
          <p:cNvPr id="13" name="Text 11"/>
          <p:cNvSpPr/>
          <p:nvPr/>
        </p:nvSpPr>
        <p:spPr>
          <a:xfrm>
            <a:off x="548640" y="5001189"/>
            <a:ext cx="10881360" cy="274320"/>
          </a:xfrm>
          <a:prstGeom prst="rect">
            <a:avLst/>
          </a:prstGeom>
          <a:noFill/>
          <a:ln/>
        </p:spPr>
        <p:txBody>
          <a:bodyPr wrap="square" rtlCol="0" anchor="ctr"/>
          <a:lstStyle/>
          <a:p>
            <a:pPr marL="0" indent="0">
              <a:buNone/>
            </a:pPr>
            <a:r>
              <a:rPr lang="en-US" sz="1250" b="1" dirty="0">
                <a:solidFill>
                  <a:srgbClr val="55534A"/>
                </a:solidFill>
                <a:latin typeface="Poppins" pitchFamily="34" charset="0"/>
                <a:ea typeface="Poppins" pitchFamily="34" charset="-122"/>
                <a:cs typeface="Poppins" pitchFamily="34" charset="-120"/>
              </a:rPr>
              <a:t>When it outgrows its budget — in order of preference</a:t>
            </a:r>
            <a:endParaRPr lang="en-US" sz="1250" dirty="0"/>
          </a:p>
        </p:txBody>
      </p:sp>
      <p:sp>
        <p:nvSpPr>
          <p:cNvPr id="15" name="Chevron1Label"/>
          <p:cNvSpPr/>
          <p:nvPr/>
        </p:nvSpPr>
        <p:spPr>
          <a:xfrm>
            <a:off x="641160" y="5339760"/>
            <a:ext cx="2286000" cy="228600"/>
          </a:xfrm>
          <a:prstGeom prst="rect">
            <a:avLst/>
          </a:prstGeom>
          <a:noFill/>
          <a:ln/>
        </p:spPr>
        <p:txBody>
          <a:bodyPr wrap="square" lIns="0" tIns="0" rIns="0" bIns="0" rtlCol="0" anchor="ctr"/>
          <a:lstStyle/>
          <a:p>
            <a:pPr marL="0" indent="0">
              <a:buNone/>
            </a:pPr>
            <a:r>
              <a:rPr lang="en-US" sz="900" b="1" dirty="0">
                <a:solidFill>
                  <a:srgbClr val="D97757"/>
                </a:solidFill>
                <a:latin typeface="Poppins" pitchFamily="34" charset="0"/>
              </a:rPr>
              <a:t>① FIRST</a:t>
            </a:r>
            <a:endParaRPr lang="en-US" sz="900" dirty="0"/>
          </a:p>
        </p:txBody>
      </p:sp>
      <p:sp>
        <p:nvSpPr>
          <p:cNvPr id="16" name="Chevron1Text"/>
          <p:cNvSpPr/>
          <p:nvPr/>
        </p:nvSpPr>
        <p:spPr>
          <a:xfrm>
            <a:off x="641160" y="5577840"/>
            <a:ext cx="2150520" cy="548640"/>
          </a:xfrm>
          <a:prstGeom prst="rect">
            <a:avLst/>
          </a:prstGeom>
          <a:noFill/>
          <a:ln/>
        </p:spPr>
        <p:txBody>
          <a:bodyPr wrap="square" lIns="0" tIns="0" rIns="0" bIns="0" rtlCol="0" anchor="t"/>
          <a:lstStyle/>
          <a:p>
            <a:pPr marL="0" indent="0">
              <a:buNone/>
            </a:pPr>
            <a:r>
              <a:rPr lang="en-US" sz="1050" b="1" dirty="0">
                <a:solidFill>
                  <a:srgbClr val="141413"/>
                </a:solidFill>
                <a:latin typeface="Lora" pitchFamily="34" charset="0"/>
              </a:rPr>
              <a:t>Move path-specific content to Rules</a:t>
            </a:r>
            <a:endParaRPr lang="en-US" sz="1050" dirty="0"/>
          </a:p>
        </p:txBody>
      </p:sp>
      <p:sp>
        <p:nvSpPr>
          <p:cNvPr id="18" name="Chevron2Label"/>
          <p:cNvSpPr/>
          <p:nvPr/>
        </p:nvSpPr>
        <p:spPr>
          <a:xfrm>
            <a:off x="3521520" y="5339760"/>
            <a:ext cx="2286000" cy="228600"/>
          </a:xfrm>
          <a:prstGeom prst="rect">
            <a:avLst/>
          </a:prstGeom>
          <a:noFill/>
          <a:ln/>
        </p:spPr>
        <p:txBody>
          <a:bodyPr wrap="square" lIns="0" tIns="0" rIns="0" bIns="0" rtlCol="0" anchor="ctr"/>
          <a:lstStyle/>
          <a:p>
            <a:pPr marL="0" indent="0">
              <a:buNone/>
            </a:pPr>
            <a:r>
              <a:rPr lang="en-US" sz="900" b="1" dirty="0">
                <a:solidFill>
                  <a:srgbClr val="185FA5"/>
                </a:solidFill>
                <a:latin typeface="Poppins" pitchFamily="34" charset="0"/>
              </a:rPr>
              <a:t>② THEN</a:t>
            </a:r>
            <a:endParaRPr lang="en-US" sz="900" dirty="0"/>
          </a:p>
        </p:txBody>
      </p:sp>
      <p:sp>
        <p:nvSpPr>
          <p:cNvPr id="19" name="Chevron2Text"/>
          <p:cNvSpPr/>
          <p:nvPr/>
        </p:nvSpPr>
        <p:spPr>
          <a:xfrm>
            <a:off x="3521520" y="5577840"/>
            <a:ext cx="2150520" cy="548640"/>
          </a:xfrm>
          <a:prstGeom prst="rect">
            <a:avLst/>
          </a:prstGeom>
          <a:noFill/>
          <a:ln/>
        </p:spPr>
        <p:txBody>
          <a:bodyPr wrap="square" lIns="0" tIns="0" rIns="0" bIns="0" rtlCol="0" anchor="t"/>
          <a:lstStyle/>
          <a:p>
            <a:pPr marL="0" indent="0">
              <a:buNone/>
            </a:pPr>
            <a:r>
              <a:rPr lang="en-US" sz="1050" b="1" dirty="0">
                <a:solidFill>
                  <a:srgbClr val="141413"/>
                </a:solidFill>
                <a:latin typeface="Lora" pitchFamily="34" charset="0"/>
              </a:rPr>
              <a:t>Split into topic files, link with @path</a:t>
            </a:r>
            <a:endParaRPr lang="en-US" sz="1050" dirty="0"/>
          </a:p>
        </p:txBody>
      </p:sp>
      <p:sp>
        <p:nvSpPr>
          <p:cNvPr id="21" name="Chevron3Label"/>
          <p:cNvSpPr/>
          <p:nvPr/>
        </p:nvSpPr>
        <p:spPr>
          <a:xfrm>
            <a:off x="6310440" y="5339760"/>
            <a:ext cx="2286000" cy="228600"/>
          </a:xfrm>
          <a:prstGeom prst="rect">
            <a:avLst/>
          </a:prstGeom>
          <a:noFill/>
          <a:ln/>
        </p:spPr>
        <p:txBody>
          <a:bodyPr wrap="square" lIns="0" tIns="0" rIns="0" bIns="0" rtlCol="0" anchor="ctr"/>
          <a:lstStyle/>
          <a:p>
            <a:pPr marL="0" indent="0">
              <a:buNone/>
            </a:pPr>
            <a:r>
              <a:rPr lang="en-US" sz="900" b="1" dirty="0">
                <a:solidFill>
                  <a:srgbClr val="3B6D11"/>
                </a:solidFill>
                <a:latin typeface="Poppins" pitchFamily="34" charset="0"/>
              </a:rPr>
              <a:t>③ OR</a:t>
            </a:r>
            <a:endParaRPr lang="en-US" sz="900" dirty="0"/>
          </a:p>
        </p:txBody>
      </p:sp>
      <p:sp>
        <p:nvSpPr>
          <p:cNvPr id="22" name="Chevron3Text"/>
          <p:cNvSpPr/>
          <p:nvPr/>
        </p:nvSpPr>
        <p:spPr>
          <a:xfrm>
            <a:off x="6310440" y="5577840"/>
            <a:ext cx="2150520" cy="548640"/>
          </a:xfrm>
          <a:prstGeom prst="rect">
            <a:avLst/>
          </a:prstGeom>
          <a:noFill/>
          <a:ln/>
        </p:spPr>
        <p:txBody>
          <a:bodyPr wrap="square" lIns="0" tIns="0" rIns="0" bIns="0" rtlCol="0" anchor="t"/>
          <a:lstStyle/>
          <a:p>
            <a:pPr marL="0" indent="0">
              <a:buNone/>
            </a:pPr>
            <a:r>
              <a:rPr lang="en-US" sz="1050" b="1" dirty="0">
                <a:solidFill>
                  <a:srgbClr val="141413"/>
                </a:solidFill>
                <a:latin typeface="Lora" pitchFamily="34" charset="0"/>
              </a:rPr>
              <a:t>Move multi-step procedures to Skills</a:t>
            </a:r>
            <a:endParaRPr lang="en-US" sz="1050" dirty="0"/>
          </a:p>
        </p:txBody>
      </p:sp>
      <p:sp>
        <p:nvSpPr>
          <p:cNvPr id="24" name="Chevron4Label"/>
          <p:cNvSpPr/>
          <p:nvPr/>
        </p:nvSpPr>
        <p:spPr>
          <a:xfrm>
            <a:off x="9006840" y="5339760"/>
            <a:ext cx="2286000" cy="228600"/>
          </a:xfrm>
          <a:prstGeom prst="rect">
            <a:avLst/>
          </a:prstGeom>
          <a:noFill/>
          <a:ln/>
        </p:spPr>
        <p:txBody>
          <a:bodyPr wrap="square" lIns="0" tIns="0" rIns="0" bIns="0" rtlCol="0" anchor="ctr"/>
          <a:lstStyle/>
          <a:p>
            <a:pPr marL="0" indent="0">
              <a:buNone/>
            </a:pPr>
            <a:r>
              <a:rPr lang="en-US" sz="900" b="1" dirty="0">
                <a:solidFill>
                  <a:srgbClr val="888780"/>
                </a:solidFill>
                <a:latin typeface="Poppins" pitchFamily="34" charset="0"/>
              </a:rPr>
              <a:t>④ LAST RESORT</a:t>
            </a:r>
            <a:endParaRPr lang="en-US" sz="900" dirty="0"/>
          </a:p>
        </p:txBody>
      </p:sp>
      <p:sp>
        <p:nvSpPr>
          <p:cNvPr id="25" name="Chevron4Text"/>
          <p:cNvSpPr/>
          <p:nvPr/>
        </p:nvSpPr>
        <p:spPr>
          <a:xfrm>
            <a:off x="9006840" y="5577840"/>
            <a:ext cx="2286000" cy="548640"/>
          </a:xfrm>
          <a:prstGeom prst="rect">
            <a:avLst/>
          </a:prstGeom>
          <a:noFill/>
          <a:ln/>
        </p:spPr>
        <p:txBody>
          <a:bodyPr wrap="square" lIns="0" tIns="0" rIns="0" bIns="0" rtlCol="0" anchor="t"/>
          <a:lstStyle/>
          <a:p>
            <a:pPr marL="0" indent="0">
              <a:buNone/>
            </a:pPr>
            <a:r>
              <a:rPr lang="en-US" sz="1050" b="1" dirty="0">
                <a:solidFill>
                  <a:srgbClr val="55534A"/>
                </a:solidFill>
                <a:latin typeface="Lora" pitchFamily="34" charset="0"/>
              </a:rPr>
              <a:t>Trim what Claude already knows</a:t>
            </a:r>
            <a:endParaRPr lang="en-US" sz="1050" dirty="0"/>
          </a:p>
        </p:txBody>
      </p:sp>
      <p:sp>
        <p:nvSpPr>
          <p:cNvPr id="26" name="Arrow: Right 25">
            <a:extLst>
              <a:ext uri="{FF2B5EF4-FFF2-40B4-BE49-F238E27FC236}">
                <a16:creationId xmlns:a16="http://schemas.microsoft.com/office/drawing/2014/main" id="{3DA852FA-AE9E-A96B-9FFE-8538CED910E4}"/>
              </a:ext>
            </a:extLst>
          </p:cNvPr>
          <p:cNvSpPr/>
          <p:nvPr/>
        </p:nvSpPr>
        <p:spPr>
          <a:xfrm>
            <a:off x="2840852" y="5454396"/>
            <a:ext cx="4292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Arrow: Right 27">
            <a:extLst>
              <a:ext uri="{FF2B5EF4-FFF2-40B4-BE49-F238E27FC236}">
                <a16:creationId xmlns:a16="http://schemas.microsoft.com/office/drawing/2014/main" id="{32D3EE72-1481-19F2-4A6F-F6629C57E594}"/>
              </a:ext>
            </a:extLst>
          </p:cNvPr>
          <p:cNvSpPr/>
          <p:nvPr/>
        </p:nvSpPr>
        <p:spPr>
          <a:xfrm>
            <a:off x="5666957" y="5454396"/>
            <a:ext cx="4292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Arrow: Right 28">
            <a:extLst>
              <a:ext uri="{FF2B5EF4-FFF2-40B4-BE49-F238E27FC236}">
                <a16:creationId xmlns:a16="http://schemas.microsoft.com/office/drawing/2014/main" id="{BCFC9AD0-F56F-AA33-726B-971F91F661AA}"/>
              </a:ext>
            </a:extLst>
          </p:cNvPr>
          <p:cNvSpPr/>
          <p:nvPr/>
        </p:nvSpPr>
        <p:spPr>
          <a:xfrm>
            <a:off x="8440172" y="5454396"/>
            <a:ext cx="4292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640080" y="365760"/>
            <a:ext cx="9144000" cy="594360"/>
          </a:xfrm>
          <a:prstGeom prst="rect">
            <a:avLst/>
          </a:prstGeom>
          <a:noFill/>
          <a:ln/>
        </p:spPr>
        <p:txBody>
          <a:bodyPr wrap="square" lIns="0" tIns="0" rIns="0" bIns="0" rtlCol="0" anchor="ctr"/>
          <a:lstStyle/>
          <a:p>
            <a:pPr marL="0" indent="0">
              <a:buNone/>
            </a:pPr>
            <a:r>
              <a:rPr lang="en-US" sz="2700" b="1" dirty="0">
                <a:solidFill>
                  <a:srgbClr val="141413"/>
                </a:solidFill>
                <a:latin typeface="Poppins" pitchFamily="34" charset="0"/>
                <a:ea typeface="Poppins" pitchFamily="34" charset="-122"/>
                <a:cs typeface="Poppins" pitchFamily="34" charset="-120"/>
              </a:rPr>
              <a:t>Multiple CLAUDE.md Files</a:t>
            </a:r>
            <a:endParaRPr lang="en-US" sz="2700" dirty="0"/>
          </a:p>
        </p:txBody>
      </p:sp>
      <p:sp>
        <p:nvSpPr>
          <p:cNvPr id="3" name="Text 1"/>
          <p:cNvSpPr/>
          <p:nvPr/>
        </p:nvSpPr>
        <p:spPr>
          <a:xfrm>
            <a:off x="640080" y="914400"/>
            <a:ext cx="9601200" cy="365760"/>
          </a:xfrm>
          <a:prstGeom prst="rect">
            <a:avLst/>
          </a:prstGeom>
          <a:noFill/>
          <a:ln/>
        </p:spPr>
        <p:txBody>
          <a:bodyPr wrap="square" rtlCol="0" anchor="ctr"/>
          <a:lstStyle/>
          <a:p>
            <a:pPr marL="0" indent="0">
              <a:buNone/>
            </a:pPr>
            <a:r>
              <a:rPr lang="en-US" sz="1250" dirty="0">
                <a:solidFill>
                  <a:srgbClr val="55534A"/>
                </a:solidFill>
                <a:latin typeface="Lora" pitchFamily="34" charset="0"/>
                <a:ea typeface="Lora" pitchFamily="34" charset="-122"/>
                <a:cs typeface="Lora" pitchFamily="34" charset="-120"/>
              </a:rPr>
              <a:t>Root, parent, and subdirectory files all combine — here's how</a:t>
            </a:r>
            <a:endParaRPr lang="en-US" sz="1250" dirty="0"/>
          </a:p>
        </p:txBody>
      </p:sp>
      <p:sp>
        <p:nvSpPr>
          <p:cNvPr id="4" name="Shape 2"/>
          <p:cNvSpPr/>
          <p:nvPr/>
        </p:nvSpPr>
        <p:spPr>
          <a:xfrm>
            <a:off x="640080" y="1554480"/>
            <a:ext cx="5349240" cy="3611880"/>
          </a:xfrm>
          <a:prstGeom prst="roundRect">
            <a:avLst>
              <a:gd name="adj" fmla="val 2025"/>
            </a:avLst>
          </a:prstGeom>
          <a:solidFill>
            <a:srgbClr val="FFFFFF"/>
          </a:solidFill>
          <a:ln/>
          <a:effectLst>
            <a:outerShdw blurRad="101600" dist="38100" dir="5400000" algn="bl" rotWithShape="0">
              <a:srgbClr val="000000">
                <a:alpha val="12000"/>
              </a:srgbClr>
            </a:outerShdw>
          </a:effectLst>
        </p:spPr>
        <p:txBody>
          <a:bodyPr/>
          <a:lstStyle/>
          <a:p>
            <a:endParaRPr lang="en-US"/>
          </a:p>
        </p:txBody>
      </p:sp>
      <p:sp>
        <p:nvSpPr>
          <p:cNvPr id="5" name="Text 3"/>
          <p:cNvSpPr/>
          <p:nvPr/>
        </p:nvSpPr>
        <p:spPr>
          <a:xfrm>
            <a:off x="914400" y="1764792"/>
            <a:ext cx="4846320" cy="320040"/>
          </a:xfrm>
          <a:prstGeom prst="rect">
            <a:avLst/>
          </a:prstGeom>
          <a:noFill/>
          <a:ln/>
        </p:spPr>
        <p:txBody>
          <a:bodyPr wrap="square" lIns="0" tIns="0" rIns="0" bIns="0" rtlCol="0" anchor="ctr"/>
          <a:lstStyle/>
          <a:p>
            <a:pPr marL="0" indent="0">
              <a:buNone/>
            </a:pPr>
            <a:r>
              <a:rPr lang="en-US" sz="1400" b="1" dirty="0">
                <a:solidFill>
                  <a:srgbClr val="141413"/>
                </a:solidFill>
                <a:latin typeface="Poppins" pitchFamily="34" charset="0"/>
                <a:ea typeface="Poppins" pitchFamily="34" charset="-122"/>
                <a:cs typeface="Poppins" pitchFamily="34" charset="-120"/>
              </a:rPr>
              <a:t>How they combine</a:t>
            </a:r>
            <a:endParaRPr lang="en-US" sz="1400" dirty="0"/>
          </a:p>
        </p:txBody>
      </p:sp>
      <p:sp>
        <p:nvSpPr>
          <p:cNvPr id="6" name="Text 4"/>
          <p:cNvSpPr/>
          <p:nvPr/>
        </p:nvSpPr>
        <p:spPr>
          <a:xfrm>
            <a:off x="914400" y="2194560"/>
            <a:ext cx="4846320" cy="2834640"/>
          </a:xfrm>
          <a:prstGeom prst="rect">
            <a:avLst/>
          </a:prstGeom>
          <a:noFill/>
          <a:ln/>
        </p:spPr>
        <p:txBody>
          <a:bodyPr wrap="square" rtlCol="0" anchor="t"/>
          <a:lstStyle/>
          <a:p>
            <a:pPr marL="342900" indent="-342900">
              <a:spcAft>
                <a:spcPts val="1500"/>
              </a:spcAft>
              <a:buSzPct val="100000"/>
              <a:buChar char="•"/>
            </a:pPr>
            <a:r>
              <a:rPr lang="en-US" sz="1350" dirty="0">
                <a:solidFill>
                  <a:srgbClr val="55534A"/>
                </a:solidFill>
                <a:latin typeface="Lora" pitchFamily="34" charset="0"/>
                <a:ea typeface="Lora" pitchFamily="34" charset="-122"/>
                <a:cs typeface="Lora" pitchFamily="34" charset="-120"/>
              </a:rPr>
              <a:t>Walks up the directory tree</a:t>
            </a:r>
            <a:endParaRPr lang="en-US" sz="1350" dirty="0"/>
          </a:p>
          <a:p>
            <a:pPr marL="342900" indent="-342900">
              <a:spcAft>
                <a:spcPts val="1500"/>
              </a:spcAft>
              <a:buSzPct val="100000"/>
              <a:buChar char="•"/>
            </a:pPr>
            <a:r>
              <a:rPr lang="en-US" sz="1350" dirty="0">
                <a:solidFill>
                  <a:srgbClr val="55534A"/>
                </a:solidFill>
                <a:latin typeface="Lora" pitchFamily="34" charset="0"/>
                <a:ea typeface="Lora" pitchFamily="34" charset="-122"/>
                <a:cs typeface="Lora" pitchFamily="34" charset="-120"/>
              </a:rPr>
              <a:t>Concatenated, not merged</a:t>
            </a:r>
            <a:endParaRPr lang="en-US" sz="1350" dirty="0"/>
          </a:p>
          <a:p>
            <a:pPr marL="342900" indent="-342900">
              <a:spcAft>
                <a:spcPts val="1500"/>
              </a:spcAft>
              <a:buSzPct val="100000"/>
              <a:buChar char="•"/>
            </a:pPr>
            <a:r>
              <a:rPr lang="en-US" sz="1350" dirty="0">
                <a:solidFill>
                  <a:srgbClr val="55534A"/>
                </a:solidFill>
                <a:latin typeface="Lora" pitchFamily="34" charset="0"/>
                <a:ea typeface="Lora" pitchFamily="34" charset="-122"/>
                <a:cs typeface="Lora" pitchFamily="34" charset="-120"/>
              </a:rPr>
              <a:t>Root read first, working dir last</a:t>
            </a:r>
            <a:endParaRPr lang="en-US" sz="1350" dirty="0"/>
          </a:p>
          <a:p>
            <a:pPr marL="342900" indent="-342900">
              <a:spcAft>
                <a:spcPts val="1500"/>
              </a:spcAft>
              <a:buSzPct val="100000"/>
              <a:buChar char="•"/>
            </a:pPr>
            <a:r>
              <a:rPr lang="en-US" sz="1350" dirty="0">
                <a:solidFill>
                  <a:srgbClr val="55534A"/>
                </a:solidFill>
                <a:latin typeface="Lora" pitchFamily="34" charset="0"/>
                <a:ea typeface="Lora" pitchFamily="34" charset="-122"/>
                <a:cs typeface="Lora" pitchFamily="34" charset="-120"/>
              </a:rPr>
              <a:t>CLAUDE.local.md read last of all</a:t>
            </a:r>
            <a:endParaRPr lang="en-US" sz="1350" dirty="0"/>
          </a:p>
          <a:p>
            <a:pPr marL="342900" indent="-342900">
              <a:buSzPct val="100000"/>
              <a:buChar char="•"/>
            </a:pPr>
            <a:r>
              <a:rPr lang="en-US" sz="1350" dirty="0">
                <a:solidFill>
                  <a:srgbClr val="55534A"/>
                </a:solidFill>
                <a:latin typeface="Lora" pitchFamily="34" charset="0"/>
                <a:ea typeface="Lora" pitchFamily="34" charset="-122"/>
                <a:cs typeface="Lora" pitchFamily="34" charset="-120"/>
              </a:rPr>
              <a:t>Subdirectories load on demand</a:t>
            </a:r>
            <a:endParaRPr lang="en-US" sz="1350" dirty="0"/>
          </a:p>
        </p:txBody>
      </p:sp>
      <p:sp>
        <p:nvSpPr>
          <p:cNvPr id="7" name="Shape 5"/>
          <p:cNvSpPr/>
          <p:nvPr/>
        </p:nvSpPr>
        <p:spPr>
          <a:xfrm>
            <a:off x="6172200" y="1554480"/>
            <a:ext cx="5349240" cy="3611880"/>
          </a:xfrm>
          <a:prstGeom prst="roundRect">
            <a:avLst>
              <a:gd name="adj" fmla="val 2025"/>
            </a:avLst>
          </a:prstGeom>
          <a:solidFill>
            <a:srgbClr val="141413"/>
          </a:solidFill>
          <a:ln/>
          <a:effectLst>
            <a:outerShdw blurRad="101600" dist="38100" dir="5400000" algn="bl" rotWithShape="0">
              <a:srgbClr val="000000">
                <a:alpha val="12000"/>
              </a:srgbClr>
            </a:outerShdw>
          </a:effectLst>
        </p:spPr>
        <p:txBody>
          <a:bodyPr/>
          <a:lstStyle/>
          <a:p>
            <a:endParaRPr lang="en-US"/>
          </a:p>
        </p:txBody>
      </p:sp>
      <p:sp>
        <p:nvSpPr>
          <p:cNvPr id="8" name="Text 6"/>
          <p:cNvSpPr/>
          <p:nvPr/>
        </p:nvSpPr>
        <p:spPr>
          <a:xfrm>
            <a:off x="6446520" y="1764792"/>
            <a:ext cx="4846320" cy="320040"/>
          </a:xfrm>
          <a:prstGeom prst="rect">
            <a:avLst/>
          </a:prstGeom>
          <a:noFill/>
          <a:ln/>
        </p:spPr>
        <p:txBody>
          <a:bodyPr wrap="square" lIns="0" tIns="0" rIns="0" bIns="0" rtlCol="0" anchor="ctr"/>
          <a:lstStyle/>
          <a:p>
            <a:pPr marL="0" indent="0">
              <a:buNone/>
            </a:pPr>
            <a:r>
              <a:rPr lang="en-US" sz="1400" b="1" dirty="0">
                <a:solidFill>
                  <a:srgbClr val="FAF9F5"/>
                </a:solidFill>
                <a:latin typeface="Poppins" pitchFamily="34" charset="0"/>
                <a:ea typeface="Poppins" pitchFamily="34" charset="-122"/>
                <a:cs typeface="Poppins" pitchFamily="34" charset="-120"/>
              </a:rPr>
              <a:t>Known issues to watch for</a:t>
            </a:r>
            <a:endParaRPr lang="en-US" sz="1400" dirty="0"/>
          </a:p>
        </p:txBody>
      </p:sp>
      <p:sp>
        <p:nvSpPr>
          <p:cNvPr id="9" name="Text 7"/>
          <p:cNvSpPr/>
          <p:nvPr/>
        </p:nvSpPr>
        <p:spPr>
          <a:xfrm>
            <a:off x="6446520" y="2194560"/>
            <a:ext cx="4846320" cy="2834640"/>
          </a:xfrm>
          <a:prstGeom prst="rect">
            <a:avLst/>
          </a:prstGeom>
          <a:noFill/>
          <a:ln/>
        </p:spPr>
        <p:txBody>
          <a:bodyPr wrap="square" rtlCol="0" anchor="t"/>
          <a:lstStyle/>
          <a:p>
            <a:pPr marL="342900" indent="-342900">
              <a:spcAft>
                <a:spcPts val="1500"/>
              </a:spcAft>
              <a:buSzPct val="100000"/>
              <a:buChar char="•"/>
            </a:pPr>
            <a:r>
              <a:rPr lang="en-US" sz="1350" dirty="0">
                <a:solidFill>
                  <a:srgbClr val="C9C7BC"/>
                </a:solidFill>
                <a:latin typeface="Lora" pitchFamily="34" charset="0"/>
                <a:ea typeface="Lora" pitchFamily="34" charset="-122"/>
                <a:cs typeface="Lora" pitchFamily="34" charset="-120"/>
              </a:rPr>
              <a:t>No strict conflict precedence</a:t>
            </a:r>
            <a:endParaRPr lang="en-US" sz="1350" dirty="0"/>
          </a:p>
          <a:p>
            <a:pPr marL="342900" indent="-342900">
              <a:spcAft>
                <a:spcPts val="1500"/>
              </a:spcAft>
              <a:buSzPct val="100000"/>
              <a:buChar char="•"/>
            </a:pPr>
            <a:r>
              <a:rPr lang="en-US" sz="1350" dirty="0">
                <a:solidFill>
                  <a:srgbClr val="C9C7BC"/>
                </a:solidFill>
                <a:latin typeface="Lora" pitchFamily="34" charset="0"/>
                <a:ea typeface="Lora" pitchFamily="34" charset="-122"/>
                <a:cs typeface="Lora" pitchFamily="34" charset="-120"/>
              </a:rPr>
              <a:t>Anthropic flags this as ambiguous</a:t>
            </a:r>
            <a:endParaRPr lang="en-US" sz="1350" dirty="0"/>
          </a:p>
          <a:p>
            <a:pPr marL="342900" indent="-342900">
              <a:spcAft>
                <a:spcPts val="1500"/>
              </a:spcAft>
              <a:buSzPct val="100000"/>
              <a:buChar char="•"/>
            </a:pPr>
            <a:r>
              <a:rPr lang="en-US" sz="1350" dirty="0">
                <a:solidFill>
                  <a:srgbClr val="C9C7BC"/>
                </a:solidFill>
                <a:latin typeface="Lora" pitchFamily="34" charset="0"/>
                <a:ea typeface="Lora" pitchFamily="34" charset="-122"/>
                <a:cs typeface="Lora" pitchFamily="34" charset="-120"/>
              </a:rPr>
              <a:t>Monorepos pull in unrelated files</a:t>
            </a:r>
            <a:endParaRPr lang="en-US" sz="1350" dirty="0"/>
          </a:p>
          <a:p>
            <a:pPr marL="342900" indent="-342900">
              <a:buSzPct val="100000"/>
              <a:buChar char="•"/>
            </a:pPr>
            <a:r>
              <a:rPr lang="en-US" sz="1350" dirty="0">
                <a:solidFill>
                  <a:srgbClr val="C9C7BC"/>
                </a:solidFill>
                <a:latin typeface="Lora" pitchFamily="34" charset="0"/>
                <a:ea typeface="Lora" pitchFamily="34" charset="-122"/>
                <a:cs typeface="Lora" pitchFamily="34" charset="-120"/>
              </a:rPr>
              <a:t>Mitigate with /memory + claudeMdExcludes</a:t>
            </a:r>
            <a:endParaRPr lang="en-US" sz="1350" dirty="0"/>
          </a:p>
        </p:txBody>
      </p:sp>
      <p:sp>
        <p:nvSpPr>
          <p:cNvPr id="10" name="Shape 8"/>
          <p:cNvSpPr/>
          <p:nvPr/>
        </p:nvSpPr>
        <p:spPr>
          <a:xfrm>
            <a:off x="640080" y="5193792"/>
            <a:ext cx="2514600" cy="548640"/>
          </a:xfrm>
          <a:prstGeom prst="roundRect">
            <a:avLst>
              <a:gd name="adj" fmla="val 10000"/>
            </a:avLst>
          </a:prstGeom>
          <a:solidFill>
            <a:srgbClr val="B0AEA5"/>
          </a:solidFill>
          <a:ln/>
        </p:spPr>
        <p:txBody>
          <a:bodyPr/>
          <a:lstStyle/>
          <a:p>
            <a:endParaRPr lang="en-US"/>
          </a:p>
        </p:txBody>
      </p:sp>
      <p:sp>
        <p:nvSpPr>
          <p:cNvPr id="11" name="Text 9"/>
          <p:cNvSpPr/>
          <p:nvPr/>
        </p:nvSpPr>
        <p:spPr>
          <a:xfrm>
            <a:off x="640080" y="5193792"/>
            <a:ext cx="2514600" cy="548640"/>
          </a:xfrm>
          <a:prstGeom prst="rect">
            <a:avLst/>
          </a:prstGeom>
          <a:noFill/>
          <a:ln/>
        </p:spPr>
        <p:txBody>
          <a:bodyPr wrap="square" lIns="0" tIns="0" rIns="0" bIns="0" rtlCol="0" anchor="ctr"/>
          <a:lstStyle/>
          <a:p>
            <a:pPr marL="0" indent="0" algn="ctr">
              <a:buNone/>
            </a:pPr>
            <a:r>
              <a:rPr lang="en-US" sz="1100" b="1" dirty="0">
                <a:solidFill>
                  <a:srgbClr val="FAF9F5"/>
                </a:solidFill>
                <a:latin typeface="Poppins" pitchFamily="34" charset="0"/>
                <a:ea typeface="Poppins" pitchFamily="34" charset="-122"/>
                <a:cs typeface="Poppins" pitchFamily="34" charset="-120"/>
              </a:rPr>
              <a:t>Managed policy</a:t>
            </a:r>
            <a:endParaRPr lang="en-US" sz="1100" dirty="0"/>
          </a:p>
        </p:txBody>
      </p:sp>
      <p:sp>
        <p:nvSpPr>
          <p:cNvPr id="12" name="Text 10"/>
          <p:cNvSpPr/>
          <p:nvPr/>
        </p:nvSpPr>
        <p:spPr>
          <a:xfrm>
            <a:off x="3154680" y="5193792"/>
            <a:ext cx="320040" cy="548640"/>
          </a:xfrm>
          <a:prstGeom prst="rect">
            <a:avLst/>
          </a:prstGeom>
          <a:noFill/>
          <a:ln/>
        </p:spPr>
        <p:txBody>
          <a:bodyPr wrap="square" lIns="0" tIns="0" rIns="0" bIns="0" rtlCol="0" anchor="ctr"/>
          <a:lstStyle/>
          <a:p>
            <a:pPr marL="0" indent="0" algn="ctr">
              <a:buNone/>
            </a:pPr>
            <a:r>
              <a:rPr lang="en-US" sz="1400" dirty="0">
                <a:solidFill>
                  <a:srgbClr val="55534A"/>
                </a:solidFill>
              </a:rPr>
              <a:t>→</a:t>
            </a:r>
            <a:endParaRPr lang="en-US" sz="1400" dirty="0"/>
          </a:p>
        </p:txBody>
      </p:sp>
      <p:sp>
        <p:nvSpPr>
          <p:cNvPr id="13" name="Shape 11"/>
          <p:cNvSpPr/>
          <p:nvPr/>
        </p:nvSpPr>
        <p:spPr>
          <a:xfrm>
            <a:off x="3474720" y="5193792"/>
            <a:ext cx="2514600" cy="548640"/>
          </a:xfrm>
          <a:prstGeom prst="roundRect">
            <a:avLst>
              <a:gd name="adj" fmla="val 10000"/>
            </a:avLst>
          </a:prstGeom>
          <a:solidFill>
            <a:srgbClr val="D97757"/>
          </a:solidFill>
          <a:ln/>
        </p:spPr>
        <p:txBody>
          <a:bodyPr/>
          <a:lstStyle/>
          <a:p>
            <a:endParaRPr lang="en-US"/>
          </a:p>
        </p:txBody>
      </p:sp>
      <p:sp>
        <p:nvSpPr>
          <p:cNvPr id="14" name="Text 12"/>
          <p:cNvSpPr/>
          <p:nvPr/>
        </p:nvSpPr>
        <p:spPr>
          <a:xfrm>
            <a:off x="3474720" y="5193792"/>
            <a:ext cx="2514600" cy="548640"/>
          </a:xfrm>
          <a:prstGeom prst="rect">
            <a:avLst/>
          </a:prstGeom>
          <a:noFill/>
          <a:ln/>
        </p:spPr>
        <p:txBody>
          <a:bodyPr wrap="square" lIns="0" tIns="0" rIns="0" bIns="0" rtlCol="0" anchor="ctr"/>
          <a:lstStyle/>
          <a:p>
            <a:pPr marL="0" indent="0" algn="ctr">
              <a:buNone/>
            </a:pPr>
            <a:r>
              <a:rPr lang="en-US" sz="1100" b="1" dirty="0">
                <a:solidFill>
                  <a:srgbClr val="FAF9F5"/>
                </a:solidFill>
                <a:latin typeface="Poppins" pitchFamily="34" charset="0"/>
                <a:ea typeface="Poppins" pitchFamily="34" charset="-122"/>
                <a:cs typeface="Poppins" pitchFamily="34" charset="-120"/>
              </a:rPr>
              <a:t>User</a:t>
            </a:r>
            <a:endParaRPr lang="en-US" sz="1100" dirty="0"/>
          </a:p>
        </p:txBody>
      </p:sp>
      <p:sp>
        <p:nvSpPr>
          <p:cNvPr id="15" name="Text 13"/>
          <p:cNvSpPr/>
          <p:nvPr/>
        </p:nvSpPr>
        <p:spPr>
          <a:xfrm>
            <a:off x="5989320" y="5193792"/>
            <a:ext cx="320040" cy="548640"/>
          </a:xfrm>
          <a:prstGeom prst="rect">
            <a:avLst/>
          </a:prstGeom>
          <a:noFill/>
          <a:ln/>
        </p:spPr>
        <p:txBody>
          <a:bodyPr wrap="square" lIns="0" tIns="0" rIns="0" bIns="0" rtlCol="0" anchor="ctr"/>
          <a:lstStyle/>
          <a:p>
            <a:pPr marL="0" indent="0" algn="ctr">
              <a:buNone/>
            </a:pPr>
            <a:r>
              <a:rPr lang="en-US" sz="1400" dirty="0">
                <a:solidFill>
                  <a:srgbClr val="55534A"/>
                </a:solidFill>
              </a:rPr>
              <a:t>→</a:t>
            </a:r>
            <a:endParaRPr lang="en-US" sz="1400" dirty="0"/>
          </a:p>
        </p:txBody>
      </p:sp>
      <p:sp>
        <p:nvSpPr>
          <p:cNvPr id="16" name="Shape 14"/>
          <p:cNvSpPr/>
          <p:nvPr/>
        </p:nvSpPr>
        <p:spPr>
          <a:xfrm>
            <a:off x="6309360" y="5193792"/>
            <a:ext cx="2514600" cy="548640"/>
          </a:xfrm>
          <a:prstGeom prst="roundRect">
            <a:avLst>
              <a:gd name="adj" fmla="val 10000"/>
            </a:avLst>
          </a:prstGeom>
          <a:solidFill>
            <a:srgbClr val="6A9BCC"/>
          </a:solidFill>
          <a:ln/>
        </p:spPr>
        <p:txBody>
          <a:bodyPr/>
          <a:lstStyle/>
          <a:p>
            <a:endParaRPr lang="en-US"/>
          </a:p>
        </p:txBody>
      </p:sp>
      <p:sp>
        <p:nvSpPr>
          <p:cNvPr id="17" name="Text 15"/>
          <p:cNvSpPr/>
          <p:nvPr/>
        </p:nvSpPr>
        <p:spPr>
          <a:xfrm>
            <a:off x="6309360" y="5193792"/>
            <a:ext cx="2514600" cy="548640"/>
          </a:xfrm>
          <a:prstGeom prst="rect">
            <a:avLst/>
          </a:prstGeom>
          <a:noFill/>
          <a:ln/>
        </p:spPr>
        <p:txBody>
          <a:bodyPr wrap="square" lIns="0" tIns="0" rIns="0" bIns="0" rtlCol="0" anchor="ctr"/>
          <a:lstStyle/>
          <a:p>
            <a:pPr marL="0" indent="0" algn="ctr">
              <a:buNone/>
            </a:pPr>
            <a:r>
              <a:rPr lang="en-US" sz="1100" b="1" dirty="0">
                <a:solidFill>
                  <a:srgbClr val="FAF9F5"/>
                </a:solidFill>
                <a:latin typeface="Poppins" pitchFamily="34" charset="0"/>
                <a:ea typeface="Poppins" pitchFamily="34" charset="-122"/>
                <a:cs typeface="Poppins" pitchFamily="34" charset="-120"/>
              </a:rPr>
              <a:t>Project root</a:t>
            </a:r>
            <a:endParaRPr lang="en-US" sz="1100" dirty="0"/>
          </a:p>
        </p:txBody>
      </p:sp>
      <p:sp>
        <p:nvSpPr>
          <p:cNvPr id="18" name="Text 16"/>
          <p:cNvSpPr/>
          <p:nvPr/>
        </p:nvSpPr>
        <p:spPr>
          <a:xfrm>
            <a:off x="8823960" y="5193792"/>
            <a:ext cx="320040" cy="548640"/>
          </a:xfrm>
          <a:prstGeom prst="rect">
            <a:avLst/>
          </a:prstGeom>
          <a:noFill/>
          <a:ln/>
        </p:spPr>
        <p:txBody>
          <a:bodyPr wrap="square" lIns="0" tIns="0" rIns="0" bIns="0" rtlCol="0" anchor="ctr"/>
          <a:lstStyle/>
          <a:p>
            <a:pPr marL="0" indent="0" algn="ctr">
              <a:buNone/>
            </a:pPr>
            <a:r>
              <a:rPr lang="en-US" sz="1400" dirty="0">
                <a:solidFill>
                  <a:srgbClr val="55534A"/>
                </a:solidFill>
              </a:rPr>
              <a:t>→</a:t>
            </a:r>
            <a:endParaRPr lang="en-US" sz="1400" dirty="0"/>
          </a:p>
        </p:txBody>
      </p:sp>
      <p:sp>
        <p:nvSpPr>
          <p:cNvPr id="19" name="Shape 17"/>
          <p:cNvSpPr/>
          <p:nvPr/>
        </p:nvSpPr>
        <p:spPr>
          <a:xfrm>
            <a:off x="9144000" y="5193792"/>
            <a:ext cx="2514600" cy="548640"/>
          </a:xfrm>
          <a:prstGeom prst="roundRect">
            <a:avLst>
              <a:gd name="adj" fmla="val 10000"/>
            </a:avLst>
          </a:prstGeom>
          <a:solidFill>
            <a:srgbClr val="788C5D"/>
          </a:solidFill>
          <a:ln/>
        </p:spPr>
        <p:txBody>
          <a:bodyPr/>
          <a:lstStyle/>
          <a:p>
            <a:endParaRPr lang="en-US"/>
          </a:p>
        </p:txBody>
      </p:sp>
      <p:sp>
        <p:nvSpPr>
          <p:cNvPr id="20" name="Text 18"/>
          <p:cNvSpPr/>
          <p:nvPr/>
        </p:nvSpPr>
        <p:spPr>
          <a:xfrm>
            <a:off x="9144000" y="5193792"/>
            <a:ext cx="2514600" cy="548640"/>
          </a:xfrm>
          <a:prstGeom prst="rect">
            <a:avLst/>
          </a:prstGeom>
          <a:noFill/>
          <a:ln/>
        </p:spPr>
        <p:txBody>
          <a:bodyPr wrap="square" lIns="0" tIns="0" rIns="0" bIns="0" rtlCol="0" anchor="ctr"/>
          <a:lstStyle/>
          <a:p>
            <a:pPr marL="0" indent="0" algn="ctr">
              <a:buNone/>
            </a:pPr>
            <a:r>
              <a:rPr lang="en-US" sz="1100" b="1" dirty="0">
                <a:solidFill>
                  <a:srgbClr val="FAF9F5"/>
                </a:solidFill>
                <a:latin typeface="Poppins" pitchFamily="34" charset="0"/>
                <a:ea typeface="Poppins" pitchFamily="34" charset="-122"/>
                <a:cs typeface="Poppins" pitchFamily="34" charset="-120"/>
              </a:rPr>
              <a:t>Subdirectory</a:t>
            </a:r>
            <a:endParaRPr lang="en-US" sz="1100" dirty="0"/>
          </a:p>
        </p:txBody>
      </p:sp>
      <p:sp>
        <p:nvSpPr>
          <p:cNvPr id="21" name="Text 19"/>
          <p:cNvSpPr/>
          <p:nvPr/>
        </p:nvSpPr>
        <p:spPr>
          <a:xfrm>
            <a:off x="640080" y="5788152"/>
            <a:ext cx="10881360" cy="182880"/>
          </a:xfrm>
          <a:prstGeom prst="rect">
            <a:avLst/>
          </a:prstGeom>
          <a:noFill/>
          <a:ln/>
        </p:spPr>
        <p:txBody>
          <a:bodyPr wrap="square" rtlCol="0" anchor="ctr"/>
          <a:lstStyle/>
          <a:p>
            <a:pPr marL="0" indent="0" algn="ctr">
              <a:buNone/>
            </a:pPr>
            <a:r>
              <a:rPr lang="en-US" sz="950" i="1" dirty="0">
                <a:solidFill>
                  <a:srgbClr val="55534A"/>
                </a:solidFill>
                <a:latin typeface="Lora" pitchFamily="34" charset="0"/>
                <a:ea typeface="Lora" pitchFamily="34" charset="-122"/>
                <a:cs typeface="Lora" pitchFamily="34" charset="-120"/>
              </a:rPr>
              <a:t>Load order — read left to right</a:t>
            </a:r>
            <a:endParaRPr lang="en-US" sz="950" dirty="0"/>
          </a:p>
        </p:txBody>
      </p:sp>
      <p:sp>
        <p:nvSpPr>
          <p:cNvPr id="22" name="Shape 20"/>
          <p:cNvSpPr/>
          <p:nvPr/>
        </p:nvSpPr>
        <p:spPr>
          <a:xfrm>
            <a:off x="640080" y="6016752"/>
            <a:ext cx="10881360" cy="594360"/>
          </a:xfrm>
          <a:prstGeom prst="roundRect">
            <a:avLst>
              <a:gd name="adj" fmla="val 9231"/>
            </a:avLst>
          </a:prstGeom>
          <a:solidFill>
            <a:srgbClr val="E8E6DC"/>
          </a:solidFill>
          <a:ln/>
        </p:spPr>
        <p:txBody>
          <a:bodyPr/>
          <a:lstStyle/>
          <a:p>
            <a:endParaRPr lang="en-US"/>
          </a:p>
        </p:txBody>
      </p:sp>
      <p:sp>
        <p:nvSpPr>
          <p:cNvPr id="23" name="Text 21"/>
          <p:cNvSpPr/>
          <p:nvPr/>
        </p:nvSpPr>
        <p:spPr>
          <a:xfrm>
            <a:off x="914400" y="6016752"/>
            <a:ext cx="10332720" cy="594360"/>
          </a:xfrm>
          <a:prstGeom prst="rect">
            <a:avLst/>
          </a:prstGeom>
          <a:noFill/>
          <a:ln/>
        </p:spPr>
        <p:txBody>
          <a:bodyPr wrap="square" lIns="0" tIns="0" rIns="0" bIns="0" rtlCol="0" anchor="ctr"/>
          <a:lstStyle/>
          <a:p>
            <a:pPr marL="0" indent="0">
              <a:buNone/>
            </a:pPr>
            <a:r>
              <a:rPr lang="en-US" sz="1050" b="1" dirty="0">
                <a:solidFill>
                  <a:srgbClr val="141413"/>
                </a:solidFill>
                <a:latin typeface="Lora" pitchFamily="34" charset="0"/>
                <a:ea typeface="Lora" pitchFamily="34" charset="-122"/>
                <a:cs typeface="Lora" pitchFamily="34" charset="-120"/>
              </a:rPr>
              <a:t>⚠ On conflict: </a:t>
            </a:r>
            <a:r>
              <a:rPr lang="en-US" sz="1050" dirty="0">
                <a:solidFill>
                  <a:srgbClr val="55534A"/>
                </a:solidFill>
                <a:latin typeface="Lora" pitchFamily="34" charset="0"/>
                <a:ea typeface="Lora" pitchFamily="34" charset="-122"/>
                <a:cs typeface="Lora" pitchFamily="34" charset="-120"/>
              </a:rPr>
              <a:t>later-read files (right) carry more weight — but this is a </a:t>
            </a:r>
            <a:r>
              <a:rPr lang="en-US" sz="1050" b="1" dirty="0">
                <a:solidFill>
                  <a:srgbClr val="141413"/>
                </a:solidFill>
                <a:latin typeface="Lora" pitchFamily="34" charset="0"/>
                <a:ea typeface="Lora" pitchFamily="34" charset="-122"/>
                <a:cs typeface="Lora" pitchFamily="34" charset="-120"/>
              </a:rPr>
              <a:t>soft tendency, not a guarantee.</a:t>
            </a:r>
            <a:r>
              <a:rPr lang="en-US" sz="1050" dirty="0">
                <a:solidFill>
                  <a:srgbClr val="55534A"/>
                </a:solidFill>
                <a:latin typeface="Lora" pitchFamily="34" charset="0"/>
                <a:ea typeface="Lora" pitchFamily="34" charset="-122"/>
                <a:cs typeface="Lora" pitchFamily="34" charset="-120"/>
              </a:rPr>
              <a:t> Anthropic flags it as underdocumented. Claude may pick either instruction arbitrarily. Avoid contradictions across files.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640080" y="365760"/>
            <a:ext cx="6400800" cy="548640"/>
          </a:xfrm>
          <a:prstGeom prst="rect">
            <a:avLst/>
          </a:prstGeom>
          <a:noFill/>
          <a:ln/>
        </p:spPr>
        <p:txBody>
          <a:bodyPr wrap="square" lIns="0" tIns="0" rIns="0" bIns="0" rtlCol="0" anchor="ctr"/>
          <a:lstStyle/>
          <a:p>
            <a:pPr marL="0" indent="0">
              <a:buNone/>
            </a:pPr>
            <a:r>
              <a:rPr lang="en-US" sz="2600" b="1" dirty="0">
                <a:solidFill>
                  <a:srgbClr val="141413"/>
                </a:solidFill>
                <a:latin typeface="Poppins" pitchFamily="34" charset="0"/>
                <a:ea typeface="Poppins" pitchFamily="34" charset="-122"/>
                <a:cs typeface="Poppins" pitchFamily="34" charset="-120"/>
              </a:rPr>
              <a:t>Rules</a:t>
            </a:r>
            <a:endParaRPr lang="en-US" sz="2600" dirty="0"/>
          </a:p>
        </p:txBody>
      </p:sp>
      <p:sp>
        <p:nvSpPr>
          <p:cNvPr id="3" name="Text 1"/>
          <p:cNvSpPr/>
          <p:nvPr/>
        </p:nvSpPr>
        <p:spPr>
          <a:xfrm>
            <a:off x="640080" y="896112"/>
            <a:ext cx="7315200" cy="274320"/>
          </a:xfrm>
          <a:prstGeom prst="rect">
            <a:avLst/>
          </a:prstGeom>
          <a:noFill/>
          <a:ln/>
        </p:spPr>
        <p:txBody>
          <a:bodyPr wrap="square" rtlCol="0" anchor="ctr"/>
          <a:lstStyle/>
          <a:p>
            <a:pPr marL="0" indent="0">
              <a:buNone/>
            </a:pPr>
            <a:r>
              <a:rPr lang="en-US" sz="1200" b="1" dirty="0">
                <a:solidFill>
                  <a:srgbClr val="6A9BCC"/>
                </a:solidFill>
                <a:latin typeface="Poppins" pitchFamily="34" charset="0"/>
                <a:ea typeface="Poppins" pitchFamily="34" charset="-122"/>
                <a:cs typeface="Poppins" pitchFamily="34" charset="-120"/>
              </a:rPr>
              <a:t>Modular, scoped instructions — .claude/rules/</a:t>
            </a:r>
            <a:endParaRPr lang="en-US" sz="1200" dirty="0"/>
          </a:p>
        </p:txBody>
      </p:sp>
      <p:sp>
        <p:nvSpPr>
          <p:cNvPr id="4" name="Shape 2"/>
          <p:cNvSpPr/>
          <p:nvPr/>
        </p:nvSpPr>
        <p:spPr>
          <a:xfrm>
            <a:off x="640080" y="1371600"/>
            <a:ext cx="365760" cy="365760"/>
          </a:xfrm>
          <a:prstGeom prst="ellipse">
            <a:avLst/>
          </a:prstGeom>
          <a:solidFill>
            <a:srgbClr val="D97757"/>
          </a:solidFill>
          <a:ln/>
        </p:spPr>
        <p:txBody>
          <a:bodyPr/>
          <a:lstStyle/>
          <a:p>
            <a:endParaRPr lang="en-US"/>
          </a:p>
        </p:txBody>
      </p:sp>
      <p:sp>
        <p:nvSpPr>
          <p:cNvPr id="5" name="Text 3"/>
          <p:cNvSpPr/>
          <p:nvPr/>
        </p:nvSpPr>
        <p:spPr>
          <a:xfrm>
            <a:off x="640080" y="1371600"/>
            <a:ext cx="365760" cy="365760"/>
          </a:xfrm>
          <a:prstGeom prst="rect">
            <a:avLst/>
          </a:prstGeom>
          <a:noFill/>
          <a:ln/>
        </p:spPr>
        <p:txBody>
          <a:bodyPr wrap="square" lIns="0" tIns="0" rIns="0" bIns="0" rtlCol="0" anchor="ctr"/>
          <a:lstStyle/>
          <a:p>
            <a:pPr marL="0" indent="0" algn="ctr">
              <a:buNone/>
            </a:pPr>
            <a:r>
              <a:rPr lang="en-US" sz="1300" b="1" dirty="0">
                <a:solidFill>
                  <a:srgbClr val="FAF9F5"/>
                </a:solidFill>
                <a:latin typeface="Poppins" pitchFamily="34" charset="0"/>
                <a:ea typeface="Poppins" pitchFamily="34" charset="-122"/>
                <a:cs typeface="Poppins" pitchFamily="34" charset="-120"/>
              </a:rPr>
              <a:t>1</a:t>
            </a:r>
            <a:endParaRPr lang="en-US" sz="1300" dirty="0"/>
          </a:p>
        </p:txBody>
      </p:sp>
      <p:sp>
        <p:nvSpPr>
          <p:cNvPr id="6" name="Text 4"/>
          <p:cNvSpPr/>
          <p:nvPr/>
        </p:nvSpPr>
        <p:spPr>
          <a:xfrm>
            <a:off x="1143000" y="1371600"/>
            <a:ext cx="10241280" cy="365760"/>
          </a:xfrm>
          <a:prstGeom prst="rect">
            <a:avLst/>
          </a:prstGeom>
          <a:noFill/>
          <a:ln/>
        </p:spPr>
        <p:txBody>
          <a:bodyPr wrap="square" lIns="0" tIns="0" rIns="0" bIns="0" rtlCol="0" anchor="ctr"/>
          <a:lstStyle/>
          <a:p>
            <a:pPr marL="0" indent="0">
              <a:buNone/>
            </a:pPr>
            <a:r>
              <a:rPr lang="en-US" sz="1200" b="1" dirty="0">
                <a:solidFill>
                  <a:srgbClr val="141413"/>
                </a:solidFill>
                <a:latin typeface="Poppins" pitchFamily="34" charset="0"/>
                <a:ea typeface="Poppins" pitchFamily="34" charset="-122"/>
                <a:cs typeface="Poppins" pitchFamily="34" charset="-120"/>
              </a:rPr>
              <a:t>One topic per file  </a:t>
            </a:r>
            <a:r>
              <a:rPr lang="en-US" sz="1200" dirty="0">
                <a:solidFill>
                  <a:srgbClr val="55534A"/>
                </a:solidFill>
                <a:latin typeface="Lora" pitchFamily="34" charset="0"/>
                <a:ea typeface="Lora" pitchFamily="34" charset="-122"/>
                <a:cs typeface="Lora" pitchFamily="34" charset="-120"/>
              </a:rPr>
              <a:t>Break a large CLAUDE.md into focused files like testing.md or security.md</a:t>
            </a:r>
            <a:endParaRPr lang="en-US" sz="1200" dirty="0"/>
          </a:p>
        </p:txBody>
      </p:sp>
      <p:sp>
        <p:nvSpPr>
          <p:cNvPr id="7" name="Shape 5"/>
          <p:cNvSpPr/>
          <p:nvPr/>
        </p:nvSpPr>
        <p:spPr>
          <a:xfrm>
            <a:off x="640080" y="1828800"/>
            <a:ext cx="365760" cy="365760"/>
          </a:xfrm>
          <a:prstGeom prst="ellipse">
            <a:avLst/>
          </a:prstGeom>
          <a:solidFill>
            <a:srgbClr val="6A9BCC"/>
          </a:solidFill>
          <a:ln/>
        </p:spPr>
        <p:txBody>
          <a:bodyPr/>
          <a:lstStyle/>
          <a:p>
            <a:endParaRPr lang="en-US"/>
          </a:p>
        </p:txBody>
      </p:sp>
      <p:sp>
        <p:nvSpPr>
          <p:cNvPr id="8" name="Text 6"/>
          <p:cNvSpPr/>
          <p:nvPr/>
        </p:nvSpPr>
        <p:spPr>
          <a:xfrm>
            <a:off x="640080" y="1828800"/>
            <a:ext cx="365760" cy="365760"/>
          </a:xfrm>
          <a:prstGeom prst="rect">
            <a:avLst/>
          </a:prstGeom>
          <a:noFill/>
          <a:ln/>
        </p:spPr>
        <p:txBody>
          <a:bodyPr wrap="square" lIns="0" tIns="0" rIns="0" bIns="0" rtlCol="0" anchor="ctr"/>
          <a:lstStyle/>
          <a:p>
            <a:pPr marL="0" indent="0" algn="ctr">
              <a:buNone/>
            </a:pPr>
            <a:r>
              <a:rPr lang="en-US" sz="1300" b="1" dirty="0">
                <a:solidFill>
                  <a:srgbClr val="FAF9F5"/>
                </a:solidFill>
                <a:latin typeface="Poppins" pitchFamily="34" charset="0"/>
                <a:ea typeface="Poppins" pitchFamily="34" charset="-122"/>
                <a:cs typeface="Poppins" pitchFamily="34" charset="-120"/>
              </a:rPr>
              <a:t>2</a:t>
            </a:r>
            <a:endParaRPr lang="en-US" sz="1300" dirty="0"/>
          </a:p>
        </p:txBody>
      </p:sp>
      <p:sp>
        <p:nvSpPr>
          <p:cNvPr id="9" name="Text 7"/>
          <p:cNvSpPr/>
          <p:nvPr/>
        </p:nvSpPr>
        <p:spPr>
          <a:xfrm>
            <a:off x="1143000" y="1828800"/>
            <a:ext cx="10241280" cy="365760"/>
          </a:xfrm>
          <a:prstGeom prst="rect">
            <a:avLst/>
          </a:prstGeom>
          <a:noFill/>
          <a:ln/>
        </p:spPr>
        <p:txBody>
          <a:bodyPr wrap="square" lIns="0" tIns="0" rIns="0" bIns="0" rtlCol="0" anchor="ctr"/>
          <a:lstStyle/>
          <a:p>
            <a:pPr marL="0" indent="0">
              <a:buNone/>
            </a:pPr>
            <a:r>
              <a:rPr lang="en-US" sz="1200" b="1" dirty="0">
                <a:solidFill>
                  <a:srgbClr val="141413"/>
                </a:solidFill>
                <a:latin typeface="Poppins" pitchFamily="34" charset="0"/>
                <a:ea typeface="Poppins" pitchFamily="34" charset="-122"/>
                <a:cs typeface="Poppins" pitchFamily="34" charset="-120"/>
              </a:rPr>
              <a:t>Same priority as CLAUDE.md  </a:t>
            </a:r>
            <a:r>
              <a:rPr lang="en-US" sz="1200" dirty="0">
                <a:solidFill>
                  <a:srgbClr val="55534A"/>
                </a:solidFill>
                <a:latin typeface="Lora" pitchFamily="34" charset="0"/>
                <a:ea typeface="Lora" pitchFamily="34" charset="-122"/>
                <a:cs typeface="Lora" pitchFamily="34" charset="-120"/>
              </a:rPr>
              <a:t>Rules without a paths field load at launch, right alongside CLAUDE.md</a:t>
            </a:r>
            <a:endParaRPr lang="en-US" sz="1200" dirty="0"/>
          </a:p>
        </p:txBody>
      </p:sp>
      <p:sp>
        <p:nvSpPr>
          <p:cNvPr id="10" name="Shape 8"/>
          <p:cNvSpPr/>
          <p:nvPr/>
        </p:nvSpPr>
        <p:spPr>
          <a:xfrm>
            <a:off x="640080" y="2286000"/>
            <a:ext cx="365760" cy="365760"/>
          </a:xfrm>
          <a:prstGeom prst="ellipse">
            <a:avLst/>
          </a:prstGeom>
          <a:solidFill>
            <a:srgbClr val="788C5D"/>
          </a:solidFill>
          <a:ln/>
        </p:spPr>
        <p:txBody>
          <a:bodyPr/>
          <a:lstStyle/>
          <a:p>
            <a:endParaRPr lang="en-US"/>
          </a:p>
        </p:txBody>
      </p:sp>
      <p:sp>
        <p:nvSpPr>
          <p:cNvPr id="11" name="Text 9"/>
          <p:cNvSpPr/>
          <p:nvPr/>
        </p:nvSpPr>
        <p:spPr>
          <a:xfrm>
            <a:off x="640080" y="2286000"/>
            <a:ext cx="365760" cy="365760"/>
          </a:xfrm>
          <a:prstGeom prst="rect">
            <a:avLst/>
          </a:prstGeom>
          <a:noFill/>
          <a:ln/>
        </p:spPr>
        <p:txBody>
          <a:bodyPr wrap="square" lIns="0" tIns="0" rIns="0" bIns="0" rtlCol="0" anchor="ctr"/>
          <a:lstStyle/>
          <a:p>
            <a:pPr marL="0" indent="0" algn="ctr">
              <a:buNone/>
            </a:pPr>
            <a:r>
              <a:rPr lang="en-US" sz="1300" b="1" dirty="0">
                <a:solidFill>
                  <a:srgbClr val="FAF9F5"/>
                </a:solidFill>
                <a:latin typeface="Poppins" pitchFamily="34" charset="0"/>
                <a:ea typeface="Poppins" pitchFamily="34" charset="-122"/>
                <a:cs typeface="Poppins" pitchFamily="34" charset="-120"/>
              </a:rPr>
              <a:t>3</a:t>
            </a:r>
            <a:endParaRPr lang="en-US" sz="1300" dirty="0"/>
          </a:p>
        </p:txBody>
      </p:sp>
      <p:sp>
        <p:nvSpPr>
          <p:cNvPr id="12" name="Text 10"/>
          <p:cNvSpPr/>
          <p:nvPr/>
        </p:nvSpPr>
        <p:spPr>
          <a:xfrm>
            <a:off x="1143000" y="2286000"/>
            <a:ext cx="10241280" cy="365760"/>
          </a:xfrm>
          <a:prstGeom prst="rect">
            <a:avLst/>
          </a:prstGeom>
          <a:noFill/>
          <a:ln/>
        </p:spPr>
        <p:txBody>
          <a:bodyPr wrap="square" lIns="0" tIns="0" rIns="0" bIns="0" rtlCol="0" anchor="ctr"/>
          <a:lstStyle/>
          <a:p>
            <a:pPr marL="0" indent="0">
              <a:buNone/>
            </a:pPr>
            <a:r>
              <a:rPr lang="en-US" sz="1200" b="1" dirty="0">
                <a:solidFill>
                  <a:srgbClr val="141413"/>
                </a:solidFill>
                <a:latin typeface="Poppins" pitchFamily="34" charset="0"/>
                <a:ea typeface="Poppins" pitchFamily="34" charset="-122"/>
                <a:cs typeface="Poppins" pitchFamily="34" charset="-120"/>
              </a:rPr>
              <a:t>Ideal for team-owned domains  </a:t>
            </a:r>
            <a:r>
              <a:rPr lang="en-US" sz="1200" dirty="0">
                <a:solidFill>
                  <a:srgbClr val="55534A"/>
                </a:solidFill>
                <a:latin typeface="Lora" pitchFamily="34" charset="0"/>
                <a:ea typeface="Lora" pitchFamily="34" charset="-122"/>
                <a:cs typeface="Lora" pitchFamily="34" charset="-120"/>
              </a:rPr>
              <a:t>Frontend, API, and security teams each maintain their own rule file</a:t>
            </a:r>
            <a:endParaRPr lang="en-US" sz="1200" dirty="0"/>
          </a:p>
        </p:txBody>
      </p:sp>
      <p:sp>
        <p:nvSpPr>
          <p:cNvPr id="13" name="Shape 11"/>
          <p:cNvSpPr/>
          <p:nvPr/>
        </p:nvSpPr>
        <p:spPr>
          <a:xfrm>
            <a:off x="640080" y="2834640"/>
            <a:ext cx="10881360" cy="0"/>
          </a:xfrm>
          <a:prstGeom prst="line">
            <a:avLst/>
          </a:prstGeom>
          <a:noFill/>
          <a:ln w="12700">
            <a:solidFill>
              <a:srgbClr val="E8E6DC"/>
            </a:solidFill>
            <a:prstDash val="solid"/>
          </a:ln>
        </p:spPr>
        <p:txBody>
          <a:bodyPr/>
          <a:lstStyle/>
          <a:p>
            <a:endParaRPr lang="en-US"/>
          </a:p>
        </p:txBody>
      </p:sp>
      <p:sp>
        <p:nvSpPr>
          <p:cNvPr id="14" name="Text 12"/>
          <p:cNvSpPr/>
          <p:nvPr/>
        </p:nvSpPr>
        <p:spPr>
          <a:xfrm>
            <a:off x="640080" y="3017520"/>
            <a:ext cx="10881360" cy="320040"/>
          </a:xfrm>
          <a:prstGeom prst="rect">
            <a:avLst/>
          </a:prstGeom>
          <a:noFill/>
          <a:ln/>
        </p:spPr>
        <p:txBody>
          <a:bodyPr wrap="square" rtlCol="0" anchor="ctr"/>
          <a:lstStyle/>
          <a:p>
            <a:pPr marL="0" indent="0">
              <a:buNone/>
            </a:pPr>
            <a:r>
              <a:rPr lang="en-US" sz="1400" b="1" dirty="0">
                <a:solidFill>
                  <a:srgbClr val="141413"/>
                </a:solidFill>
                <a:latin typeface="Poppins" pitchFamily="34" charset="0"/>
                <a:ea typeface="Poppins" pitchFamily="34" charset="-122"/>
                <a:cs typeface="Poppins" pitchFamily="34" charset="-120"/>
              </a:rPr>
              <a:t>Path-specific rules — scoping to only the files that matter</a:t>
            </a:r>
            <a:endParaRPr lang="en-US" sz="1400" dirty="0"/>
          </a:p>
        </p:txBody>
      </p:sp>
      <p:sp>
        <p:nvSpPr>
          <p:cNvPr id="15" name="Shape 13"/>
          <p:cNvSpPr/>
          <p:nvPr/>
        </p:nvSpPr>
        <p:spPr>
          <a:xfrm>
            <a:off x="640080" y="3429000"/>
            <a:ext cx="5349240" cy="2011680"/>
          </a:xfrm>
          <a:prstGeom prst="roundRect">
            <a:avLst>
              <a:gd name="adj" fmla="val 3636"/>
            </a:avLst>
          </a:prstGeom>
          <a:solidFill>
            <a:srgbClr val="E8E6DC"/>
          </a:solidFill>
          <a:ln/>
        </p:spPr>
        <p:txBody>
          <a:bodyPr/>
          <a:lstStyle/>
          <a:p>
            <a:endParaRPr lang="en-US"/>
          </a:p>
        </p:txBody>
      </p:sp>
      <p:sp>
        <p:nvSpPr>
          <p:cNvPr id="16" name="Text 14"/>
          <p:cNvSpPr/>
          <p:nvPr/>
        </p:nvSpPr>
        <p:spPr>
          <a:xfrm>
            <a:off x="914400" y="3611880"/>
            <a:ext cx="4892040" cy="1371600"/>
          </a:xfrm>
          <a:prstGeom prst="rect">
            <a:avLst/>
          </a:prstGeom>
          <a:noFill/>
          <a:ln/>
        </p:spPr>
        <p:txBody>
          <a:bodyPr wrap="square" lIns="0" tIns="0" rIns="0" bIns="0" rtlCol="0" anchor="t"/>
          <a:lstStyle/>
          <a:p>
            <a:pPr marL="0" indent="0">
              <a:lnSpc>
                <a:spcPct val="125000"/>
              </a:lnSpc>
              <a:buNone/>
            </a:pPr>
            <a:r>
              <a:rPr lang="en-US" sz="1200" dirty="0">
                <a:solidFill>
                  <a:srgbClr val="6A9BCC"/>
                </a:solidFill>
                <a:latin typeface="Courier New" pitchFamily="34" charset="0"/>
                <a:ea typeface="Courier New" pitchFamily="34" charset="-122"/>
                <a:cs typeface="Courier New" pitchFamily="34" charset="-120"/>
              </a:rPr>
              <a:t>---</a:t>
            </a:r>
            <a:endParaRPr lang="en-US" sz="1200" dirty="0"/>
          </a:p>
          <a:p>
            <a:pPr marL="0" indent="0">
              <a:lnSpc>
                <a:spcPct val="125000"/>
              </a:lnSpc>
              <a:buNone/>
            </a:pPr>
            <a:r>
              <a:rPr lang="en-US" sz="1200" dirty="0">
                <a:solidFill>
                  <a:srgbClr val="141413"/>
                </a:solidFill>
                <a:latin typeface="Courier New" pitchFamily="34" charset="0"/>
                <a:ea typeface="Courier New" pitchFamily="34" charset="-122"/>
                <a:cs typeface="Courier New" pitchFamily="34" charset="-120"/>
              </a:rPr>
              <a:t>paths:</a:t>
            </a:r>
            <a:endParaRPr lang="en-US" sz="1200" dirty="0"/>
          </a:p>
          <a:p>
            <a:pPr marL="0" indent="0">
              <a:lnSpc>
                <a:spcPct val="125000"/>
              </a:lnSpc>
              <a:buNone/>
            </a:pPr>
            <a:r>
              <a:rPr lang="en-US" sz="1200" dirty="0">
                <a:solidFill>
                  <a:srgbClr val="D97757"/>
                </a:solidFill>
                <a:latin typeface="Courier New" pitchFamily="34" charset="0"/>
                <a:ea typeface="Courier New" pitchFamily="34" charset="-122"/>
                <a:cs typeface="Courier New" pitchFamily="34" charset="-120"/>
              </a:rPr>
              <a:t>  - "src/api/**/*.ts"</a:t>
            </a:r>
            <a:endParaRPr lang="en-US" sz="1200" dirty="0"/>
          </a:p>
          <a:p>
            <a:pPr marL="0" indent="0">
              <a:lnSpc>
                <a:spcPct val="125000"/>
              </a:lnSpc>
              <a:buNone/>
            </a:pPr>
            <a:r>
              <a:rPr lang="en-US" sz="1200" dirty="0">
                <a:solidFill>
                  <a:srgbClr val="6A9BCC"/>
                </a:solidFill>
                <a:latin typeface="Courier New" pitchFamily="34" charset="0"/>
                <a:ea typeface="Courier New" pitchFamily="34" charset="-122"/>
                <a:cs typeface="Courier New" pitchFamily="34" charset="-120"/>
              </a:rPr>
              <a:t>---</a:t>
            </a:r>
            <a:endParaRPr lang="en-US" sz="1200" dirty="0"/>
          </a:p>
          <a:p>
            <a:pPr marL="0" indent="0">
              <a:lnSpc>
                <a:spcPct val="125000"/>
              </a:lnSpc>
              <a:buNone/>
            </a:pPr>
            <a:r>
              <a:rPr lang="en-US" sz="1200" dirty="0">
                <a:solidFill>
                  <a:srgbClr val="141413"/>
                </a:solidFill>
                <a:latin typeface="Courier New" pitchFamily="34" charset="0"/>
                <a:ea typeface="Courier New" pitchFamily="34" charset="-122"/>
                <a:cs typeface="Courier New" pitchFamily="34" charset="-120"/>
              </a:rPr>
              <a:t># API Development Rules</a:t>
            </a:r>
            <a:endParaRPr lang="en-US" sz="1200" dirty="0"/>
          </a:p>
          <a:p>
            <a:pPr marL="0" indent="0">
              <a:lnSpc>
                <a:spcPct val="125000"/>
              </a:lnSpc>
              <a:buNone/>
            </a:pPr>
            <a:r>
              <a:rPr lang="en-US" sz="1200" dirty="0">
                <a:solidFill>
                  <a:srgbClr val="55534A"/>
                </a:solidFill>
                <a:latin typeface="Courier New" pitchFamily="34" charset="0"/>
                <a:ea typeface="Courier New" pitchFamily="34" charset="-122"/>
                <a:cs typeface="Courier New" pitchFamily="34" charset="-120"/>
              </a:rPr>
              <a:t>- All endpoints validate input</a:t>
            </a:r>
            <a:endParaRPr lang="en-US" sz="1200" dirty="0"/>
          </a:p>
        </p:txBody>
      </p:sp>
      <p:sp>
        <p:nvSpPr>
          <p:cNvPr id="17" name="Text 15"/>
          <p:cNvSpPr/>
          <p:nvPr/>
        </p:nvSpPr>
        <p:spPr>
          <a:xfrm>
            <a:off x="914400" y="5029200"/>
            <a:ext cx="4892040" cy="320040"/>
          </a:xfrm>
          <a:prstGeom prst="rect">
            <a:avLst/>
          </a:prstGeom>
          <a:noFill/>
          <a:ln/>
        </p:spPr>
        <p:txBody>
          <a:bodyPr wrap="square" rtlCol="0" anchor="ctr"/>
          <a:lstStyle/>
          <a:p>
            <a:pPr marL="0" indent="0">
              <a:buNone/>
            </a:pPr>
            <a:r>
              <a:rPr lang="en-US" sz="1050" i="1" dirty="0">
                <a:solidFill>
                  <a:srgbClr val="55534A"/>
                </a:solidFill>
                <a:latin typeface="Lora" pitchFamily="34" charset="0"/>
                <a:ea typeface="Lora" pitchFamily="34" charset="-122"/>
                <a:cs typeface="Lora" pitchFamily="34" charset="-120"/>
              </a:rPr>
              <a:t>Triggers on matching file reads — not on every tool call</a:t>
            </a:r>
            <a:endParaRPr lang="en-US" sz="1050" dirty="0"/>
          </a:p>
        </p:txBody>
      </p:sp>
      <p:sp>
        <p:nvSpPr>
          <p:cNvPr id="18" name="Shape 16"/>
          <p:cNvSpPr/>
          <p:nvPr/>
        </p:nvSpPr>
        <p:spPr>
          <a:xfrm>
            <a:off x="6172200" y="3429000"/>
            <a:ext cx="5349240" cy="2011680"/>
          </a:xfrm>
          <a:prstGeom prst="roundRect">
            <a:avLst>
              <a:gd name="adj" fmla="val 3636"/>
            </a:avLst>
          </a:prstGeom>
          <a:solidFill>
            <a:srgbClr val="FFFFFF"/>
          </a:solidFill>
          <a:ln/>
          <a:effectLst>
            <a:outerShdw blurRad="101600" dist="38100" dir="5400000" algn="bl" rotWithShape="0">
              <a:srgbClr val="000000">
                <a:alpha val="12000"/>
              </a:srgbClr>
            </a:outerShdw>
          </a:effectLst>
        </p:spPr>
        <p:txBody>
          <a:bodyPr/>
          <a:lstStyle/>
          <a:p>
            <a:endParaRPr lang="en-US"/>
          </a:p>
        </p:txBody>
      </p:sp>
      <p:sp>
        <p:nvSpPr>
          <p:cNvPr id="19" name="Text 17"/>
          <p:cNvSpPr/>
          <p:nvPr/>
        </p:nvSpPr>
        <p:spPr>
          <a:xfrm>
            <a:off x="6446520" y="3593592"/>
            <a:ext cx="4846320" cy="274320"/>
          </a:xfrm>
          <a:prstGeom prst="rect">
            <a:avLst/>
          </a:prstGeom>
          <a:noFill/>
          <a:ln/>
        </p:spPr>
        <p:txBody>
          <a:bodyPr wrap="square" lIns="0" tIns="0" rIns="0" bIns="0" rtlCol="0" anchor="ctr"/>
          <a:lstStyle/>
          <a:p>
            <a:pPr marL="0" indent="0">
              <a:buNone/>
            </a:pPr>
            <a:r>
              <a:rPr lang="en-US" sz="1250" b="1" dirty="0">
                <a:solidFill>
                  <a:srgbClr val="D97757"/>
                </a:solidFill>
                <a:latin typeface="Poppins" pitchFamily="34" charset="0"/>
                <a:ea typeface="Poppins" pitchFamily="34" charset="-122"/>
                <a:cs typeface="Poppins" pitchFamily="34" charset="-120"/>
              </a:rPr>
              <a:t>Why this matters</a:t>
            </a:r>
            <a:endParaRPr lang="en-US" sz="1250" dirty="0"/>
          </a:p>
        </p:txBody>
      </p:sp>
      <p:sp>
        <p:nvSpPr>
          <p:cNvPr id="20" name="Text 18"/>
          <p:cNvSpPr/>
          <p:nvPr/>
        </p:nvSpPr>
        <p:spPr>
          <a:xfrm>
            <a:off x="6446520" y="3904488"/>
            <a:ext cx="4846320" cy="1463040"/>
          </a:xfrm>
          <a:prstGeom prst="rect">
            <a:avLst/>
          </a:prstGeom>
          <a:noFill/>
          <a:ln/>
        </p:spPr>
        <p:txBody>
          <a:bodyPr wrap="square" rtlCol="0" anchor="t"/>
          <a:lstStyle/>
          <a:p>
            <a:pPr marL="342900" indent="-342900">
              <a:spcAft>
                <a:spcPts val="800"/>
              </a:spcAft>
              <a:buSzPct val="100000"/>
              <a:buChar char="•"/>
            </a:pPr>
            <a:r>
              <a:rPr lang="en-US" sz="1100" dirty="0">
                <a:solidFill>
                  <a:srgbClr val="55534A"/>
                </a:solidFill>
                <a:latin typeface="Lora" pitchFamily="34" charset="0"/>
                <a:ea typeface="Lora" pitchFamily="34" charset="-122"/>
                <a:cs typeface="Lora" pitchFamily="34" charset="-120"/>
              </a:rPr>
              <a:t>One rule, defined once, applies everywhere the glob matches</a:t>
            </a:r>
            <a:endParaRPr lang="en-US" sz="1100" dirty="0"/>
          </a:p>
          <a:p>
            <a:pPr marL="342900" indent="-342900">
              <a:spcAft>
                <a:spcPts val="800"/>
              </a:spcAft>
              <a:buSzPct val="100000"/>
              <a:buChar char="•"/>
            </a:pPr>
            <a:r>
              <a:rPr lang="en-US" sz="1100" dirty="0">
                <a:solidFill>
                  <a:srgbClr val="55534A"/>
                </a:solidFill>
                <a:latin typeface="Lora" pitchFamily="34" charset="0"/>
                <a:ea typeface="Lora" pitchFamily="34" charset="-122"/>
                <a:cs typeface="Lora" pitchFamily="34" charset="-120"/>
              </a:rPr>
              <a:t>Centralizes conventions into a single source of truth instead of a copy per subfolder</a:t>
            </a:r>
            <a:endParaRPr lang="en-US" sz="1100" dirty="0"/>
          </a:p>
          <a:p>
            <a:pPr marL="342900" indent="-342900">
              <a:buSzPct val="100000"/>
              <a:buChar char="•"/>
            </a:pPr>
            <a:r>
              <a:rPr lang="en-US" sz="1100" dirty="0">
                <a:solidFill>
                  <a:srgbClr val="55534A"/>
                </a:solidFill>
                <a:latin typeface="Lora" pitchFamily="34" charset="0"/>
                <a:ea typeface="Lora" pitchFamily="34" charset="-122"/>
                <a:cs typeface="Lora" pitchFamily="34" charset="-120"/>
              </a:rPr>
              <a:t>Useful for style guides, testing conventions, security checks, or API standards</a:t>
            </a:r>
            <a:endParaRPr lang="en-US" sz="1100" dirty="0"/>
          </a:p>
        </p:txBody>
      </p:sp>
      <p:pic>
        <p:nvPicPr>
          <p:cNvPr id="22" name="Picture 21">
            <a:extLst>
              <a:ext uri="{FF2B5EF4-FFF2-40B4-BE49-F238E27FC236}">
                <a16:creationId xmlns:a16="http://schemas.microsoft.com/office/drawing/2014/main" id="{5AB304B8-9F8D-D014-8385-B8A299675546}"/>
              </a:ext>
            </a:extLst>
          </p:cNvPr>
          <p:cNvPicPr>
            <a:picLocks noChangeAspect="1"/>
          </p:cNvPicPr>
          <p:nvPr/>
        </p:nvPicPr>
        <p:blipFill>
          <a:blip r:embed="rId3"/>
          <a:stretch>
            <a:fillRect/>
          </a:stretch>
        </p:blipFill>
        <p:spPr>
          <a:xfrm>
            <a:off x="640080" y="5874967"/>
            <a:ext cx="5349704" cy="617273"/>
          </a:xfrm>
          <a:prstGeom prst="rect">
            <a:avLst/>
          </a:prstGeom>
        </p:spPr>
      </p:pic>
      <p:sp>
        <p:nvSpPr>
          <p:cNvPr id="23" name="Text 10">
            <a:extLst>
              <a:ext uri="{FF2B5EF4-FFF2-40B4-BE49-F238E27FC236}">
                <a16:creationId xmlns:a16="http://schemas.microsoft.com/office/drawing/2014/main" id="{CEBB1D0A-333E-9481-8BB6-620323524A33}"/>
              </a:ext>
            </a:extLst>
          </p:cNvPr>
          <p:cNvSpPr/>
          <p:nvPr/>
        </p:nvSpPr>
        <p:spPr>
          <a:xfrm>
            <a:off x="685800" y="5553891"/>
            <a:ext cx="10241280" cy="365760"/>
          </a:xfrm>
          <a:prstGeom prst="rect">
            <a:avLst/>
          </a:prstGeom>
          <a:noFill/>
          <a:ln/>
        </p:spPr>
        <p:txBody>
          <a:bodyPr wrap="square" lIns="0" tIns="0" rIns="0" bIns="0" rtlCol="0" anchor="ctr"/>
          <a:lstStyle/>
          <a:p>
            <a:pPr marL="0" indent="0">
              <a:buNone/>
            </a:pPr>
            <a:r>
              <a:rPr lang="en-US" sz="1200" b="1" dirty="0">
                <a:solidFill>
                  <a:srgbClr val="141413"/>
                </a:solidFill>
                <a:latin typeface="Poppins" pitchFamily="34" charset="0"/>
                <a:ea typeface="Poppins" pitchFamily="34" charset="-122"/>
                <a:cs typeface="Poppins" pitchFamily="34" charset="-120"/>
              </a:rPr>
              <a:t>NOTE:  </a:t>
            </a:r>
            <a:r>
              <a:rPr lang="en-US" sz="1200" dirty="0">
                <a:solidFill>
                  <a:srgbClr val="55534A"/>
                </a:solidFill>
                <a:latin typeface="Lora" pitchFamily="34" charset="0"/>
                <a:ea typeface="Lora" pitchFamily="34" charset="-122"/>
                <a:cs typeface="Lora" pitchFamily="34" charset="-120"/>
              </a:rPr>
              <a:t>You can see of what rules are applied to your request in the CLI. In this case I have markdown rule that is applied to all files with .md extension.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640080" y="365760"/>
            <a:ext cx="10058400" cy="594360"/>
          </a:xfrm>
          <a:prstGeom prst="rect">
            <a:avLst/>
          </a:prstGeom>
          <a:noFill/>
          <a:ln/>
        </p:spPr>
        <p:txBody>
          <a:bodyPr wrap="square" lIns="0" tIns="0" rIns="0" bIns="0" rtlCol="0" anchor="ctr"/>
          <a:lstStyle/>
          <a:p>
            <a:pPr marL="0" indent="0">
              <a:buNone/>
            </a:pPr>
            <a:r>
              <a:rPr lang="en-US" sz="2500" b="1" dirty="0">
                <a:solidFill>
                  <a:srgbClr val="141413"/>
                </a:solidFill>
                <a:latin typeface="Poppins" pitchFamily="34" charset="0"/>
                <a:ea typeface="Poppins" pitchFamily="34" charset="-122"/>
                <a:cs typeface="Poppins" pitchFamily="34" charset="-120"/>
              </a:rPr>
              <a:t>Managing CLAUDE.md from the CLI</a:t>
            </a:r>
            <a:endParaRPr lang="en-US" sz="2500" dirty="0"/>
          </a:p>
        </p:txBody>
      </p:sp>
      <p:sp>
        <p:nvSpPr>
          <p:cNvPr id="3" name="Text 1"/>
          <p:cNvSpPr/>
          <p:nvPr/>
        </p:nvSpPr>
        <p:spPr>
          <a:xfrm>
            <a:off x="6446520" y="465566"/>
            <a:ext cx="4155855" cy="365760"/>
          </a:xfrm>
          <a:prstGeom prst="rect">
            <a:avLst/>
          </a:prstGeom>
          <a:noFill/>
          <a:ln/>
        </p:spPr>
        <p:txBody>
          <a:bodyPr wrap="square" rtlCol="0" anchor="ctr"/>
          <a:lstStyle/>
          <a:p>
            <a:pPr marL="0" indent="0">
              <a:buNone/>
            </a:pPr>
            <a:r>
              <a:rPr lang="en-US" sz="1250" dirty="0">
                <a:solidFill>
                  <a:srgbClr val="55534A"/>
                </a:solidFill>
                <a:latin typeface="Lora" pitchFamily="34" charset="0"/>
                <a:ea typeface="Lora" pitchFamily="34" charset="-122"/>
                <a:cs typeface="Lora" pitchFamily="34" charset="-120"/>
              </a:rPr>
              <a:t>Two commands cover almost everything you'll need</a:t>
            </a:r>
            <a:endParaRPr lang="en-US" sz="1250" dirty="0"/>
          </a:p>
        </p:txBody>
      </p:sp>
      <p:sp>
        <p:nvSpPr>
          <p:cNvPr id="4" name="Shape 2"/>
          <p:cNvSpPr/>
          <p:nvPr/>
        </p:nvSpPr>
        <p:spPr>
          <a:xfrm>
            <a:off x="655320" y="929877"/>
            <a:ext cx="5349240" cy="2800117"/>
          </a:xfrm>
          <a:prstGeom prst="roundRect">
            <a:avLst>
              <a:gd name="adj" fmla="val 1684"/>
            </a:avLst>
          </a:prstGeom>
          <a:solidFill>
            <a:srgbClr val="FFFFFF"/>
          </a:solidFill>
          <a:ln/>
          <a:effectLst>
            <a:outerShdw blurRad="101600" dist="38100" dir="5400000" algn="bl" rotWithShape="0">
              <a:srgbClr val="000000">
                <a:alpha val="12000"/>
              </a:srgbClr>
            </a:outerShdw>
          </a:effectLst>
        </p:spPr>
        <p:txBody>
          <a:bodyPr/>
          <a:lstStyle/>
          <a:p>
            <a:endParaRPr lang="en-US"/>
          </a:p>
        </p:txBody>
      </p:sp>
      <p:sp>
        <p:nvSpPr>
          <p:cNvPr id="5" name="Text 3"/>
          <p:cNvSpPr/>
          <p:nvPr/>
        </p:nvSpPr>
        <p:spPr>
          <a:xfrm>
            <a:off x="929640" y="1140189"/>
            <a:ext cx="4846320" cy="365760"/>
          </a:xfrm>
          <a:prstGeom prst="rect">
            <a:avLst/>
          </a:prstGeom>
          <a:noFill/>
          <a:ln/>
        </p:spPr>
        <p:txBody>
          <a:bodyPr wrap="square" lIns="0" tIns="0" rIns="0" bIns="0" rtlCol="0" anchor="ctr"/>
          <a:lstStyle/>
          <a:p>
            <a:pPr marL="0" indent="0">
              <a:buNone/>
            </a:pPr>
            <a:r>
              <a:rPr lang="en-US" sz="1400" b="1" dirty="0">
                <a:solidFill>
                  <a:srgbClr val="D97757"/>
                </a:solidFill>
                <a:latin typeface="Courier New" pitchFamily="34" charset="0"/>
                <a:ea typeface="Courier New" pitchFamily="34" charset="-122"/>
                <a:cs typeface="Courier New" pitchFamily="34" charset="-120"/>
              </a:rPr>
              <a:t>/init</a:t>
            </a:r>
            <a:r>
              <a:rPr lang="en-US" sz="1400" b="1" dirty="0">
                <a:solidFill>
                  <a:srgbClr val="141413"/>
                </a:solidFill>
                <a:latin typeface="Poppins" pitchFamily="34" charset="0"/>
                <a:ea typeface="Poppins" pitchFamily="34" charset="-122"/>
                <a:cs typeface="Poppins" pitchFamily="34" charset="-120"/>
              </a:rPr>
              <a:t>  — generate a starting file</a:t>
            </a:r>
            <a:endParaRPr lang="en-US" sz="1400" dirty="0"/>
          </a:p>
        </p:txBody>
      </p:sp>
      <p:sp>
        <p:nvSpPr>
          <p:cNvPr id="6" name="Text 4"/>
          <p:cNvSpPr/>
          <p:nvPr/>
        </p:nvSpPr>
        <p:spPr>
          <a:xfrm>
            <a:off x="929640" y="1661397"/>
            <a:ext cx="4846320" cy="2003282"/>
          </a:xfrm>
          <a:prstGeom prst="rect">
            <a:avLst/>
          </a:prstGeom>
          <a:noFill/>
          <a:ln/>
        </p:spPr>
        <p:txBody>
          <a:bodyPr wrap="square" rtlCol="0" anchor="t"/>
          <a:lstStyle/>
          <a:p>
            <a:pPr marL="342900" indent="-342900">
              <a:spcAft>
                <a:spcPts val="1000"/>
              </a:spcAft>
              <a:buSzPct val="100000"/>
              <a:buChar char="•"/>
            </a:pPr>
            <a:r>
              <a:rPr lang="en-US" sz="1250" dirty="0">
                <a:solidFill>
                  <a:srgbClr val="55534A"/>
                </a:solidFill>
                <a:latin typeface="Lora" pitchFamily="34" charset="0"/>
                <a:ea typeface="Lora" pitchFamily="34" charset="-122"/>
                <a:cs typeface="Lora" pitchFamily="34" charset="-120"/>
              </a:rPr>
              <a:t>Analyzes your codebase automatically</a:t>
            </a:r>
            <a:endParaRPr lang="en-US" sz="1250" dirty="0"/>
          </a:p>
          <a:p>
            <a:pPr marL="342900" indent="-342900">
              <a:spcAft>
                <a:spcPts val="1000"/>
              </a:spcAft>
              <a:buSzPct val="100000"/>
              <a:buChar char="•"/>
            </a:pPr>
            <a:r>
              <a:rPr lang="en-US" sz="1250" dirty="0">
                <a:solidFill>
                  <a:srgbClr val="55534A"/>
                </a:solidFill>
                <a:latin typeface="Lora" pitchFamily="34" charset="0"/>
                <a:ea typeface="Lora" pitchFamily="34" charset="-122"/>
                <a:cs typeface="Lora" pitchFamily="34" charset="-120"/>
              </a:rPr>
              <a:t>Writes build commands, tests, conventions it discovers</a:t>
            </a:r>
            <a:endParaRPr lang="en-US" sz="1250" dirty="0"/>
          </a:p>
          <a:p>
            <a:pPr marL="342900" indent="-342900">
              <a:spcAft>
                <a:spcPts val="1000"/>
              </a:spcAft>
              <a:buSzPct val="100000"/>
              <a:buChar char="•"/>
            </a:pPr>
            <a:r>
              <a:rPr lang="en-US" sz="1250" dirty="0">
                <a:solidFill>
                  <a:srgbClr val="55534A"/>
                </a:solidFill>
                <a:latin typeface="Lora" pitchFamily="34" charset="0"/>
                <a:ea typeface="Lora" pitchFamily="34" charset="-122"/>
                <a:cs typeface="Lora" pitchFamily="34" charset="-120"/>
              </a:rPr>
              <a:t>Suggests improvements if CLAUDE.md already exists</a:t>
            </a:r>
            <a:endParaRPr lang="en-US" sz="1250" dirty="0"/>
          </a:p>
          <a:p>
            <a:pPr marL="342900" indent="-342900">
              <a:spcAft>
                <a:spcPts val="1000"/>
              </a:spcAft>
              <a:buSzPct val="100000"/>
              <a:buChar char="•"/>
            </a:pPr>
            <a:r>
              <a:rPr lang="en-US" sz="1250" dirty="0">
                <a:solidFill>
                  <a:srgbClr val="55534A"/>
                </a:solidFill>
                <a:latin typeface="Lora" pitchFamily="34" charset="0"/>
                <a:ea typeface="Lora" pitchFamily="34" charset="-122"/>
                <a:cs typeface="Lora" pitchFamily="34" charset="-120"/>
              </a:rPr>
              <a:t>Reads existing AGENTS.md, .cursorrules, etc. and merges them in</a:t>
            </a:r>
            <a:endParaRPr lang="en-US" sz="1250" dirty="0"/>
          </a:p>
          <a:p>
            <a:pPr marL="342900" indent="-342900">
              <a:buSzPct val="100000"/>
              <a:buChar char="•"/>
            </a:pPr>
            <a:r>
              <a:rPr lang="en-US" sz="1250" dirty="0">
                <a:solidFill>
                  <a:srgbClr val="55534A"/>
                </a:solidFill>
                <a:latin typeface="Lora" pitchFamily="34" charset="0"/>
                <a:ea typeface="Lora" pitchFamily="34" charset="-122"/>
                <a:cs typeface="Lora" pitchFamily="34" charset="-120"/>
              </a:rPr>
              <a:t>CLAUDE_CODE_NEW_INIT=1 enables an interactive multi-phase flow</a:t>
            </a:r>
            <a:endParaRPr lang="en-US" sz="1250" dirty="0"/>
          </a:p>
        </p:txBody>
      </p:sp>
      <p:sp>
        <p:nvSpPr>
          <p:cNvPr id="7" name="Shape 5"/>
          <p:cNvSpPr/>
          <p:nvPr/>
        </p:nvSpPr>
        <p:spPr>
          <a:xfrm>
            <a:off x="6172200" y="929877"/>
            <a:ext cx="5349240" cy="2800117"/>
          </a:xfrm>
          <a:prstGeom prst="roundRect">
            <a:avLst>
              <a:gd name="adj" fmla="val 1684"/>
            </a:avLst>
          </a:prstGeom>
          <a:solidFill>
            <a:srgbClr val="141413"/>
          </a:solidFill>
          <a:ln/>
          <a:effectLst>
            <a:outerShdw blurRad="101600" dist="38100" dir="5400000" algn="bl" rotWithShape="0">
              <a:srgbClr val="000000">
                <a:alpha val="12000"/>
              </a:srgbClr>
            </a:outerShdw>
          </a:effectLst>
        </p:spPr>
        <p:txBody>
          <a:bodyPr/>
          <a:lstStyle/>
          <a:p>
            <a:endParaRPr lang="en-US"/>
          </a:p>
        </p:txBody>
      </p:sp>
      <p:sp>
        <p:nvSpPr>
          <p:cNvPr id="8" name="Text 6"/>
          <p:cNvSpPr/>
          <p:nvPr/>
        </p:nvSpPr>
        <p:spPr>
          <a:xfrm>
            <a:off x="6446520" y="1140189"/>
            <a:ext cx="4846320" cy="365760"/>
          </a:xfrm>
          <a:prstGeom prst="rect">
            <a:avLst/>
          </a:prstGeom>
          <a:noFill/>
          <a:ln/>
        </p:spPr>
        <p:txBody>
          <a:bodyPr wrap="square" lIns="0" tIns="0" rIns="0" bIns="0" rtlCol="0" anchor="ctr"/>
          <a:lstStyle/>
          <a:p>
            <a:pPr marL="0" indent="0">
              <a:buNone/>
            </a:pPr>
            <a:r>
              <a:rPr lang="en-US" sz="1400" b="1" dirty="0">
                <a:solidFill>
                  <a:srgbClr val="D97757"/>
                </a:solidFill>
                <a:latin typeface="Courier New" pitchFamily="34" charset="0"/>
                <a:ea typeface="Courier New" pitchFamily="34" charset="-122"/>
                <a:cs typeface="Courier New" pitchFamily="34" charset="-120"/>
              </a:rPr>
              <a:t>/memory</a:t>
            </a:r>
            <a:r>
              <a:rPr lang="en-US" sz="1400" b="1" dirty="0">
                <a:solidFill>
                  <a:srgbClr val="FAF9F5"/>
                </a:solidFill>
                <a:latin typeface="Poppins" pitchFamily="34" charset="0"/>
                <a:ea typeface="Poppins" pitchFamily="34" charset="-122"/>
                <a:cs typeface="Poppins" pitchFamily="34" charset="-120"/>
              </a:rPr>
              <a:t>  — view &amp; edit what's loaded</a:t>
            </a:r>
            <a:endParaRPr lang="en-US" sz="1400" dirty="0"/>
          </a:p>
        </p:txBody>
      </p:sp>
      <p:sp>
        <p:nvSpPr>
          <p:cNvPr id="9" name="Text 7"/>
          <p:cNvSpPr/>
          <p:nvPr/>
        </p:nvSpPr>
        <p:spPr>
          <a:xfrm>
            <a:off x="6446520" y="1661397"/>
            <a:ext cx="4846320" cy="1844662"/>
          </a:xfrm>
          <a:prstGeom prst="rect">
            <a:avLst/>
          </a:prstGeom>
          <a:noFill/>
          <a:ln/>
        </p:spPr>
        <p:txBody>
          <a:bodyPr wrap="square" rtlCol="0" anchor="t"/>
          <a:lstStyle/>
          <a:p>
            <a:pPr marL="342900" indent="-342900">
              <a:spcAft>
                <a:spcPts val="1000"/>
              </a:spcAft>
              <a:buSzPct val="100000"/>
              <a:buChar char="•"/>
            </a:pPr>
            <a:r>
              <a:rPr lang="en-US" sz="1250" dirty="0">
                <a:solidFill>
                  <a:srgbClr val="C9C7BC"/>
                </a:solidFill>
                <a:latin typeface="Lora" pitchFamily="34" charset="0"/>
                <a:ea typeface="Lora" pitchFamily="34" charset="-122"/>
                <a:cs typeface="Lora" pitchFamily="34" charset="-120"/>
              </a:rPr>
              <a:t>Lists every CLAUDE.md, CLAUDE.local.md, and rule file loaded</a:t>
            </a:r>
            <a:endParaRPr lang="en-US" sz="1250" dirty="0"/>
          </a:p>
          <a:p>
            <a:pPr marL="342900" indent="-342900">
              <a:spcAft>
                <a:spcPts val="1000"/>
              </a:spcAft>
              <a:buSzPct val="100000"/>
              <a:buChar char="•"/>
            </a:pPr>
            <a:r>
              <a:rPr lang="en-US" sz="1250" dirty="0">
                <a:solidFill>
                  <a:srgbClr val="C9C7BC"/>
                </a:solidFill>
                <a:latin typeface="Lora" pitchFamily="34" charset="0"/>
                <a:ea typeface="Lora" pitchFamily="34" charset="-122"/>
                <a:cs typeface="Lora" pitchFamily="34" charset="-120"/>
              </a:rPr>
              <a:t>Select a file to open it directly in your editor</a:t>
            </a:r>
            <a:endParaRPr lang="en-US" sz="1250" dirty="0"/>
          </a:p>
          <a:p>
            <a:pPr marL="342900" indent="-342900">
              <a:spcAft>
                <a:spcPts val="1000"/>
              </a:spcAft>
              <a:buSzPct val="100000"/>
              <a:buChar char="•"/>
            </a:pPr>
            <a:r>
              <a:rPr lang="en-US" sz="1250" dirty="0">
                <a:solidFill>
                  <a:srgbClr val="C9C7BC"/>
                </a:solidFill>
                <a:latin typeface="Lora" pitchFamily="34" charset="0"/>
                <a:ea typeface="Lora" pitchFamily="34" charset="-122"/>
                <a:cs typeface="Lora" pitchFamily="34" charset="-120"/>
              </a:rPr>
              <a:t>Toggle auto memory on/off from the same menu</a:t>
            </a:r>
            <a:endParaRPr lang="en-US" sz="1250" dirty="0"/>
          </a:p>
          <a:p>
            <a:pPr marL="342900" indent="-342900">
              <a:spcAft>
                <a:spcPts val="1000"/>
              </a:spcAft>
              <a:buSzPct val="100000"/>
              <a:buChar char="•"/>
            </a:pPr>
            <a:r>
              <a:rPr lang="en-US" sz="1250" dirty="0">
                <a:solidFill>
                  <a:srgbClr val="C9C7BC"/>
                </a:solidFill>
                <a:latin typeface="Lora" pitchFamily="34" charset="0"/>
                <a:ea typeface="Lora" pitchFamily="34" charset="-122"/>
                <a:cs typeface="Lora" pitchFamily="34" charset="-120"/>
              </a:rPr>
              <a:t>Opens a link to browse the auto memory folder (broken on windows </a:t>
            </a:r>
            <a:r>
              <a:rPr lang="en-US" sz="1250" dirty="0">
                <a:solidFill>
                  <a:srgbClr val="C9C7BC"/>
                </a:solidFill>
                <a:latin typeface="Lora" pitchFamily="34" charset="0"/>
                <a:ea typeface="Lora" pitchFamily="34" charset="-122"/>
                <a:cs typeface="Lora" pitchFamily="34" charset="-120"/>
                <a:sym typeface="Wingdings" panose="05000000000000000000" pitchFamily="2" charset="2"/>
              </a:rPr>
              <a:t> </a:t>
            </a:r>
            <a:r>
              <a:rPr lang="en-US" sz="1250" dirty="0">
                <a:solidFill>
                  <a:srgbClr val="C9C7BC"/>
                </a:solidFill>
                <a:latin typeface="Lora" pitchFamily="34" charset="0"/>
                <a:ea typeface="Lora" pitchFamily="34" charset="-122"/>
                <a:cs typeface="Lora" pitchFamily="34" charset="-120"/>
              </a:rPr>
              <a:t>)</a:t>
            </a:r>
            <a:endParaRPr lang="en-US" sz="1250" dirty="0"/>
          </a:p>
          <a:p>
            <a:pPr marL="342900" indent="-342900">
              <a:buSzPct val="100000"/>
              <a:buChar char="•"/>
            </a:pPr>
            <a:r>
              <a:rPr lang="en-US" sz="1250" dirty="0">
                <a:solidFill>
                  <a:srgbClr val="C9C7BC"/>
                </a:solidFill>
                <a:latin typeface="Lora" pitchFamily="34" charset="0"/>
                <a:ea typeface="Lora" pitchFamily="34" charset="-122"/>
                <a:cs typeface="Lora" pitchFamily="34" charset="-120"/>
              </a:rPr>
              <a:t>Primary tool for debugging "why isn't my rule loading"</a:t>
            </a:r>
            <a:endParaRPr lang="en-US" sz="1250" dirty="0"/>
          </a:p>
        </p:txBody>
      </p:sp>
      <p:sp>
        <p:nvSpPr>
          <p:cNvPr id="11" name="Shape 8">
            <a:extLst>
              <a:ext uri="{FF2B5EF4-FFF2-40B4-BE49-F238E27FC236}">
                <a16:creationId xmlns:a16="http://schemas.microsoft.com/office/drawing/2014/main" id="{F051BF5B-024B-A246-05B6-AE1CF7E3E3FB}"/>
              </a:ext>
            </a:extLst>
          </p:cNvPr>
          <p:cNvSpPr/>
          <p:nvPr/>
        </p:nvSpPr>
        <p:spPr>
          <a:xfrm>
            <a:off x="298580" y="3971658"/>
            <a:ext cx="11238100" cy="2727722"/>
          </a:xfrm>
          <a:prstGeom prst="roundRect">
            <a:avLst>
              <a:gd name="adj" fmla="val 5926"/>
            </a:avLst>
          </a:prstGeom>
          <a:solidFill>
            <a:srgbClr val="E8E6DC"/>
          </a:solidFill>
          <a:ln/>
        </p:spPr>
        <p:txBody>
          <a:bodyPr/>
          <a:lstStyle/>
          <a:p>
            <a:endParaRPr lang="en-US"/>
          </a:p>
        </p:txBody>
      </p:sp>
      <p:sp>
        <p:nvSpPr>
          <p:cNvPr id="12" name="Text 9">
            <a:extLst>
              <a:ext uri="{FF2B5EF4-FFF2-40B4-BE49-F238E27FC236}">
                <a16:creationId xmlns:a16="http://schemas.microsoft.com/office/drawing/2014/main" id="{BEDA2B1A-2C5D-6632-5DBB-7CF8C48346CA}"/>
              </a:ext>
            </a:extLst>
          </p:cNvPr>
          <p:cNvSpPr/>
          <p:nvPr/>
        </p:nvSpPr>
        <p:spPr>
          <a:xfrm>
            <a:off x="502920" y="4052202"/>
            <a:ext cx="10332720" cy="1860297"/>
          </a:xfrm>
          <a:prstGeom prst="rect">
            <a:avLst/>
          </a:prstGeom>
          <a:noFill/>
          <a:ln/>
        </p:spPr>
        <p:txBody>
          <a:bodyPr wrap="square" lIns="0" tIns="0" rIns="0" bIns="0" rtlCol="0" anchor="t"/>
          <a:lstStyle/>
          <a:p>
            <a:pPr marL="0" indent="0">
              <a:lnSpc>
                <a:spcPct val="130000"/>
              </a:lnSpc>
              <a:buNone/>
            </a:pPr>
            <a:r>
              <a:rPr lang="en-US" sz="1150" b="1" dirty="0">
                <a:solidFill>
                  <a:srgbClr val="141413"/>
                </a:solidFill>
                <a:latin typeface="Courier New" pitchFamily="34" charset="0"/>
                <a:ea typeface="Courier New" pitchFamily="34" charset="-122"/>
                <a:cs typeface="Courier New" pitchFamily="34" charset="-120"/>
              </a:rPr>
              <a:t>Use # notation to quickly update CLAUDE.md from the CLI (see how it affects memory.md in the next slide too):</a:t>
            </a:r>
            <a:endParaRPr lang="en-US" sz="1150" dirty="0"/>
          </a:p>
        </p:txBody>
      </p:sp>
      <p:pic>
        <p:nvPicPr>
          <p:cNvPr id="18" name="Picture 17">
            <a:extLst>
              <a:ext uri="{FF2B5EF4-FFF2-40B4-BE49-F238E27FC236}">
                <a16:creationId xmlns:a16="http://schemas.microsoft.com/office/drawing/2014/main" id="{C1CE2F9D-1424-393C-BFC3-02D2725C520E}"/>
              </a:ext>
            </a:extLst>
          </p:cNvPr>
          <p:cNvPicPr>
            <a:picLocks noChangeAspect="1"/>
          </p:cNvPicPr>
          <p:nvPr/>
        </p:nvPicPr>
        <p:blipFill>
          <a:blip r:embed="rId3"/>
          <a:stretch>
            <a:fillRect/>
          </a:stretch>
        </p:blipFill>
        <p:spPr>
          <a:xfrm>
            <a:off x="426875" y="4401048"/>
            <a:ext cx="5669125" cy="218186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551128" y="236997"/>
            <a:ext cx="11200467" cy="594360"/>
          </a:xfrm>
          <a:prstGeom prst="rect">
            <a:avLst/>
          </a:prstGeom>
          <a:noFill/>
          <a:ln/>
        </p:spPr>
        <p:txBody>
          <a:bodyPr wrap="square" lIns="0" tIns="0" rIns="0" bIns="0" rtlCol="0" anchor="ctr"/>
          <a:lstStyle/>
          <a:p>
            <a:r>
              <a:rPr lang="en-US" sz="2700" b="1" dirty="0">
                <a:solidFill>
                  <a:srgbClr val="141413"/>
                </a:solidFill>
                <a:latin typeface="Poppins" pitchFamily="34" charset="0"/>
                <a:ea typeface="Poppins" pitchFamily="34" charset="-122"/>
                <a:cs typeface="Poppins" pitchFamily="34" charset="-120"/>
              </a:rPr>
              <a:t>Auto Memory (memory.md) - </a:t>
            </a:r>
            <a:r>
              <a:rPr lang="en-US" dirty="0">
                <a:solidFill>
                  <a:srgbClr val="55534A"/>
                </a:solidFill>
                <a:latin typeface="Lora" pitchFamily="34" charset="0"/>
                <a:ea typeface="Lora" pitchFamily="34" charset="-122"/>
                <a:cs typeface="Lora" pitchFamily="34" charset="-120"/>
              </a:rPr>
              <a:t>The notes Claude writes for itself, not for you to write. </a:t>
            </a:r>
          </a:p>
          <a:p>
            <a:pPr marL="0" indent="0">
              <a:buNone/>
            </a:pPr>
            <a:endParaRPr lang="en-US" sz="2700" dirty="0"/>
          </a:p>
        </p:txBody>
      </p:sp>
      <p:sp>
        <p:nvSpPr>
          <p:cNvPr id="3" name="Text 1"/>
          <p:cNvSpPr/>
          <p:nvPr/>
        </p:nvSpPr>
        <p:spPr>
          <a:xfrm>
            <a:off x="528112" y="512670"/>
            <a:ext cx="11405740" cy="701382"/>
          </a:xfrm>
          <a:prstGeom prst="rect">
            <a:avLst/>
          </a:prstGeom>
          <a:noFill/>
          <a:ln/>
        </p:spPr>
        <p:txBody>
          <a:bodyPr wrap="square" rtlCol="0" anchor="ctr"/>
          <a:lstStyle/>
          <a:p>
            <a:r>
              <a:rPr lang="en-US" sz="1250" b="1" dirty="0">
                <a:solidFill>
                  <a:srgbClr val="55534A"/>
                </a:solidFill>
                <a:latin typeface="Lora" pitchFamily="34" charset="0"/>
                <a:ea typeface="Lora" pitchFamily="34" charset="-122"/>
                <a:cs typeface="Lora" pitchFamily="34" charset="-120"/>
              </a:rPr>
              <a:t>DOC</a:t>
            </a:r>
            <a:r>
              <a:rPr lang="en-US" sz="1250" dirty="0">
                <a:solidFill>
                  <a:srgbClr val="55534A"/>
                </a:solidFill>
                <a:latin typeface="Lora" pitchFamily="34" charset="0"/>
                <a:ea typeface="Lora" pitchFamily="34" charset="-122"/>
                <a:cs typeface="Lora" pitchFamily="34" charset="-120"/>
              </a:rPr>
              <a:t>: </a:t>
            </a:r>
            <a:r>
              <a:rPr lang="en-US" sz="1250" dirty="0"/>
              <a:t>Auto memory lets Claude accumulate knowledge across sessions without you writing anything. Claude saves notes for itself as it works: build commands, debugging insights, architecture notes, code style preferences, and workflow habits. Claude doesn’t save something every session. It decides what’s worth remembering based on whether the information would be useful in a future conversation.</a:t>
            </a:r>
            <a:r>
              <a:rPr lang="en-US" sz="1250" dirty="0">
                <a:solidFill>
                  <a:srgbClr val="55534A"/>
                </a:solidFill>
                <a:latin typeface="Lora" pitchFamily="34" charset="0"/>
                <a:ea typeface="Lora" pitchFamily="34" charset="-122"/>
                <a:cs typeface="Lora" pitchFamily="34" charset="-120"/>
              </a:rPr>
              <a:t> </a:t>
            </a:r>
          </a:p>
          <a:p>
            <a:r>
              <a:rPr lang="en-US" sz="1250" dirty="0">
                <a:solidFill>
                  <a:srgbClr val="55534A"/>
                </a:solidFill>
                <a:latin typeface="Lora" pitchFamily="34" charset="0"/>
              </a:rPr>
              <a:t>Some related options like path can be found here: https://code.claude.com/docs/en/settings#available-settings</a:t>
            </a:r>
            <a:endParaRPr lang="en-US" sz="1250" dirty="0"/>
          </a:p>
        </p:txBody>
      </p:sp>
      <p:sp>
        <p:nvSpPr>
          <p:cNvPr id="4" name="Shape 2"/>
          <p:cNvSpPr/>
          <p:nvPr/>
        </p:nvSpPr>
        <p:spPr>
          <a:xfrm>
            <a:off x="640080" y="1341836"/>
            <a:ext cx="5349240" cy="2244572"/>
          </a:xfrm>
          <a:prstGeom prst="roundRect">
            <a:avLst>
              <a:gd name="adj" fmla="val 2025"/>
            </a:avLst>
          </a:prstGeom>
          <a:solidFill>
            <a:srgbClr val="FFFFFF"/>
          </a:solidFill>
          <a:ln/>
          <a:effectLst>
            <a:outerShdw blurRad="101600" dist="38100" dir="5400000" algn="bl" rotWithShape="0">
              <a:srgbClr val="000000">
                <a:alpha val="12000"/>
              </a:srgbClr>
            </a:outerShdw>
          </a:effectLst>
        </p:spPr>
        <p:txBody>
          <a:bodyPr/>
          <a:lstStyle/>
          <a:p>
            <a:endParaRPr lang="en-US"/>
          </a:p>
        </p:txBody>
      </p:sp>
      <p:sp>
        <p:nvSpPr>
          <p:cNvPr id="5" name="Text 3"/>
          <p:cNvSpPr/>
          <p:nvPr/>
        </p:nvSpPr>
        <p:spPr>
          <a:xfrm>
            <a:off x="914400" y="1341836"/>
            <a:ext cx="4846320" cy="320040"/>
          </a:xfrm>
          <a:prstGeom prst="rect">
            <a:avLst/>
          </a:prstGeom>
          <a:noFill/>
          <a:ln/>
        </p:spPr>
        <p:txBody>
          <a:bodyPr wrap="square" lIns="0" tIns="0" rIns="0" bIns="0" rtlCol="0" anchor="ctr"/>
          <a:lstStyle/>
          <a:p>
            <a:pPr marL="0" indent="0">
              <a:buNone/>
            </a:pPr>
            <a:r>
              <a:rPr lang="en-US" sz="1400" b="1" dirty="0">
                <a:solidFill>
                  <a:srgbClr val="141413"/>
                </a:solidFill>
                <a:latin typeface="Poppins" pitchFamily="34" charset="0"/>
                <a:ea typeface="Poppins" pitchFamily="34" charset="-122"/>
                <a:cs typeface="Poppins" pitchFamily="34" charset="-120"/>
              </a:rPr>
              <a:t>How it works</a:t>
            </a:r>
            <a:endParaRPr lang="en-US" sz="1400" dirty="0"/>
          </a:p>
        </p:txBody>
      </p:sp>
      <p:sp>
        <p:nvSpPr>
          <p:cNvPr id="6" name="Text 4"/>
          <p:cNvSpPr/>
          <p:nvPr/>
        </p:nvSpPr>
        <p:spPr>
          <a:xfrm>
            <a:off x="914400" y="1725884"/>
            <a:ext cx="4846320" cy="1785879"/>
          </a:xfrm>
          <a:prstGeom prst="rect">
            <a:avLst/>
          </a:prstGeom>
          <a:noFill/>
          <a:ln/>
        </p:spPr>
        <p:txBody>
          <a:bodyPr wrap="square" rtlCol="0" anchor="t"/>
          <a:lstStyle/>
          <a:p>
            <a:pPr marL="342900" indent="-342900">
              <a:spcAft>
                <a:spcPts val="1300"/>
              </a:spcAft>
              <a:buSzPct val="100000"/>
              <a:buChar char="•"/>
            </a:pPr>
            <a:r>
              <a:rPr lang="en-US" sz="1300" dirty="0">
                <a:solidFill>
                  <a:srgbClr val="55534A"/>
                </a:solidFill>
                <a:latin typeface="Lora" pitchFamily="34" charset="0"/>
                <a:ea typeface="Lora" pitchFamily="34" charset="-122"/>
                <a:cs typeface="Lora" pitchFamily="34" charset="-120"/>
              </a:rPr>
              <a:t>Claude writes it, not you</a:t>
            </a:r>
            <a:endParaRPr lang="en-US" sz="1300" dirty="0"/>
          </a:p>
          <a:p>
            <a:pPr marL="342900" indent="-342900">
              <a:spcAft>
                <a:spcPts val="1300"/>
              </a:spcAft>
              <a:buSzPct val="100000"/>
              <a:buChar char="•"/>
            </a:pPr>
            <a:r>
              <a:rPr lang="en-US" sz="1300" dirty="0">
                <a:solidFill>
                  <a:srgbClr val="55534A"/>
                </a:solidFill>
                <a:latin typeface="Lora" pitchFamily="34" charset="0"/>
                <a:ea typeface="Lora" pitchFamily="34" charset="-122"/>
                <a:cs typeface="Lora" pitchFamily="34" charset="-120"/>
              </a:rPr>
              <a:t>Captures learnings, not instructions</a:t>
            </a:r>
            <a:endParaRPr lang="en-US" sz="1300" dirty="0"/>
          </a:p>
          <a:p>
            <a:pPr marL="342900" indent="-342900">
              <a:spcAft>
                <a:spcPts val="1300"/>
              </a:spcAft>
              <a:buSzPct val="100000"/>
              <a:buChar char="•"/>
            </a:pPr>
            <a:r>
              <a:rPr lang="en-US" sz="1300" dirty="0">
                <a:solidFill>
                  <a:srgbClr val="55534A"/>
                </a:solidFill>
                <a:latin typeface="Lora" pitchFamily="34" charset="0"/>
                <a:ea typeface="Lora" pitchFamily="34" charset="-122"/>
                <a:cs typeface="Lora" pitchFamily="34" charset="-120"/>
              </a:rPr>
              <a:t>Per-repository, shared across worktrees</a:t>
            </a:r>
            <a:endParaRPr lang="en-US" sz="1300" dirty="0"/>
          </a:p>
          <a:p>
            <a:pPr marL="342900" indent="-342900">
              <a:spcAft>
                <a:spcPts val="1300"/>
              </a:spcAft>
              <a:buSzPct val="100000"/>
              <a:buChar char="•"/>
            </a:pPr>
            <a:r>
              <a:rPr lang="en-US" sz="1300" dirty="0">
                <a:solidFill>
                  <a:srgbClr val="55534A"/>
                </a:solidFill>
                <a:latin typeface="Lora" pitchFamily="34" charset="0"/>
                <a:ea typeface="Lora" pitchFamily="34" charset="-122"/>
                <a:cs typeface="Lora" pitchFamily="34" charset="-120"/>
              </a:rPr>
              <a:t>Only first 200 lines / 25KB load at start</a:t>
            </a:r>
            <a:endParaRPr lang="en-US" sz="1300" dirty="0"/>
          </a:p>
          <a:p>
            <a:pPr marL="342900" indent="-342900">
              <a:buSzPct val="100000"/>
              <a:buChar char="•"/>
            </a:pPr>
            <a:r>
              <a:rPr lang="en-US" sz="1300" dirty="0">
                <a:solidFill>
                  <a:srgbClr val="55534A"/>
                </a:solidFill>
                <a:latin typeface="Lora" pitchFamily="34" charset="0"/>
                <a:ea typeface="Lora" pitchFamily="34" charset="-122"/>
                <a:cs typeface="Lora" pitchFamily="34" charset="-120"/>
              </a:rPr>
              <a:t>On by default (v2.1.59+); toggle via /memory</a:t>
            </a:r>
            <a:endParaRPr lang="en-US" sz="1300" dirty="0"/>
          </a:p>
        </p:txBody>
      </p:sp>
      <p:sp>
        <p:nvSpPr>
          <p:cNvPr id="7" name="Shape 5"/>
          <p:cNvSpPr/>
          <p:nvPr/>
        </p:nvSpPr>
        <p:spPr>
          <a:xfrm>
            <a:off x="6151362" y="1341836"/>
            <a:ext cx="5349240" cy="2244572"/>
          </a:xfrm>
          <a:prstGeom prst="roundRect">
            <a:avLst>
              <a:gd name="adj" fmla="val 2025"/>
            </a:avLst>
          </a:prstGeom>
          <a:solidFill>
            <a:srgbClr val="141413"/>
          </a:solidFill>
          <a:ln/>
          <a:effectLst>
            <a:outerShdw blurRad="101600" dist="38100" dir="5400000" algn="bl" rotWithShape="0">
              <a:srgbClr val="000000">
                <a:alpha val="12000"/>
              </a:srgbClr>
            </a:outerShdw>
          </a:effectLst>
        </p:spPr>
        <p:txBody>
          <a:bodyPr/>
          <a:lstStyle/>
          <a:p>
            <a:endParaRPr lang="en-US"/>
          </a:p>
        </p:txBody>
      </p:sp>
      <p:sp>
        <p:nvSpPr>
          <p:cNvPr id="8" name="Text 6"/>
          <p:cNvSpPr/>
          <p:nvPr/>
        </p:nvSpPr>
        <p:spPr>
          <a:xfrm>
            <a:off x="6402822" y="1329892"/>
            <a:ext cx="4846320" cy="320040"/>
          </a:xfrm>
          <a:prstGeom prst="rect">
            <a:avLst/>
          </a:prstGeom>
          <a:noFill/>
          <a:ln/>
        </p:spPr>
        <p:txBody>
          <a:bodyPr wrap="square" lIns="0" tIns="0" rIns="0" bIns="0" rtlCol="0" anchor="ctr"/>
          <a:lstStyle/>
          <a:p>
            <a:pPr marL="0" indent="0">
              <a:buNone/>
            </a:pPr>
            <a:r>
              <a:rPr lang="en-US" sz="1400" b="1" dirty="0">
                <a:solidFill>
                  <a:srgbClr val="FAF9F5"/>
                </a:solidFill>
                <a:latin typeface="Poppins" pitchFamily="34" charset="0"/>
                <a:ea typeface="Poppins" pitchFamily="34" charset="-122"/>
                <a:cs typeface="Poppins" pitchFamily="34" charset="-120"/>
              </a:rPr>
              <a:t>CLAUDE.md vs. Auto Memory</a:t>
            </a:r>
            <a:endParaRPr lang="en-US" sz="1400" dirty="0"/>
          </a:p>
        </p:txBody>
      </p:sp>
      <p:sp>
        <p:nvSpPr>
          <p:cNvPr id="9" name="Text 7"/>
          <p:cNvSpPr/>
          <p:nvPr/>
        </p:nvSpPr>
        <p:spPr>
          <a:xfrm>
            <a:off x="6334553" y="1725884"/>
            <a:ext cx="4846320" cy="1785879"/>
          </a:xfrm>
          <a:prstGeom prst="rect">
            <a:avLst/>
          </a:prstGeom>
          <a:noFill/>
          <a:ln/>
        </p:spPr>
        <p:txBody>
          <a:bodyPr wrap="square" rtlCol="0" anchor="t"/>
          <a:lstStyle/>
          <a:p>
            <a:pPr marL="342900" indent="-342900">
              <a:spcAft>
                <a:spcPts val="1300"/>
              </a:spcAft>
              <a:buSzPct val="100000"/>
              <a:buChar char="•"/>
            </a:pPr>
            <a:r>
              <a:rPr lang="en-US" sz="1300" dirty="0">
                <a:solidFill>
                  <a:srgbClr val="C9C7BC"/>
                </a:solidFill>
                <a:latin typeface="Lora" pitchFamily="34" charset="0"/>
                <a:ea typeface="Lora" pitchFamily="34" charset="-122"/>
                <a:cs typeface="Lora" pitchFamily="34" charset="-120"/>
              </a:rPr>
              <a:t>You write CLAUDE.md; Claude writes memory</a:t>
            </a:r>
            <a:endParaRPr lang="en-US" sz="1300" dirty="0"/>
          </a:p>
          <a:p>
            <a:pPr marL="342900" indent="-342900">
              <a:spcAft>
                <a:spcPts val="1300"/>
              </a:spcAft>
              <a:buSzPct val="100000"/>
              <a:buChar char="•"/>
            </a:pPr>
            <a:r>
              <a:rPr lang="en-US" sz="1300" dirty="0">
                <a:solidFill>
                  <a:srgbClr val="C9C7BC"/>
                </a:solidFill>
                <a:latin typeface="Lora" pitchFamily="34" charset="0"/>
                <a:ea typeface="Lora" pitchFamily="34" charset="-122"/>
                <a:cs typeface="Lora" pitchFamily="34" charset="-120"/>
              </a:rPr>
              <a:t>CLAUDE.md = rules; memory = discovered patterns</a:t>
            </a:r>
            <a:endParaRPr lang="en-US" sz="1300" dirty="0"/>
          </a:p>
          <a:p>
            <a:pPr marL="342900" indent="-342900">
              <a:spcAft>
                <a:spcPts val="1300"/>
              </a:spcAft>
              <a:buSzPct val="100000"/>
              <a:buChar char="•"/>
            </a:pPr>
            <a:r>
              <a:rPr lang="en-US" sz="1300" dirty="0">
                <a:solidFill>
                  <a:srgbClr val="C9C7BC"/>
                </a:solidFill>
                <a:latin typeface="Lora" pitchFamily="34" charset="0"/>
                <a:ea typeface="Lora" pitchFamily="34" charset="-122"/>
                <a:cs typeface="Lora" pitchFamily="34" charset="-120"/>
              </a:rPr>
              <a:t>CLAUDE.md loads in full; memory is capped</a:t>
            </a:r>
            <a:endParaRPr lang="en-US" sz="1300" dirty="0"/>
          </a:p>
          <a:p>
            <a:pPr marL="342900" indent="-342900">
              <a:buSzPct val="100000"/>
              <a:buChar char="•"/>
            </a:pPr>
            <a:r>
              <a:rPr lang="en-US" sz="1300" dirty="0">
                <a:solidFill>
                  <a:srgbClr val="C9C7BC"/>
                </a:solidFill>
                <a:latin typeface="Lora" pitchFamily="34" charset="0"/>
                <a:ea typeface="Lora" pitchFamily="34" charset="-122"/>
                <a:cs typeface="Lora" pitchFamily="34" charset="-120"/>
              </a:rPr>
              <a:t>Say "remember X" to save; "add to CLAUDE.md" to instruct</a:t>
            </a:r>
            <a:endParaRPr lang="en-US" sz="1300" dirty="0"/>
          </a:p>
        </p:txBody>
      </p:sp>
      <p:sp>
        <p:nvSpPr>
          <p:cNvPr id="10" name="Shape 8"/>
          <p:cNvSpPr/>
          <p:nvPr/>
        </p:nvSpPr>
        <p:spPr>
          <a:xfrm>
            <a:off x="640080" y="3650416"/>
            <a:ext cx="10881360" cy="3060160"/>
          </a:xfrm>
          <a:prstGeom prst="roundRect">
            <a:avLst>
              <a:gd name="adj" fmla="val 5926"/>
            </a:avLst>
          </a:prstGeom>
          <a:solidFill>
            <a:srgbClr val="E8E6DC"/>
          </a:solidFill>
          <a:ln/>
        </p:spPr>
        <p:txBody>
          <a:bodyPr/>
          <a:lstStyle/>
          <a:p>
            <a:r>
              <a:rPr lang="en-US" sz="900" b="1" dirty="0"/>
              <a:t>PS C:\Users\dlukyanov\.claude\projects\C--git-chatham-rates-bot-proxy\memory&gt; cat .\feedback_yoda_style.md                                          </a:t>
            </a:r>
          </a:p>
          <a:p>
            <a:r>
              <a:rPr lang="en-US" sz="900" dirty="0"/>
              <a:t>--- </a:t>
            </a:r>
          </a:p>
          <a:p>
            <a:r>
              <a:rPr lang="en-US" sz="900" dirty="0"/>
              <a:t>name: feedback-</a:t>
            </a:r>
            <a:r>
              <a:rPr lang="en-US" sz="900" dirty="0" err="1"/>
              <a:t>yoda</a:t>
            </a:r>
            <a:r>
              <a:rPr lang="en-US" sz="900" dirty="0"/>
              <a:t>-style</a:t>
            </a:r>
          </a:p>
          <a:p>
            <a:r>
              <a:rPr lang="en-US" sz="900" dirty="0"/>
              <a:t>description: All documentation and comments must be written in Yoda style from Star Wars</a:t>
            </a:r>
          </a:p>
          <a:p>
            <a:r>
              <a:rPr lang="en-US" sz="900" dirty="0"/>
              <a:t>metadata: </a:t>
            </a:r>
          </a:p>
          <a:p>
            <a:r>
              <a:rPr lang="en-US" sz="900" dirty="0"/>
              <a:t>  </a:t>
            </a:r>
            <a:r>
              <a:rPr lang="en-US" sz="900" dirty="0" err="1"/>
              <a:t>node_type</a:t>
            </a:r>
            <a:r>
              <a:rPr lang="en-US" sz="900" dirty="0"/>
              <a:t>: memory</a:t>
            </a:r>
          </a:p>
          <a:p>
            <a:r>
              <a:rPr lang="en-US" sz="900" dirty="0"/>
              <a:t>  type: feedback</a:t>
            </a:r>
          </a:p>
          <a:p>
            <a:r>
              <a:rPr lang="en-US" sz="900" dirty="0"/>
              <a:t>  </a:t>
            </a:r>
            <a:r>
              <a:rPr lang="en-US" sz="900" dirty="0" err="1"/>
              <a:t>originSessionId</a:t>
            </a:r>
            <a:r>
              <a:rPr lang="en-US" sz="900" dirty="0"/>
              <a:t>: 289a1e46-e126-4458-8478-03b770dfa1c3</a:t>
            </a:r>
          </a:p>
          <a:p>
            <a:r>
              <a:rPr lang="en-US" sz="900" dirty="0"/>
              <a:t>---</a:t>
            </a:r>
          </a:p>
          <a:p>
            <a:endParaRPr lang="en-US" sz="900" dirty="0"/>
          </a:p>
          <a:p>
            <a:r>
              <a:rPr lang="en-US" sz="900" dirty="0"/>
              <a:t>Always write all comments and documentation in Yoda style from Star Wars.</a:t>
            </a:r>
          </a:p>
          <a:p>
            <a:endParaRPr lang="en-US" sz="900" dirty="0"/>
          </a:p>
          <a:p>
            <a:r>
              <a:rPr lang="en-US" sz="900" dirty="0"/>
              <a:t>**Why:** User explicitly requested this style. It is also codified in CLAUDE.md ("All comments must be written in Yoda style from Star Wars").</a:t>
            </a:r>
          </a:p>
          <a:p>
            <a:endParaRPr lang="en-US" sz="900" dirty="0"/>
          </a:p>
          <a:p>
            <a:r>
              <a:rPr lang="en-US" sz="900" dirty="0"/>
              <a:t>**How to apply:** In every code comment, docstring, or inline documentation, invert the sentence structure in the Yoda way. For example, instead of "Returns the exchange rate", write "The exchange rate, this returns." Apply to all new and edited comments across the codebase</a:t>
            </a:r>
          </a:p>
          <a:p>
            <a:endParaRPr lang="en-US" sz="900" dirty="0"/>
          </a:p>
          <a:p>
            <a:r>
              <a:rPr lang="en-US" sz="900" b="1" dirty="0"/>
              <a:t>PS C:\Users\dlukyanov\.claude\projects\C--git-chatham-rates-bot-proxy\memory&gt; cat .\MEMORY.md  </a:t>
            </a:r>
            <a:r>
              <a:rPr lang="en-US" sz="900" dirty="0"/>
              <a:t>           </a:t>
            </a:r>
          </a:p>
          <a:p>
            <a:r>
              <a:rPr lang="en-US" sz="900" dirty="0"/>
              <a:t># Memory Index</a:t>
            </a:r>
          </a:p>
          <a:p>
            <a:endParaRPr lang="en-US" sz="900" dirty="0"/>
          </a:p>
          <a:p>
            <a:r>
              <a:rPr lang="en-US" sz="900" dirty="0"/>
              <a:t>- [Yoda Style in Documentation](feedback_yoda_style.md) — All comments and documentation must use Yoda style from Star Wars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AF9F5"/>
        </a:solidFill>
        <a:effectLst/>
      </p:bgPr>
    </p:bg>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85286B5C-0EF1-7069-0EC2-35A2D572F9BA}"/>
              </a:ext>
            </a:extLst>
          </p:cNvPr>
          <p:cNvSpPr/>
          <p:nvPr/>
        </p:nvSpPr>
        <p:spPr>
          <a:xfrm>
            <a:off x="457200" y="228600"/>
            <a:ext cx="11247120" cy="502920"/>
          </a:xfrm>
          <a:prstGeom prst="rect">
            <a:avLst/>
          </a:prstGeom>
          <a:noFill/>
          <a:ln/>
        </p:spPr>
        <p:txBody>
          <a:bodyPr wrap="square" lIns="0" tIns="0" rIns="0" bIns="0" rtlCol="0" anchor="ctr"/>
          <a:lstStyle/>
          <a:p>
            <a:r>
              <a:rPr lang="en-US" sz="3000" b="1" dirty="0">
                <a:solidFill>
                  <a:srgbClr val="141414"/>
                </a:solidFill>
                <a:latin typeface="Cambria" pitchFamily="34" charset="0"/>
                <a:ea typeface="Cambria" pitchFamily="34" charset="-122"/>
                <a:cs typeface="Cambria" pitchFamily="34" charset="-120"/>
              </a:rPr>
              <a:t>CLAUDE.md vs. Rules vs. MEMORY.md (</a:t>
            </a:r>
            <a:r>
              <a:rPr lang="en-US" sz="3200" i="1" dirty="0"/>
              <a:t>passive context</a:t>
            </a:r>
            <a:r>
              <a:rPr lang="en-US" sz="3200" dirty="0"/>
              <a:t>)</a:t>
            </a:r>
            <a:endParaRPr lang="en-US" sz="3000" dirty="0"/>
          </a:p>
        </p:txBody>
      </p:sp>
      <p:sp>
        <p:nvSpPr>
          <p:cNvPr id="7" name="Text 1">
            <a:extLst>
              <a:ext uri="{FF2B5EF4-FFF2-40B4-BE49-F238E27FC236}">
                <a16:creationId xmlns:a16="http://schemas.microsoft.com/office/drawing/2014/main" id="{B4848DD1-1AFB-81C8-E48F-B691D1459728}"/>
              </a:ext>
            </a:extLst>
          </p:cNvPr>
          <p:cNvSpPr/>
          <p:nvPr/>
        </p:nvSpPr>
        <p:spPr>
          <a:xfrm>
            <a:off x="457200" y="713232"/>
            <a:ext cx="11247120" cy="320040"/>
          </a:xfrm>
          <a:prstGeom prst="rect">
            <a:avLst/>
          </a:prstGeom>
          <a:noFill/>
          <a:ln/>
        </p:spPr>
        <p:txBody>
          <a:bodyPr wrap="square" lIns="0" tIns="0" rIns="0" bIns="0" rtlCol="0" anchor="ctr"/>
          <a:lstStyle/>
          <a:p>
            <a:pPr marL="0" indent="0">
              <a:buNone/>
            </a:pPr>
            <a:r>
              <a:rPr lang="en-US" sz="1300" dirty="0">
                <a:solidFill>
                  <a:srgbClr val="6B6B6B"/>
                </a:solidFill>
                <a:latin typeface="Calibri" pitchFamily="34" charset="0"/>
                <a:ea typeface="Calibri" pitchFamily="34" charset="-122"/>
                <a:cs typeface="Calibri" pitchFamily="34" charset="-120"/>
              </a:rPr>
              <a:t>Differences, when to use each, and how scope and priority resolve</a:t>
            </a:r>
            <a:endParaRPr lang="en-US" sz="1300" dirty="0"/>
          </a:p>
        </p:txBody>
      </p:sp>
      <p:sp>
        <p:nvSpPr>
          <p:cNvPr id="9" name="Shape 2">
            <a:extLst>
              <a:ext uri="{FF2B5EF4-FFF2-40B4-BE49-F238E27FC236}">
                <a16:creationId xmlns:a16="http://schemas.microsoft.com/office/drawing/2014/main" id="{98C4D85A-189D-5769-A186-42FB27F74C59}"/>
              </a:ext>
            </a:extLst>
          </p:cNvPr>
          <p:cNvSpPr/>
          <p:nvPr/>
        </p:nvSpPr>
        <p:spPr>
          <a:xfrm>
            <a:off x="457200" y="1143000"/>
            <a:ext cx="1737360" cy="411480"/>
          </a:xfrm>
          <a:prstGeom prst="rect">
            <a:avLst/>
          </a:prstGeom>
          <a:solidFill>
            <a:srgbClr val="F7F5F0"/>
          </a:solidFill>
          <a:ln w="9525">
            <a:solidFill>
              <a:srgbClr val="E3E0D8"/>
            </a:solidFill>
            <a:prstDash val="solid"/>
          </a:ln>
        </p:spPr>
        <p:txBody>
          <a:bodyPr/>
          <a:lstStyle/>
          <a:p>
            <a:endParaRPr lang="en-US"/>
          </a:p>
        </p:txBody>
      </p:sp>
      <p:sp>
        <p:nvSpPr>
          <p:cNvPr id="10" name="Shape 3">
            <a:extLst>
              <a:ext uri="{FF2B5EF4-FFF2-40B4-BE49-F238E27FC236}">
                <a16:creationId xmlns:a16="http://schemas.microsoft.com/office/drawing/2014/main" id="{54ACECA3-03DA-EB77-2B8F-1488482D3F76}"/>
              </a:ext>
            </a:extLst>
          </p:cNvPr>
          <p:cNvSpPr/>
          <p:nvPr/>
        </p:nvSpPr>
        <p:spPr>
          <a:xfrm>
            <a:off x="2194560" y="1143000"/>
            <a:ext cx="3169920" cy="411480"/>
          </a:xfrm>
          <a:prstGeom prst="rect">
            <a:avLst/>
          </a:prstGeom>
          <a:solidFill>
            <a:srgbClr val="C9704F"/>
          </a:solidFill>
          <a:ln w="9525">
            <a:solidFill>
              <a:srgbClr val="E3E0D8"/>
            </a:solidFill>
            <a:prstDash val="solid"/>
          </a:ln>
        </p:spPr>
        <p:txBody>
          <a:bodyPr/>
          <a:lstStyle/>
          <a:p>
            <a:endParaRPr lang="en-US"/>
          </a:p>
        </p:txBody>
      </p:sp>
      <p:sp>
        <p:nvSpPr>
          <p:cNvPr id="11" name="Text 4">
            <a:extLst>
              <a:ext uri="{FF2B5EF4-FFF2-40B4-BE49-F238E27FC236}">
                <a16:creationId xmlns:a16="http://schemas.microsoft.com/office/drawing/2014/main" id="{9A2E36C0-B1DF-25BA-C495-B07EC4220CCC}"/>
              </a:ext>
            </a:extLst>
          </p:cNvPr>
          <p:cNvSpPr/>
          <p:nvPr/>
        </p:nvSpPr>
        <p:spPr>
          <a:xfrm>
            <a:off x="2194560" y="1143000"/>
            <a:ext cx="316992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CLAUDE.md</a:t>
            </a:r>
            <a:endParaRPr lang="en-US" sz="1500" dirty="0"/>
          </a:p>
        </p:txBody>
      </p:sp>
      <p:sp>
        <p:nvSpPr>
          <p:cNvPr id="12" name="Shape 5">
            <a:extLst>
              <a:ext uri="{FF2B5EF4-FFF2-40B4-BE49-F238E27FC236}">
                <a16:creationId xmlns:a16="http://schemas.microsoft.com/office/drawing/2014/main" id="{9023F22E-B85A-FA55-1883-EDE6BA2B0EC3}"/>
              </a:ext>
            </a:extLst>
          </p:cNvPr>
          <p:cNvSpPr/>
          <p:nvPr/>
        </p:nvSpPr>
        <p:spPr>
          <a:xfrm>
            <a:off x="5364480" y="1143000"/>
            <a:ext cx="3169920" cy="411480"/>
          </a:xfrm>
          <a:prstGeom prst="rect">
            <a:avLst/>
          </a:prstGeom>
          <a:solidFill>
            <a:srgbClr val="3B3B3B"/>
          </a:solidFill>
          <a:ln w="9525">
            <a:solidFill>
              <a:srgbClr val="E3E0D8"/>
            </a:solidFill>
            <a:prstDash val="solid"/>
          </a:ln>
        </p:spPr>
        <p:txBody>
          <a:bodyPr/>
          <a:lstStyle/>
          <a:p>
            <a:endParaRPr lang="en-US"/>
          </a:p>
        </p:txBody>
      </p:sp>
      <p:sp>
        <p:nvSpPr>
          <p:cNvPr id="13" name="Text 6">
            <a:extLst>
              <a:ext uri="{FF2B5EF4-FFF2-40B4-BE49-F238E27FC236}">
                <a16:creationId xmlns:a16="http://schemas.microsoft.com/office/drawing/2014/main" id="{86459B50-611A-9D61-8EC8-D5F6B884F185}"/>
              </a:ext>
            </a:extLst>
          </p:cNvPr>
          <p:cNvSpPr/>
          <p:nvPr/>
        </p:nvSpPr>
        <p:spPr>
          <a:xfrm>
            <a:off x="5364480" y="1143000"/>
            <a:ext cx="316992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Rules</a:t>
            </a:r>
            <a:endParaRPr lang="en-US" sz="1500" dirty="0"/>
          </a:p>
        </p:txBody>
      </p:sp>
      <p:sp>
        <p:nvSpPr>
          <p:cNvPr id="14" name="Shape 7">
            <a:extLst>
              <a:ext uri="{FF2B5EF4-FFF2-40B4-BE49-F238E27FC236}">
                <a16:creationId xmlns:a16="http://schemas.microsoft.com/office/drawing/2014/main" id="{55DD4E61-CED1-92F1-07F0-410B4EF35246}"/>
              </a:ext>
            </a:extLst>
          </p:cNvPr>
          <p:cNvSpPr/>
          <p:nvPr/>
        </p:nvSpPr>
        <p:spPr>
          <a:xfrm>
            <a:off x="8534400" y="1143000"/>
            <a:ext cx="3169920" cy="411480"/>
          </a:xfrm>
          <a:prstGeom prst="rect">
            <a:avLst/>
          </a:prstGeom>
          <a:solidFill>
            <a:srgbClr val="6B5B95"/>
          </a:solidFill>
          <a:ln w="9525">
            <a:solidFill>
              <a:srgbClr val="E3E0D8"/>
            </a:solidFill>
            <a:prstDash val="solid"/>
          </a:ln>
        </p:spPr>
        <p:txBody>
          <a:bodyPr/>
          <a:lstStyle/>
          <a:p>
            <a:endParaRPr lang="en-US"/>
          </a:p>
        </p:txBody>
      </p:sp>
      <p:sp>
        <p:nvSpPr>
          <p:cNvPr id="15" name="Text 8">
            <a:extLst>
              <a:ext uri="{FF2B5EF4-FFF2-40B4-BE49-F238E27FC236}">
                <a16:creationId xmlns:a16="http://schemas.microsoft.com/office/drawing/2014/main" id="{307239F2-BF32-4337-E18F-A41C9E86247D}"/>
              </a:ext>
            </a:extLst>
          </p:cNvPr>
          <p:cNvSpPr/>
          <p:nvPr/>
        </p:nvSpPr>
        <p:spPr>
          <a:xfrm>
            <a:off x="8534400" y="1143000"/>
            <a:ext cx="316992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MEMORY.md</a:t>
            </a:r>
            <a:endParaRPr lang="en-US" sz="1500" dirty="0"/>
          </a:p>
        </p:txBody>
      </p:sp>
      <p:sp>
        <p:nvSpPr>
          <p:cNvPr id="16" name="Shape 9">
            <a:extLst>
              <a:ext uri="{FF2B5EF4-FFF2-40B4-BE49-F238E27FC236}">
                <a16:creationId xmlns:a16="http://schemas.microsoft.com/office/drawing/2014/main" id="{3D47251E-3FBC-BD8A-2E55-750970892253}"/>
              </a:ext>
            </a:extLst>
          </p:cNvPr>
          <p:cNvSpPr/>
          <p:nvPr/>
        </p:nvSpPr>
        <p:spPr>
          <a:xfrm>
            <a:off x="457200" y="1554480"/>
            <a:ext cx="1737360" cy="438912"/>
          </a:xfrm>
          <a:prstGeom prst="rect">
            <a:avLst/>
          </a:prstGeom>
          <a:solidFill>
            <a:srgbClr val="FFFFFF"/>
          </a:solidFill>
          <a:ln w="9525">
            <a:solidFill>
              <a:srgbClr val="E3E0D8"/>
            </a:solidFill>
            <a:prstDash val="solid"/>
          </a:ln>
        </p:spPr>
        <p:txBody>
          <a:bodyPr/>
          <a:lstStyle/>
          <a:p>
            <a:endParaRPr lang="en-US"/>
          </a:p>
        </p:txBody>
      </p:sp>
      <p:sp>
        <p:nvSpPr>
          <p:cNvPr id="17" name="Text 10">
            <a:extLst>
              <a:ext uri="{FF2B5EF4-FFF2-40B4-BE49-F238E27FC236}">
                <a16:creationId xmlns:a16="http://schemas.microsoft.com/office/drawing/2014/main" id="{40A97245-7F04-33D7-C88B-F919407760A3}"/>
              </a:ext>
            </a:extLst>
          </p:cNvPr>
          <p:cNvSpPr/>
          <p:nvPr/>
        </p:nvSpPr>
        <p:spPr>
          <a:xfrm>
            <a:off x="566928" y="1554480"/>
            <a:ext cx="1554480" cy="438912"/>
          </a:xfrm>
          <a:prstGeom prst="rect">
            <a:avLst/>
          </a:prstGeom>
          <a:noFill/>
          <a:ln/>
        </p:spPr>
        <p:txBody>
          <a:bodyPr wrap="square" lIns="0" tIns="0" rIns="0" bIns="0" rtlCol="0" anchor="ctr"/>
          <a:lstStyle/>
          <a:p>
            <a:pPr marL="0" indent="0">
              <a:buNone/>
            </a:pPr>
            <a:r>
              <a:rPr lang="en-US" sz="1250" b="1" dirty="0">
                <a:solidFill>
                  <a:srgbClr val="2B2B2B"/>
                </a:solidFill>
                <a:latin typeface="Calibri" pitchFamily="34" charset="0"/>
                <a:ea typeface="Calibri" pitchFamily="34" charset="-122"/>
                <a:cs typeface="Calibri" pitchFamily="34" charset="-120"/>
              </a:rPr>
              <a:t>Structure</a:t>
            </a:r>
            <a:endParaRPr lang="en-US" sz="1250" dirty="0"/>
          </a:p>
        </p:txBody>
      </p:sp>
      <p:sp>
        <p:nvSpPr>
          <p:cNvPr id="18" name="Shape 11">
            <a:extLst>
              <a:ext uri="{FF2B5EF4-FFF2-40B4-BE49-F238E27FC236}">
                <a16:creationId xmlns:a16="http://schemas.microsoft.com/office/drawing/2014/main" id="{145786FF-4DA1-3D71-DBE7-B7DE114DE8D4}"/>
              </a:ext>
            </a:extLst>
          </p:cNvPr>
          <p:cNvSpPr/>
          <p:nvPr/>
        </p:nvSpPr>
        <p:spPr>
          <a:xfrm>
            <a:off x="2194560" y="1554480"/>
            <a:ext cx="3169920" cy="438912"/>
          </a:xfrm>
          <a:prstGeom prst="rect">
            <a:avLst/>
          </a:prstGeom>
          <a:solidFill>
            <a:srgbClr val="FFFFFF"/>
          </a:solidFill>
          <a:ln w="9525">
            <a:solidFill>
              <a:srgbClr val="E3E0D8"/>
            </a:solidFill>
            <a:prstDash val="solid"/>
          </a:ln>
        </p:spPr>
        <p:txBody>
          <a:bodyPr/>
          <a:lstStyle/>
          <a:p>
            <a:endParaRPr lang="en-US"/>
          </a:p>
        </p:txBody>
      </p:sp>
      <p:sp>
        <p:nvSpPr>
          <p:cNvPr id="19" name="Text 12">
            <a:extLst>
              <a:ext uri="{FF2B5EF4-FFF2-40B4-BE49-F238E27FC236}">
                <a16:creationId xmlns:a16="http://schemas.microsoft.com/office/drawing/2014/main" id="{F977A753-372E-AD6C-E8B9-E13D1ECB7A48}"/>
              </a:ext>
            </a:extLst>
          </p:cNvPr>
          <p:cNvSpPr/>
          <p:nvPr/>
        </p:nvSpPr>
        <p:spPr>
          <a:xfrm>
            <a:off x="2331720" y="1554480"/>
            <a:ext cx="2895600" cy="438912"/>
          </a:xfrm>
          <a:prstGeom prst="rect">
            <a:avLst/>
          </a:prstGeom>
          <a:noFill/>
          <a:ln/>
        </p:spPr>
        <p:txBody>
          <a:bodyPr wrap="square" lIns="0" tIns="0" rIns="0" bIns="0" rtlCol="0" anchor="ctr"/>
          <a:lstStyle/>
          <a:p>
            <a:pPr marL="0" indent="0">
              <a:buNone/>
            </a:pPr>
            <a:r>
              <a:rPr lang="en-US" sz="1150" dirty="0">
                <a:solidFill>
                  <a:srgbClr val="2B2B2B"/>
                </a:solidFill>
                <a:latin typeface="Calibri" pitchFamily="34" charset="0"/>
                <a:ea typeface="Calibri" pitchFamily="34" charset="-122"/>
                <a:cs typeface="Calibri" pitchFamily="34" charset="-120"/>
              </a:rPr>
              <a:t>One file per scope level, all combined</a:t>
            </a:r>
            <a:endParaRPr lang="en-US" sz="1150" dirty="0"/>
          </a:p>
        </p:txBody>
      </p:sp>
      <p:sp>
        <p:nvSpPr>
          <p:cNvPr id="20" name="Shape 13">
            <a:extLst>
              <a:ext uri="{FF2B5EF4-FFF2-40B4-BE49-F238E27FC236}">
                <a16:creationId xmlns:a16="http://schemas.microsoft.com/office/drawing/2014/main" id="{0404A440-8095-9DAC-7C3B-E24BF5451BE0}"/>
              </a:ext>
            </a:extLst>
          </p:cNvPr>
          <p:cNvSpPr/>
          <p:nvPr/>
        </p:nvSpPr>
        <p:spPr>
          <a:xfrm>
            <a:off x="5364480" y="1554480"/>
            <a:ext cx="3169920" cy="438912"/>
          </a:xfrm>
          <a:prstGeom prst="rect">
            <a:avLst/>
          </a:prstGeom>
          <a:solidFill>
            <a:srgbClr val="FFFFFF"/>
          </a:solidFill>
          <a:ln w="9525">
            <a:solidFill>
              <a:srgbClr val="E3E0D8"/>
            </a:solidFill>
            <a:prstDash val="solid"/>
          </a:ln>
        </p:spPr>
        <p:txBody>
          <a:bodyPr/>
          <a:lstStyle/>
          <a:p>
            <a:endParaRPr lang="en-US"/>
          </a:p>
        </p:txBody>
      </p:sp>
      <p:sp>
        <p:nvSpPr>
          <p:cNvPr id="21" name="Text 14">
            <a:extLst>
              <a:ext uri="{FF2B5EF4-FFF2-40B4-BE49-F238E27FC236}">
                <a16:creationId xmlns:a16="http://schemas.microsoft.com/office/drawing/2014/main" id="{B1E6D89B-D6E5-F364-E76B-322A64D31F76}"/>
              </a:ext>
            </a:extLst>
          </p:cNvPr>
          <p:cNvSpPr/>
          <p:nvPr/>
        </p:nvSpPr>
        <p:spPr>
          <a:xfrm>
            <a:off x="5501640" y="1554480"/>
            <a:ext cx="2895600" cy="438912"/>
          </a:xfrm>
          <a:prstGeom prst="rect">
            <a:avLst/>
          </a:prstGeom>
          <a:noFill/>
          <a:ln/>
        </p:spPr>
        <p:txBody>
          <a:bodyPr wrap="square" lIns="0" tIns="0" rIns="0" bIns="0" rtlCol="0" anchor="ctr"/>
          <a:lstStyle/>
          <a:p>
            <a:pPr marL="0" indent="0">
              <a:buNone/>
            </a:pPr>
            <a:r>
              <a:rPr lang="en-US" sz="1150" dirty="0">
                <a:solidFill>
                  <a:srgbClr val="2B2B2B"/>
                </a:solidFill>
                <a:latin typeface="Calibri" pitchFamily="34" charset="0"/>
                <a:ea typeface="Calibri" pitchFamily="34" charset="-122"/>
                <a:cs typeface="Calibri" pitchFamily="34" charset="-120"/>
              </a:rPr>
              <a:t>Multiple modular files</a:t>
            </a:r>
            <a:endParaRPr lang="en-US" sz="1150" dirty="0"/>
          </a:p>
        </p:txBody>
      </p:sp>
      <p:sp>
        <p:nvSpPr>
          <p:cNvPr id="22" name="Shape 15">
            <a:extLst>
              <a:ext uri="{FF2B5EF4-FFF2-40B4-BE49-F238E27FC236}">
                <a16:creationId xmlns:a16="http://schemas.microsoft.com/office/drawing/2014/main" id="{41F8B54F-51F1-8A25-B51C-5D3E0CFF70B1}"/>
              </a:ext>
            </a:extLst>
          </p:cNvPr>
          <p:cNvSpPr/>
          <p:nvPr/>
        </p:nvSpPr>
        <p:spPr>
          <a:xfrm>
            <a:off x="8534400" y="1554480"/>
            <a:ext cx="3169920" cy="438912"/>
          </a:xfrm>
          <a:prstGeom prst="rect">
            <a:avLst/>
          </a:prstGeom>
          <a:solidFill>
            <a:srgbClr val="FFFFFF"/>
          </a:solidFill>
          <a:ln w="9525">
            <a:solidFill>
              <a:srgbClr val="E3E0D8"/>
            </a:solidFill>
            <a:prstDash val="solid"/>
          </a:ln>
        </p:spPr>
        <p:txBody>
          <a:bodyPr/>
          <a:lstStyle/>
          <a:p>
            <a:endParaRPr lang="en-US"/>
          </a:p>
        </p:txBody>
      </p:sp>
      <p:sp>
        <p:nvSpPr>
          <p:cNvPr id="23" name="Text 16">
            <a:extLst>
              <a:ext uri="{FF2B5EF4-FFF2-40B4-BE49-F238E27FC236}">
                <a16:creationId xmlns:a16="http://schemas.microsoft.com/office/drawing/2014/main" id="{20D21F2C-0C9F-6DC9-71E3-437C352AC6BD}"/>
              </a:ext>
            </a:extLst>
          </p:cNvPr>
          <p:cNvSpPr/>
          <p:nvPr/>
        </p:nvSpPr>
        <p:spPr>
          <a:xfrm>
            <a:off x="8671560" y="1554480"/>
            <a:ext cx="2895600" cy="438912"/>
          </a:xfrm>
          <a:prstGeom prst="rect">
            <a:avLst/>
          </a:prstGeom>
          <a:noFill/>
          <a:ln/>
        </p:spPr>
        <p:txBody>
          <a:bodyPr wrap="square" lIns="0" tIns="0" rIns="0" bIns="0" rtlCol="0" anchor="ctr"/>
          <a:lstStyle/>
          <a:p>
            <a:pPr marL="0" indent="0">
              <a:buNone/>
            </a:pPr>
            <a:r>
              <a:rPr lang="en-US" sz="1150" dirty="0">
                <a:solidFill>
                  <a:srgbClr val="2B2B2B"/>
                </a:solidFill>
                <a:latin typeface="Calibri" pitchFamily="34" charset="0"/>
                <a:ea typeface="Calibri" pitchFamily="34" charset="-122"/>
                <a:cs typeface="Calibri" pitchFamily="34" charset="-120"/>
              </a:rPr>
              <a:t>Single growing log + linked topic files</a:t>
            </a:r>
            <a:endParaRPr lang="en-US" sz="1150" dirty="0"/>
          </a:p>
        </p:txBody>
      </p:sp>
      <p:sp>
        <p:nvSpPr>
          <p:cNvPr id="24" name="Shape 17">
            <a:extLst>
              <a:ext uri="{FF2B5EF4-FFF2-40B4-BE49-F238E27FC236}">
                <a16:creationId xmlns:a16="http://schemas.microsoft.com/office/drawing/2014/main" id="{290E564A-03BE-F8F9-9C17-B7373A0EB047}"/>
              </a:ext>
            </a:extLst>
          </p:cNvPr>
          <p:cNvSpPr/>
          <p:nvPr/>
        </p:nvSpPr>
        <p:spPr>
          <a:xfrm>
            <a:off x="457200" y="1993392"/>
            <a:ext cx="1737360" cy="438912"/>
          </a:xfrm>
          <a:prstGeom prst="rect">
            <a:avLst/>
          </a:prstGeom>
          <a:solidFill>
            <a:srgbClr val="F1EFEA"/>
          </a:solidFill>
          <a:ln w="9525">
            <a:solidFill>
              <a:srgbClr val="E3E0D8"/>
            </a:solidFill>
            <a:prstDash val="solid"/>
          </a:ln>
        </p:spPr>
        <p:txBody>
          <a:bodyPr/>
          <a:lstStyle/>
          <a:p>
            <a:endParaRPr lang="en-US"/>
          </a:p>
        </p:txBody>
      </p:sp>
      <p:sp>
        <p:nvSpPr>
          <p:cNvPr id="25" name="Text 18">
            <a:extLst>
              <a:ext uri="{FF2B5EF4-FFF2-40B4-BE49-F238E27FC236}">
                <a16:creationId xmlns:a16="http://schemas.microsoft.com/office/drawing/2014/main" id="{F04AC771-009C-8EA8-512C-D18E62EF3390}"/>
              </a:ext>
            </a:extLst>
          </p:cNvPr>
          <p:cNvSpPr/>
          <p:nvPr/>
        </p:nvSpPr>
        <p:spPr>
          <a:xfrm>
            <a:off x="566928" y="1993392"/>
            <a:ext cx="1554480" cy="438912"/>
          </a:xfrm>
          <a:prstGeom prst="rect">
            <a:avLst/>
          </a:prstGeom>
          <a:noFill/>
          <a:ln/>
        </p:spPr>
        <p:txBody>
          <a:bodyPr wrap="square" lIns="0" tIns="0" rIns="0" bIns="0" rtlCol="0" anchor="ctr"/>
          <a:lstStyle/>
          <a:p>
            <a:pPr marL="0" indent="0">
              <a:buNone/>
            </a:pPr>
            <a:r>
              <a:rPr lang="en-US" sz="1250" b="1" dirty="0">
                <a:solidFill>
                  <a:srgbClr val="2B2B2B"/>
                </a:solidFill>
                <a:latin typeface="Calibri" pitchFamily="34" charset="0"/>
                <a:ea typeface="Calibri" pitchFamily="34" charset="-122"/>
                <a:cs typeface="Calibri" pitchFamily="34" charset="-120"/>
              </a:rPr>
              <a:t>Scope</a:t>
            </a:r>
            <a:endParaRPr lang="en-US" sz="1250" dirty="0"/>
          </a:p>
        </p:txBody>
      </p:sp>
      <p:sp>
        <p:nvSpPr>
          <p:cNvPr id="26" name="Shape 19">
            <a:extLst>
              <a:ext uri="{FF2B5EF4-FFF2-40B4-BE49-F238E27FC236}">
                <a16:creationId xmlns:a16="http://schemas.microsoft.com/office/drawing/2014/main" id="{1A389791-11B5-9BFC-76C3-AE16B460DA69}"/>
              </a:ext>
            </a:extLst>
          </p:cNvPr>
          <p:cNvSpPr/>
          <p:nvPr/>
        </p:nvSpPr>
        <p:spPr>
          <a:xfrm>
            <a:off x="2194560" y="1993392"/>
            <a:ext cx="3169920" cy="438912"/>
          </a:xfrm>
          <a:prstGeom prst="rect">
            <a:avLst/>
          </a:prstGeom>
          <a:solidFill>
            <a:srgbClr val="F1EFEA"/>
          </a:solidFill>
          <a:ln w="9525">
            <a:solidFill>
              <a:srgbClr val="E3E0D8"/>
            </a:solidFill>
            <a:prstDash val="solid"/>
          </a:ln>
        </p:spPr>
        <p:txBody>
          <a:bodyPr/>
          <a:lstStyle/>
          <a:p>
            <a:endParaRPr lang="en-US"/>
          </a:p>
        </p:txBody>
      </p:sp>
      <p:sp>
        <p:nvSpPr>
          <p:cNvPr id="27" name="Text 20">
            <a:extLst>
              <a:ext uri="{FF2B5EF4-FFF2-40B4-BE49-F238E27FC236}">
                <a16:creationId xmlns:a16="http://schemas.microsoft.com/office/drawing/2014/main" id="{75448B43-4346-4933-56DC-728AF1DDB2A0}"/>
              </a:ext>
            </a:extLst>
          </p:cNvPr>
          <p:cNvSpPr/>
          <p:nvPr/>
        </p:nvSpPr>
        <p:spPr>
          <a:xfrm>
            <a:off x="2331720" y="1993392"/>
            <a:ext cx="2895600" cy="438912"/>
          </a:xfrm>
          <a:prstGeom prst="rect">
            <a:avLst/>
          </a:prstGeom>
          <a:noFill/>
          <a:ln/>
        </p:spPr>
        <p:txBody>
          <a:bodyPr wrap="square" lIns="0" tIns="0" rIns="0" bIns="0" rtlCol="0" anchor="ctr"/>
          <a:lstStyle/>
          <a:p>
            <a:pPr marL="0" indent="0">
              <a:buNone/>
            </a:pPr>
            <a:r>
              <a:rPr lang="en-US" sz="1150" dirty="0">
                <a:solidFill>
                  <a:srgbClr val="2B2B2B"/>
                </a:solidFill>
                <a:latin typeface="Calibri" pitchFamily="34" charset="0"/>
                <a:ea typeface="Calibri" pitchFamily="34" charset="-122"/>
                <a:cs typeface="Calibri" pitchFamily="34" charset="-120"/>
              </a:rPr>
              <a:t>Broad, always-relevant</a:t>
            </a:r>
            <a:endParaRPr lang="en-US" sz="1150" dirty="0"/>
          </a:p>
        </p:txBody>
      </p:sp>
      <p:sp>
        <p:nvSpPr>
          <p:cNvPr id="28" name="Shape 21">
            <a:extLst>
              <a:ext uri="{FF2B5EF4-FFF2-40B4-BE49-F238E27FC236}">
                <a16:creationId xmlns:a16="http://schemas.microsoft.com/office/drawing/2014/main" id="{80F310D7-6C64-B13E-9117-3206D6CA59F5}"/>
              </a:ext>
            </a:extLst>
          </p:cNvPr>
          <p:cNvSpPr/>
          <p:nvPr/>
        </p:nvSpPr>
        <p:spPr>
          <a:xfrm>
            <a:off x="5364480" y="1993392"/>
            <a:ext cx="3169920" cy="438912"/>
          </a:xfrm>
          <a:prstGeom prst="rect">
            <a:avLst/>
          </a:prstGeom>
          <a:solidFill>
            <a:srgbClr val="F1EFEA"/>
          </a:solidFill>
          <a:ln w="9525">
            <a:solidFill>
              <a:srgbClr val="E3E0D8"/>
            </a:solidFill>
            <a:prstDash val="solid"/>
          </a:ln>
        </p:spPr>
        <p:txBody>
          <a:bodyPr/>
          <a:lstStyle/>
          <a:p>
            <a:endParaRPr lang="en-US"/>
          </a:p>
        </p:txBody>
      </p:sp>
      <p:sp>
        <p:nvSpPr>
          <p:cNvPr id="29" name="Text 22">
            <a:extLst>
              <a:ext uri="{FF2B5EF4-FFF2-40B4-BE49-F238E27FC236}">
                <a16:creationId xmlns:a16="http://schemas.microsoft.com/office/drawing/2014/main" id="{7F6ABFA7-E72F-9C6F-87C6-A3EC85CC4F63}"/>
              </a:ext>
            </a:extLst>
          </p:cNvPr>
          <p:cNvSpPr/>
          <p:nvPr/>
        </p:nvSpPr>
        <p:spPr>
          <a:xfrm>
            <a:off x="5501640" y="1993392"/>
            <a:ext cx="2895600" cy="438912"/>
          </a:xfrm>
          <a:prstGeom prst="rect">
            <a:avLst/>
          </a:prstGeom>
          <a:noFill/>
          <a:ln/>
        </p:spPr>
        <p:txBody>
          <a:bodyPr wrap="square" lIns="0" tIns="0" rIns="0" bIns="0" rtlCol="0" anchor="ctr"/>
          <a:lstStyle/>
          <a:p>
            <a:pPr marL="0" indent="0">
              <a:buNone/>
            </a:pPr>
            <a:r>
              <a:rPr lang="en-US" sz="1150" dirty="0">
                <a:solidFill>
                  <a:srgbClr val="2B2B2B"/>
                </a:solidFill>
                <a:latin typeface="Calibri" pitchFamily="34" charset="0"/>
                <a:ea typeface="Calibri" pitchFamily="34" charset="-122"/>
                <a:cs typeface="Calibri" pitchFamily="34" charset="-120"/>
              </a:rPr>
              <a:t>Narrow, path-specific</a:t>
            </a:r>
            <a:endParaRPr lang="en-US" sz="1150" dirty="0"/>
          </a:p>
        </p:txBody>
      </p:sp>
      <p:sp>
        <p:nvSpPr>
          <p:cNvPr id="30" name="Shape 23">
            <a:extLst>
              <a:ext uri="{FF2B5EF4-FFF2-40B4-BE49-F238E27FC236}">
                <a16:creationId xmlns:a16="http://schemas.microsoft.com/office/drawing/2014/main" id="{10F0CD1A-B296-D5CA-A6C2-2D201021B735}"/>
              </a:ext>
            </a:extLst>
          </p:cNvPr>
          <p:cNvSpPr/>
          <p:nvPr/>
        </p:nvSpPr>
        <p:spPr>
          <a:xfrm>
            <a:off x="8534400" y="1993392"/>
            <a:ext cx="3169920" cy="438912"/>
          </a:xfrm>
          <a:prstGeom prst="rect">
            <a:avLst/>
          </a:prstGeom>
          <a:solidFill>
            <a:srgbClr val="F1EFEA"/>
          </a:solidFill>
          <a:ln w="9525">
            <a:solidFill>
              <a:srgbClr val="E3E0D8"/>
            </a:solidFill>
            <a:prstDash val="solid"/>
          </a:ln>
        </p:spPr>
        <p:txBody>
          <a:bodyPr/>
          <a:lstStyle/>
          <a:p>
            <a:endParaRPr lang="en-US"/>
          </a:p>
        </p:txBody>
      </p:sp>
      <p:sp>
        <p:nvSpPr>
          <p:cNvPr id="31" name="Text 24">
            <a:extLst>
              <a:ext uri="{FF2B5EF4-FFF2-40B4-BE49-F238E27FC236}">
                <a16:creationId xmlns:a16="http://schemas.microsoft.com/office/drawing/2014/main" id="{C4EBC490-CBF1-3F86-E19E-9956121388F1}"/>
              </a:ext>
            </a:extLst>
          </p:cNvPr>
          <p:cNvSpPr/>
          <p:nvPr/>
        </p:nvSpPr>
        <p:spPr>
          <a:xfrm>
            <a:off x="8671560" y="1993392"/>
            <a:ext cx="2895600" cy="438912"/>
          </a:xfrm>
          <a:prstGeom prst="rect">
            <a:avLst/>
          </a:prstGeom>
          <a:noFill/>
          <a:ln/>
        </p:spPr>
        <p:txBody>
          <a:bodyPr wrap="square" lIns="0" tIns="0" rIns="0" bIns="0" rtlCol="0" anchor="ctr"/>
          <a:lstStyle/>
          <a:p>
            <a:pPr marL="0" indent="0">
              <a:buNone/>
            </a:pPr>
            <a:r>
              <a:rPr lang="en-US" sz="1150" dirty="0">
                <a:solidFill>
                  <a:srgbClr val="2B2B2B"/>
                </a:solidFill>
                <a:latin typeface="Calibri" pitchFamily="34" charset="0"/>
                <a:ea typeface="Calibri" pitchFamily="34" charset="-122"/>
                <a:cs typeface="Calibri" pitchFamily="34" charset="-120"/>
              </a:rPr>
              <a:t>Whatever Claude decided was worth keeping</a:t>
            </a:r>
            <a:endParaRPr lang="en-US" sz="1150" dirty="0"/>
          </a:p>
        </p:txBody>
      </p:sp>
      <p:sp>
        <p:nvSpPr>
          <p:cNvPr id="32" name="Shape 25">
            <a:extLst>
              <a:ext uri="{FF2B5EF4-FFF2-40B4-BE49-F238E27FC236}">
                <a16:creationId xmlns:a16="http://schemas.microsoft.com/office/drawing/2014/main" id="{720DB76C-68BE-C5B5-DFC9-DB383500BC83}"/>
              </a:ext>
            </a:extLst>
          </p:cNvPr>
          <p:cNvSpPr/>
          <p:nvPr/>
        </p:nvSpPr>
        <p:spPr>
          <a:xfrm>
            <a:off x="457200" y="2432304"/>
            <a:ext cx="1737360" cy="438912"/>
          </a:xfrm>
          <a:prstGeom prst="rect">
            <a:avLst/>
          </a:prstGeom>
          <a:solidFill>
            <a:srgbClr val="FFFFFF"/>
          </a:solidFill>
          <a:ln w="9525">
            <a:solidFill>
              <a:srgbClr val="E3E0D8"/>
            </a:solidFill>
            <a:prstDash val="solid"/>
          </a:ln>
        </p:spPr>
        <p:txBody>
          <a:bodyPr/>
          <a:lstStyle/>
          <a:p>
            <a:endParaRPr lang="en-US"/>
          </a:p>
        </p:txBody>
      </p:sp>
      <p:sp>
        <p:nvSpPr>
          <p:cNvPr id="33" name="Text 26">
            <a:extLst>
              <a:ext uri="{FF2B5EF4-FFF2-40B4-BE49-F238E27FC236}">
                <a16:creationId xmlns:a16="http://schemas.microsoft.com/office/drawing/2014/main" id="{02CB0C29-79A3-1D5F-C9FE-4B9C522DBF64}"/>
              </a:ext>
            </a:extLst>
          </p:cNvPr>
          <p:cNvSpPr/>
          <p:nvPr/>
        </p:nvSpPr>
        <p:spPr>
          <a:xfrm>
            <a:off x="566928" y="2432304"/>
            <a:ext cx="1554480" cy="438912"/>
          </a:xfrm>
          <a:prstGeom prst="rect">
            <a:avLst/>
          </a:prstGeom>
          <a:noFill/>
          <a:ln/>
        </p:spPr>
        <p:txBody>
          <a:bodyPr wrap="square" lIns="0" tIns="0" rIns="0" bIns="0" rtlCol="0" anchor="ctr"/>
          <a:lstStyle/>
          <a:p>
            <a:pPr marL="0" indent="0">
              <a:buNone/>
            </a:pPr>
            <a:r>
              <a:rPr lang="en-US" sz="1250" b="1" dirty="0">
                <a:solidFill>
                  <a:srgbClr val="2B2B2B"/>
                </a:solidFill>
                <a:latin typeface="Calibri" pitchFamily="34" charset="0"/>
                <a:ea typeface="Calibri" pitchFamily="34" charset="-122"/>
                <a:cs typeface="Calibri" pitchFamily="34" charset="-120"/>
              </a:rPr>
              <a:t>When it loads</a:t>
            </a:r>
            <a:endParaRPr lang="en-US" sz="1250" dirty="0"/>
          </a:p>
        </p:txBody>
      </p:sp>
      <p:sp>
        <p:nvSpPr>
          <p:cNvPr id="34" name="Shape 27">
            <a:extLst>
              <a:ext uri="{FF2B5EF4-FFF2-40B4-BE49-F238E27FC236}">
                <a16:creationId xmlns:a16="http://schemas.microsoft.com/office/drawing/2014/main" id="{0D5FC9F9-2D88-73FF-825A-83B23D57AFFF}"/>
              </a:ext>
            </a:extLst>
          </p:cNvPr>
          <p:cNvSpPr/>
          <p:nvPr/>
        </p:nvSpPr>
        <p:spPr>
          <a:xfrm>
            <a:off x="2194560" y="2432304"/>
            <a:ext cx="3169920" cy="438912"/>
          </a:xfrm>
          <a:prstGeom prst="rect">
            <a:avLst/>
          </a:prstGeom>
          <a:solidFill>
            <a:srgbClr val="FFFFFF"/>
          </a:solidFill>
          <a:ln w="9525">
            <a:solidFill>
              <a:srgbClr val="E3E0D8"/>
            </a:solidFill>
            <a:prstDash val="solid"/>
          </a:ln>
        </p:spPr>
        <p:txBody>
          <a:bodyPr/>
          <a:lstStyle/>
          <a:p>
            <a:endParaRPr lang="en-US"/>
          </a:p>
        </p:txBody>
      </p:sp>
      <p:sp>
        <p:nvSpPr>
          <p:cNvPr id="35" name="Text 28">
            <a:extLst>
              <a:ext uri="{FF2B5EF4-FFF2-40B4-BE49-F238E27FC236}">
                <a16:creationId xmlns:a16="http://schemas.microsoft.com/office/drawing/2014/main" id="{C1488C50-98C0-103D-0467-2390E2EEC057}"/>
              </a:ext>
            </a:extLst>
          </p:cNvPr>
          <p:cNvSpPr/>
          <p:nvPr/>
        </p:nvSpPr>
        <p:spPr>
          <a:xfrm>
            <a:off x="2331720" y="2432304"/>
            <a:ext cx="2895600" cy="438912"/>
          </a:xfrm>
          <a:prstGeom prst="rect">
            <a:avLst/>
          </a:prstGeom>
          <a:noFill/>
          <a:ln/>
        </p:spPr>
        <p:txBody>
          <a:bodyPr wrap="square" lIns="0" tIns="0" rIns="0" bIns="0" rtlCol="0" anchor="ctr"/>
          <a:lstStyle/>
          <a:p>
            <a:pPr marL="0" indent="0">
              <a:buNone/>
            </a:pPr>
            <a:r>
              <a:rPr lang="en-US" sz="1150" dirty="0">
                <a:solidFill>
                  <a:srgbClr val="2B2B2B"/>
                </a:solidFill>
                <a:latin typeface="Calibri" pitchFamily="34" charset="0"/>
                <a:ea typeface="Calibri" pitchFamily="34" charset="-122"/>
                <a:cs typeface="Calibri" pitchFamily="34" charset="-120"/>
              </a:rPr>
              <a:t>Every session, at launch</a:t>
            </a:r>
            <a:endParaRPr lang="en-US" sz="1150" dirty="0"/>
          </a:p>
        </p:txBody>
      </p:sp>
      <p:sp>
        <p:nvSpPr>
          <p:cNvPr id="36" name="Shape 29">
            <a:extLst>
              <a:ext uri="{FF2B5EF4-FFF2-40B4-BE49-F238E27FC236}">
                <a16:creationId xmlns:a16="http://schemas.microsoft.com/office/drawing/2014/main" id="{DF7F71D7-E115-00DD-BB31-3FEEB1489959}"/>
              </a:ext>
            </a:extLst>
          </p:cNvPr>
          <p:cNvSpPr/>
          <p:nvPr/>
        </p:nvSpPr>
        <p:spPr>
          <a:xfrm>
            <a:off x="5364480" y="2432304"/>
            <a:ext cx="3169920" cy="438912"/>
          </a:xfrm>
          <a:prstGeom prst="rect">
            <a:avLst/>
          </a:prstGeom>
          <a:solidFill>
            <a:srgbClr val="FFFFFF"/>
          </a:solidFill>
          <a:ln w="9525">
            <a:solidFill>
              <a:srgbClr val="E3E0D8"/>
            </a:solidFill>
            <a:prstDash val="solid"/>
          </a:ln>
        </p:spPr>
        <p:txBody>
          <a:bodyPr/>
          <a:lstStyle/>
          <a:p>
            <a:endParaRPr lang="en-US"/>
          </a:p>
        </p:txBody>
      </p:sp>
      <p:sp>
        <p:nvSpPr>
          <p:cNvPr id="37" name="Text 30">
            <a:extLst>
              <a:ext uri="{FF2B5EF4-FFF2-40B4-BE49-F238E27FC236}">
                <a16:creationId xmlns:a16="http://schemas.microsoft.com/office/drawing/2014/main" id="{21A8EBE0-440E-DFF2-0989-84CE389473CD}"/>
              </a:ext>
            </a:extLst>
          </p:cNvPr>
          <p:cNvSpPr/>
          <p:nvPr/>
        </p:nvSpPr>
        <p:spPr>
          <a:xfrm>
            <a:off x="5501640" y="2432304"/>
            <a:ext cx="2895600" cy="438912"/>
          </a:xfrm>
          <a:prstGeom prst="rect">
            <a:avLst/>
          </a:prstGeom>
          <a:noFill/>
          <a:ln/>
        </p:spPr>
        <p:txBody>
          <a:bodyPr wrap="square" lIns="0" tIns="0" rIns="0" bIns="0" rtlCol="0" anchor="ctr"/>
          <a:lstStyle/>
          <a:p>
            <a:pPr marL="0" indent="0">
              <a:buNone/>
            </a:pPr>
            <a:r>
              <a:rPr lang="en-US" sz="1150" dirty="0">
                <a:solidFill>
                  <a:srgbClr val="2B2B2B"/>
                </a:solidFill>
                <a:latin typeface="Calibri" pitchFamily="34" charset="0"/>
                <a:ea typeface="Calibri" pitchFamily="34" charset="-122"/>
                <a:cs typeface="Calibri" pitchFamily="34" charset="-120"/>
              </a:rPr>
              <a:t>At launch, or on file match</a:t>
            </a:r>
            <a:endParaRPr lang="en-US" sz="1150" dirty="0"/>
          </a:p>
        </p:txBody>
      </p:sp>
      <p:sp>
        <p:nvSpPr>
          <p:cNvPr id="38" name="Shape 31">
            <a:extLst>
              <a:ext uri="{FF2B5EF4-FFF2-40B4-BE49-F238E27FC236}">
                <a16:creationId xmlns:a16="http://schemas.microsoft.com/office/drawing/2014/main" id="{E9BE8711-82D7-3C74-9798-C776DEA08923}"/>
              </a:ext>
            </a:extLst>
          </p:cNvPr>
          <p:cNvSpPr/>
          <p:nvPr/>
        </p:nvSpPr>
        <p:spPr>
          <a:xfrm>
            <a:off x="8534400" y="2432304"/>
            <a:ext cx="3169920" cy="438912"/>
          </a:xfrm>
          <a:prstGeom prst="rect">
            <a:avLst/>
          </a:prstGeom>
          <a:solidFill>
            <a:srgbClr val="FFFFFF"/>
          </a:solidFill>
          <a:ln w="9525">
            <a:solidFill>
              <a:srgbClr val="E3E0D8"/>
            </a:solidFill>
            <a:prstDash val="solid"/>
          </a:ln>
        </p:spPr>
        <p:txBody>
          <a:bodyPr/>
          <a:lstStyle/>
          <a:p>
            <a:endParaRPr lang="en-US"/>
          </a:p>
        </p:txBody>
      </p:sp>
      <p:sp>
        <p:nvSpPr>
          <p:cNvPr id="39" name="Text 32">
            <a:extLst>
              <a:ext uri="{FF2B5EF4-FFF2-40B4-BE49-F238E27FC236}">
                <a16:creationId xmlns:a16="http://schemas.microsoft.com/office/drawing/2014/main" id="{262A17EE-9340-C205-0BBC-54003C382D7D}"/>
              </a:ext>
            </a:extLst>
          </p:cNvPr>
          <p:cNvSpPr/>
          <p:nvPr/>
        </p:nvSpPr>
        <p:spPr>
          <a:xfrm>
            <a:off x="8671560" y="2432304"/>
            <a:ext cx="2895600" cy="438912"/>
          </a:xfrm>
          <a:prstGeom prst="rect">
            <a:avLst/>
          </a:prstGeom>
          <a:noFill/>
          <a:ln/>
        </p:spPr>
        <p:txBody>
          <a:bodyPr wrap="square" lIns="0" tIns="0" rIns="0" bIns="0" rtlCol="0" anchor="ctr"/>
          <a:lstStyle/>
          <a:p>
            <a:pPr marL="0" indent="0">
              <a:buNone/>
            </a:pPr>
            <a:r>
              <a:rPr lang="en-US" sz="1150" dirty="0">
                <a:solidFill>
                  <a:srgbClr val="2B2B2B"/>
                </a:solidFill>
                <a:latin typeface="Calibri" pitchFamily="34" charset="0"/>
                <a:ea typeface="Calibri" pitchFamily="34" charset="-122"/>
                <a:cs typeface="Calibri" pitchFamily="34" charset="-120"/>
              </a:rPr>
              <a:t>Index loads at launch; topic files on demand</a:t>
            </a:r>
            <a:endParaRPr lang="en-US" sz="1150" dirty="0"/>
          </a:p>
        </p:txBody>
      </p:sp>
      <p:sp>
        <p:nvSpPr>
          <p:cNvPr id="40" name="Shape 33">
            <a:extLst>
              <a:ext uri="{FF2B5EF4-FFF2-40B4-BE49-F238E27FC236}">
                <a16:creationId xmlns:a16="http://schemas.microsoft.com/office/drawing/2014/main" id="{C65CCD22-DBE6-EA7A-69CE-B26AF87F2222}"/>
              </a:ext>
            </a:extLst>
          </p:cNvPr>
          <p:cNvSpPr/>
          <p:nvPr/>
        </p:nvSpPr>
        <p:spPr>
          <a:xfrm>
            <a:off x="457200" y="2871216"/>
            <a:ext cx="1737360" cy="402336"/>
          </a:xfrm>
          <a:prstGeom prst="rect">
            <a:avLst/>
          </a:prstGeom>
          <a:solidFill>
            <a:srgbClr val="F1EFEA"/>
          </a:solidFill>
          <a:ln w="9525">
            <a:solidFill>
              <a:srgbClr val="E3E0D8"/>
            </a:solidFill>
            <a:prstDash val="solid"/>
          </a:ln>
        </p:spPr>
        <p:txBody>
          <a:bodyPr/>
          <a:lstStyle/>
          <a:p>
            <a:endParaRPr lang="en-US"/>
          </a:p>
        </p:txBody>
      </p:sp>
      <p:sp>
        <p:nvSpPr>
          <p:cNvPr id="41" name="Text 34">
            <a:extLst>
              <a:ext uri="{FF2B5EF4-FFF2-40B4-BE49-F238E27FC236}">
                <a16:creationId xmlns:a16="http://schemas.microsoft.com/office/drawing/2014/main" id="{F1503513-6456-5FCA-8877-2D21AD37A505}"/>
              </a:ext>
            </a:extLst>
          </p:cNvPr>
          <p:cNvSpPr/>
          <p:nvPr/>
        </p:nvSpPr>
        <p:spPr>
          <a:xfrm>
            <a:off x="566928" y="2871216"/>
            <a:ext cx="1554480" cy="402336"/>
          </a:xfrm>
          <a:prstGeom prst="rect">
            <a:avLst/>
          </a:prstGeom>
          <a:noFill/>
          <a:ln/>
        </p:spPr>
        <p:txBody>
          <a:bodyPr wrap="square" lIns="0" tIns="0" rIns="0" bIns="0" rtlCol="0" anchor="ctr"/>
          <a:lstStyle/>
          <a:p>
            <a:pPr marL="0" indent="0">
              <a:buNone/>
            </a:pPr>
            <a:r>
              <a:rPr lang="en-US" sz="1250" b="1" dirty="0">
                <a:solidFill>
                  <a:srgbClr val="2B2B2B"/>
                </a:solidFill>
                <a:latin typeface="Calibri" pitchFamily="34" charset="0"/>
                <a:ea typeface="Calibri" pitchFamily="34" charset="-122"/>
                <a:cs typeface="Calibri" pitchFamily="34" charset="-120"/>
              </a:rPr>
              <a:t>Who writes it</a:t>
            </a:r>
            <a:endParaRPr lang="en-US" sz="1250" dirty="0"/>
          </a:p>
        </p:txBody>
      </p:sp>
      <p:sp>
        <p:nvSpPr>
          <p:cNvPr id="42" name="Shape 35">
            <a:extLst>
              <a:ext uri="{FF2B5EF4-FFF2-40B4-BE49-F238E27FC236}">
                <a16:creationId xmlns:a16="http://schemas.microsoft.com/office/drawing/2014/main" id="{F9C05A2C-D4BB-A740-D22D-416A7E681F46}"/>
              </a:ext>
            </a:extLst>
          </p:cNvPr>
          <p:cNvSpPr/>
          <p:nvPr/>
        </p:nvSpPr>
        <p:spPr>
          <a:xfrm>
            <a:off x="2194560" y="2871216"/>
            <a:ext cx="3169920" cy="402336"/>
          </a:xfrm>
          <a:prstGeom prst="rect">
            <a:avLst/>
          </a:prstGeom>
          <a:solidFill>
            <a:srgbClr val="F1EFEA"/>
          </a:solidFill>
          <a:ln w="9525">
            <a:solidFill>
              <a:srgbClr val="E3E0D8"/>
            </a:solidFill>
            <a:prstDash val="solid"/>
          </a:ln>
        </p:spPr>
        <p:txBody>
          <a:bodyPr/>
          <a:lstStyle/>
          <a:p>
            <a:endParaRPr lang="en-US"/>
          </a:p>
        </p:txBody>
      </p:sp>
      <p:sp>
        <p:nvSpPr>
          <p:cNvPr id="43" name="Text 36">
            <a:extLst>
              <a:ext uri="{FF2B5EF4-FFF2-40B4-BE49-F238E27FC236}">
                <a16:creationId xmlns:a16="http://schemas.microsoft.com/office/drawing/2014/main" id="{2B481863-DB6F-D30E-9ECD-888E0351472B}"/>
              </a:ext>
            </a:extLst>
          </p:cNvPr>
          <p:cNvSpPr/>
          <p:nvPr/>
        </p:nvSpPr>
        <p:spPr>
          <a:xfrm>
            <a:off x="2331720" y="2871216"/>
            <a:ext cx="2895600" cy="402336"/>
          </a:xfrm>
          <a:prstGeom prst="rect">
            <a:avLst/>
          </a:prstGeom>
          <a:noFill/>
          <a:ln/>
        </p:spPr>
        <p:txBody>
          <a:bodyPr wrap="square" lIns="0" tIns="0" rIns="0" bIns="0" rtlCol="0" anchor="ctr"/>
          <a:lstStyle/>
          <a:p>
            <a:pPr marL="0" indent="0">
              <a:buNone/>
            </a:pPr>
            <a:r>
              <a:rPr lang="en-US" sz="1150" dirty="0">
                <a:solidFill>
                  <a:srgbClr val="2B2B2B"/>
                </a:solidFill>
                <a:latin typeface="Calibri" pitchFamily="34" charset="0"/>
                <a:ea typeface="Calibri" pitchFamily="34" charset="-122"/>
                <a:cs typeface="Calibri" pitchFamily="34" charset="-120"/>
              </a:rPr>
              <a:t>You</a:t>
            </a:r>
            <a:endParaRPr lang="en-US" sz="1150" dirty="0"/>
          </a:p>
        </p:txBody>
      </p:sp>
      <p:sp>
        <p:nvSpPr>
          <p:cNvPr id="44" name="Shape 37">
            <a:extLst>
              <a:ext uri="{FF2B5EF4-FFF2-40B4-BE49-F238E27FC236}">
                <a16:creationId xmlns:a16="http://schemas.microsoft.com/office/drawing/2014/main" id="{607CA5EA-6CB0-8443-BD40-A1DE3DD68A43}"/>
              </a:ext>
            </a:extLst>
          </p:cNvPr>
          <p:cNvSpPr/>
          <p:nvPr/>
        </p:nvSpPr>
        <p:spPr>
          <a:xfrm>
            <a:off x="5364480" y="2871216"/>
            <a:ext cx="3169920" cy="402336"/>
          </a:xfrm>
          <a:prstGeom prst="rect">
            <a:avLst/>
          </a:prstGeom>
          <a:solidFill>
            <a:srgbClr val="F1EFEA"/>
          </a:solidFill>
          <a:ln w="9525">
            <a:solidFill>
              <a:srgbClr val="E3E0D8"/>
            </a:solidFill>
            <a:prstDash val="solid"/>
          </a:ln>
        </p:spPr>
        <p:txBody>
          <a:bodyPr/>
          <a:lstStyle/>
          <a:p>
            <a:endParaRPr lang="en-US"/>
          </a:p>
        </p:txBody>
      </p:sp>
      <p:sp>
        <p:nvSpPr>
          <p:cNvPr id="45" name="Text 38">
            <a:extLst>
              <a:ext uri="{FF2B5EF4-FFF2-40B4-BE49-F238E27FC236}">
                <a16:creationId xmlns:a16="http://schemas.microsoft.com/office/drawing/2014/main" id="{FA348163-2962-C6CA-A015-A6E22CBF9517}"/>
              </a:ext>
            </a:extLst>
          </p:cNvPr>
          <p:cNvSpPr/>
          <p:nvPr/>
        </p:nvSpPr>
        <p:spPr>
          <a:xfrm>
            <a:off x="5501640" y="2871216"/>
            <a:ext cx="2895600" cy="402336"/>
          </a:xfrm>
          <a:prstGeom prst="rect">
            <a:avLst/>
          </a:prstGeom>
          <a:noFill/>
          <a:ln/>
        </p:spPr>
        <p:txBody>
          <a:bodyPr wrap="square" lIns="0" tIns="0" rIns="0" bIns="0" rtlCol="0" anchor="ctr"/>
          <a:lstStyle/>
          <a:p>
            <a:pPr marL="0" indent="0">
              <a:buNone/>
            </a:pPr>
            <a:r>
              <a:rPr lang="en-US" sz="1150" dirty="0">
                <a:solidFill>
                  <a:srgbClr val="2B2B2B"/>
                </a:solidFill>
                <a:latin typeface="Calibri" pitchFamily="34" charset="0"/>
                <a:ea typeface="Calibri" pitchFamily="34" charset="-122"/>
                <a:cs typeface="Calibri" pitchFamily="34" charset="-120"/>
              </a:rPr>
              <a:t>You</a:t>
            </a:r>
            <a:endParaRPr lang="en-US" sz="1150" dirty="0"/>
          </a:p>
        </p:txBody>
      </p:sp>
      <p:sp>
        <p:nvSpPr>
          <p:cNvPr id="46" name="Shape 39">
            <a:extLst>
              <a:ext uri="{FF2B5EF4-FFF2-40B4-BE49-F238E27FC236}">
                <a16:creationId xmlns:a16="http://schemas.microsoft.com/office/drawing/2014/main" id="{CF7E47D0-5BBC-0BFA-3E95-44630D88726B}"/>
              </a:ext>
            </a:extLst>
          </p:cNvPr>
          <p:cNvSpPr/>
          <p:nvPr/>
        </p:nvSpPr>
        <p:spPr>
          <a:xfrm>
            <a:off x="8534400" y="2871216"/>
            <a:ext cx="3169920" cy="402336"/>
          </a:xfrm>
          <a:prstGeom prst="rect">
            <a:avLst/>
          </a:prstGeom>
          <a:solidFill>
            <a:srgbClr val="F1EFEA"/>
          </a:solidFill>
          <a:ln w="9525">
            <a:solidFill>
              <a:srgbClr val="E3E0D8"/>
            </a:solidFill>
            <a:prstDash val="solid"/>
          </a:ln>
        </p:spPr>
        <p:txBody>
          <a:bodyPr/>
          <a:lstStyle/>
          <a:p>
            <a:endParaRPr lang="en-US"/>
          </a:p>
        </p:txBody>
      </p:sp>
      <p:sp>
        <p:nvSpPr>
          <p:cNvPr id="47" name="Text 40">
            <a:extLst>
              <a:ext uri="{FF2B5EF4-FFF2-40B4-BE49-F238E27FC236}">
                <a16:creationId xmlns:a16="http://schemas.microsoft.com/office/drawing/2014/main" id="{D65391BE-80FE-CE80-A8BE-19806CC96093}"/>
              </a:ext>
            </a:extLst>
          </p:cNvPr>
          <p:cNvSpPr/>
          <p:nvPr/>
        </p:nvSpPr>
        <p:spPr>
          <a:xfrm>
            <a:off x="8671560" y="2871216"/>
            <a:ext cx="2895600" cy="402336"/>
          </a:xfrm>
          <a:prstGeom prst="rect">
            <a:avLst/>
          </a:prstGeom>
          <a:noFill/>
          <a:ln/>
        </p:spPr>
        <p:txBody>
          <a:bodyPr wrap="square" lIns="0" tIns="0" rIns="0" bIns="0" rtlCol="0" anchor="ctr"/>
          <a:lstStyle/>
          <a:p>
            <a:pPr marL="0" indent="0">
              <a:buNone/>
            </a:pPr>
            <a:r>
              <a:rPr lang="en-US" sz="1150" dirty="0">
                <a:solidFill>
                  <a:srgbClr val="2B2B2B"/>
                </a:solidFill>
                <a:latin typeface="Calibri" pitchFamily="34" charset="0"/>
                <a:ea typeface="Calibri" pitchFamily="34" charset="-122"/>
                <a:cs typeface="Calibri" pitchFamily="34" charset="-120"/>
              </a:rPr>
              <a:t>Claude, automatically</a:t>
            </a:r>
            <a:endParaRPr lang="en-US" sz="1150" dirty="0"/>
          </a:p>
        </p:txBody>
      </p:sp>
      <p:sp>
        <p:nvSpPr>
          <p:cNvPr id="48" name="Shape 41">
            <a:extLst>
              <a:ext uri="{FF2B5EF4-FFF2-40B4-BE49-F238E27FC236}">
                <a16:creationId xmlns:a16="http://schemas.microsoft.com/office/drawing/2014/main" id="{C2780C2C-52B7-17D3-6AB5-1346F4A45968}"/>
              </a:ext>
            </a:extLst>
          </p:cNvPr>
          <p:cNvSpPr/>
          <p:nvPr/>
        </p:nvSpPr>
        <p:spPr>
          <a:xfrm>
            <a:off x="457200" y="3273552"/>
            <a:ext cx="1737360" cy="658368"/>
          </a:xfrm>
          <a:prstGeom prst="rect">
            <a:avLst/>
          </a:prstGeom>
          <a:solidFill>
            <a:srgbClr val="FFFFFF"/>
          </a:solidFill>
          <a:ln w="9525">
            <a:solidFill>
              <a:srgbClr val="E3E0D8"/>
            </a:solidFill>
            <a:prstDash val="solid"/>
          </a:ln>
        </p:spPr>
        <p:txBody>
          <a:bodyPr/>
          <a:lstStyle/>
          <a:p>
            <a:endParaRPr lang="en-US"/>
          </a:p>
        </p:txBody>
      </p:sp>
      <p:sp>
        <p:nvSpPr>
          <p:cNvPr id="49" name="Text 42">
            <a:extLst>
              <a:ext uri="{FF2B5EF4-FFF2-40B4-BE49-F238E27FC236}">
                <a16:creationId xmlns:a16="http://schemas.microsoft.com/office/drawing/2014/main" id="{39D08252-64BA-A371-D224-A9C9D3126EC8}"/>
              </a:ext>
            </a:extLst>
          </p:cNvPr>
          <p:cNvSpPr/>
          <p:nvPr/>
        </p:nvSpPr>
        <p:spPr>
          <a:xfrm>
            <a:off x="566928" y="3273552"/>
            <a:ext cx="1554480" cy="658368"/>
          </a:xfrm>
          <a:prstGeom prst="rect">
            <a:avLst/>
          </a:prstGeom>
          <a:noFill/>
          <a:ln/>
        </p:spPr>
        <p:txBody>
          <a:bodyPr wrap="square" lIns="0" tIns="0" rIns="0" bIns="0" rtlCol="0" anchor="ctr"/>
          <a:lstStyle/>
          <a:p>
            <a:pPr marL="0" indent="0">
              <a:buNone/>
            </a:pPr>
            <a:r>
              <a:rPr lang="en-US" sz="1250" b="1" dirty="0">
                <a:solidFill>
                  <a:srgbClr val="2B2B2B"/>
                </a:solidFill>
                <a:latin typeface="Calibri" pitchFamily="34" charset="0"/>
                <a:ea typeface="Calibri" pitchFamily="34" charset="-122"/>
                <a:cs typeface="Calibri" pitchFamily="34" charset="-120"/>
              </a:rPr>
              <a:t>Put it here when…</a:t>
            </a:r>
            <a:endParaRPr lang="en-US" sz="1250" dirty="0"/>
          </a:p>
        </p:txBody>
      </p:sp>
      <p:sp>
        <p:nvSpPr>
          <p:cNvPr id="50" name="Shape 43">
            <a:extLst>
              <a:ext uri="{FF2B5EF4-FFF2-40B4-BE49-F238E27FC236}">
                <a16:creationId xmlns:a16="http://schemas.microsoft.com/office/drawing/2014/main" id="{83E4C19E-9283-2F6B-1669-C7D0E6231C8A}"/>
              </a:ext>
            </a:extLst>
          </p:cNvPr>
          <p:cNvSpPr/>
          <p:nvPr/>
        </p:nvSpPr>
        <p:spPr>
          <a:xfrm>
            <a:off x="2194560" y="3273552"/>
            <a:ext cx="3169920" cy="658368"/>
          </a:xfrm>
          <a:prstGeom prst="rect">
            <a:avLst/>
          </a:prstGeom>
          <a:solidFill>
            <a:srgbClr val="FBEFE9"/>
          </a:solidFill>
          <a:ln w="9525">
            <a:solidFill>
              <a:srgbClr val="E3E0D8"/>
            </a:solidFill>
            <a:prstDash val="solid"/>
          </a:ln>
        </p:spPr>
        <p:txBody>
          <a:bodyPr/>
          <a:lstStyle/>
          <a:p>
            <a:endParaRPr lang="en-US"/>
          </a:p>
        </p:txBody>
      </p:sp>
      <p:sp>
        <p:nvSpPr>
          <p:cNvPr id="51" name="Text 44">
            <a:extLst>
              <a:ext uri="{FF2B5EF4-FFF2-40B4-BE49-F238E27FC236}">
                <a16:creationId xmlns:a16="http://schemas.microsoft.com/office/drawing/2014/main" id="{30EF8B85-F34D-E7CD-4EB3-380DE6E906DA}"/>
              </a:ext>
            </a:extLst>
          </p:cNvPr>
          <p:cNvSpPr/>
          <p:nvPr/>
        </p:nvSpPr>
        <p:spPr>
          <a:xfrm>
            <a:off x="2331720" y="3273552"/>
            <a:ext cx="2895600" cy="658368"/>
          </a:xfrm>
          <a:prstGeom prst="rect">
            <a:avLst/>
          </a:prstGeom>
          <a:noFill/>
          <a:ln/>
        </p:spPr>
        <p:txBody>
          <a:bodyPr wrap="square" lIns="0" tIns="0" rIns="0" bIns="0" rtlCol="0" anchor="ctr"/>
          <a:lstStyle/>
          <a:p>
            <a:pPr marL="0" indent="0">
              <a:buNone/>
            </a:pPr>
            <a:r>
              <a:rPr lang="en-US" sz="1150" dirty="0">
                <a:solidFill>
                  <a:srgbClr val="2B2B2B"/>
                </a:solidFill>
                <a:latin typeface="Calibri" pitchFamily="34" charset="0"/>
                <a:ea typeface="Calibri" pitchFamily="34" charset="-122"/>
                <a:cs typeface="Calibri" pitchFamily="34" charset="-120"/>
              </a:rPr>
              <a:t>True every session, day-one knowledge, or Claude repeated a mistake</a:t>
            </a:r>
            <a:endParaRPr lang="en-US" sz="1150" dirty="0"/>
          </a:p>
        </p:txBody>
      </p:sp>
      <p:sp>
        <p:nvSpPr>
          <p:cNvPr id="52" name="Shape 45">
            <a:extLst>
              <a:ext uri="{FF2B5EF4-FFF2-40B4-BE49-F238E27FC236}">
                <a16:creationId xmlns:a16="http://schemas.microsoft.com/office/drawing/2014/main" id="{5C111444-2353-7BC0-2F93-0F9FFE05FD0F}"/>
              </a:ext>
            </a:extLst>
          </p:cNvPr>
          <p:cNvSpPr/>
          <p:nvPr/>
        </p:nvSpPr>
        <p:spPr>
          <a:xfrm>
            <a:off x="5364480" y="3273552"/>
            <a:ext cx="3169920" cy="658368"/>
          </a:xfrm>
          <a:prstGeom prst="rect">
            <a:avLst/>
          </a:prstGeom>
          <a:solidFill>
            <a:srgbClr val="EAF0F7"/>
          </a:solidFill>
          <a:ln w="9525">
            <a:solidFill>
              <a:srgbClr val="E3E0D8"/>
            </a:solidFill>
            <a:prstDash val="solid"/>
          </a:ln>
        </p:spPr>
        <p:txBody>
          <a:bodyPr/>
          <a:lstStyle/>
          <a:p>
            <a:endParaRPr lang="en-US"/>
          </a:p>
        </p:txBody>
      </p:sp>
      <p:sp>
        <p:nvSpPr>
          <p:cNvPr id="53" name="Text 46">
            <a:extLst>
              <a:ext uri="{FF2B5EF4-FFF2-40B4-BE49-F238E27FC236}">
                <a16:creationId xmlns:a16="http://schemas.microsoft.com/office/drawing/2014/main" id="{0F5F2090-2BC8-E302-9312-CC5821999AEC}"/>
              </a:ext>
            </a:extLst>
          </p:cNvPr>
          <p:cNvSpPr/>
          <p:nvPr/>
        </p:nvSpPr>
        <p:spPr>
          <a:xfrm>
            <a:off x="5501640" y="3273552"/>
            <a:ext cx="2895600" cy="658368"/>
          </a:xfrm>
          <a:prstGeom prst="rect">
            <a:avLst/>
          </a:prstGeom>
          <a:noFill/>
          <a:ln/>
        </p:spPr>
        <p:txBody>
          <a:bodyPr wrap="square" lIns="0" tIns="0" rIns="0" bIns="0" rtlCol="0" anchor="ctr"/>
          <a:lstStyle/>
          <a:p>
            <a:pPr marL="0" indent="0">
              <a:buNone/>
            </a:pPr>
            <a:r>
              <a:rPr lang="en-US" sz="1150" dirty="0">
                <a:solidFill>
                  <a:srgbClr val="2B2B2B"/>
                </a:solidFill>
                <a:latin typeface="Calibri" pitchFamily="34" charset="0"/>
                <a:ea typeface="Calibri" pitchFamily="34" charset="-122"/>
                <a:cs typeface="Calibri" pitchFamily="34" charset="-120"/>
              </a:rPr>
              <a:t>Only matters for one area, or CLAUDE.md is nearing ~200 lines</a:t>
            </a:r>
            <a:endParaRPr lang="en-US" sz="1150" dirty="0"/>
          </a:p>
        </p:txBody>
      </p:sp>
      <p:sp>
        <p:nvSpPr>
          <p:cNvPr id="54" name="Shape 47">
            <a:extLst>
              <a:ext uri="{FF2B5EF4-FFF2-40B4-BE49-F238E27FC236}">
                <a16:creationId xmlns:a16="http://schemas.microsoft.com/office/drawing/2014/main" id="{27AB4BF3-8154-29F1-C6F4-E604EABB3B82}"/>
              </a:ext>
            </a:extLst>
          </p:cNvPr>
          <p:cNvSpPr/>
          <p:nvPr/>
        </p:nvSpPr>
        <p:spPr>
          <a:xfrm>
            <a:off x="8534400" y="3273552"/>
            <a:ext cx="3169920" cy="658368"/>
          </a:xfrm>
          <a:prstGeom prst="rect">
            <a:avLst/>
          </a:prstGeom>
          <a:solidFill>
            <a:srgbClr val="F1EEF7"/>
          </a:solidFill>
          <a:ln w="9525">
            <a:solidFill>
              <a:srgbClr val="E3E0D8"/>
            </a:solidFill>
            <a:prstDash val="solid"/>
          </a:ln>
        </p:spPr>
        <p:txBody>
          <a:bodyPr/>
          <a:lstStyle/>
          <a:p>
            <a:endParaRPr lang="en-US"/>
          </a:p>
        </p:txBody>
      </p:sp>
      <p:sp>
        <p:nvSpPr>
          <p:cNvPr id="55" name="Text 48">
            <a:extLst>
              <a:ext uri="{FF2B5EF4-FFF2-40B4-BE49-F238E27FC236}">
                <a16:creationId xmlns:a16="http://schemas.microsoft.com/office/drawing/2014/main" id="{6FC676C2-B7A1-3872-39D8-38E167882942}"/>
              </a:ext>
            </a:extLst>
          </p:cNvPr>
          <p:cNvSpPr/>
          <p:nvPr/>
        </p:nvSpPr>
        <p:spPr>
          <a:xfrm>
            <a:off x="8671560" y="3273552"/>
            <a:ext cx="2895600" cy="658368"/>
          </a:xfrm>
          <a:prstGeom prst="rect">
            <a:avLst/>
          </a:prstGeom>
          <a:noFill/>
          <a:ln/>
        </p:spPr>
        <p:txBody>
          <a:bodyPr wrap="square" lIns="0" tIns="0" rIns="0" bIns="0" rtlCol="0" anchor="ctr"/>
          <a:lstStyle/>
          <a:p>
            <a:pPr marL="0" indent="0">
              <a:buNone/>
            </a:pPr>
            <a:r>
              <a:rPr lang="en-US" sz="1150" dirty="0">
                <a:solidFill>
                  <a:srgbClr val="2B2B2B"/>
                </a:solidFill>
                <a:latin typeface="Calibri" pitchFamily="34" charset="0"/>
                <a:ea typeface="Calibri" pitchFamily="34" charset="-122"/>
                <a:cs typeface="Calibri" pitchFamily="34" charset="-120"/>
              </a:rPr>
              <a:t>Claude noticed a pattern you didn't write down yourself</a:t>
            </a:r>
            <a:endParaRPr lang="en-US" sz="1150" dirty="0"/>
          </a:p>
        </p:txBody>
      </p:sp>
      <p:sp>
        <p:nvSpPr>
          <p:cNvPr id="56" name="Shape 49">
            <a:extLst>
              <a:ext uri="{FF2B5EF4-FFF2-40B4-BE49-F238E27FC236}">
                <a16:creationId xmlns:a16="http://schemas.microsoft.com/office/drawing/2014/main" id="{C9838619-4CD0-1C95-14F4-5649FB21E344}"/>
              </a:ext>
            </a:extLst>
          </p:cNvPr>
          <p:cNvSpPr/>
          <p:nvPr/>
        </p:nvSpPr>
        <p:spPr>
          <a:xfrm>
            <a:off x="457200" y="3931920"/>
            <a:ext cx="1737360" cy="502920"/>
          </a:xfrm>
          <a:prstGeom prst="rect">
            <a:avLst/>
          </a:prstGeom>
          <a:solidFill>
            <a:srgbClr val="F1EFEA"/>
          </a:solidFill>
          <a:ln w="9525">
            <a:solidFill>
              <a:srgbClr val="E3E0D8"/>
            </a:solidFill>
            <a:prstDash val="solid"/>
          </a:ln>
        </p:spPr>
        <p:txBody>
          <a:bodyPr/>
          <a:lstStyle/>
          <a:p>
            <a:endParaRPr lang="en-US"/>
          </a:p>
        </p:txBody>
      </p:sp>
      <p:sp>
        <p:nvSpPr>
          <p:cNvPr id="57" name="Text 50">
            <a:extLst>
              <a:ext uri="{FF2B5EF4-FFF2-40B4-BE49-F238E27FC236}">
                <a16:creationId xmlns:a16="http://schemas.microsoft.com/office/drawing/2014/main" id="{FCFA37FA-B27D-2265-4B7E-689FF2FE64D9}"/>
              </a:ext>
            </a:extLst>
          </p:cNvPr>
          <p:cNvSpPr/>
          <p:nvPr/>
        </p:nvSpPr>
        <p:spPr>
          <a:xfrm>
            <a:off x="566928" y="3931920"/>
            <a:ext cx="1554480" cy="502920"/>
          </a:xfrm>
          <a:prstGeom prst="rect">
            <a:avLst/>
          </a:prstGeom>
          <a:noFill/>
          <a:ln/>
        </p:spPr>
        <p:txBody>
          <a:bodyPr wrap="square" lIns="0" tIns="0" rIns="0" bIns="0" rtlCol="0" anchor="ctr"/>
          <a:lstStyle/>
          <a:p>
            <a:pPr marL="0" indent="0">
              <a:buNone/>
            </a:pPr>
            <a:r>
              <a:rPr lang="en-US" sz="1250" b="1" dirty="0">
                <a:solidFill>
                  <a:srgbClr val="2B2B2B"/>
                </a:solidFill>
                <a:latin typeface="Calibri" pitchFamily="34" charset="0"/>
                <a:ea typeface="Calibri" pitchFamily="34" charset="-122"/>
                <a:cs typeface="Calibri" pitchFamily="34" charset="-120"/>
              </a:rPr>
              <a:t>Priority if conflict</a:t>
            </a:r>
            <a:endParaRPr lang="en-US" sz="1250" dirty="0"/>
          </a:p>
        </p:txBody>
      </p:sp>
      <p:sp>
        <p:nvSpPr>
          <p:cNvPr id="58" name="Shape 51">
            <a:extLst>
              <a:ext uri="{FF2B5EF4-FFF2-40B4-BE49-F238E27FC236}">
                <a16:creationId xmlns:a16="http://schemas.microsoft.com/office/drawing/2014/main" id="{349C64A8-0711-C98C-F542-DD2DF2C7BE3D}"/>
              </a:ext>
            </a:extLst>
          </p:cNvPr>
          <p:cNvSpPr/>
          <p:nvPr/>
        </p:nvSpPr>
        <p:spPr>
          <a:xfrm>
            <a:off x="2194560" y="3931920"/>
            <a:ext cx="3169920" cy="502920"/>
          </a:xfrm>
          <a:prstGeom prst="rect">
            <a:avLst/>
          </a:prstGeom>
          <a:solidFill>
            <a:srgbClr val="F1EFEA"/>
          </a:solidFill>
          <a:ln w="9525">
            <a:solidFill>
              <a:srgbClr val="E3E0D8"/>
            </a:solidFill>
            <a:prstDash val="solid"/>
          </a:ln>
        </p:spPr>
        <p:txBody>
          <a:bodyPr/>
          <a:lstStyle/>
          <a:p>
            <a:endParaRPr lang="en-US"/>
          </a:p>
        </p:txBody>
      </p:sp>
      <p:sp>
        <p:nvSpPr>
          <p:cNvPr id="59" name="Text 52">
            <a:extLst>
              <a:ext uri="{FF2B5EF4-FFF2-40B4-BE49-F238E27FC236}">
                <a16:creationId xmlns:a16="http://schemas.microsoft.com/office/drawing/2014/main" id="{27A300E1-D418-D6C5-F373-3E9D3715C7D9}"/>
              </a:ext>
            </a:extLst>
          </p:cNvPr>
          <p:cNvSpPr/>
          <p:nvPr/>
        </p:nvSpPr>
        <p:spPr>
          <a:xfrm>
            <a:off x="2331720" y="3931920"/>
            <a:ext cx="2895600" cy="502920"/>
          </a:xfrm>
          <a:prstGeom prst="rect">
            <a:avLst/>
          </a:prstGeom>
          <a:noFill/>
          <a:ln/>
        </p:spPr>
        <p:txBody>
          <a:bodyPr wrap="square" lIns="0" tIns="0" rIns="0" bIns="0" rtlCol="0" anchor="ctr"/>
          <a:lstStyle/>
          <a:p>
            <a:pPr marL="0" indent="0">
              <a:buNone/>
            </a:pPr>
            <a:r>
              <a:rPr lang="en-US" sz="1150" dirty="0">
                <a:solidFill>
                  <a:srgbClr val="2B2B2B"/>
                </a:solidFill>
                <a:latin typeface="Calibri" pitchFamily="34" charset="0"/>
                <a:ea typeface="Calibri" pitchFamily="34" charset="-122"/>
                <a:cs typeface="Calibri" pitchFamily="34" charset="-120"/>
              </a:rPr>
              <a:t>Highest — authoritative rule</a:t>
            </a:r>
            <a:endParaRPr lang="en-US" sz="1150" dirty="0"/>
          </a:p>
        </p:txBody>
      </p:sp>
      <p:sp>
        <p:nvSpPr>
          <p:cNvPr id="60" name="Shape 53">
            <a:extLst>
              <a:ext uri="{FF2B5EF4-FFF2-40B4-BE49-F238E27FC236}">
                <a16:creationId xmlns:a16="http://schemas.microsoft.com/office/drawing/2014/main" id="{F8D4A17E-EA53-DE30-9F51-614122DA0225}"/>
              </a:ext>
            </a:extLst>
          </p:cNvPr>
          <p:cNvSpPr/>
          <p:nvPr/>
        </p:nvSpPr>
        <p:spPr>
          <a:xfrm>
            <a:off x="5364480" y="3931920"/>
            <a:ext cx="3169920" cy="502920"/>
          </a:xfrm>
          <a:prstGeom prst="rect">
            <a:avLst/>
          </a:prstGeom>
          <a:solidFill>
            <a:srgbClr val="F1EFEA"/>
          </a:solidFill>
          <a:ln w="9525">
            <a:solidFill>
              <a:srgbClr val="E3E0D8"/>
            </a:solidFill>
            <a:prstDash val="solid"/>
          </a:ln>
        </p:spPr>
        <p:txBody>
          <a:bodyPr/>
          <a:lstStyle/>
          <a:p>
            <a:endParaRPr lang="en-US"/>
          </a:p>
        </p:txBody>
      </p:sp>
      <p:sp>
        <p:nvSpPr>
          <p:cNvPr id="61" name="Text 54">
            <a:extLst>
              <a:ext uri="{FF2B5EF4-FFF2-40B4-BE49-F238E27FC236}">
                <a16:creationId xmlns:a16="http://schemas.microsoft.com/office/drawing/2014/main" id="{58A9210B-3AD5-BDD3-AC0F-34CC156FDDC7}"/>
              </a:ext>
            </a:extLst>
          </p:cNvPr>
          <p:cNvSpPr/>
          <p:nvPr/>
        </p:nvSpPr>
        <p:spPr>
          <a:xfrm>
            <a:off x="5501640" y="3931920"/>
            <a:ext cx="2895600" cy="502920"/>
          </a:xfrm>
          <a:prstGeom prst="rect">
            <a:avLst/>
          </a:prstGeom>
          <a:noFill/>
          <a:ln/>
        </p:spPr>
        <p:txBody>
          <a:bodyPr wrap="square" lIns="0" tIns="0" rIns="0" bIns="0" rtlCol="0" anchor="ctr"/>
          <a:lstStyle/>
          <a:p>
            <a:pPr marL="0" indent="0">
              <a:buNone/>
            </a:pPr>
            <a:r>
              <a:rPr lang="en-US" sz="1150" dirty="0">
                <a:solidFill>
                  <a:srgbClr val="2B2B2B"/>
                </a:solidFill>
                <a:latin typeface="Calibri" pitchFamily="34" charset="0"/>
                <a:ea typeface="Calibri" pitchFamily="34" charset="-122"/>
                <a:cs typeface="Calibri" pitchFamily="34" charset="-120"/>
              </a:rPr>
              <a:t>Follows CLAUDE.md, scoped by path</a:t>
            </a:r>
            <a:endParaRPr lang="en-US" sz="1150" dirty="0"/>
          </a:p>
        </p:txBody>
      </p:sp>
      <p:sp>
        <p:nvSpPr>
          <p:cNvPr id="62" name="Shape 55">
            <a:extLst>
              <a:ext uri="{FF2B5EF4-FFF2-40B4-BE49-F238E27FC236}">
                <a16:creationId xmlns:a16="http://schemas.microsoft.com/office/drawing/2014/main" id="{87119E6C-4D4D-B98F-3F2C-01AAADA0CD49}"/>
              </a:ext>
            </a:extLst>
          </p:cNvPr>
          <p:cNvSpPr/>
          <p:nvPr/>
        </p:nvSpPr>
        <p:spPr>
          <a:xfrm>
            <a:off x="8534400" y="3931920"/>
            <a:ext cx="3169920" cy="502920"/>
          </a:xfrm>
          <a:prstGeom prst="rect">
            <a:avLst/>
          </a:prstGeom>
          <a:solidFill>
            <a:srgbClr val="F1EFEA"/>
          </a:solidFill>
          <a:ln w="9525">
            <a:solidFill>
              <a:srgbClr val="E3E0D8"/>
            </a:solidFill>
            <a:prstDash val="solid"/>
          </a:ln>
        </p:spPr>
        <p:txBody>
          <a:bodyPr/>
          <a:lstStyle/>
          <a:p>
            <a:endParaRPr lang="en-US"/>
          </a:p>
        </p:txBody>
      </p:sp>
      <p:sp>
        <p:nvSpPr>
          <p:cNvPr id="63" name="Text 56">
            <a:extLst>
              <a:ext uri="{FF2B5EF4-FFF2-40B4-BE49-F238E27FC236}">
                <a16:creationId xmlns:a16="http://schemas.microsoft.com/office/drawing/2014/main" id="{8F61CC8B-4209-E0EE-3907-7905ED2DD2C8}"/>
              </a:ext>
            </a:extLst>
          </p:cNvPr>
          <p:cNvSpPr/>
          <p:nvPr/>
        </p:nvSpPr>
        <p:spPr>
          <a:xfrm>
            <a:off x="8671560" y="3931920"/>
            <a:ext cx="2895600" cy="502920"/>
          </a:xfrm>
          <a:prstGeom prst="rect">
            <a:avLst/>
          </a:prstGeom>
          <a:noFill/>
          <a:ln/>
        </p:spPr>
        <p:txBody>
          <a:bodyPr wrap="square" lIns="0" tIns="0" rIns="0" bIns="0" rtlCol="0" anchor="ctr"/>
          <a:lstStyle/>
          <a:p>
            <a:pPr marL="0" indent="0">
              <a:buNone/>
            </a:pPr>
            <a:r>
              <a:rPr lang="en-US" sz="1150" dirty="0">
                <a:solidFill>
                  <a:srgbClr val="2B2B2B"/>
                </a:solidFill>
                <a:latin typeface="Calibri" pitchFamily="34" charset="0"/>
                <a:ea typeface="Calibri" pitchFamily="34" charset="-122"/>
                <a:cs typeface="Calibri" pitchFamily="34" charset="-120"/>
              </a:rPr>
              <a:t>Lowest — reference only, not enforced</a:t>
            </a:r>
            <a:endParaRPr lang="en-US" sz="1150" dirty="0"/>
          </a:p>
        </p:txBody>
      </p:sp>
      <p:sp>
        <p:nvSpPr>
          <p:cNvPr id="64" name="Shape 57">
            <a:extLst>
              <a:ext uri="{FF2B5EF4-FFF2-40B4-BE49-F238E27FC236}">
                <a16:creationId xmlns:a16="http://schemas.microsoft.com/office/drawing/2014/main" id="{F6ED5D53-C4DB-34FA-2FC4-D316BAB415F3}"/>
              </a:ext>
            </a:extLst>
          </p:cNvPr>
          <p:cNvSpPr/>
          <p:nvPr/>
        </p:nvSpPr>
        <p:spPr>
          <a:xfrm>
            <a:off x="457200" y="4434840"/>
            <a:ext cx="1737360" cy="566928"/>
          </a:xfrm>
          <a:prstGeom prst="rect">
            <a:avLst/>
          </a:prstGeom>
          <a:solidFill>
            <a:srgbClr val="FFFFFF"/>
          </a:solidFill>
          <a:ln w="9525">
            <a:solidFill>
              <a:srgbClr val="E3E0D8"/>
            </a:solidFill>
            <a:prstDash val="solid"/>
          </a:ln>
        </p:spPr>
        <p:txBody>
          <a:bodyPr/>
          <a:lstStyle/>
          <a:p>
            <a:endParaRPr lang="en-US"/>
          </a:p>
        </p:txBody>
      </p:sp>
      <p:sp>
        <p:nvSpPr>
          <p:cNvPr id="65" name="Text 58">
            <a:extLst>
              <a:ext uri="{FF2B5EF4-FFF2-40B4-BE49-F238E27FC236}">
                <a16:creationId xmlns:a16="http://schemas.microsoft.com/office/drawing/2014/main" id="{77463FB3-6BE4-283C-CB85-725A45382E8A}"/>
              </a:ext>
            </a:extLst>
          </p:cNvPr>
          <p:cNvSpPr/>
          <p:nvPr/>
        </p:nvSpPr>
        <p:spPr>
          <a:xfrm>
            <a:off x="566928" y="4434840"/>
            <a:ext cx="1554480" cy="566928"/>
          </a:xfrm>
          <a:prstGeom prst="rect">
            <a:avLst/>
          </a:prstGeom>
          <a:noFill/>
          <a:ln/>
        </p:spPr>
        <p:txBody>
          <a:bodyPr wrap="square" lIns="0" tIns="0" rIns="0" bIns="0" rtlCol="0" anchor="ctr"/>
          <a:lstStyle/>
          <a:p>
            <a:pPr marL="0" indent="0">
              <a:buNone/>
            </a:pPr>
            <a:r>
              <a:rPr lang="en-US" sz="1250" b="1" dirty="0">
                <a:solidFill>
                  <a:srgbClr val="2B2B2B"/>
                </a:solidFill>
                <a:latin typeface="Calibri" pitchFamily="34" charset="0"/>
                <a:ea typeface="Calibri" pitchFamily="34" charset="-122"/>
                <a:cs typeface="Calibri" pitchFamily="34" charset="-120"/>
              </a:rPr>
              <a:t>Size / limit</a:t>
            </a:r>
            <a:endParaRPr lang="en-US" sz="1250" dirty="0"/>
          </a:p>
        </p:txBody>
      </p:sp>
      <p:sp>
        <p:nvSpPr>
          <p:cNvPr id="66" name="Shape 59">
            <a:extLst>
              <a:ext uri="{FF2B5EF4-FFF2-40B4-BE49-F238E27FC236}">
                <a16:creationId xmlns:a16="http://schemas.microsoft.com/office/drawing/2014/main" id="{2E9392FE-3BBE-D75A-CD9E-9C3FEE0F84DF}"/>
              </a:ext>
            </a:extLst>
          </p:cNvPr>
          <p:cNvSpPr/>
          <p:nvPr/>
        </p:nvSpPr>
        <p:spPr>
          <a:xfrm>
            <a:off x="2194560" y="4434840"/>
            <a:ext cx="3169920" cy="566928"/>
          </a:xfrm>
          <a:prstGeom prst="rect">
            <a:avLst/>
          </a:prstGeom>
          <a:solidFill>
            <a:srgbClr val="FFFFFF"/>
          </a:solidFill>
          <a:ln w="9525">
            <a:solidFill>
              <a:srgbClr val="E3E0D8"/>
            </a:solidFill>
            <a:prstDash val="solid"/>
          </a:ln>
        </p:spPr>
        <p:txBody>
          <a:bodyPr/>
          <a:lstStyle/>
          <a:p>
            <a:endParaRPr lang="en-US"/>
          </a:p>
        </p:txBody>
      </p:sp>
      <p:sp>
        <p:nvSpPr>
          <p:cNvPr id="67" name="Text 60">
            <a:extLst>
              <a:ext uri="{FF2B5EF4-FFF2-40B4-BE49-F238E27FC236}">
                <a16:creationId xmlns:a16="http://schemas.microsoft.com/office/drawing/2014/main" id="{5CF5E3A5-8F3C-A060-DC02-A43BCCAFEB58}"/>
              </a:ext>
            </a:extLst>
          </p:cNvPr>
          <p:cNvSpPr/>
          <p:nvPr/>
        </p:nvSpPr>
        <p:spPr>
          <a:xfrm>
            <a:off x="2331720" y="4434840"/>
            <a:ext cx="2895600" cy="566928"/>
          </a:xfrm>
          <a:prstGeom prst="rect">
            <a:avLst/>
          </a:prstGeom>
          <a:noFill/>
          <a:ln/>
        </p:spPr>
        <p:txBody>
          <a:bodyPr wrap="square" lIns="0" tIns="0" rIns="0" bIns="0" rtlCol="0" anchor="ctr"/>
          <a:lstStyle/>
          <a:p>
            <a:pPr marL="0" indent="0">
              <a:buNone/>
            </a:pPr>
            <a:r>
              <a:rPr lang="en-US" sz="1150" dirty="0">
                <a:solidFill>
                  <a:srgbClr val="2B2B2B"/>
                </a:solidFill>
                <a:latin typeface="Calibri" pitchFamily="34" charset="0"/>
                <a:ea typeface="Calibri" pitchFamily="34" charset="-122"/>
                <a:cs typeface="Calibri" pitchFamily="34" charset="-120"/>
              </a:rPr>
              <a:t>No hard cap; adherence drops past ~200 lines</a:t>
            </a:r>
            <a:endParaRPr lang="en-US" sz="1150" dirty="0"/>
          </a:p>
        </p:txBody>
      </p:sp>
      <p:sp>
        <p:nvSpPr>
          <p:cNvPr id="68" name="Shape 61">
            <a:extLst>
              <a:ext uri="{FF2B5EF4-FFF2-40B4-BE49-F238E27FC236}">
                <a16:creationId xmlns:a16="http://schemas.microsoft.com/office/drawing/2014/main" id="{AC5826EC-2603-8AFC-2CDD-D68995646161}"/>
              </a:ext>
            </a:extLst>
          </p:cNvPr>
          <p:cNvSpPr/>
          <p:nvPr/>
        </p:nvSpPr>
        <p:spPr>
          <a:xfrm>
            <a:off x="5364480" y="4434840"/>
            <a:ext cx="3169920" cy="566928"/>
          </a:xfrm>
          <a:prstGeom prst="rect">
            <a:avLst/>
          </a:prstGeom>
          <a:solidFill>
            <a:srgbClr val="FFFFFF"/>
          </a:solidFill>
          <a:ln w="9525">
            <a:solidFill>
              <a:srgbClr val="E3E0D8"/>
            </a:solidFill>
            <a:prstDash val="solid"/>
          </a:ln>
        </p:spPr>
        <p:txBody>
          <a:bodyPr/>
          <a:lstStyle/>
          <a:p>
            <a:endParaRPr lang="en-US"/>
          </a:p>
        </p:txBody>
      </p:sp>
      <p:sp>
        <p:nvSpPr>
          <p:cNvPr id="69" name="Text 62">
            <a:extLst>
              <a:ext uri="{FF2B5EF4-FFF2-40B4-BE49-F238E27FC236}">
                <a16:creationId xmlns:a16="http://schemas.microsoft.com/office/drawing/2014/main" id="{90A9F122-3191-4DE2-E6E9-4FCED13D33BD}"/>
              </a:ext>
            </a:extLst>
          </p:cNvPr>
          <p:cNvSpPr/>
          <p:nvPr/>
        </p:nvSpPr>
        <p:spPr>
          <a:xfrm>
            <a:off x="5501640" y="4434840"/>
            <a:ext cx="2895600" cy="566928"/>
          </a:xfrm>
          <a:prstGeom prst="rect">
            <a:avLst/>
          </a:prstGeom>
          <a:noFill/>
          <a:ln/>
        </p:spPr>
        <p:txBody>
          <a:bodyPr wrap="square" lIns="0" tIns="0" rIns="0" bIns="0" rtlCol="0" anchor="ctr"/>
          <a:lstStyle/>
          <a:p>
            <a:pPr marL="0" indent="0">
              <a:buNone/>
            </a:pPr>
            <a:r>
              <a:rPr lang="en-US" sz="1150" dirty="0">
                <a:solidFill>
                  <a:srgbClr val="2B2B2B"/>
                </a:solidFill>
                <a:latin typeface="Calibri" pitchFamily="34" charset="0"/>
                <a:ea typeface="Calibri" pitchFamily="34" charset="-122"/>
                <a:cs typeface="Calibri" pitchFamily="34" charset="-120"/>
              </a:rPr>
              <a:t>No hard cap per file; split by topic as needed</a:t>
            </a:r>
            <a:endParaRPr lang="en-US" sz="1150" dirty="0"/>
          </a:p>
        </p:txBody>
      </p:sp>
      <p:sp>
        <p:nvSpPr>
          <p:cNvPr id="70" name="Shape 63">
            <a:extLst>
              <a:ext uri="{FF2B5EF4-FFF2-40B4-BE49-F238E27FC236}">
                <a16:creationId xmlns:a16="http://schemas.microsoft.com/office/drawing/2014/main" id="{560DBBF3-2F4A-8E42-041B-82ED6EAD2AE8}"/>
              </a:ext>
            </a:extLst>
          </p:cNvPr>
          <p:cNvSpPr/>
          <p:nvPr/>
        </p:nvSpPr>
        <p:spPr>
          <a:xfrm>
            <a:off x="8534400" y="4434840"/>
            <a:ext cx="3169920" cy="566928"/>
          </a:xfrm>
          <a:prstGeom prst="rect">
            <a:avLst/>
          </a:prstGeom>
          <a:solidFill>
            <a:srgbClr val="FFFFFF"/>
          </a:solidFill>
          <a:ln w="9525">
            <a:solidFill>
              <a:srgbClr val="E3E0D8"/>
            </a:solidFill>
            <a:prstDash val="solid"/>
          </a:ln>
        </p:spPr>
        <p:txBody>
          <a:bodyPr/>
          <a:lstStyle/>
          <a:p>
            <a:endParaRPr lang="en-US"/>
          </a:p>
        </p:txBody>
      </p:sp>
      <p:sp>
        <p:nvSpPr>
          <p:cNvPr id="71" name="Text 64">
            <a:extLst>
              <a:ext uri="{FF2B5EF4-FFF2-40B4-BE49-F238E27FC236}">
                <a16:creationId xmlns:a16="http://schemas.microsoft.com/office/drawing/2014/main" id="{9BDAF6BC-8D42-167A-6468-58C7C539AA25}"/>
              </a:ext>
            </a:extLst>
          </p:cNvPr>
          <p:cNvSpPr/>
          <p:nvPr/>
        </p:nvSpPr>
        <p:spPr>
          <a:xfrm>
            <a:off x="8671560" y="4434840"/>
            <a:ext cx="2895600" cy="566928"/>
          </a:xfrm>
          <a:prstGeom prst="rect">
            <a:avLst/>
          </a:prstGeom>
          <a:noFill/>
          <a:ln/>
        </p:spPr>
        <p:txBody>
          <a:bodyPr wrap="square" lIns="0" tIns="0" rIns="0" bIns="0" rtlCol="0" anchor="ctr"/>
          <a:lstStyle/>
          <a:p>
            <a:pPr marL="0" indent="0">
              <a:buNone/>
            </a:pPr>
            <a:r>
              <a:rPr lang="en-US" sz="1150" dirty="0">
                <a:solidFill>
                  <a:srgbClr val="2B2B2B"/>
                </a:solidFill>
                <a:latin typeface="Calibri" pitchFamily="34" charset="0"/>
                <a:ea typeface="Calibri" pitchFamily="34" charset="-122"/>
                <a:cs typeface="Calibri" pitchFamily="34" charset="-120"/>
              </a:rPr>
              <a:t>Hard cap — only first 200 lines of index load; rest is invisible</a:t>
            </a:r>
            <a:endParaRPr lang="en-US" sz="1150" dirty="0"/>
          </a:p>
        </p:txBody>
      </p:sp>
      <p:sp>
        <p:nvSpPr>
          <p:cNvPr id="72" name="Shape 65">
            <a:extLst>
              <a:ext uri="{FF2B5EF4-FFF2-40B4-BE49-F238E27FC236}">
                <a16:creationId xmlns:a16="http://schemas.microsoft.com/office/drawing/2014/main" id="{744DD45C-98AE-EBE6-6985-0B2A50161353}"/>
              </a:ext>
            </a:extLst>
          </p:cNvPr>
          <p:cNvSpPr/>
          <p:nvPr/>
        </p:nvSpPr>
        <p:spPr>
          <a:xfrm>
            <a:off x="457200" y="5138928"/>
            <a:ext cx="11247120" cy="685800"/>
          </a:xfrm>
          <a:prstGeom prst="rect">
            <a:avLst/>
          </a:prstGeom>
          <a:solidFill>
            <a:srgbClr val="141414"/>
          </a:solidFill>
          <a:ln w="12700">
            <a:solidFill>
              <a:srgbClr val="141414"/>
            </a:solidFill>
            <a:prstDash val="solid"/>
          </a:ln>
        </p:spPr>
        <p:txBody>
          <a:bodyPr/>
          <a:lstStyle/>
          <a:p>
            <a:endParaRPr lang="en-US"/>
          </a:p>
        </p:txBody>
      </p:sp>
      <p:sp>
        <p:nvSpPr>
          <p:cNvPr id="73" name="Text 66">
            <a:extLst>
              <a:ext uri="{FF2B5EF4-FFF2-40B4-BE49-F238E27FC236}">
                <a16:creationId xmlns:a16="http://schemas.microsoft.com/office/drawing/2014/main" id="{6D7253F6-61A1-8328-1CFD-F475E120D17B}"/>
              </a:ext>
            </a:extLst>
          </p:cNvPr>
          <p:cNvSpPr/>
          <p:nvPr/>
        </p:nvSpPr>
        <p:spPr>
          <a:xfrm>
            <a:off x="777240" y="5138928"/>
            <a:ext cx="10607040" cy="685800"/>
          </a:xfrm>
          <a:prstGeom prst="rect">
            <a:avLst/>
          </a:prstGeom>
          <a:noFill/>
          <a:ln/>
        </p:spPr>
        <p:txBody>
          <a:bodyPr wrap="square" lIns="0" tIns="0" rIns="0" bIns="0" rtlCol="0" anchor="ctr"/>
          <a:lstStyle/>
          <a:p>
            <a:pPr marL="0" indent="0">
              <a:buNone/>
            </a:pPr>
            <a:r>
              <a:rPr lang="en-US" sz="1250" b="1" dirty="0">
                <a:solidFill>
                  <a:srgbClr val="C9704F"/>
                </a:solidFill>
                <a:latin typeface="Calibri" pitchFamily="34" charset="0"/>
                <a:ea typeface="Calibri" pitchFamily="34" charset="-122"/>
                <a:cs typeface="Calibri" pitchFamily="34" charset="-120"/>
              </a:rPr>
              <a:t>Why all three are needed:  </a:t>
            </a:r>
            <a:r>
              <a:rPr lang="en-US" sz="1250" dirty="0">
                <a:solidFill>
                  <a:srgbClr val="F2F2F2"/>
                </a:solidFill>
                <a:latin typeface="Calibri" pitchFamily="34" charset="0"/>
                <a:ea typeface="Calibri" pitchFamily="34" charset="-122"/>
                <a:cs typeface="Calibri" pitchFamily="34" charset="-120"/>
              </a:rPr>
              <a:t>CLAUDE.md stays small and authoritative; Rules carry specialist detail loaded only when relevant; MEMORY.md is Claude's own notebook — useful context, but never overrides what you wrote.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41413"/>
        </a:solidFill>
        <a:effectLst/>
      </p:bgPr>
    </p:bg>
    <p:spTree>
      <p:nvGrpSpPr>
        <p:cNvPr id="1" name="">
          <a:extLst>
            <a:ext uri="{FF2B5EF4-FFF2-40B4-BE49-F238E27FC236}">
              <a16:creationId xmlns:a16="http://schemas.microsoft.com/office/drawing/2014/main" id="{D2B111B3-58B9-6166-145C-E061CD1BA4E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D9600D2-2D6B-7EBC-6A9D-984D269E7531}"/>
              </a:ext>
            </a:extLst>
          </p:cNvPr>
          <p:cNvSpPr/>
          <p:nvPr/>
        </p:nvSpPr>
        <p:spPr>
          <a:xfrm>
            <a:off x="457200" y="320040"/>
            <a:ext cx="1371600" cy="1371600"/>
          </a:xfrm>
          <a:prstGeom prst="rect">
            <a:avLst/>
          </a:prstGeom>
          <a:noFill/>
          <a:ln/>
        </p:spPr>
        <p:txBody>
          <a:bodyPr wrap="square" rtlCol="0" anchor="ctr"/>
          <a:lstStyle/>
          <a:p>
            <a:pPr marL="0" indent="0">
              <a:buNone/>
            </a:pPr>
            <a:r>
              <a:rPr lang="en-US" sz="9000" b="1" dirty="0">
                <a:solidFill>
                  <a:srgbClr val="232220"/>
                </a:solidFill>
                <a:latin typeface="Poppins" pitchFamily="34" charset="0"/>
                <a:ea typeface="Poppins" pitchFamily="34" charset="-122"/>
                <a:cs typeface="Poppins" pitchFamily="34" charset="-120"/>
              </a:rPr>
              <a:t>{</a:t>
            </a:r>
            <a:endParaRPr lang="en-US" sz="9000" dirty="0"/>
          </a:p>
        </p:txBody>
      </p:sp>
      <p:sp>
        <p:nvSpPr>
          <p:cNvPr id="3" name="Text 1">
            <a:extLst>
              <a:ext uri="{FF2B5EF4-FFF2-40B4-BE49-F238E27FC236}">
                <a16:creationId xmlns:a16="http://schemas.microsoft.com/office/drawing/2014/main" id="{B440410F-19F9-8081-238E-F95435B32B81}"/>
              </a:ext>
            </a:extLst>
          </p:cNvPr>
          <p:cNvSpPr/>
          <p:nvPr/>
        </p:nvSpPr>
        <p:spPr>
          <a:xfrm>
            <a:off x="10424160" y="5120640"/>
            <a:ext cx="1371600" cy="1371600"/>
          </a:xfrm>
          <a:prstGeom prst="rect">
            <a:avLst/>
          </a:prstGeom>
          <a:noFill/>
          <a:ln/>
        </p:spPr>
        <p:txBody>
          <a:bodyPr wrap="square" rtlCol="0" anchor="ctr"/>
          <a:lstStyle/>
          <a:p>
            <a:pPr marL="0" indent="0" algn="r">
              <a:buNone/>
            </a:pPr>
            <a:r>
              <a:rPr lang="en-US" sz="9000" b="1" dirty="0">
                <a:solidFill>
                  <a:srgbClr val="232220"/>
                </a:solidFill>
                <a:latin typeface="Poppins" pitchFamily="34" charset="0"/>
                <a:ea typeface="Poppins" pitchFamily="34" charset="-122"/>
                <a:cs typeface="Poppins" pitchFamily="34" charset="-120"/>
              </a:rPr>
              <a:t>}</a:t>
            </a:r>
            <a:endParaRPr lang="en-US" sz="9000" dirty="0"/>
          </a:p>
        </p:txBody>
      </p:sp>
      <p:sp>
        <p:nvSpPr>
          <p:cNvPr id="5" name="Text 3">
            <a:extLst>
              <a:ext uri="{FF2B5EF4-FFF2-40B4-BE49-F238E27FC236}">
                <a16:creationId xmlns:a16="http://schemas.microsoft.com/office/drawing/2014/main" id="{92A6BE66-63DA-02F2-B4AA-2546C8232AF2}"/>
              </a:ext>
            </a:extLst>
          </p:cNvPr>
          <p:cNvSpPr/>
          <p:nvPr/>
        </p:nvSpPr>
        <p:spPr>
          <a:xfrm>
            <a:off x="822960" y="2331720"/>
            <a:ext cx="10515600" cy="1188720"/>
          </a:xfrm>
          <a:prstGeom prst="rect">
            <a:avLst/>
          </a:prstGeom>
          <a:noFill/>
          <a:ln/>
        </p:spPr>
        <p:txBody>
          <a:bodyPr wrap="square" lIns="0" tIns="0" rIns="0" bIns="0" rtlCol="0" anchor="ctr"/>
          <a:lstStyle/>
          <a:p>
            <a:pPr marL="0" indent="0">
              <a:buNone/>
            </a:pPr>
            <a:r>
              <a:rPr lang="en-US" sz="4400" b="1" dirty="0">
                <a:solidFill>
                  <a:srgbClr val="FAF9F5"/>
                </a:solidFill>
                <a:latin typeface="Poppins" pitchFamily="34" charset="0"/>
                <a:cs typeface="Poppins" pitchFamily="34" charset="-120"/>
              </a:rPr>
              <a:t>MCP</a:t>
            </a:r>
            <a:endParaRPr lang="en-US" sz="4400" dirty="0"/>
          </a:p>
        </p:txBody>
      </p:sp>
      <p:sp>
        <p:nvSpPr>
          <p:cNvPr id="10" name="Text 8">
            <a:extLst>
              <a:ext uri="{FF2B5EF4-FFF2-40B4-BE49-F238E27FC236}">
                <a16:creationId xmlns:a16="http://schemas.microsoft.com/office/drawing/2014/main" id="{258DFAC2-2944-2F5D-55A1-4E62526CF047}"/>
              </a:ext>
            </a:extLst>
          </p:cNvPr>
          <p:cNvSpPr/>
          <p:nvPr/>
        </p:nvSpPr>
        <p:spPr>
          <a:xfrm>
            <a:off x="822960" y="6263640"/>
            <a:ext cx="7315200" cy="274320"/>
          </a:xfrm>
          <a:prstGeom prst="rect">
            <a:avLst/>
          </a:prstGeom>
          <a:noFill/>
          <a:ln/>
        </p:spPr>
        <p:txBody>
          <a:bodyPr wrap="square" rtlCol="0" anchor="ctr"/>
          <a:lstStyle/>
          <a:p>
            <a:pPr marL="0" indent="0">
              <a:buNone/>
            </a:pPr>
            <a:endParaRPr lang="en-US" sz="1100" dirty="0"/>
          </a:p>
        </p:txBody>
      </p:sp>
    </p:spTree>
    <p:extLst>
      <p:ext uri="{BB962C8B-B14F-4D97-AF65-F5344CB8AC3E}">
        <p14:creationId xmlns:p14="http://schemas.microsoft.com/office/powerpoint/2010/main" val="19324457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B2FECFAB-0F1E-99D8-72EB-69017A7EF7A1}"/>
              </a:ext>
            </a:extLst>
          </p:cNvPr>
          <p:cNvSpPr/>
          <p:nvPr/>
        </p:nvSpPr>
        <p:spPr>
          <a:xfrm>
            <a:off x="457200" y="274320"/>
            <a:ext cx="11247120" cy="502920"/>
          </a:xfrm>
          <a:prstGeom prst="rect">
            <a:avLst/>
          </a:prstGeom>
          <a:noFill/>
          <a:ln/>
        </p:spPr>
        <p:txBody>
          <a:bodyPr wrap="square" lIns="0" tIns="0" rIns="0" bIns="0" rtlCol="0" anchor="ctr"/>
          <a:lstStyle/>
          <a:p>
            <a:pPr marL="0" indent="0">
              <a:buNone/>
            </a:pPr>
            <a:r>
              <a:rPr lang="en-US" sz="3200" b="1" dirty="0">
                <a:solidFill>
                  <a:srgbClr val="141414"/>
                </a:solidFill>
                <a:latin typeface="Cambria" pitchFamily="34" charset="0"/>
                <a:ea typeface="Cambria" pitchFamily="34" charset="-122"/>
                <a:cs typeface="Cambria" pitchFamily="34" charset="-120"/>
              </a:rPr>
              <a:t>MCP Servers</a:t>
            </a:r>
            <a:endParaRPr lang="en-US" sz="3200" dirty="0"/>
          </a:p>
        </p:txBody>
      </p:sp>
      <p:sp>
        <p:nvSpPr>
          <p:cNvPr id="3" name="Text 1">
            <a:extLst>
              <a:ext uri="{FF2B5EF4-FFF2-40B4-BE49-F238E27FC236}">
                <a16:creationId xmlns:a16="http://schemas.microsoft.com/office/drawing/2014/main" id="{C28A7B23-F7E4-966E-D3BB-307673EC5BDA}"/>
              </a:ext>
            </a:extLst>
          </p:cNvPr>
          <p:cNvSpPr/>
          <p:nvPr/>
        </p:nvSpPr>
        <p:spPr>
          <a:xfrm>
            <a:off x="457200" y="777240"/>
            <a:ext cx="11247120" cy="320040"/>
          </a:xfrm>
          <a:prstGeom prst="rect">
            <a:avLst/>
          </a:prstGeom>
          <a:noFill/>
          <a:ln/>
        </p:spPr>
        <p:txBody>
          <a:bodyPr wrap="square" lIns="0" tIns="0" rIns="0" bIns="0" rtlCol="0" anchor="ctr"/>
          <a:lstStyle/>
          <a:p>
            <a:pPr marL="0" indent="0">
              <a:buNone/>
            </a:pPr>
            <a:r>
              <a:rPr lang="en-US" sz="1400" dirty="0">
                <a:solidFill>
                  <a:srgbClr val="6B6B6B"/>
                </a:solidFill>
                <a:latin typeface="Calibri" pitchFamily="34" charset="0"/>
                <a:ea typeface="Calibri" pitchFamily="34" charset="-122"/>
                <a:cs typeface="Calibri" pitchFamily="34" charset="-120"/>
              </a:rPr>
              <a:t>Give Claude new tools and abilities beyond the codebase</a:t>
            </a:r>
            <a:endParaRPr lang="en-US" sz="1400" dirty="0"/>
          </a:p>
        </p:txBody>
      </p:sp>
      <p:sp>
        <p:nvSpPr>
          <p:cNvPr id="4" name="Shape 2">
            <a:extLst>
              <a:ext uri="{FF2B5EF4-FFF2-40B4-BE49-F238E27FC236}">
                <a16:creationId xmlns:a16="http://schemas.microsoft.com/office/drawing/2014/main" id="{F1F63A92-89A4-D50D-CCE0-E550B6522168}"/>
              </a:ext>
            </a:extLst>
          </p:cNvPr>
          <p:cNvSpPr/>
          <p:nvPr/>
        </p:nvSpPr>
        <p:spPr>
          <a:xfrm>
            <a:off x="457200" y="1280160"/>
            <a:ext cx="5394960" cy="4251960"/>
          </a:xfrm>
          <a:prstGeom prst="roundRect">
            <a:avLst>
              <a:gd name="adj" fmla="val 1290"/>
            </a:avLst>
          </a:prstGeom>
          <a:solidFill>
            <a:srgbClr val="FFFFFF"/>
          </a:solidFill>
          <a:ln w="12700">
            <a:solidFill>
              <a:srgbClr val="E3E0D8"/>
            </a:solidFill>
            <a:prstDash val="solid"/>
          </a:ln>
          <a:effectLst>
            <a:outerShdw blurRad="101600" dist="25400" dir="5400000" algn="bl" rotWithShape="0">
              <a:srgbClr val="000000">
                <a:alpha val="8000"/>
              </a:srgbClr>
            </a:outerShdw>
          </a:effectLst>
        </p:spPr>
        <p:txBody>
          <a:bodyPr/>
          <a:lstStyle/>
          <a:p>
            <a:endParaRPr lang="en-US"/>
          </a:p>
        </p:txBody>
      </p:sp>
      <p:sp>
        <p:nvSpPr>
          <p:cNvPr id="5" name="Text 3">
            <a:extLst>
              <a:ext uri="{FF2B5EF4-FFF2-40B4-BE49-F238E27FC236}">
                <a16:creationId xmlns:a16="http://schemas.microsoft.com/office/drawing/2014/main" id="{2D301B9F-C939-FBDC-8818-C272B03E8D47}"/>
              </a:ext>
            </a:extLst>
          </p:cNvPr>
          <p:cNvSpPr/>
          <p:nvPr/>
        </p:nvSpPr>
        <p:spPr>
          <a:xfrm>
            <a:off x="731520" y="1508760"/>
            <a:ext cx="4846320" cy="365760"/>
          </a:xfrm>
          <a:prstGeom prst="rect">
            <a:avLst/>
          </a:prstGeom>
          <a:noFill/>
          <a:ln/>
        </p:spPr>
        <p:txBody>
          <a:bodyPr wrap="square" lIns="0" tIns="0" rIns="0" bIns="0" rtlCol="0" anchor="ctr"/>
          <a:lstStyle/>
          <a:p>
            <a:pPr marL="0" indent="0">
              <a:buNone/>
            </a:pPr>
            <a:r>
              <a:rPr lang="en-US" sz="1800" b="1" dirty="0">
                <a:solidFill>
                  <a:srgbClr val="C9704F"/>
                </a:solidFill>
                <a:latin typeface="Calibri" pitchFamily="34" charset="0"/>
                <a:ea typeface="Calibri" pitchFamily="34" charset="-122"/>
                <a:cs typeface="Calibri" pitchFamily="34" charset="-120"/>
              </a:rPr>
              <a:t>Installing a server</a:t>
            </a:r>
            <a:endParaRPr lang="en-US" sz="1800" dirty="0"/>
          </a:p>
        </p:txBody>
      </p:sp>
      <p:sp>
        <p:nvSpPr>
          <p:cNvPr id="6" name="Text 4">
            <a:extLst>
              <a:ext uri="{FF2B5EF4-FFF2-40B4-BE49-F238E27FC236}">
                <a16:creationId xmlns:a16="http://schemas.microsoft.com/office/drawing/2014/main" id="{8CE7ED3B-6172-CE11-5E77-3656F1C6949B}"/>
              </a:ext>
            </a:extLst>
          </p:cNvPr>
          <p:cNvSpPr/>
          <p:nvPr/>
        </p:nvSpPr>
        <p:spPr>
          <a:xfrm>
            <a:off x="731520" y="1901952"/>
            <a:ext cx="4846320" cy="274320"/>
          </a:xfrm>
          <a:prstGeom prst="rect">
            <a:avLst/>
          </a:prstGeom>
          <a:noFill/>
          <a:ln/>
        </p:spPr>
        <p:txBody>
          <a:bodyPr wrap="square" lIns="0" tIns="0" rIns="0" bIns="0" rtlCol="0" anchor="ctr"/>
          <a:lstStyle/>
          <a:p>
            <a:pPr marL="0" indent="0">
              <a:buNone/>
            </a:pPr>
            <a:r>
              <a:rPr lang="en-US" sz="1200" i="1" dirty="0">
                <a:solidFill>
                  <a:srgbClr val="6B6B6B"/>
                </a:solidFill>
                <a:latin typeface="Calibri" pitchFamily="34" charset="0"/>
                <a:ea typeface="Calibri" pitchFamily="34" charset="-122"/>
                <a:cs typeface="Calibri" pitchFamily="34" charset="-120"/>
              </a:rPr>
              <a:t>Example: Playwright — gives Claude control of a real browser</a:t>
            </a:r>
            <a:endParaRPr lang="en-US" sz="1200" dirty="0"/>
          </a:p>
        </p:txBody>
      </p:sp>
      <p:sp>
        <p:nvSpPr>
          <p:cNvPr id="7" name="Shape 5">
            <a:extLst>
              <a:ext uri="{FF2B5EF4-FFF2-40B4-BE49-F238E27FC236}">
                <a16:creationId xmlns:a16="http://schemas.microsoft.com/office/drawing/2014/main" id="{24F7E527-70A4-699F-DBCA-6B0B9C56F42D}"/>
              </a:ext>
            </a:extLst>
          </p:cNvPr>
          <p:cNvSpPr/>
          <p:nvPr/>
        </p:nvSpPr>
        <p:spPr>
          <a:xfrm>
            <a:off x="731520" y="2240280"/>
            <a:ext cx="4846320" cy="502920"/>
          </a:xfrm>
          <a:prstGeom prst="rect">
            <a:avLst/>
          </a:prstGeom>
          <a:solidFill>
            <a:srgbClr val="1E1E1E"/>
          </a:solidFill>
          <a:ln w="12700">
            <a:solidFill>
              <a:srgbClr val="1E1E1E"/>
            </a:solidFill>
            <a:prstDash val="solid"/>
          </a:ln>
        </p:spPr>
        <p:txBody>
          <a:bodyPr/>
          <a:lstStyle/>
          <a:p>
            <a:endParaRPr lang="en-US"/>
          </a:p>
        </p:txBody>
      </p:sp>
      <p:sp>
        <p:nvSpPr>
          <p:cNvPr id="8" name="Text 6">
            <a:extLst>
              <a:ext uri="{FF2B5EF4-FFF2-40B4-BE49-F238E27FC236}">
                <a16:creationId xmlns:a16="http://schemas.microsoft.com/office/drawing/2014/main" id="{70E20C42-F8BA-193A-238B-117C7471842F}"/>
              </a:ext>
            </a:extLst>
          </p:cNvPr>
          <p:cNvSpPr/>
          <p:nvPr/>
        </p:nvSpPr>
        <p:spPr>
          <a:xfrm>
            <a:off x="868680" y="2240280"/>
            <a:ext cx="4572000" cy="502920"/>
          </a:xfrm>
          <a:prstGeom prst="rect">
            <a:avLst/>
          </a:prstGeom>
          <a:noFill/>
          <a:ln/>
        </p:spPr>
        <p:txBody>
          <a:bodyPr wrap="square" lIns="0" tIns="0" rIns="0" bIns="0" rtlCol="0" anchor="ctr"/>
          <a:lstStyle/>
          <a:p>
            <a:pPr marL="0" indent="0">
              <a:buNone/>
            </a:pPr>
            <a:r>
              <a:rPr lang="en-US" sz="1100" dirty="0">
                <a:solidFill>
                  <a:srgbClr val="6A9955"/>
                </a:solidFill>
                <a:latin typeface="Courier New" pitchFamily="34" charset="0"/>
                <a:ea typeface="Courier New" pitchFamily="34" charset="-122"/>
                <a:cs typeface="Courier New" pitchFamily="34" charset="-120"/>
              </a:rPr>
              <a:t>$ </a:t>
            </a:r>
            <a:r>
              <a:rPr lang="en-US" sz="1100" dirty="0">
                <a:solidFill>
                  <a:srgbClr val="D4D4D4"/>
                </a:solidFill>
                <a:latin typeface="Courier New" pitchFamily="34" charset="0"/>
                <a:ea typeface="Courier New" pitchFamily="34" charset="-122"/>
                <a:cs typeface="Courier New" pitchFamily="34" charset="-120"/>
              </a:rPr>
              <a:t>claude mcp add playwright npx @playwright/mcp@latest</a:t>
            </a:r>
            <a:endParaRPr lang="en-US" sz="1100" dirty="0"/>
          </a:p>
        </p:txBody>
      </p:sp>
      <p:sp>
        <p:nvSpPr>
          <p:cNvPr id="9" name="Text 7">
            <a:extLst>
              <a:ext uri="{FF2B5EF4-FFF2-40B4-BE49-F238E27FC236}">
                <a16:creationId xmlns:a16="http://schemas.microsoft.com/office/drawing/2014/main" id="{D88D4B72-2D35-2B40-C426-1CF052D6A633}"/>
              </a:ext>
            </a:extLst>
          </p:cNvPr>
          <p:cNvSpPr/>
          <p:nvPr/>
        </p:nvSpPr>
        <p:spPr>
          <a:xfrm>
            <a:off x="731520" y="2798064"/>
            <a:ext cx="4846320" cy="274320"/>
          </a:xfrm>
          <a:prstGeom prst="rect">
            <a:avLst/>
          </a:prstGeom>
          <a:noFill/>
          <a:ln/>
        </p:spPr>
        <p:txBody>
          <a:bodyPr wrap="square" lIns="0" tIns="0" rIns="0" bIns="0" rtlCol="0" anchor="ctr"/>
          <a:lstStyle/>
          <a:p>
            <a:pPr marL="0" indent="0">
              <a:buNone/>
            </a:pPr>
            <a:r>
              <a:rPr lang="en-US" sz="1100" i="1" dirty="0">
                <a:solidFill>
                  <a:srgbClr val="6B6B6B"/>
                </a:solidFill>
                <a:latin typeface="Calibri" pitchFamily="34" charset="0"/>
                <a:ea typeface="Calibri" pitchFamily="34" charset="-122"/>
                <a:cs typeface="Calibri" pitchFamily="34" charset="-120"/>
              </a:rPr>
              <a:t>Run in your terminal, not inside a Claude Code session.</a:t>
            </a:r>
            <a:endParaRPr lang="en-US" sz="1100" dirty="0"/>
          </a:p>
        </p:txBody>
      </p:sp>
      <p:sp>
        <p:nvSpPr>
          <p:cNvPr id="10" name="Shape 8">
            <a:extLst>
              <a:ext uri="{FF2B5EF4-FFF2-40B4-BE49-F238E27FC236}">
                <a16:creationId xmlns:a16="http://schemas.microsoft.com/office/drawing/2014/main" id="{D0DEFBBB-9665-3FEA-2E98-24046653D04F}"/>
              </a:ext>
            </a:extLst>
          </p:cNvPr>
          <p:cNvSpPr/>
          <p:nvPr/>
        </p:nvSpPr>
        <p:spPr>
          <a:xfrm>
            <a:off x="731520" y="3200400"/>
            <a:ext cx="4846320" cy="0"/>
          </a:xfrm>
          <a:prstGeom prst="line">
            <a:avLst/>
          </a:prstGeom>
          <a:noFill/>
          <a:ln w="12700">
            <a:solidFill>
              <a:srgbClr val="E3E0D8"/>
            </a:solidFill>
            <a:prstDash val="solid"/>
          </a:ln>
        </p:spPr>
        <p:txBody>
          <a:bodyPr/>
          <a:lstStyle/>
          <a:p>
            <a:endParaRPr lang="en-US"/>
          </a:p>
        </p:txBody>
      </p:sp>
      <p:sp>
        <p:nvSpPr>
          <p:cNvPr id="11" name="Text 9">
            <a:extLst>
              <a:ext uri="{FF2B5EF4-FFF2-40B4-BE49-F238E27FC236}">
                <a16:creationId xmlns:a16="http://schemas.microsoft.com/office/drawing/2014/main" id="{4187CA85-B606-55DA-2387-03065FB48121}"/>
              </a:ext>
            </a:extLst>
          </p:cNvPr>
          <p:cNvSpPr/>
          <p:nvPr/>
        </p:nvSpPr>
        <p:spPr>
          <a:xfrm>
            <a:off x="731520" y="3337560"/>
            <a:ext cx="4846320" cy="320040"/>
          </a:xfrm>
          <a:prstGeom prst="rect">
            <a:avLst/>
          </a:prstGeom>
          <a:noFill/>
          <a:ln/>
        </p:spPr>
        <p:txBody>
          <a:bodyPr wrap="square" lIns="0" tIns="0" rIns="0" bIns="0" rtlCol="0" anchor="ctr"/>
          <a:lstStyle/>
          <a:p>
            <a:pPr marL="0" indent="0">
              <a:buNone/>
            </a:pPr>
            <a:r>
              <a:rPr lang="en-US" sz="1500" b="1" dirty="0">
                <a:solidFill>
                  <a:srgbClr val="141414"/>
                </a:solidFill>
                <a:latin typeface="Calibri" pitchFamily="34" charset="0"/>
                <a:ea typeface="Calibri" pitchFamily="34" charset="-122"/>
                <a:cs typeface="Calibri" pitchFamily="34" charset="-120"/>
              </a:rPr>
              <a:t>Pre-approving permissions</a:t>
            </a:r>
            <a:endParaRPr lang="en-US" sz="1500" dirty="0"/>
          </a:p>
        </p:txBody>
      </p:sp>
      <p:sp>
        <p:nvSpPr>
          <p:cNvPr id="12" name="Text 10">
            <a:extLst>
              <a:ext uri="{FF2B5EF4-FFF2-40B4-BE49-F238E27FC236}">
                <a16:creationId xmlns:a16="http://schemas.microsoft.com/office/drawing/2014/main" id="{85B1DA41-6C3A-5ADE-917D-2F0CE7FAE504}"/>
              </a:ext>
            </a:extLst>
          </p:cNvPr>
          <p:cNvSpPr/>
          <p:nvPr/>
        </p:nvSpPr>
        <p:spPr>
          <a:xfrm>
            <a:off x="731520" y="3685032"/>
            <a:ext cx="4846320" cy="320040"/>
          </a:xfrm>
          <a:prstGeom prst="rect">
            <a:avLst/>
          </a:prstGeom>
          <a:noFill/>
          <a:ln/>
        </p:spPr>
        <p:txBody>
          <a:bodyPr wrap="square" lIns="0" tIns="0" rIns="0" bIns="0" rtlCol="0" anchor="ctr"/>
          <a:lstStyle/>
          <a:p>
            <a:pPr marL="0" indent="0">
              <a:buNone/>
            </a:pPr>
            <a:r>
              <a:rPr lang="en-US" sz="1150" dirty="0">
                <a:solidFill>
                  <a:srgbClr val="2B2B2B"/>
                </a:solidFill>
                <a:latin typeface="Calibri" pitchFamily="34" charset="0"/>
                <a:ea typeface="Calibri" pitchFamily="34" charset="-122"/>
                <a:cs typeface="Calibri" pitchFamily="34" charset="-120"/>
              </a:rPr>
              <a:t>By default Claude asks every time. Pre-approve in </a:t>
            </a:r>
            <a:r>
              <a:rPr lang="en-US" sz="1150" dirty="0">
                <a:solidFill>
                  <a:srgbClr val="C9704F"/>
                </a:solidFill>
                <a:latin typeface="Courier New" pitchFamily="34" charset="0"/>
                <a:ea typeface="Courier New" pitchFamily="34" charset="-122"/>
                <a:cs typeface="Courier New" pitchFamily="34" charset="-120"/>
              </a:rPr>
              <a:t>.claude/settings.local.json</a:t>
            </a:r>
            <a:r>
              <a:rPr lang="en-US" sz="1150" dirty="0">
                <a:solidFill>
                  <a:srgbClr val="2B2B2B"/>
                </a:solidFill>
                <a:latin typeface="Calibri" pitchFamily="34" charset="0"/>
                <a:ea typeface="Calibri" pitchFamily="34" charset="-122"/>
                <a:cs typeface="Calibri" pitchFamily="34" charset="-120"/>
              </a:rPr>
              <a:t>:</a:t>
            </a:r>
            <a:endParaRPr lang="en-US" sz="1150" dirty="0"/>
          </a:p>
        </p:txBody>
      </p:sp>
      <p:sp>
        <p:nvSpPr>
          <p:cNvPr id="13" name="Shape 11">
            <a:extLst>
              <a:ext uri="{FF2B5EF4-FFF2-40B4-BE49-F238E27FC236}">
                <a16:creationId xmlns:a16="http://schemas.microsoft.com/office/drawing/2014/main" id="{C5245910-67D2-2A76-39CB-B8CEFC9062A2}"/>
              </a:ext>
            </a:extLst>
          </p:cNvPr>
          <p:cNvSpPr/>
          <p:nvPr/>
        </p:nvSpPr>
        <p:spPr>
          <a:xfrm>
            <a:off x="731520" y="4041648"/>
            <a:ext cx="4846320" cy="1188720"/>
          </a:xfrm>
          <a:prstGeom prst="rect">
            <a:avLst/>
          </a:prstGeom>
          <a:solidFill>
            <a:srgbClr val="1E1E1E"/>
          </a:solidFill>
          <a:ln w="12700">
            <a:solidFill>
              <a:srgbClr val="1E1E1E"/>
            </a:solidFill>
            <a:prstDash val="solid"/>
          </a:ln>
        </p:spPr>
        <p:txBody>
          <a:bodyPr/>
          <a:lstStyle/>
          <a:p>
            <a:endParaRPr lang="en-US"/>
          </a:p>
        </p:txBody>
      </p:sp>
      <p:sp>
        <p:nvSpPr>
          <p:cNvPr id="14" name="Text 12">
            <a:extLst>
              <a:ext uri="{FF2B5EF4-FFF2-40B4-BE49-F238E27FC236}">
                <a16:creationId xmlns:a16="http://schemas.microsoft.com/office/drawing/2014/main" id="{0206E393-61BC-5174-CFC4-618214DA95F6}"/>
              </a:ext>
            </a:extLst>
          </p:cNvPr>
          <p:cNvSpPr/>
          <p:nvPr/>
        </p:nvSpPr>
        <p:spPr>
          <a:xfrm>
            <a:off x="868680" y="4114800"/>
            <a:ext cx="4572000" cy="1042416"/>
          </a:xfrm>
          <a:prstGeom prst="rect">
            <a:avLst/>
          </a:prstGeom>
          <a:noFill/>
          <a:ln/>
        </p:spPr>
        <p:txBody>
          <a:bodyPr wrap="square" lIns="0" tIns="0" rIns="0" bIns="0" rtlCol="0" anchor="t"/>
          <a:lstStyle/>
          <a:p>
            <a:pPr marL="0" indent="0">
              <a:lnSpc>
                <a:spcPts val="1400"/>
              </a:lnSpc>
              <a:buNone/>
            </a:pPr>
            <a:r>
              <a:rPr lang="en-US" sz="1050" dirty="0">
                <a:solidFill>
                  <a:srgbClr val="D4D4D4"/>
                </a:solidFill>
                <a:latin typeface="Courier New" pitchFamily="34" charset="0"/>
                <a:ea typeface="Courier New" pitchFamily="34" charset="-122"/>
                <a:cs typeface="Courier New" pitchFamily="34" charset="-120"/>
              </a:rPr>
              <a:t>{
  "permissions": {
    "allow": [</a:t>
            </a:r>
            <a:r>
              <a:rPr lang="en-US" sz="1050" dirty="0">
                <a:solidFill>
                  <a:srgbClr val="CE9178"/>
                </a:solidFill>
                <a:latin typeface="Courier New" pitchFamily="34" charset="0"/>
                <a:ea typeface="Courier New" pitchFamily="34" charset="-122"/>
                <a:cs typeface="Courier New" pitchFamily="34" charset="-120"/>
              </a:rPr>
              <a:t>"mcp__playwright"</a:t>
            </a:r>
            <a:r>
              <a:rPr lang="en-US" sz="1050" dirty="0">
                <a:solidFill>
                  <a:srgbClr val="D4D4D4"/>
                </a:solidFill>
                <a:latin typeface="Courier New" pitchFamily="34" charset="0"/>
                <a:ea typeface="Courier New" pitchFamily="34" charset="-122"/>
                <a:cs typeface="Courier New" pitchFamily="34" charset="-120"/>
              </a:rPr>
              <a:t>],
    "deny": []
  }</a:t>
            </a:r>
            <a:endParaRPr lang="en-US" sz="1050" dirty="0"/>
          </a:p>
          <a:p>
            <a:pPr marL="0" indent="0">
              <a:lnSpc>
                <a:spcPts val="1400"/>
              </a:lnSpc>
              <a:buNone/>
            </a:pPr>
            <a:r>
              <a:rPr lang="en-US" sz="1050" dirty="0">
                <a:solidFill>
                  <a:srgbClr val="D4D4D4"/>
                </a:solidFill>
                <a:latin typeface="Courier New" pitchFamily="34" charset="0"/>
                <a:ea typeface="Courier New" pitchFamily="34" charset="-122"/>
                <a:cs typeface="Courier New" pitchFamily="34" charset="-120"/>
              </a:rPr>
              <a:t>}</a:t>
            </a:r>
            <a:endParaRPr lang="en-US" sz="1050" dirty="0"/>
          </a:p>
        </p:txBody>
      </p:sp>
      <p:sp>
        <p:nvSpPr>
          <p:cNvPr id="15" name="Text 13">
            <a:extLst>
              <a:ext uri="{FF2B5EF4-FFF2-40B4-BE49-F238E27FC236}">
                <a16:creationId xmlns:a16="http://schemas.microsoft.com/office/drawing/2014/main" id="{5F96146C-ECC6-493E-1C54-05FFD300C3D3}"/>
              </a:ext>
            </a:extLst>
          </p:cNvPr>
          <p:cNvSpPr/>
          <p:nvPr/>
        </p:nvSpPr>
        <p:spPr>
          <a:xfrm>
            <a:off x="731520" y="5321808"/>
            <a:ext cx="4846320" cy="274320"/>
          </a:xfrm>
          <a:prstGeom prst="rect">
            <a:avLst/>
          </a:prstGeom>
          <a:noFill/>
          <a:ln/>
        </p:spPr>
        <p:txBody>
          <a:bodyPr wrap="square" lIns="0" tIns="0" rIns="0" bIns="0" rtlCol="0" anchor="ctr"/>
          <a:lstStyle/>
          <a:p>
            <a:pPr marL="0" indent="0">
              <a:buNone/>
            </a:pPr>
            <a:r>
              <a:rPr lang="en-US" sz="1100" i="1" dirty="0">
                <a:solidFill>
                  <a:srgbClr val="6B6B6B"/>
                </a:solidFill>
                <a:latin typeface="Calibri" pitchFamily="34" charset="0"/>
                <a:ea typeface="Calibri" pitchFamily="34" charset="-122"/>
                <a:cs typeface="Calibri" pitchFamily="34" charset="-120"/>
              </a:rPr>
              <a:t>Note the double underscore: </a:t>
            </a:r>
            <a:r>
              <a:rPr lang="en-US" sz="1100" b="1" dirty="0">
                <a:solidFill>
                  <a:srgbClr val="141414"/>
                </a:solidFill>
                <a:latin typeface="Courier New" pitchFamily="34" charset="0"/>
                <a:ea typeface="Courier New" pitchFamily="34" charset="-122"/>
                <a:cs typeface="Courier New" pitchFamily="34" charset="-120"/>
              </a:rPr>
              <a:t>mcp__playwright</a:t>
            </a:r>
            <a:endParaRPr lang="en-US" sz="1100" dirty="0"/>
          </a:p>
        </p:txBody>
      </p:sp>
      <p:sp>
        <p:nvSpPr>
          <p:cNvPr id="16" name="Shape 14">
            <a:extLst>
              <a:ext uri="{FF2B5EF4-FFF2-40B4-BE49-F238E27FC236}">
                <a16:creationId xmlns:a16="http://schemas.microsoft.com/office/drawing/2014/main" id="{801D2E0A-0052-94B8-072A-78E7475C1222}"/>
              </a:ext>
            </a:extLst>
          </p:cNvPr>
          <p:cNvSpPr/>
          <p:nvPr/>
        </p:nvSpPr>
        <p:spPr>
          <a:xfrm>
            <a:off x="6080760" y="1280160"/>
            <a:ext cx="5623560" cy="2514600"/>
          </a:xfrm>
          <a:prstGeom prst="roundRect">
            <a:avLst>
              <a:gd name="adj" fmla="val 2182"/>
            </a:avLst>
          </a:prstGeom>
          <a:solidFill>
            <a:srgbClr val="FFFFFF"/>
          </a:solidFill>
          <a:ln w="12700">
            <a:solidFill>
              <a:srgbClr val="E3E0D8"/>
            </a:solidFill>
            <a:prstDash val="solid"/>
          </a:ln>
          <a:effectLst>
            <a:outerShdw blurRad="101600" dist="25400" dir="5400000" algn="bl" rotWithShape="0">
              <a:srgbClr val="000000">
                <a:alpha val="8000"/>
              </a:srgbClr>
            </a:outerShdw>
          </a:effectLst>
        </p:spPr>
        <p:txBody>
          <a:bodyPr/>
          <a:lstStyle/>
          <a:p>
            <a:endParaRPr lang="en-US"/>
          </a:p>
        </p:txBody>
      </p:sp>
      <p:sp>
        <p:nvSpPr>
          <p:cNvPr id="17" name="Text 15">
            <a:extLst>
              <a:ext uri="{FF2B5EF4-FFF2-40B4-BE49-F238E27FC236}">
                <a16:creationId xmlns:a16="http://schemas.microsoft.com/office/drawing/2014/main" id="{32667EA5-06C3-DC8A-1E0B-4782F8FD638B}"/>
              </a:ext>
            </a:extLst>
          </p:cNvPr>
          <p:cNvSpPr/>
          <p:nvPr/>
        </p:nvSpPr>
        <p:spPr>
          <a:xfrm>
            <a:off x="6355080" y="1481328"/>
            <a:ext cx="5074920" cy="365760"/>
          </a:xfrm>
          <a:prstGeom prst="rect">
            <a:avLst/>
          </a:prstGeom>
          <a:noFill/>
          <a:ln/>
        </p:spPr>
        <p:txBody>
          <a:bodyPr wrap="square" lIns="0" tIns="0" rIns="0" bIns="0" rtlCol="0" anchor="ctr"/>
          <a:lstStyle/>
          <a:p>
            <a:pPr marL="0" indent="0">
              <a:buNone/>
            </a:pPr>
            <a:r>
              <a:rPr lang="en-US" sz="1600" b="1" dirty="0">
                <a:solidFill>
                  <a:srgbClr val="141414"/>
                </a:solidFill>
                <a:latin typeface="Calibri" pitchFamily="34" charset="0"/>
                <a:ea typeface="Calibri" pitchFamily="34" charset="-122"/>
                <a:cs typeface="Calibri" pitchFamily="34" charset="-120"/>
              </a:rPr>
              <a:t>Practical example: better components</a:t>
            </a:r>
            <a:endParaRPr lang="en-US" sz="1600" dirty="0"/>
          </a:p>
        </p:txBody>
      </p:sp>
      <p:sp>
        <p:nvSpPr>
          <p:cNvPr id="18" name="Shape 16">
            <a:extLst>
              <a:ext uri="{FF2B5EF4-FFF2-40B4-BE49-F238E27FC236}">
                <a16:creationId xmlns:a16="http://schemas.microsoft.com/office/drawing/2014/main" id="{66456CD3-C4A1-0186-EB58-9B5BDA9C2168}"/>
              </a:ext>
            </a:extLst>
          </p:cNvPr>
          <p:cNvSpPr/>
          <p:nvPr/>
        </p:nvSpPr>
        <p:spPr>
          <a:xfrm>
            <a:off x="6355080" y="1856232"/>
            <a:ext cx="182880" cy="182880"/>
          </a:xfrm>
          <a:prstGeom prst="ellipse">
            <a:avLst/>
          </a:prstGeom>
          <a:solidFill>
            <a:srgbClr val="3B7A75"/>
          </a:solidFill>
          <a:ln w="12700">
            <a:solidFill>
              <a:srgbClr val="3B7A75"/>
            </a:solidFill>
            <a:prstDash val="solid"/>
          </a:ln>
        </p:spPr>
        <p:txBody>
          <a:bodyPr/>
          <a:lstStyle/>
          <a:p>
            <a:endParaRPr lang="en-US"/>
          </a:p>
        </p:txBody>
      </p:sp>
      <p:sp>
        <p:nvSpPr>
          <p:cNvPr id="19" name="Text 17">
            <a:extLst>
              <a:ext uri="{FF2B5EF4-FFF2-40B4-BE49-F238E27FC236}">
                <a16:creationId xmlns:a16="http://schemas.microsoft.com/office/drawing/2014/main" id="{33BE82B9-1C77-6AED-103A-136A39330BDF}"/>
              </a:ext>
            </a:extLst>
          </p:cNvPr>
          <p:cNvSpPr/>
          <p:nvPr/>
        </p:nvSpPr>
        <p:spPr>
          <a:xfrm>
            <a:off x="6355080" y="1856232"/>
            <a:ext cx="182880" cy="1828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0" name="Text 18">
            <a:extLst>
              <a:ext uri="{FF2B5EF4-FFF2-40B4-BE49-F238E27FC236}">
                <a16:creationId xmlns:a16="http://schemas.microsoft.com/office/drawing/2014/main" id="{4ED5EA29-F011-2F6A-9F51-533CC0A590DD}"/>
              </a:ext>
            </a:extLst>
          </p:cNvPr>
          <p:cNvSpPr/>
          <p:nvPr/>
        </p:nvSpPr>
        <p:spPr>
          <a:xfrm>
            <a:off x="6629400" y="1819656"/>
            <a:ext cx="4773168" cy="256032"/>
          </a:xfrm>
          <a:prstGeom prst="rect">
            <a:avLst/>
          </a:prstGeom>
          <a:noFill/>
          <a:ln/>
        </p:spPr>
        <p:txBody>
          <a:bodyPr wrap="square" lIns="0" tIns="0" rIns="0" bIns="0" rtlCol="0" anchor="ctr"/>
          <a:lstStyle/>
          <a:p>
            <a:pPr marL="0" indent="0">
              <a:buNone/>
            </a:pPr>
            <a:r>
              <a:rPr lang="en-US" sz="1100" dirty="0">
                <a:solidFill>
                  <a:srgbClr val="2B2B2B"/>
                </a:solidFill>
                <a:latin typeface="Calibri" pitchFamily="34" charset="0"/>
                <a:ea typeface="Calibri" pitchFamily="34" charset="-122"/>
                <a:cs typeface="Calibri" pitchFamily="34" charset="-120"/>
              </a:rPr>
              <a:t>Open a browser, navigate to your app</a:t>
            </a:r>
            <a:endParaRPr lang="en-US" sz="1100" dirty="0"/>
          </a:p>
        </p:txBody>
      </p:sp>
      <p:sp>
        <p:nvSpPr>
          <p:cNvPr id="21" name="Shape 19">
            <a:extLst>
              <a:ext uri="{FF2B5EF4-FFF2-40B4-BE49-F238E27FC236}">
                <a16:creationId xmlns:a16="http://schemas.microsoft.com/office/drawing/2014/main" id="{878B0ECE-734E-5172-E48D-696EEBA386A1}"/>
              </a:ext>
            </a:extLst>
          </p:cNvPr>
          <p:cNvSpPr/>
          <p:nvPr/>
        </p:nvSpPr>
        <p:spPr>
          <a:xfrm>
            <a:off x="6355080" y="2153412"/>
            <a:ext cx="182880" cy="182880"/>
          </a:xfrm>
          <a:prstGeom prst="ellipse">
            <a:avLst/>
          </a:prstGeom>
          <a:solidFill>
            <a:srgbClr val="3B7A75"/>
          </a:solidFill>
          <a:ln w="12700">
            <a:solidFill>
              <a:srgbClr val="3B7A75"/>
            </a:solidFill>
            <a:prstDash val="solid"/>
          </a:ln>
        </p:spPr>
        <p:txBody>
          <a:bodyPr/>
          <a:lstStyle/>
          <a:p>
            <a:endParaRPr lang="en-US"/>
          </a:p>
        </p:txBody>
      </p:sp>
      <p:sp>
        <p:nvSpPr>
          <p:cNvPr id="22" name="Text 20">
            <a:extLst>
              <a:ext uri="{FF2B5EF4-FFF2-40B4-BE49-F238E27FC236}">
                <a16:creationId xmlns:a16="http://schemas.microsoft.com/office/drawing/2014/main" id="{62AF1541-26B6-9336-959A-A7BB0F31BC5E}"/>
              </a:ext>
            </a:extLst>
          </p:cNvPr>
          <p:cNvSpPr/>
          <p:nvPr/>
        </p:nvSpPr>
        <p:spPr>
          <a:xfrm>
            <a:off x="6355080" y="2153412"/>
            <a:ext cx="182880" cy="1828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3" name="Text 21">
            <a:extLst>
              <a:ext uri="{FF2B5EF4-FFF2-40B4-BE49-F238E27FC236}">
                <a16:creationId xmlns:a16="http://schemas.microsoft.com/office/drawing/2014/main" id="{DDD6C477-9940-9129-85EE-1D4A0709F1E9}"/>
              </a:ext>
            </a:extLst>
          </p:cNvPr>
          <p:cNvSpPr/>
          <p:nvPr/>
        </p:nvSpPr>
        <p:spPr>
          <a:xfrm>
            <a:off x="6629400" y="2116836"/>
            <a:ext cx="4773168" cy="256032"/>
          </a:xfrm>
          <a:prstGeom prst="rect">
            <a:avLst/>
          </a:prstGeom>
          <a:noFill/>
          <a:ln/>
        </p:spPr>
        <p:txBody>
          <a:bodyPr wrap="square" lIns="0" tIns="0" rIns="0" bIns="0" rtlCol="0" anchor="ctr"/>
          <a:lstStyle/>
          <a:p>
            <a:pPr marL="0" indent="0">
              <a:buNone/>
            </a:pPr>
            <a:r>
              <a:rPr lang="en-US" sz="1100" dirty="0">
                <a:solidFill>
                  <a:srgbClr val="2B2B2B"/>
                </a:solidFill>
                <a:latin typeface="Calibri" pitchFamily="34" charset="0"/>
                <a:ea typeface="Calibri" pitchFamily="34" charset="-122"/>
                <a:cs typeface="Calibri" pitchFamily="34" charset="-120"/>
              </a:rPr>
              <a:t>Generate a test component</a:t>
            </a:r>
            <a:endParaRPr lang="en-US" sz="1100" dirty="0"/>
          </a:p>
        </p:txBody>
      </p:sp>
      <p:sp>
        <p:nvSpPr>
          <p:cNvPr id="24" name="Shape 22">
            <a:extLst>
              <a:ext uri="{FF2B5EF4-FFF2-40B4-BE49-F238E27FC236}">
                <a16:creationId xmlns:a16="http://schemas.microsoft.com/office/drawing/2014/main" id="{214C90AB-D380-262B-DC5C-5F7ED5030585}"/>
              </a:ext>
            </a:extLst>
          </p:cNvPr>
          <p:cNvSpPr/>
          <p:nvPr/>
        </p:nvSpPr>
        <p:spPr>
          <a:xfrm>
            <a:off x="6355080" y="2450592"/>
            <a:ext cx="182880" cy="182880"/>
          </a:xfrm>
          <a:prstGeom prst="ellipse">
            <a:avLst/>
          </a:prstGeom>
          <a:solidFill>
            <a:srgbClr val="3B7A75"/>
          </a:solidFill>
          <a:ln w="12700">
            <a:solidFill>
              <a:srgbClr val="3B7A75"/>
            </a:solidFill>
            <a:prstDash val="solid"/>
          </a:ln>
        </p:spPr>
        <p:txBody>
          <a:bodyPr/>
          <a:lstStyle/>
          <a:p>
            <a:endParaRPr lang="en-US"/>
          </a:p>
        </p:txBody>
      </p:sp>
      <p:sp>
        <p:nvSpPr>
          <p:cNvPr id="25" name="Text 23">
            <a:extLst>
              <a:ext uri="{FF2B5EF4-FFF2-40B4-BE49-F238E27FC236}">
                <a16:creationId xmlns:a16="http://schemas.microsoft.com/office/drawing/2014/main" id="{5048D007-E545-E290-FA32-C33310EAF977}"/>
              </a:ext>
            </a:extLst>
          </p:cNvPr>
          <p:cNvSpPr/>
          <p:nvPr/>
        </p:nvSpPr>
        <p:spPr>
          <a:xfrm>
            <a:off x="6355080" y="2450592"/>
            <a:ext cx="182880" cy="1828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6" name="Text 24">
            <a:extLst>
              <a:ext uri="{FF2B5EF4-FFF2-40B4-BE49-F238E27FC236}">
                <a16:creationId xmlns:a16="http://schemas.microsoft.com/office/drawing/2014/main" id="{6BDCC328-FAEB-F2AC-2E45-886A34778CA9}"/>
              </a:ext>
            </a:extLst>
          </p:cNvPr>
          <p:cNvSpPr/>
          <p:nvPr/>
        </p:nvSpPr>
        <p:spPr>
          <a:xfrm>
            <a:off x="6629400" y="2414016"/>
            <a:ext cx="4773168" cy="256032"/>
          </a:xfrm>
          <a:prstGeom prst="rect">
            <a:avLst/>
          </a:prstGeom>
          <a:noFill/>
          <a:ln/>
        </p:spPr>
        <p:txBody>
          <a:bodyPr wrap="square" lIns="0" tIns="0" rIns="0" bIns="0" rtlCol="0" anchor="ctr"/>
          <a:lstStyle/>
          <a:p>
            <a:pPr marL="0" indent="0">
              <a:buNone/>
            </a:pPr>
            <a:r>
              <a:rPr lang="en-US" sz="1100" dirty="0">
                <a:solidFill>
                  <a:srgbClr val="2B2B2B"/>
                </a:solidFill>
                <a:latin typeface="Calibri" pitchFamily="34" charset="0"/>
                <a:ea typeface="Calibri" pitchFamily="34" charset="-122"/>
                <a:cs typeface="Calibri" pitchFamily="34" charset="-120"/>
              </a:rPr>
              <a:t>Analyze the visual styling and code quality</a:t>
            </a:r>
            <a:endParaRPr lang="en-US" sz="1100" dirty="0"/>
          </a:p>
        </p:txBody>
      </p:sp>
      <p:sp>
        <p:nvSpPr>
          <p:cNvPr id="27" name="Shape 25">
            <a:extLst>
              <a:ext uri="{FF2B5EF4-FFF2-40B4-BE49-F238E27FC236}">
                <a16:creationId xmlns:a16="http://schemas.microsoft.com/office/drawing/2014/main" id="{6C8A4BFC-9CC8-169B-E442-B0160B93F641}"/>
              </a:ext>
            </a:extLst>
          </p:cNvPr>
          <p:cNvSpPr/>
          <p:nvPr/>
        </p:nvSpPr>
        <p:spPr>
          <a:xfrm>
            <a:off x="6355080" y="2747772"/>
            <a:ext cx="182880" cy="182880"/>
          </a:xfrm>
          <a:prstGeom prst="ellipse">
            <a:avLst/>
          </a:prstGeom>
          <a:solidFill>
            <a:srgbClr val="3B7A75"/>
          </a:solidFill>
          <a:ln w="12700">
            <a:solidFill>
              <a:srgbClr val="3B7A75"/>
            </a:solidFill>
            <a:prstDash val="solid"/>
          </a:ln>
        </p:spPr>
        <p:txBody>
          <a:bodyPr/>
          <a:lstStyle/>
          <a:p>
            <a:endParaRPr lang="en-US"/>
          </a:p>
        </p:txBody>
      </p:sp>
      <p:sp>
        <p:nvSpPr>
          <p:cNvPr id="28" name="Text 26">
            <a:extLst>
              <a:ext uri="{FF2B5EF4-FFF2-40B4-BE49-F238E27FC236}">
                <a16:creationId xmlns:a16="http://schemas.microsoft.com/office/drawing/2014/main" id="{95C38D6B-695E-FC9E-1ACE-800777C7BF83}"/>
              </a:ext>
            </a:extLst>
          </p:cNvPr>
          <p:cNvSpPr/>
          <p:nvPr/>
        </p:nvSpPr>
        <p:spPr>
          <a:xfrm>
            <a:off x="6355080" y="2747772"/>
            <a:ext cx="182880" cy="1828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9" name="Text 27">
            <a:extLst>
              <a:ext uri="{FF2B5EF4-FFF2-40B4-BE49-F238E27FC236}">
                <a16:creationId xmlns:a16="http://schemas.microsoft.com/office/drawing/2014/main" id="{F48236C0-EDB2-8F23-69B8-1A5D1589D577}"/>
              </a:ext>
            </a:extLst>
          </p:cNvPr>
          <p:cNvSpPr/>
          <p:nvPr/>
        </p:nvSpPr>
        <p:spPr>
          <a:xfrm>
            <a:off x="6629400" y="2711196"/>
            <a:ext cx="4773168" cy="256032"/>
          </a:xfrm>
          <a:prstGeom prst="rect">
            <a:avLst/>
          </a:prstGeom>
          <a:noFill/>
          <a:ln/>
        </p:spPr>
        <p:txBody>
          <a:bodyPr wrap="square" lIns="0" tIns="0" rIns="0" bIns="0" rtlCol="0" anchor="ctr"/>
          <a:lstStyle/>
          <a:p>
            <a:pPr marL="0" indent="0">
              <a:buNone/>
            </a:pPr>
            <a:r>
              <a:rPr lang="en-US" sz="1100" dirty="0">
                <a:solidFill>
                  <a:srgbClr val="2B2B2B"/>
                </a:solidFill>
                <a:latin typeface="Calibri" pitchFamily="34" charset="0"/>
                <a:ea typeface="Calibri" pitchFamily="34" charset="-122"/>
                <a:cs typeface="Calibri" pitchFamily="34" charset="-120"/>
              </a:rPr>
              <a:t>Update the generation prompt based on what it sees</a:t>
            </a:r>
            <a:endParaRPr lang="en-US" sz="1100" dirty="0"/>
          </a:p>
        </p:txBody>
      </p:sp>
      <p:sp>
        <p:nvSpPr>
          <p:cNvPr id="30" name="Shape 28">
            <a:extLst>
              <a:ext uri="{FF2B5EF4-FFF2-40B4-BE49-F238E27FC236}">
                <a16:creationId xmlns:a16="http://schemas.microsoft.com/office/drawing/2014/main" id="{C27CF86B-68E9-A66F-7E33-BAF1DA3D944B}"/>
              </a:ext>
            </a:extLst>
          </p:cNvPr>
          <p:cNvSpPr/>
          <p:nvPr/>
        </p:nvSpPr>
        <p:spPr>
          <a:xfrm>
            <a:off x="6355080" y="3044952"/>
            <a:ext cx="182880" cy="182880"/>
          </a:xfrm>
          <a:prstGeom prst="ellipse">
            <a:avLst/>
          </a:prstGeom>
          <a:solidFill>
            <a:srgbClr val="3B7A75"/>
          </a:solidFill>
          <a:ln w="12700">
            <a:solidFill>
              <a:srgbClr val="3B7A75"/>
            </a:solidFill>
            <a:prstDash val="solid"/>
          </a:ln>
        </p:spPr>
        <p:txBody>
          <a:bodyPr/>
          <a:lstStyle/>
          <a:p>
            <a:endParaRPr lang="en-US"/>
          </a:p>
        </p:txBody>
      </p:sp>
      <p:sp>
        <p:nvSpPr>
          <p:cNvPr id="31" name="Text 29">
            <a:extLst>
              <a:ext uri="{FF2B5EF4-FFF2-40B4-BE49-F238E27FC236}">
                <a16:creationId xmlns:a16="http://schemas.microsoft.com/office/drawing/2014/main" id="{E91FB4D5-19A1-11D6-0491-6F050BBA589B}"/>
              </a:ext>
            </a:extLst>
          </p:cNvPr>
          <p:cNvSpPr/>
          <p:nvPr/>
        </p:nvSpPr>
        <p:spPr>
          <a:xfrm>
            <a:off x="6355080" y="3044952"/>
            <a:ext cx="182880" cy="18288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32" name="Text 30">
            <a:extLst>
              <a:ext uri="{FF2B5EF4-FFF2-40B4-BE49-F238E27FC236}">
                <a16:creationId xmlns:a16="http://schemas.microsoft.com/office/drawing/2014/main" id="{A62BEBDD-D727-FBAC-A698-9B33F5FC3DC0}"/>
              </a:ext>
            </a:extLst>
          </p:cNvPr>
          <p:cNvSpPr/>
          <p:nvPr/>
        </p:nvSpPr>
        <p:spPr>
          <a:xfrm>
            <a:off x="6629400" y="3008376"/>
            <a:ext cx="4773168" cy="256032"/>
          </a:xfrm>
          <a:prstGeom prst="rect">
            <a:avLst/>
          </a:prstGeom>
          <a:noFill/>
          <a:ln/>
        </p:spPr>
        <p:txBody>
          <a:bodyPr wrap="square" lIns="0" tIns="0" rIns="0" bIns="0" rtlCol="0" anchor="ctr"/>
          <a:lstStyle/>
          <a:p>
            <a:pPr marL="0" indent="0">
              <a:buNone/>
            </a:pPr>
            <a:r>
              <a:rPr lang="en-US" sz="1100" dirty="0">
                <a:solidFill>
                  <a:srgbClr val="2B2B2B"/>
                </a:solidFill>
                <a:latin typeface="Calibri" pitchFamily="34" charset="0"/>
                <a:ea typeface="Calibri" pitchFamily="34" charset="-122"/>
                <a:cs typeface="Calibri" pitchFamily="34" charset="-120"/>
              </a:rPr>
              <a:t>Test the improved prompt on a new component</a:t>
            </a:r>
            <a:endParaRPr lang="en-US" sz="1100" dirty="0"/>
          </a:p>
        </p:txBody>
      </p:sp>
      <p:sp>
        <p:nvSpPr>
          <p:cNvPr id="33" name="Shape 31">
            <a:extLst>
              <a:ext uri="{FF2B5EF4-FFF2-40B4-BE49-F238E27FC236}">
                <a16:creationId xmlns:a16="http://schemas.microsoft.com/office/drawing/2014/main" id="{834BC1A7-3552-D82A-F1CA-BE4AF79A7F57}"/>
              </a:ext>
            </a:extLst>
          </p:cNvPr>
          <p:cNvSpPr/>
          <p:nvPr/>
        </p:nvSpPr>
        <p:spPr>
          <a:xfrm>
            <a:off x="6355080" y="3378708"/>
            <a:ext cx="5074920" cy="548640"/>
          </a:xfrm>
          <a:prstGeom prst="rect">
            <a:avLst/>
          </a:prstGeom>
          <a:solidFill>
            <a:srgbClr val="F7F5F0"/>
          </a:solidFill>
          <a:ln w="9525">
            <a:solidFill>
              <a:srgbClr val="E3E0D8"/>
            </a:solidFill>
            <a:prstDash val="solid"/>
          </a:ln>
        </p:spPr>
        <p:txBody>
          <a:bodyPr/>
          <a:lstStyle/>
          <a:p>
            <a:endParaRPr lang="en-US"/>
          </a:p>
        </p:txBody>
      </p:sp>
      <p:sp>
        <p:nvSpPr>
          <p:cNvPr id="34" name="Text 32">
            <a:extLst>
              <a:ext uri="{FF2B5EF4-FFF2-40B4-BE49-F238E27FC236}">
                <a16:creationId xmlns:a16="http://schemas.microsoft.com/office/drawing/2014/main" id="{921DA15F-4312-E250-520E-24133F469B79}"/>
              </a:ext>
            </a:extLst>
          </p:cNvPr>
          <p:cNvSpPr/>
          <p:nvPr/>
        </p:nvSpPr>
        <p:spPr>
          <a:xfrm>
            <a:off x="6492240" y="3424428"/>
            <a:ext cx="4800600" cy="457200"/>
          </a:xfrm>
          <a:prstGeom prst="rect">
            <a:avLst/>
          </a:prstGeom>
          <a:noFill/>
          <a:ln/>
        </p:spPr>
        <p:txBody>
          <a:bodyPr wrap="square" lIns="0" tIns="0" rIns="0" bIns="0" rtlCol="0" anchor="ctr"/>
          <a:lstStyle/>
          <a:p>
            <a:pPr marL="0" indent="0">
              <a:buNone/>
            </a:pPr>
            <a:r>
              <a:rPr lang="en-US" sz="950" i="1" dirty="0">
                <a:solidFill>
                  <a:srgbClr val="2B2B2B"/>
                </a:solidFill>
                <a:latin typeface="Calibri" pitchFamily="34" charset="0"/>
                <a:ea typeface="Calibri" pitchFamily="34" charset="-122"/>
                <a:cs typeface="Calibri" pitchFamily="34" charset="-120"/>
              </a:rPr>
              <a:t>“Navigate to localhost:3000, generate a component, review styling, and update @src/lib/prompts/generation.tsx to produce better components going forward.”</a:t>
            </a:r>
            <a:endParaRPr lang="en-US" sz="950" dirty="0"/>
          </a:p>
        </p:txBody>
      </p:sp>
      <p:sp>
        <p:nvSpPr>
          <p:cNvPr id="35" name="Shape 33">
            <a:extLst>
              <a:ext uri="{FF2B5EF4-FFF2-40B4-BE49-F238E27FC236}">
                <a16:creationId xmlns:a16="http://schemas.microsoft.com/office/drawing/2014/main" id="{F8358096-40AF-2224-1584-A2719BDC43C2}"/>
              </a:ext>
            </a:extLst>
          </p:cNvPr>
          <p:cNvSpPr/>
          <p:nvPr/>
        </p:nvSpPr>
        <p:spPr>
          <a:xfrm>
            <a:off x="6080760" y="3977640"/>
            <a:ext cx="5623560" cy="1325880"/>
          </a:xfrm>
          <a:prstGeom prst="roundRect">
            <a:avLst>
              <a:gd name="adj" fmla="val 4138"/>
            </a:avLst>
          </a:prstGeom>
          <a:solidFill>
            <a:srgbClr val="141414"/>
          </a:solidFill>
          <a:ln w="12700">
            <a:solidFill>
              <a:srgbClr val="141414"/>
            </a:solidFill>
            <a:prstDash val="solid"/>
          </a:ln>
        </p:spPr>
        <p:txBody>
          <a:bodyPr/>
          <a:lstStyle/>
          <a:p>
            <a:endParaRPr lang="en-US"/>
          </a:p>
        </p:txBody>
      </p:sp>
      <p:sp>
        <p:nvSpPr>
          <p:cNvPr id="36" name="Text 34">
            <a:extLst>
              <a:ext uri="{FF2B5EF4-FFF2-40B4-BE49-F238E27FC236}">
                <a16:creationId xmlns:a16="http://schemas.microsoft.com/office/drawing/2014/main" id="{A2DB27FD-87AE-0534-0478-B67519145D6D}"/>
              </a:ext>
            </a:extLst>
          </p:cNvPr>
          <p:cNvSpPr/>
          <p:nvPr/>
        </p:nvSpPr>
        <p:spPr>
          <a:xfrm>
            <a:off x="6355080" y="4142232"/>
            <a:ext cx="5074920" cy="292608"/>
          </a:xfrm>
          <a:prstGeom prst="rect">
            <a:avLst/>
          </a:prstGeom>
          <a:noFill/>
          <a:ln/>
        </p:spPr>
        <p:txBody>
          <a:bodyPr wrap="square" lIns="0" tIns="0" rIns="0" bIns="0" rtlCol="0" anchor="ctr"/>
          <a:lstStyle/>
          <a:p>
            <a:pPr marL="0" indent="0">
              <a:buNone/>
            </a:pPr>
            <a:r>
              <a:rPr lang="en-US" sz="1400" b="1" dirty="0">
                <a:solidFill>
                  <a:srgbClr val="C9704F"/>
                </a:solidFill>
                <a:latin typeface="Calibri" pitchFamily="34" charset="0"/>
                <a:ea typeface="Calibri" pitchFamily="34" charset="-122"/>
                <a:cs typeface="Calibri" pitchFamily="34" charset="-120"/>
              </a:rPr>
              <a:t>Why it works</a:t>
            </a:r>
            <a:endParaRPr lang="en-US" sz="1400" dirty="0"/>
          </a:p>
        </p:txBody>
      </p:sp>
      <p:sp>
        <p:nvSpPr>
          <p:cNvPr id="37" name="Text 35">
            <a:extLst>
              <a:ext uri="{FF2B5EF4-FFF2-40B4-BE49-F238E27FC236}">
                <a16:creationId xmlns:a16="http://schemas.microsoft.com/office/drawing/2014/main" id="{62CC16CF-06C6-AE44-8F46-23B32D5AFB15}"/>
              </a:ext>
            </a:extLst>
          </p:cNvPr>
          <p:cNvSpPr/>
          <p:nvPr/>
        </p:nvSpPr>
        <p:spPr>
          <a:xfrm>
            <a:off x="6355080" y="4480560"/>
            <a:ext cx="5074920" cy="411480"/>
          </a:xfrm>
          <a:prstGeom prst="rect">
            <a:avLst/>
          </a:prstGeom>
          <a:noFill/>
          <a:ln/>
        </p:spPr>
        <p:txBody>
          <a:bodyPr wrap="square" lIns="0" tIns="0" rIns="0" bIns="0" rtlCol="0" anchor="ctr"/>
          <a:lstStyle/>
          <a:p>
            <a:pPr marL="0" indent="0">
              <a:buNone/>
            </a:pPr>
            <a:r>
              <a:rPr lang="en-US" sz="1150" dirty="0">
                <a:solidFill>
                  <a:srgbClr val="E8E8E8"/>
                </a:solidFill>
                <a:latin typeface="Calibri" pitchFamily="34" charset="0"/>
                <a:ea typeface="Calibri" pitchFamily="34" charset="-122"/>
                <a:cs typeface="Calibri" pitchFamily="34" charset="-120"/>
              </a:rPr>
              <a:t>Claude sees the actual rendered output, not just the code — so it can judge visual quality directly instead of guessing from markup.</a:t>
            </a:r>
            <a:endParaRPr lang="en-US" sz="1150" dirty="0"/>
          </a:p>
        </p:txBody>
      </p:sp>
      <p:sp>
        <p:nvSpPr>
          <p:cNvPr id="38" name="Text 36">
            <a:extLst>
              <a:ext uri="{FF2B5EF4-FFF2-40B4-BE49-F238E27FC236}">
                <a16:creationId xmlns:a16="http://schemas.microsoft.com/office/drawing/2014/main" id="{586B7120-5A0D-83A9-FE8F-D7B070800AFF}"/>
              </a:ext>
            </a:extLst>
          </p:cNvPr>
          <p:cNvSpPr/>
          <p:nvPr/>
        </p:nvSpPr>
        <p:spPr>
          <a:xfrm>
            <a:off x="6355080" y="4910328"/>
            <a:ext cx="5074920" cy="365760"/>
          </a:xfrm>
          <a:prstGeom prst="rect">
            <a:avLst/>
          </a:prstGeom>
          <a:noFill/>
          <a:ln/>
        </p:spPr>
        <p:txBody>
          <a:bodyPr wrap="square" lIns="0" tIns="0" rIns="0" bIns="0" rtlCol="0" anchor="ctr"/>
          <a:lstStyle/>
          <a:p>
            <a:pPr marL="0" indent="0">
              <a:buNone/>
            </a:pPr>
            <a:r>
              <a:rPr lang="en-US" sz="1050" b="1" dirty="0">
                <a:solidFill>
                  <a:srgbClr val="CFCFCF"/>
                </a:solidFill>
                <a:latin typeface="Calibri" pitchFamily="34" charset="0"/>
                <a:ea typeface="Calibri" pitchFamily="34" charset="-122"/>
                <a:cs typeface="Calibri" pitchFamily="34" charset="-120"/>
              </a:rPr>
              <a:t>Before: </a:t>
            </a:r>
            <a:r>
              <a:rPr lang="en-US" sz="1050" dirty="0">
                <a:solidFill>
                  <a:srgbClr val="CFCFCF"/>
                </a:solidFill>
                <a:latin typeface="Calibri" pitchFamily="34" charset="0"/>
                <a:ea typeface="Calibri" pitchFamily="34" charset="-122"/>
                <a:cs typeface="Calibri" pitchFamily="34" charset="-120"/>
              </a:rPr>
              <a:t>generic purple-to-blue gradients  →  </a:t>
            </a:r>
            <a:r>
              <a:rPr lang="en-US" sz="1050" b="1" dirty="0">
                <a:solidFill>
                  <a:srgbClr val="C9704F"/>
                </a:solidFill>
                <a:latin typeface="Calibri" pitchFamily="34" charset="0"/>
                <a:ea typeface="Calibri" pitchFamily="34" charset="-122"/>
                <a:cs typeface="Calibri" pitchFamily="34" charset="-120"/>
              </a:rPr>
              <a:t>After: </a:t>
            </a:r>
            <a:r>
              <a:rPr lang="en-US" sz="1050" dirty="0">
                <a:solidFill>
                  <a:srgbClr val="F2F2F2"/>
                </a:solidFill>
                <a:latin typeface="Calibri" pitchFamily="34" charset="0"/>
                <a:ea typeface="Calibri" pitchFamily="34" charset="-122"/>
                <a:cs typeface="Calibri" pitchFamily="34" charset="-120"/>
              </a:rPr>
              <a:t>sunset &amp; ocean-depth themes, asymmetric layouts</a:t>
            </a:r>
            <a:endParaRPr lang="en-US" sz="1050" dirty="0"/>
          </a:p>
        </p:txBody>
      </p:sp>
      <p:sp>
        <p:nvSpPr>
          <p:cNvPr id="39" name="Shape 37">
            <a:extLst>
              <a:ext uri="{FF2B5EF4-FFF2-40B4-BE49-F238E27FC236}">
                <a16:creationId xmlns:a16="http://schemas.microsoft.com/office/drawing/2014/main" id="{B4053445-7A2D-03A5-0E48-202F6D6F81ED}"/>
              </a:ext>
            </a:extLst>
          </p:cNvPr>
          <p:cNvSpPr/>
          <p:nvPr/>
        </p:nvSpPr>
        <p:spPr>
          <a:xfrm>
            <a:off x="457200" y="5715000"/>
            <a:ext cx="11247120" cy="566928"/>
          </a:xfrm>
          <a:prstGeom prst="rect">
            <a:avLst/>
          </a:prstGeom>
          <a:solidFill>
            <a:srgbClr val="F7F5F0"/>
          </a:solidFill>
          <a:ln w="9525">
            <a:solidFill>
              <a:srgbClr val="E3E0D8"/>
            </a:solidFill>
            <a:prstDash val="solid"/>
          </a:ln>
        </p:spPr>
        <p:txBody>
          <a:bodyPr/>
          <a:lstStyle/>
          <a:p>
            <a:endParaRPr lang="en-US"/>
          </a:p>
        </p:txBody>
      </p:sp>
      <p:sp>
        <p:nvSpPr>
          <p:cNvPr id="40" name="Text 38">
            <a:extLst>
              <a:ext uri="{FF2B5EF4-FFF2-40B4-BE49-F238E27FC236}">
                <a16:creationId xmlns:a16="http://schemas.microsoft.com/office/drawing/2014/main" id="{5C5C7264-AC63-578B-4DEC-11FA75FF609A}"/>
              </a:ext>
            </a:extLst>
          </p:cNvPr>
          <p:cNvSpPr/>
          <p:nvPr/>
        </p:nvSpPr>
        <p:spPr>
          <a:xfrm>
            <a:off x="777240" y="5715000"/>
            <a:ext cx="10607040" cy="566928"/>
          </a:xfrm>
          <a:prstGeom prst="rect">
            <a:avLst/>
          </a:prstGeom>
          <a:noFill/>
          <a:ln/>
        </p:spPr>
        <p:txBody>
          <a:bodyPr wrap="square" lIns="0" tIns="0" rIns="0" bIns="0" rtlCol="0" anchor="ctr"/>
          <a:lstStyle/>
          <a:p>
            <a:pPr marL="0" indent="0">
              <a:buNone/>
            </a:pPr>
            <a:r>
              <a:rPr lang="en-US" sz="1250" b="1" dirty="0">
                <a:solidFill>
                  <a:srgbClr val="C9704F"/>
                </a:solidFill>
                <a:latin typeface="Calibri" pitchFamily="34" charset="0"/>
                <a:ea typeface="Calibri" pitchFamily="34" charset="-122"/>
                <a:cs typeface="Calibri" pitchFamily="34" charset="-120"/>
              </a:rPr>
              <a:t>Beyond Playwright:  </a:t>
            </a:r>
            <a:r>
              <a:rPr lang="en-US" sz="1250" dirty="0">
                <a:solidFill>
                  <a:srgbClr val="2B2B2B"/>
                </a:solidFill>
                <a:latin typeface="Calibri" pitchFamily="34" charset="0"/>
                <a:ea typeface="Calibri" pitchFamily="34" charset="-122"/>
                <a:cs typeface="Calibri" pitchFamily="34" charset="-120"/>
              </a:rPr>
              <a:t>MCP servers exist for databases, API testing, file systems, cloud services, and dev tool automation — turning Claude into a partner across your whole toolchain.</a:t>
            </a:r>
            <a:endParaRPr lang="en-US" sz="1250" dirty="0"/>
          </a:p>
        </p:txBody>
      </p:sp>
    </p:spTree>
    <p:extLst>
      <p:ext uri="{BB962C8B-B14F-4D97-AF65-F5344CB8AC3E}">
        <p14:creationId xmlns:p14="http://schemas.microsoft.com/office/powerpoint/2010/main" val="40110425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41413"/>
        </a:solidFill>
        <a:effectLst/>
      </p:bgPr>
    </p:bg>
    <p:spTree>
      <p:nvGrpSpPr>
        <p:cNvPr id="1" name="">
          <a:extLst>
            <a:ext uri="{FF2B5EF4-FFF2-40B4-BE49-F238E27FC236}">
              <a16:creationId xmlns:a16="http://schemas.microsoft.com/office/drawing/2014/main" id="{BEC27E3F-EDFC-7741-3649-1B61488F847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01D61F9-C3E4-D074-5E8C-231C8AB5B74B}"/>
              </a:ext>
            </a:extLst>
          </p:cNvPr>
          <p:cNvSpPr/>
          <p:nvPr/>
        </p:nvSpPr>
        <p:spPr>
          <a:xfrm>
            <a:off x="457200" y="320040"/>
            <a:ext cx="1371600" cy="1371600"/>
          </a:xfrm>
          <a:prstGeom prst="rect">
            <a:avLst/>
          </a:prstGeom>
          <a:noFill/>
          <a:ln/>
        </p:spPr>
        <p:txBody>
          <a:bodyPr wrap="square" rtlCol="0" anchor="ctr"/>
          <a:lstStyle/>
          <a:p>
            <a:pPr marL="0" indent="0">
              <a:buNone/>
            </a:pPr>
            <a:r>
              <a:rPr lang="en-US" sz="9000" b="1" dirty="0">
                <a:solidFill>
                  <a:srgbClr val="232220"/>
                </a:solidFill>
                <a:latin typeface="Poppins" pitchFamily="34" charset="0"/>
                <a:ea typeface="Poppins" pitchFamily="34" charset="-122"/>
                <a:cs typeface="Poppins" pitchFamily="34" charset="-120"/>
              </a:rPr>
              <a:t>{</a:t>
            </a:r>
            <a:endParaRPr lang="en-US" sz="9000" dirty="0"/>
          </a:p>
        </p:txBody>
      </p:sp>
      <p:sp>
        <p:nvSpPr>
          <p:cNvPr id="3" name="Text 1">
            <a:extLst>
              <a:ext uri="{FF2B5EF4-FFF2-40B4-BE49-F238E27FC236}">
                <a16:creationId xmlns:a16="http://schemas.microsoft.com/office/drawing/2014/main" id="{59CFC056-CFFD-1130-7D40-4A7941000C8B}"/>
              </a:ext>
            </a:extLst>
          </p:cNvPr>
          <p:cNvSpPr/>
          <p:nvPr/>
        </p:nvSpPr>
        <p:spPr>
          <a:xfrm>
            <a:off x="10424160" y="5120640"/>
            <a:ext cx="1371600" cy="1371600"/>
          </a:xfrm>
          <a:prstGeom prst="rect">
            <a:avLst/>
          </a:prstGeom>
          <a:noFill/>
          <a:ln/>
        </p:spPr>
        <p:txBody>
          <a:bodyPr wrap="square" rtlCol="0" anchor="ctr"/>
          <a:lstStyle/>
          <a:p>
            <a:pPr marL="0" indent="0" algn="r">
              <a:buNone/>
            </a:pPr>
            <a:r>
              <a:rPr lang="en-US" sz="9000" b="1" dirty="0">
                <a:solidFill>
                  <a:srgbClr val="232220"/>
                </a:solidFill>
                <a:latin typeface="Poppins" pitchFamily="34" charset="0"/>
                <a:ea typeface="Poppins" pitchFamily="34" charset="-122"/>
                <a:cs typeface="Poppins" pitchFamily="34" charset="-120"/>
              </a:rPr>
              <a:t>}</a:t>
            </a:r>
            <a:endParaRPr lang="en-US" sz="9000" dirty="0"/>
          </a:p>
        </p:txBody>
      </p:sp>
      <p:sp>
        <p:nvSpPr>
          <p:cNvPr id="5" name="Text 3">
            <a:extLst>
              <a:ext uri="{FF2B5EF4-FFF2-40B4-BE49-F238E27FC236}">
                <a16:creationId xmlns:a16="http://schemas.microsoft.com/office/drawing/2014/main" id="{8B70F1A1-74EB-8E54-890F-E61B3D9B21AA}"/>
              </a:ext>
            </a:extLst>
          </p:cNvPr>
          <p:cNvSpPr/>
          <p:nvPr/>
        </p:nvSpPr>
        <p:spPr>
          <a:xfrm>
            <a:off x="822960" y="2331720"/>
            <a:ext cx="10515600" cy="1188720"/>
          </a:xfrm>
          <a:prstGeom prst="rect">
            <a:avLst/>
          </a:prstGeom>
          <a:noFill/>
          <a:ln/>
        </p:spPr>
        <p:txBody>
          <a:bodyPr wrap="square" lIns="0" tIns="0" rIns="0" bIns="0" rtlCol="0" anchor="ctr"/>
          <a:lstStyle/>
          <a:p>
            <a:pPr marL="0" indent="0">
              <a:buNone/>
            </a:pPr>
            <a:r>
              <a:rPr lang="en-US" sz="4400" b="1" dirty="0">
                <a:solidFill>
                  <a:srgbClr val="FAF9F5"/>
                </a:solidFill>
                <a:latin typeface="Poppins" pitchFamily="34" charset="0"/>
                <a:cs typeface="Poppins" pitchFamily="34" charset="-120"/>
              </a:rPr>
              <a:t>/Commands</a:t>
            </a:r>
            <a:endParaRPr lang="en-US" sz="4400" dirty="0"/>
          </a:p>
        </p:txBody>
      </p:sp>
      <p:sp>
        <p:nvSpPr>
          <p:cNvPr id="10" name="Text 8">
            <a:extLst>
              <a:ext uri="{FF2B5EF4-FFF2-40B4-BE49-F238E27FC236}">
                <a16:creationId xmlns:a16="http://schemas.microsoft.com/office/drawing/2014/main" id="{8C51E7C0-8F7E-2921-563A-F799938CF075}"/>
              </a:ext>
            </a:extLst>
          </p:cNvPr>
          <p:cNvSpPr/>
          <p:nvPr/>
        </p:nvSpPr>
        <p:spPr>
          <a:xfrm>
            <a:off x="822960" y="6263640"/>
            <a:ext cx="7315200" cy="274320"/>
          </a:xfrm>
          <a:prstGeom prst="rect">
            <a:avLst/>
          </a:prstGeom>
          <a:noFill/>
          <a:ln/>
        </p:spPr>
        <p:txBody>
          <a:bodyPr wrap="square" rtlCol="0" anchor="ctr"/>
          <a:lstStyle/>
          <a:p>
            <a:pPr marL="0" indent="0">
              <a:buNone/>
            </a:pPr>
            <a:endParaRPr lang="en-US" sz="1100" dirty="0"/>
          </a:p>
        </p:txBody>
      </p:sp>
    </p:spTree>
    <p:extLst>
      <p:ext uri="{BB962C8B-B14F-4D97-AF65-F5344CB8AC3E}">
        <p14:creationId xmlns:p14="http://schemas.microsoft.com/office/powerpoint/2010/main" val="3144134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149E494-412E-3773-161E-A809C10DC57C}"/>
              </a:ext>
            </a:extLst>
          </p:cNvPr>
          <p:cNvSpPr/>
          <p:nvPr/>
        </p:nvSpPr>
        <p:spPr>
          <a:xfrm>
            <a:off x="457200" y="274320"/>
            <a:ext cx="11247120" cy="502920"/>
          </a:xfrm>
          <a:prstGeom prst="rect">
            <a:avLst/>
          </a:prstGeom>
          <a:noFill/>
          <a:ln/>
        </p:spPr>
        <p:txBody>
          <a:bodyPr wrap="square" lIns="0" tIns="0" rIns="0" bIns="0" rtlCol="0" anchor="ctr"/>
          <a:lstStyle/>
          <a:p>
            <a:pPr marL="0" indent="0">
              <a:buNone/>
            </a:pPr>
            <a:r>
              <a:rPr lang="en-US" sz="3200" b="1" dirty="0">
                <a:solidFill>
                  <a:srgbClr val="141414"/>
                </a:solidFill>
                <a:latin typeface="Cambria" pitchFamily="34" charset="0"/>
                <a:ea typeface="Cambria" pitchFamily="34" charset="-122"/>
                <a:cs typeface="Cambria" pitchFamily="34" charset="-120"/>
              </a:rPr>
              <a:t>Custom “/” Commands</a:t>
            </a:r>
            <a:endParaRPr lang="en-US" sz="3200" dirty="0"/>
          </a:p>
        </p:txBody>
      </p:sp>
      <p:sp>
        <p:nvSpPr>
          <p:cNvPr id="3" name="Text 1">
            <a:extLst>
              <a:ext uri="{FF2B5EF4-FFF2-40B4-BE49-F238E27FC236}">
                <a16:creationId xmlns:a16="http://schemas.microsoft.com/office/drawing/2014/main" id="{B9F55909-CD39-4FF8-1FCC-E243C0721473}"/>
              </a:ext>
            </a:extLst>
          </p:cNvPr>
          <p:cNvSpPr/>
          <p:nvPr/>
        </p:nvSpPr>
        <p:spPr>
          <a:xfrm>
            <a:off x="4870580" y="393705"/>
            <a:ext cx="6645145" cy="320040"/>
          </a:xfrm>
          <a:prstGeom prst="rect">
            <a:avLst/>
          </a:prstGeom>
          <a:noFill/>
          <a:ln/>
        </p:spPr>
        <p:txBody>
          <a:bodyPr wrap="square" lIns="0" tIns="0" rIns="0" bIns="0" rtlCol="0" anchor="ctr"/>
          <a:lstStyle/>
          <a:p>
            <a:pPr marL="0" indent="0">
              <a:buNone/>
            </a:pPr>
            <a:r>
              <a:rPr lang="en-US" sz="1400" dirty="0">
                <a:solidFill>
                  <a:srgbClr val="6B6B6B"/>
                </a:solidFill>
                <a:latin typeface="Calibri" pitchFamily="34" charset="0"/>
                <a:ea typeface="Calibri" pitchFamily="34" charset="-122"/>
                <a:cs typeface="Calibri" pitchFamily="34" charset="-120"/>
              </a:rPr>
              <a:t>Package repeatable prompts into reusable /commands</a:t>
            </a:r>
            <a:r>
              <a:rPr lang="ru-RU" sz="1400" dirty="0">
                <a:solidFill>
                  <a:srgbClr val="6B6B6B"/>
                </a:solidFill>
                <a:latin typeface="Calibri" pitchFamily="34" charset="0"/>
                <a:ea typeface="Calibri" pitchFamily="34" charset="-122"/>
                <a:cs typeface="Calibri" pitchFamily="34" charset="-120"/>
              </a:rPr>
              <a:t> – </a:t>
            </a:r>
            <a:r>
              <a:rPr lang="en-US" sz="1400" dirty="0">
                <a:solidFill>
                  <a:srgbClr val="6B6B6B"/>
                </a:solidFill>
                <a:latin typeface="Calibri" pitchFamily="34" charset="0"/>
                <a:ea typeface="Calibri" pitchFamily="34" charset="-122"/>
                <a:cs typeface="Calibri" pitchFamily="34" charset="-120"/>
              </a:rPr>
              <a:t>always </a:t>
            </a:r>
            <a:r>
              <a:rPr lang="en-US" sz="1400" b="1" dirty="0">
                <a:solidFill>
                  <a:srgbClr val="6B6B6B"/>
                </a:solidFill>
                <a:latin typeface="Calibri" pitchFamily="34" charset="0"/>
                <a:ea typeface="Calibri" pitchFamily="34" charset="-122"/>
                <a:cs typeface="Calibri" pitchFamily="34" charset="-120"/>
              </a:rPr>
              <a:t>MANUAL</a:t>
            </a:r>
            <a:r>
              <a:rPr lang="en-US" sz="1400" dirty="0">
                <a:solidFill>
                  <a:srgbClr val="6B6B6B"/>
                </a:solidFill>
                <a:latin typeface="Calibri" pitchFamily="34" charset="0"/>
                <a:ea typeface="Calibri" pitchFamily="34" charset="-122"/>
                <a:cs typeface="Calibri" pitchFamily="34" charset="-120"/>
              </a:rPr>
              <a:t> calls</a:t>
            </a:r>
            <a:endParaRPr lang="en-US" sz="1400" dirty="0"/>
          </a:p>
        </p:txBody>
      </p:sp>
      <p:sp>
        <p:nvSpPr>
          <p:cNvPr id="4" name="Shape 2">
            <a:extLst>
              <a:ext uri="{FF2B5EF4-FFF2-40B4-BE49-F238E27FC236}">
                <a16:creationId xmlns:a16="http://schemas.microsoft.com/office/drawing/2014/main" id="{94FDF4F7-AB8C-B4DE-2327-F8604F5DD9A5}"/>
              </a:ext>
            </a:extLst>
          </p:cNvPr>
          <p:cNvSpPr/>
          <p:nvPr/>
        </p:nvSpPr>
        <p:spPr>
          <a:xfrm>
            <a:off x="457200" y="794968"/>
            <a:ext cx="5394960" cy="3547872"/>
          </a:xfrm>
          <a:prstGeom prst="roundRect">
            <a:avLst>
              <a:gd name="adj" fmla="val 1290"/>
            </a:avLst>
          </a:prstGeom>
          <a:solidFill>
            <a:srgbClr val="FFFFFF"/>
          </a:solidFill>
          <a:ln w="12700">
            <a:solidFill>
              <a:srgbClr val="E3E0D8"/>
            </a:solidFill>
            <a:prstDash val="solid"/>
          </a:ln>
          <a:effectLst>
            <a:outerShdw blurRad="101600" dist="25400" dir="5400000" algn="bl" rotWithShape="0">
              <a:srgbClr val="000000">
                <a:alpha val="8000"/>
              </a:srgbClr>
            </a:outerShdw>
          </a:effectLst>
        </p:spPr>
        <p:txBody>
          <a:bodyPr/>
          <a:lstStyle/>
          <a:p>
            <a:endParaRPr lang="en-US"/>
          </a:p>
        </p:txBody>
      </p:sp>
      <p:sp>
        <p:nvSpPr>
          <p:cNvPr id="5" name="Text 3">
            <a:extLst>
              <a:ext uri="{FF2B5EF4-FFF2-40B4-BE49-F238E27FC236}">
                <a16:creationId xmlns:a16="http://schemas.microsoft.com/office/drawing/2014/main" id="{C396DC64-20F4-66B2-2FE2-018F897B9B80}"/>
              </a:ext>
            </a:extLst>
          </p:cNvPr>
          <p:cNvSpPr/>
          <p:nvPr/>
        </p:nvSpPr>
        <p:spPr>
          <a:xfrm>
            <a:off x="731520" y="1023568"/>
            <a:ext cx="4846320" cy="365760"/>
          </a:xfrm>
          <a:prstGeom prst="rect">
            <a:avLst/>
          </a:prstGeom>
          <a:noFill/>
          <a:ln/>
        </p:spPr>
        <p:txBody>
          <a:bodyPr wrap="square" lIns="0" tIns="0" rIns="0" bIns="0" rtlCol="0" anchor="ctr"/>
          <a:lstStyle/>
          <a:p>
            <a:pPr marL="0" indent="0">
              <a:buNone/>
            </a:pPr>
            <a:r>
              <a:rPr lang="en-US" sz="1800" b="1" dirty="0">
                <a:solidFill>
                  <a:srgbClr val="C9704F"/>
                </a:solidFill>
                <a:latin typeface="Calibri" pitchFamily="34" charset="0"/>
                <a:ea typeface="Calibri" pitchFamily="34" charset="-122"/>
                <a:cs typeface="Calibri" pitchFamily="34" charset="-120"/>
              </a:rPr>
              <a:t>Creating a command</a:t>
            </a:r>
            <a:endParaRPr lang="en-US" sz="1800" dirty="0"/>
          </a:p>
        </p:txBody>
      </p:sp>
      <p:sp>
        <p:nvSpPr>
          <p:cNvPr id="6" name="Text 4">
            <a:extLst>
              <a:ext uri="{FF2B5EF4-FFF2-40B4-BE49-F238E27FC236}">
                <a16:creationId xmlns:a16="http://schemas.microsoft.com/office/drawing/2014/main" id="{39440676-124B-FED5-9213-BE284108A03D}"/>
              </a:ext>
            </a:extLst>
          </p:cNvPr>
          <p:cNvSpPr/>
          <p:nvPr/>
        </p:nvSpPr>
        <p:spPr>
          <a:xfrm>
            <a:off x="731520" y="1480768"/>
            <a:ext cx="4846320" cy="320040"/>
          </a:xfrm>
          <a:prstGeom prst="rect">
            <a:avLst/>
          </a:prstGeom>
          <a:noFill/>
          <a:ln/>
        </p:spPr>
        <p:txBody>
          <a:bodyPr wrap="square" lIns="0" tIns="0" rIns="0" bIns="0" rtlCol="0" anchor="ctr"/>
          <a:lstStyle/>
          <a:p>
            <a:pPr marL="0" indent="0">
              <a:buNone/>
            </a:pPr>
            <a:r>
              <a:rPr lang="en-US" sz="1300" b="1" dirty="0">
                <a:solidFill>
                  <a:srgbClr val="2B2B2B"/>
                </a:solidFill>
                <a:latin typeface="Calibri" pitchFamily="34" charset="0"/>
                <a:ea typeface="Calibri" pitchFamily="34" charset="-122"/>
                <a:cs typeface="Calibri" pitchFamily="34" charset="-120"/>
              </a:rPr>
              <a:t>1.  </a:t>
            </a:r>
            <a:r>
              <a:rPr lang="en-US" sz="1300" dirty="0">
                <a:solidFill>
                  <a:srgbClr val="2B2B2B"/>
                </a:solidFill>
                <a:latin typeface="Calibri" pitchFamily="34" charset="0"/>
                <a:ea typeface="Calibri" pitchFamily="34" charset="-122"/>
                <a:cs typeface="Calibri" pitchFamily="34" charset="-120"/>
              </a:rPr>
              <a:t>Find the </a:t>
            </a:r>
            <a:r>
              <a:rPr lang="en-US" sz="1300" dirty="0">
                <a:solidFill>
                  <a:srgbClr val="C9704F"/>
                </a:solidFill>
                <a:latin typeface="Courier New" pitchFamily="34" charset="0"/>
                <a:ea typeface="Courier New" pitchFamily="34" charset="-122"/>
                <a:cs typeface="Courier New" pitchFamily="34" charset="-120"/>
              </a:rPr>
              <a:t>.claude</a:t>
            </a:r>
            <a:r>
              <a:rPr lang="en-US" sz="1300" dirty="0">
                <a:solidFill>
                  <a:srgbClr val="2B2B2B"/>
                </a:solidFill>
                <a:latin typeface="Calibri" pitchFamily="34" charset="0"/>
                <a:ea typeface="Calibri" pitchFamily="34" charset="-122"/>
                <a:cs typeface="Calibri" pitchFamily="34" charset="-120"/>
              </a:rPr>
              <a:t> folder in your project</a:t>
            </a:r>
            <a:endParaRPr lang="en-US" sz="1300" dirty="0"/>
          </a:p>
        </p:txBody>
      </p:sp>
      <p:sp>
        <p:nvSpPr>
          <p:cNvPr id="7" name="Text 5">
            <a:extLst>
              <a:ext uri="{FF2B5EF4-FFF2-40B4-BE49-F238E27FC236}">
                <a16:creationId xmlns:a16="http://schemas.microsoft.com/office/drawing/2014/main" id="{BA69A4A9-A631-45C4-6CCB-5F94744AEBE4}"/>
              </a:ext>
            </a:extLst>
          </p:cNvPr>
          <p:cNvSpPr/>
          <p:nvPr/>
        </p:nvSpPr>
        <p:spPr>
          <a:xfrm>
            <a:off x="731520" y="1819096"/>
            <a:ext cx="4846320" cy="320040"/>
          </a:xfrm>
          <a:prstGeom prst="rect">
            <a:avLst/>
          </a:prstGeom>
          <a:noFill/>
          <a:ln/>
        </p:spPr>
        <p:txBody>
          <a:bodyPr wrap="square" lIns="0" tIns="0" rIns="0" bIns="0" rtlCol="0" anchor="ctr"/>
          <a:lstStyle/>
          <a:p>
            <a:pPr marL="0" indent="0">
              <a:buNone/>
            </a:pPr>
            <a:r>
              <a:rPr lang="en-US" sz="1300" b="1" dirty="0">
                <a:solidFill>
                  <a:srgbClr val="2B2B2B"/>
                </a:solidFill>
                <a:latin typeface="Calibri" pitchFamily="34" charset="0"/>
                <a:ea typeface="Calibri" pitchFamily="34" charset="-122"/>
                <a:cs typeface="Calibri" pitchFamily="34" charset="-120"/>
              </a:rPr>
              <a:t>2.  </a:t>
            </a:r>
            <a:r>
              <a:rPr lang="en-US" sz="1300" dirty="0">
                <a:solidFill>
                  <a:srgbClr val="2B2B2B"/>
                </a:solidFill>
                <a:latin typeface="Calibri" pitchFamily="34" charset="0"/>
                <a:ea typeface="Calibri" pitchFamily="34" charset="-122"/>
                <a:cs typeface="Calibri" pitchFamily="34" charset="-120"/>
              </a:rPr>
              <a:t>Create a </a:t>
            </a:r>
            <a:r>
              <a:rPr lang="en-US" sz="1300" dirty="0">
                <a:solidFill>
                  <a:srgbClr val="C9704F"/>
                </a:solidFill>
                <a:latin typeface="Courier New" pitchFamily="34" charset="0"/>
                <a:ea typeface="Courier New" pitchFamily="34" charset="-122"/>
                <a:cs typeface="Courier New" pitchFamily="34" charset="-120"/>
              </a:rPr>
              <a:t>commands</a:t>
            </a:r>
            <a:r>
              <a:rPr lang="en-US" sz="1300" dirty="0">
                <a:solidFill>
                  <a:srgbClr val="2B2B2B"/>
                </a:solidFill>
                <a:latin typeface="Calibri" pitchFamily="34" charset="0"/>
                <a:ea typeface="Calibri" pitchFamily="34" charset="-122"/>
                <a:cs typeface="Calibri" pitchFamily="34" charset="-120"/>
              </a:rPr>
              <a:t> directory inside it</a:t>
            </a:r>
            <a:endParaRPr lang="en-US" sz="1300" dirty="0"/>
          </a:p>
        </p:txBody>
      </p:sp>
      <p:sp>
        <p:nvSpPr>
          <p:cNvPr id="8" name="Text 6">
            <a:extLst>
              <a:ext uri="{FF2B5EF4-FFF2-40B4-BE49-F238E27FC236}">
                <a16:creationId xmlns:a16="http://schemas.microsoft.com/office/drawing/2014/main" id="{BACD6485-744F-B51F-F7E9-410F1A9885A9}"/>
              </a:ext>
            </a:extLst>
          </p:cNvPr>
          <p:cNvSpPr/>
          <p:nvPr/>
        </p:nvSpPr>
        <p:spPr>
          <a:xfrm>
            <a:off x="731520" y="2157424"/>
            <a:ext cx="4846320" cy="320040"/>
          </a:xfrm>
          <a:prstGeom prst="rect">
            <a:avLst/>
          </a:prstGeom>
          <a:noFill/>
          <a:ln/>
        </p:spPr>
        <p:txBody>
          <a:bodyPr wrap="square" lIns="0" tIns="0" rIns="0" bIns="0" rtlCol="0" anchor="ctr"/>
          <a:lstStyle/>
          <a:p>
            <a:pPr marL="0" indent="0">
              <a:buNone/>
            </a:pPr>
            <a:r>
              <a:rPr lang="en-US" sz="1300" b="1" dirty="0">
                <a:solidFill>
                  <a:srgbClr val="2B2B2B"/>
                </a:solidFill>
                <a:latin typeface="Calibri" pitchFamily="34" charset="0"/>
                <a:ea typeface="Calibri" pitchFamily="34" charset="-122"/>
                <a:cs typeface="Calibri" pitchFamily="34" charset="-120"/>
              </a:rPr>
              <a:t>3.  </a:t>
            </a:r>
            <a:r>
              <a:rPr lang="en-US" sz="1300" dirty="0">
                <a:solidFill>
                  <a:srgbClr val="2B2B2B"/>
                </a:solidFill>
                <a:latin typeface="Calibri" pitchFamily="34" charset="0"/>
                <a:ea typeface="Calibri" pitchFamily="34" charset="-122"/>
                <a:cs typeface="Calibri" pitchFamily="34" charset="-120"/>
              </a:rPr>
              <a:t>Add a markdown file, e.g. </a:t>
            </a:r>
            <a:r>
              <a:rPr lang="en-US" sz="1300" dirty="0">
                <a:solidFill>
                  <a:srgbClr val="C9704F"/>
                </a:solidFill>
                <a:latin typeface="Courier New" pitchFamily="34" charset="0"/>
                <a:ea typeface="Courier New" pitchFamily="34" charset="-122"/>
                <a:cs typeface="Courier New" pitchFamily="34" charset="-120"/>
              </a:rPr>
              <a:t>audit.md</a:t>
            </a:r>
            <a:endParaRPr lang="en-US" sz="1300" dirty="0"/>
          </a:p>
        </p:txBody>
      </p:sp>
      <p:sp>
        <p:nvSpPr>
          <p:cNvPr id="9" name="Shape 8">
            <a:extLst>
              <a:ext uri="{FF2B5EF4-FFF2-40B4-BE49-F238E27FC236}">
                <a16:creationId xmlns:a16="http://schemas.microsoft.com/office/drawing/2014/main" id="{8CC4877C-2C62-7469-BC7E-2CC7373A4232}"/>
              </a:ext>
            </a:extLst>
          </p:cNvPr>
          <p:cNvSpPr/>
          <p:nvPr/>
        </p:nvSpPr>
        <p:spPr>
          <a:xfrm>
            <a:off x="731520" y="2633099"/>
            <a:ext cx="4846320" cy="0"/>
          </a:xfrm>
          <a:prstGeom prst="line">
            <a:avLst/>
          </a:prstGeom>
          <a:noFill/>
          <a:ln w="12700">
            <a:solidFill>
              <a:srgbClr val="E3E0D8"/>
            </a:solidFill>
            <a:prstDash val="solid"/>
          </a:ln>
        </p:spPr>
        <p:txBody>
          <a:bodyPr/>
          <a:lstStyle/>
          <a:p>
            <a:endParaRPr lang="en-US"/>
          </a:p>
        </p:txBody>
      </p:sp>
      <p:sp>
        <p:nvSpPr>
          <p:cNvPr id="10" name="Shape 10">
            <a:extLst>
              <a:ext uri="{FF2B5EF4-FFF2-40B4-BE49-F238E27FC236}">
                <a16:creationId xmlns:a16="http://schemas.microsoft.com/office/drawing/2014/main" id="{8BAD610C-6C5B-6604-26D8-84E86E16F399}"/>
              </a:ext>
            </a:extLst>
          </p:cNvPr>
          <p:cNvSpPr/>
          <p:nvPr/>
        </p:nvSpPr>
        <p:spPr>
          <a:xfrm>
            <a:off x="731520" y="2920948"/>
            <a:ext cx="4846320" cy="1234440"/>
          </a:xfrm>
          <a:prstGeom prst="rect">
            <a:avLst/>
          </a:prstGeom>
          <a:solidFill>
            <a:srgbClr val="F7F5F0"/>
          </a:solidFill>
          <a:ln w="9525">
            <a:solidFill>
              <a:srgbClr val="E3E0D8"/>
            </a:solidFill>
            <a:prstDash val="solid"/>
          </a:ln>
        </p:spPr>
        <p:txBody>
          <a:bodyPr/>
          <a:lstStyle/>
          <a:p>
            <a:endParaRPr lang="en-US"/>
          </a:p>
        </p:txBody>
      </p:sp>
      <p:sp>
        <p:nvSpPr>
          <p:cNvPr id="11" name="Text 11">
            <a:extLst>
              <a:ext uri="{FF2B5EF4-FFF2-40B4-BE49-F238E27FC236}">
                <a16:creationId xmlns:a16="http://schemas.microsoft.com/office/drawing/2014/main" id="{7A5A4FFE-B8A8-706D-76F1-274999B9844D}"/>
              </a:ext>
            </a:extLst>
          </p:cNvPr>
          <p:cNvSpPr/>
          <p:nvPr/>
        </p:nvSpPr>
        <p:spPr>
          <a:xfrm>
            <a:off x="868680" y="3012388"/>
            <a:ext cx="4572000" cy="274320"/>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Example: /audit</a:t>
            </a:r>
            <a:endParaRPr lang="en-US" sz="1300" dirty="0"/>
          </a:p>
        </p:txBody>
      </p:sp>
      <p:sp>
        <p:nvSpPr>
          <p:cNvPr id="12" name="Text 12">
            <a:extLst>
              <a:ext uri="{FF2B5EF4-FFF2-40B4-BE49-F238E27FC236}">
                <a16:creationId xmlns:a16="http://schemas.microsoft.com/office/drawing/2014/main" id="{81860996-967C-8BD8-D42C-9C657BC03360}"/>
              </a:ext>
            </a:extLst>
          </p:cNvPr>
          <p:cNvSpPr/>
          <p:nvPr/>
        </p:nvSpPr>
        <p:spPr>
          <a:xfrm>
            <a:off x="868680" y="3332428"/>
            <a:ext cx="4572000" cy="274320"/>
          </a:xfrm>
          <a:prstGeom prst="rect">
            <a:avLst/>
          </a:prstGeom>
          <a:noFill/>
          <a:ln/>
        </p:spPr>
        <p:txBody>
          <a:bodyPr wrap="square" lIns="0" tIns="0" rIns="0" bIns="0" rtlCol="0" anchor="ctr"/>
          <a:lstStyle/>
          <a:p>
            <a:pPr marL="0" indent="0">
              <a:buNone/>
            </a:pPr>
            <a:r>
              <a:rPr lang="en-US" sz="1150" dirty="0">
                <a:solidFill>
                  <a:srgbClr val="2B2B2B"/>
                </a:solidFill>
                <a:latin typeface="Calibri" pitchFamily="34" charset="0"/>
                <a:ea typeface="Calibri" pitchFamily="34" charset="-122"/>
                <a:cs typeface="Calibri" pitchFamily="34" charset="-120"/>
              </a:rPr>
              <a:t>1. Run </a:t>
            </a:r>
            <a:r>
              <a:rPr lang="en-US" sz="1150" dirty="0">
                <a:solidFill>
                  <a:srgbClr val="2B2B2B"/>
                </a:solidFill>
                <a:latin typeface="Courier New" pitchFamily="34" charset="0"/>
                <a:ea typeface="Courier New" pitchFamily="34" charset="-122"/>
                <a:cs typeface="Courier New" pitchFamily="34" charset="-120"/>
              </a:rPr>
              <a:t>npm audit</a:t>
            </a:r>
            <a:r>
              <a:rPr lang="en-US" sz="1150" dirty="0">
                <a:solidFill>
                  <a:srgbClr val="2B2B2B"/>
                </a:solidFill>
                <a:latin typeface="Calibri" pitchFamily="34" charset="0"/>
                <a:ea typeface="Calibri" pitchFamily="34" charset="-122"/>
                <a:cs typeface="Calibri" pitchFamily="34" charset="-120"/>
              </a:rPr>
              <a:t> to find vulnerabilities</a:t>
            </a:r>
            <a:endParaRPr lang="en-US" sz="1150" dirty="0"/>
          </a:p>
        </p:txBody>
      </p:sp>
      <p:sp>
        <p:nvSpPr>
          <p:cNvPr id="13" name="Text 13">
            <a:extLst>
              <a:ext uri="{FF2B5EF4-FFF2-40B4-BE49-F238E27FC236}">
                <a16:creationId xmlns:a16="http://schemas.microsoft.com/office/drawing/2014/main" id="{E2734842-1578-D4DC-06F1-250B0486BEC6}"/>
              </a:ext>
            </a:extLst>
          </p:cNvPr>
          <p:cNvSpPr/>
          <p:nvPr/>
        </p:nvSpPr>
        <p:spPr>
          <a:xfrm>
            <a:off x="868680" y="3606748"/>
            <a:ext cx="4572000" cy="274320"/>
          </a:xfrm>
          <a:prstGeom prst="rect">
            <a:avLst/>
          </a:prstGeom>
          <a:noFill/>
          <a:ln/>
        </p:spPr>
        <p:txBody>
          <a:bodyPr wrap="square" lIns="0" tIns="0" rIns="0" bIns="0" rtlCol="0" anchor="ctr"/>
          <a:lstStyle/>
          <a:p>
            <a:pPr marL="0" indent="0">
              <a:buNone/>
            </a:pPr>
            <a:r>
              <a:rPr lang="en-US" sz="1150" dirty="0">
                <a:solidFill>
                  <a:srgbClr val="2B2B2B"/>
                </a:solidFill>
                <a:latin typeface="Calibri" pitchFamily="34" charset="0"/>
                <a:ea typeface="Calibri" pitchFamily="34" charset="-122"/>
                <a:cs typeface="Calibri" pitchFamily="34" charset="-120"/>
              </a:rPr>
              <a:t>2. Run </a:t>
            </a:r>
            <a:r>
              <a:rPr lang="en-US" sz="1150" dirty="0">
                <a:solidFill>
                  <a:srgbClr val="2B2B2B"/>
                </a:solidFill>
                <a:latin typeface="Courier New" pitchFamily="34" charset="0"/>
                <a:ea typeface="Courier New" pitchFamily="34" charset="-122"/>
                <a:cs typeface="Courier New" pitchFamily="34" charset="-120"/>
              </a:rPr>
              <a:t>npm audit fix</a:t>
            </a:r>
            <a:r>
              <a:rPr lang="en-US" sz="1150" dirty="0">
                <a:solidFill>
                  <a:srgbClr val="2B2B2B"/>
                </a:solidFill>
                <a:latin typeface="Calibri" pitchFamily="34" charset="0"/>
                <a:ea typeface="Calibri" pitchFamily="34" charset="-122"/>
                <a:cs typeface="Calibri" pitchFamily="34" charset="-120"/>
              </a:rPr>
              <a:t> to apply updates</a:t>
            </a:r>
            <a:endParaRPr lang="en-US" sz="1150" dirty="0"/>
          </a:p>
        </p:txBody>
      </p:sp>
      <p:sp>
        <p:nvSpPr>
          <p:cNvPr id="14" name="Text 14">
            <a:extLst>
              <a:ext uri="{FF2B5EF4-FFF2-40B4-BE49-F238E27FC236}">
                <a16:creationId xmlns:a16="http://schemas.microsoft.com/office/drawing/2014/main" id="{0526C404-A47B-E743-E0A3-EFD1CD72AAAD}"/>
              </a:ext>
            </a:extLst>
          </p:cNvPr>
          <p:cNvSpPr/>
          <p:nvPr/>
        </p:nvSpPr>
        <p:spPr>
          <a:xfrm>
            <a:off x="868680" y="3881068"/>
            <a:ext cx="4572000" cy="274320"/>
          </a:xfrm>
          <a:prstGeom prst="rect">
            <a:avLst/>
          </a:prstGeom>
          <a:noFill/>
          <a:ln/>
        </p:spPr>
        <p:txBody>
          <a:bodyPr wrap="square" lIns="0" tIns="0" rIns="0" bIns="0" rtlCol="0" anchor="ctr"/>
          <a:lstStyle/>
          <a:p>
            <a:pPr marL="0" indent="0">
              <a:buNone/>
            </a:pPr>
            <a:r>
              <a:rPr lang="en-US" sz="1150" dirty="0">
                <a:solidFill>
                  <a:srgbClr val="2B2B2B"/>
                </a:solidFill>
                <a:latin typeface="Calibri" pitchFamily="34" charset="0"/>
                <a:ea typeface="Calibri" pitchFamily="34" charset="-122"/>
                <a:cs typeface="Calibri" pitchFamily="34" charset="-120"/>
              </a:rPr>
              <a:t>3. Run tests to verify nothing broke</a:t>
            </a:r>
            <a:endParaRPr lang="en-US" sz="1150" dirty="0"/>
          </a:p>
        </p:txBody>
      </p:sp>
      <p:sp>
        <p:nvSpPr>
          <p:cNvPr id="15" name="Shape 15">
            <a:extLst>
              <a:ext uri="{FF2B5EF4-FFF2-40B4-BE49-F238E27FC236}">
                <a16:creationId xmlns:a16="http://schemas.microsoft.com/office/drawing/2014/main" id="{5981ECAA-D4F9-F622-C06E-6FB783506F13}"/>
              </a:ext>
            </a:extLst>
          </p:cNvPr>
          <p:cNvSpPr/>
          <p:nvPr/>
        </p:nvSpPr>
        <p:spPr>
          <a:xfrm>
            <a:off x="6080760" y="794967"/>
            <a:ext cx="5623560" cy="4055553"/>
          </a:xfrm>
          <a:prstGeom prst="roundRect">
            <a:avLst>
              <a:gd name="adj" fmla="val 1905"/>
            </a:avLst>
          </a:prstGeom>
          <a:solidFill>
            <a:srgbClr val="FFFFFF"/>
          </a:solidFill>
          <a:ln w="12700">
            <a:solidFill>
              <a:srgbClr val="E3E0D8"/>
            </a:solidFill>
            <a:prstDash val="solid"/>
          </a:ln>
          <a:effectLst>
            <a:outerShdw blurRad="101600" dist="25400" dir="5400000" algn="bl" rotWithShape="0">
              <a:srgbClr val="000000">
                <a:alpha val="8000"/>
              </a:srgbClr>
            </a:outerShdw>
          </a:effectLst>
        </p:spPr>
        <p:txBody>
          <a:bodyPr/>
          <a:lstStyle/>
          <a:p>
            <a:endParaRPr lang="en-US"/>
          </a:p>
        </p:txBody>
      </p:sp>
      <p:sp>
        <p:nvSpPr>
          <p:cNvPr id="16" name="Text 16">
            <a:extLst>
              <a:ext uri="{FF2B5EF4-FFF2-40B4-BE49-F238E27FC236}">
                <a16:creationId xmlns:a16="http://schemas.microsoft.com/office/drawing/2014/main" id="{12E9DD65-8644-0994-A97B-D7D6D3D93424}"/>
              </a:ext>
            </a:extLst>
          </p:cNvPr>
          <p:cNvSpPr/>
          <p:nvPr/>
        </p:nvSpPr>
        <p:spPr>
          <a:xfrm>
            <a:off x="6355080" y="1023568"/>
            <a:ext cx="5074920" cy="365760"/>
          </a:xfrm>
          <a:prstGeom prst="rect">
            <a:avLst/>
          </a:prstGeom>
          <a:noFill/>
          <a:ln/>
        </p:spPr>
        <p:txBody>
          <a:bodyPr wrap="square" lIns="0" tIns="0" rIns="0" bIns="0" rtlCol="0" anchor="ctr"/>
          <a:lstStyle/>
          <a:p>
            <a:pPr marL="0" indent="0">
              <a:buNone/>
            </a:pPr>
            <a:r>
              <a:rPr lang="en-US" sz="1800" b="1" dirty="0">
                <a:solidFill>
                  <a:srgbClr val="141414"/>
                </a:solidFill>
                <a:latin typeface="Calibri" pitchFamily="34" charset="0"/>
                <a:ea typeface="Calibri" pitchFamily="34" charset="-122"/>
                <a:cs typeface="Calibri" pitchFamily="34" charset="-120"/>
              </a:rPr>
              <a:t>Adding arguments with </a:t>
            </a:r>
            <a:r>
              <a:rPr lang="en-US" sz="1800" b="1" dirty="0">
                <a:solidFill>
                  <a:srgbClr val="C9704F"/>
                </a:solidFill>
                <a:latin typeface="Courier New" pitchFamily="34" charset="0"/>
                <a:ea typeface="Courier New" pitchFamily="34" charset="-122"/>
                <a:cs typeface="Courier New" pitchFamily="34" charset="-120"/>
              </a:rPr>
              <a:t>$ARGUMENTS</a:t>
            </a:r>
            <a:endParaRPr lang="en-US" sz="1800" dirty="0"/>
          </a:p>
        </p:txBody>
      </p:sp>
      <p:sp>
        <p:nvSpPr>
          <p:cNvPr id="17" name="Shape 17">
            <a:extLst>
              <a:ext uri="{FF2B5EF4-FFF2-40B4-BE49-F238E27FC236}">
                <a16:creationId xmlns:a16="http://schemas.microsoft.com/office/drawing/2014/main" id="{8C75452E-F0D7-BE2E-3A54-2A6A6A9054D6}"/>
              </a:ext>
            </a:extLst>
          </p:cNvPr>
          <p:cNvSpPr/>
          <p:nvPr/>
        </p:nvSpPr>
        <p:spPr>
          <a:xfrm>
            <a:off x="6355080" y="1480768"/>
            <a:ext cx="5074920" cy="1371600"/>
          </a:xfrm>
          <a:prstGeom prst="rect">
            <a:avLst/>
          </a:prstGeom>
          <a:solidFill>
            <a:srgbClr val="1E1E1E"/>
          </a:solidFill>
          <a:ln w="12700">
            <a:solidFill>
              <a:srgbClr val="1E1E1E"/>
            </a:solidFill>
            <a:prstDash val="solid"/>
          </a:ln>
        </p:spPr>
        <p:txBody>
          <a:bodyPr/>
          <a:lstStyle/>
          <a:p>
            <a:endParaRPr lang="en-US"/>
          </a:p>
        </p:txBody>
      </p:sp>
      <p:sp>
        <p:nvSpPr>
          <p:cNvPr id="18" name="Text 18">
            <a:extLst>
              <a:ext uri="{FF2B5EF4-FFF2-40B4-BE49-F238E27FC236}">
                <a16:creationId xmlns:a16="http://schemas.microsoft.com/office/drawing/2014/main" id="{719A706D-2561-F4D3-31FE-3B7BDE68E2F4}"/>
              </a:ext>
            </a:extLst>
          </p:cNvPr>
          <p:cNvSpPr/>
          <p:nvPr/>
        </p:nvSpPr>
        <p:spPr>
          <a:xfrm>
            <a:off x="6537960" y="1590496"/>
            <a:ext cx="4709160" cy="1188720"/>
          </a:xfrm>
          <a:prstGeom prst="rect">
            <a:avLst/>
          </a:prstGeom>
          <a:noFill/>
          <a:ln/>
        </p:spPr>
        <p:txBody>
          <a:bodyPr wrap="square" lIns="0" tIns="0" rIns="0" bIns="0" rtlCol="0" anchor="t"/>
          <a:lstStyle/>
          <a:p>
            <a:pPr marL="0" indent="0">
              <a:lnSpc>
                <a:spcPts val="1500"/>
              </a:lnSpc>
              <a:buNone/>
            </a:pPr>
            <a:r>
              <a:rPr lang="en-US" sz="1100" dirty="0">
                <a:solidFill>
                  <a:srgbClr val="D4D4D4"/>
                </a:solidFill>
                <a:latin typeface="Courier New" pitchFamily="34" charset="0"/>
                <a:ea typeface="Courier New" pitchFamily="34" charset="-122"/>
                <a:cs typeface="Courier New" pitchFamily="34" charset="-120"/>
              </a:rPr>
              <a:t>Write comprehensive tests for: </a:t>
            </a:r>
            <a:r>
              <a:rPr lang="en-US" sz="1100" b="1" dirty="0">
                <a:solidFill>
                  <a:srgbClr val="CE9178"/>
                </a:solidFill>
                <a:latin typeface="Courier New" pitchFamily="34" charset="0"/>
                <a:ea typeface="Courier New" pitchFamily="34" charset="-122"/>
                <a:cs typeface="Courier New" pitchFamily="34" charset="-120"/>
              </a:rPr>
              <a:t>$ARGUMENTS</a:t>
            </a:r>
            <a:r>
              <a:rPr lang="en-US" sz="1100" dirty="0">
                <a:solidFill>
                  <a:srgbClr val="000000"/>
                </a:solidFill>
                <a:latin typeface="Courier New" pitchFamily="34" charset="0"/>
                <a:ea typeface="Courier New" pitchFamily="34" charset="-122"/>
                <a:cs typeface="Courier New" pitchFamily="34" charset="-120"/>
              </a:rPr>
              <a:t>
</a:t>
            </a:r>
            <a:r>
              <a:rPr lang="en-US" sz="1100" dirty="0">
                <a:solidFill>
                  <a:srgbClr val="D4D4D4"/>
                </a:solidFill>
                <a:latin typeface="Courier New" pitchFamily="34" charset="0"/>
                <a:ea typeface="Courier New" pitchFamily="34" charset="-122"/>
                <a:cs typeface="Courier New" pitchFamily="34" charset="-120"/>
              </a:rPr>
              <a:t>Testing conventions:
</a:t>
            </a:r>
            <a:r>
              <a:rPr lang="en-US" sz="1100" dirty="0">
                <a:solidFill>
                  <a:srgbClr val="6A9955"/>
                </a:solidFill>
                <a:latin typeface="Courier New" pitchFamily="34" charset="0"/>
                <a:ea typeface="Courier New" pitchFamily="34" charset="-122"/>
                <a:cs typeface="Courier New" pitchFamily="34" charset="-120"/>
              </a:rPr>
              <a:t>• Use Vitest with React Testing Library
• Place tests in __tests__ next to the source file</a:t>
            </a:r>
            <a:endParaRPr lang="en-US" sz="1100" dirty="0"/>
          </a:p>
        </p:txBody>
      </p:sp>
      <p:sp>
        <p:nvSpPr>
          <p:cNvPr id="19" name="Text 19">
            <a:extLst>
              <a:ext uri="{FF2B5EF4-FFF2-40B4-BE49-F238E27FC236}">
                <a16:creationId xmlns:a16="http://schemas.microsoft.com/office/drawing/2014/main" id="{7A85EFDC-767B-B6B4-8999-3DAABAC43842}"/>
              </a:ext>
            </a:extLst>
          </p:cNvPr>
          <p:cNvSpPr/>
          <p:nvPr/>
        </p:nvSpPr>
        <p:spPr>
          <a:xfrm>
            <a:off x="6355080" y="2933542"/>
            <a:ext cx="5074920" cy="548640"/>
          </a:xfrm>
          <a:prstGeom prst="rect">
            <a:avLst/>
          </a:prstGeom>
          <a:noFill/>
          <a:ln/>
        </p:spPr>
        <p:txBody>
          <a:bodyPr wrap="square" lIns="0" tIns="0" rIns="0" bIns="0" rtlCol="0" anchor="ctr"/>
          <a:lstStyle/>
          <a:p>
            <a:pPr marL="0" indent="0">
              <a:buNone/>
            </a:pPr>
            <a:r>
              <a:rPr lang="en-US" sz="1150" i="1" dirty="0">
                <a:solidFill>
                  <a:srgbClr val="6B6B6B"/>
                </a:solidFill>
                <a:latin typeface="Calibri" pitchFamily="34" charset="0"/>
                <a:ea typeface="Calibri" pitchFamily="34" charset="-122"/>
                <a:cs typeface="Calibri" pitchFamily="34" charset="-120"/>
              </a:rPr>
              <a:t>Run it:  </a:t>
            </a:r>
            <a:r>
              <a:rPr lang="en-US" sz="1150" b="1" dirty="0">
                <a:solidFill>
                  <a:srgbClr val="C9704F"/>
                </a:solidFill>
                <a:latin typeface="Courier New" pitchFamily="34" charset="0"/>
                <a:ea typeface="Courier New" pitchFamily="34" charset="-122"/>
                <a:cs typeface="Courier New" pitchFamily="34" charset="-120"/>
              </a:rPr>
              <a:t>/write_tests the use-auth.ts file in the hooks directory</a:t>
            </a:r>
            <a:endParaRPr lang="en-US" sz="1150" dirty="0"/>
          </a:p>
        </p:txBody>
      </p:sp>
      <p:sp>
        <p:nvSpPr>
          <p:cNvPr id="20" name="Text 20">
            <a:extLst>
              <a:ext uri="{FF2B5EF4-FFF2-40B4-BE49-F238E27FC236}">
                <a16:creationId xmlns:a16="http://schemas.microsoft.com/office/drawing/2014/main" id="{7C30AB7E-416D-888C-28B0-BB058BF8A18B}"/>
              </a:ext>
            </a:extLst>
          </p:cNvPr>
          <p:cNvSpPr/>
          <p:nvPr/>
        </p:nvSpPr>
        <p:spPr>
          <a:xfrm>
            <a:off x="6355080" y="4484760"/>
            <a:ext cx="5074920" cy="365760"/>
          </a:xfrm>
          <a:prstGeom prst="rect">
            <a:avLst/>
          </a:prstGeom>
          <a:noFill/>
          <a:ln/>
        </p:spPr>
        <p:txBody>
          <a:bodyPr wrap="square" lIns="0" tIns="0" rIns="0" bIns="0" rtlCol="0" anchor="ctr"/>
          <a:lstStyle/>
          <a:p>
            <a:pPr marL="0" indent="0">
              <a:buNone/>
            </a:pPr>
            <a:r>
              <a:rPr lang="en-US" sz="1100" i="1" dirty="0">
                <a:solidFill>
                  <a:srgbClr val="6B6B6B"/>
                </a:solidFill>
                <a:latin typeface="Calibri" pitchFamily="34" charset="0"/>
                <a:ea typeface="Calibri" pitchFamily="34" charset="-122"/>
                <a:cs typeface="Calibri" pitchFamily="34" charset="-120"/>
              </a:rPr>
              <a:t>Arguments don't have to be file paths — any string works as context for the task.</a:t>
            </a:r>
            <a:endParaRPr lang="en-US" sz="1100" dirty="0"/>
          </a:p>
        </p:txBody>
      </p:sp>
      <p:sp>
        <p:nvSpPr>
          <p:cNvPr id="21" name="Shape 21">
            <a:extLst>
              <a:ext uri="{FF2B5EF4-FFF2-40B4-BE49-F238E27FC236}">
                <a16:creationId xmlns:a16="http://schemas.microsoft.com/office/drawing/2014/main" id="{074B0C92-C0ED-BACA-D190-4547114C18B3}"/>
              </a:ext>
            </a:extLst>
          </p:cNvPr>
          <p:cNvSpPr/>
          <p:nvPr/>
        </p:nvSpPr>
        <p:spPr>
          <a:xfrm>
            <a:off x="6080760" y="5101927"/>
            <a:ext cx="5638800" cy="1089257"/>
          </a:xfrm>
          <a:prstGeom prst="roundRect">
            <a:avLst>
              <a:gd name="adj" fmla="val 4138"/>
            </a:avLst>
          </a:prstGeom>
          <a:solidFill>
            <a:srgbClr val="141414"/>
          </a:solidFill>
          <a:ln w="12700">
            <a:solidFill>
              <a:srgbClr val="141414"/>
            </a:solidFill>
            <a:prstDash val="solid"/>
          </a:ln>
        </p:spPr>
        <p:txBody>
          <a:bodyPr/>
          <a:lstStyle/>
          <a:p>
            <a:endParaRPr lang="en-US"/>
          </a:p>
        </p:txBody>
      </p:sp>
      <p:sp>
        <p:nvSpPr>
          <p:cNvPr id="22" name="Text 22">
            <a:extLst>
              <a:ext uri="{FF2B5EF4-FFF2-40B4-BE49-F238E27FC236}">
                <a16:creationId xmlns:a16="http://schemas.microsoft.com/office/drawing/2014/main" id="{8616A3B3-1D79-6E23-FC5D-7FFDE07ABED9}"/>
              </a:ext>
            </a:extLst>
          </p:cNvPr>
          <p:cNvSpPr/>
          <p:nvPr/>
        </p:nvSpPr>
        <p:spPr>
          <a:xfrm>
            <a:off x="6355080" y="5087013"/>
            <a:ext cx="5074920" cy="262924"/>
          </a:xfrm>
          <a:prstGeom prst="rect">
            <a:avLst/>
          </a:prstGeom>
          <a:noFill/>
          <a:ln/>
        </p:spPr>
        <p:txBody>
          <a:bodyPr wrap="square" lIns="0" tIns="0" rIns="0" bIns="0" rtlCol="0" anchor="ctr"/>
          <a:lstStyle/>
          <a:p>
            <a:pPr marL="0" indent="0">
              <a:buNone/>
            </a:pPr>
            <a:r>
              <a:rPr lang="en-US" sz="1400" b="1" dirty="0">
                <a:solidFill>
                  <a:srgbClr val="C9704F"/>
                </a:solidFill>
                <a:latin typeface="Calibri" pitchFamily="34" charset="0"/>
                <a:ea typeface="Calibri" pitchFamily="34" charset="-122"/>
                <a:cs typeface="Calibri" pitchFamily="34" charset="-120"/>
              </a:rPr>
              <a:t>Key benefits</a:t>
            </a:r>
            <a:endParaRPr lang="en-US" sz="1400" dirty="0"/>
          </a:p>
        </p:txBody>
      </p:sp>
      <p:sp>
        <p:nvSpPr>
          <p:cNvPr id="23" name="Text 23">
            <a:extLst>
              <a:ext uri="{FF2B5EF4-FFF2-40B4-BE49-F238E27FC236}">
                <a16:creationId xmlns:a16="http://schemas.microsoft.com/office/drawing/2014/main" id="{62AC9DEB-B33C-73D8-E548-B5B15B1D3759}"/>
              </a:ext>
            </a:extLst>
          </p:cNvPr>
          <p:cNvSpPr/>
          <p:nvPr/>
        </p:nvSpPr>
        <p:spPr>
          <a:xfrm>
            <a:off x="6355080" y="5460931"/>
            <a:ext cx="2400300" cy="300485"/>
          </a:xfrm>
          <a:prstGeom prst="rect">
            <a:avLst/>
          </a:prstGeom>
          <a:noFill/>
          <a:ln/>
        </p:spPr>
        <p:txBody>
          <a:bodyPr wrap="square" lIns="0" tIns="0" rIns="0" bIns="0" rtlCol="0" anchor="t"/>
          <a:lstStyle/>
          <a:p>
            <a:pPr marL="0" indent="0">
              <a:buNone/>
            </a:pPr>
            <a:r>
              <a:rPr lang="en-US" sz="1050" b="1" dirty="0">
                <a:solidFill>
                  <a:srgbClr val="FFFFFF"/>
                </a:solidFill>
                <a:latin typeface="Calibri" pitchFamily="34" charset="0"/>
                <a:ea typeface="Calibri" pitchFamily="34" charset="-122"/>
                <a:cs typeface="Calibri" pitchFamily="34" charset="-120"/>
              </a:rPr>
              <a:t>Automation — </a:t>
            </a:r>
            <a:r>
              <a:rPr lang="en-US" sz="1050" dirty="0">
                <a:solidFill>
                  <a:srgbClr val="CFCFCF"/>
                </a:solidFill>
                <a:latin typeface="Calibri" pitchFamily="34" charset="0"/>
                <a:ea typeface="Calibri" pitchFamily="34" charset="-122"/>
                <a:cs typeface="Calibri" pitchFamily="34" charset="-120"/>
              </a:rPr>
              <a:t>turn repetitive workflows into one command</a:t>
            </a:r>
            <a:endParaRPr lang="en-US" sz="1050" dirty="0"/>
          </a:p>
        </p:txBody>
      </p:sp>
      <p:sp>
        <p:nvSpPr>
          <p:cNvPr id="24" name="Text 24">
            <a:extLst>
              <a:ext uri="{FF2B5EF4-FFF2-40B4-BE49-F238E27FC236}">
                <a16:creationId xmlns:a16="http://schemas.microsoft.com/office/drawing/2014/main" id="{A45211B2-B4A2-0A6D-061B-3929CF018980}"/>
              </a:ext>
            </a:extLst>
          </p:cNvPr>
          <p:cNvSpPr/>
          <p:nvPr/>
        </p:nvSpPr>
        <p:spPr>
          <a:xfrm>
            <a:off x="8892540" y="5460931"/>
            <a:ext cx="2400300" cy="300485"/>
          </a:xfrm>
          <a:prstGeom prst="rect">
            <a:avLst/>
          </a:prstGeom>
          <a:noFill/>
          <a:ln/>
        </p:spPr>
        <p:txBody>
          <a:bodyPr wrap="square" lIns="0" tIns="0" rIns="0" bIns="0" rtlCol="0" anchor="t"/>
          <a:lstStyle/>
          <a:p>
            <a:pPr marL="0" indent="0">
              <a:buNone/>
            </a:pPr>
            <a:r>
              <a:rPr lang="en-US" sz="1050" b="1" dirty="0">
                <a:solidFill>
                  <a:srgbClr val="FFFFFF"/>
                </a:solidFill>
                <a:latin typeface="Calibri" pitchFamily="34" charset="0"/>
                <a:ea typeface="Calibri" pitchFamily="34" charset="-122"/>
                <a:cs typeface="Calibri" pitchFamily="34" charset="-120"/>
              </a:rPr>
              <a:t>Consistency — </a:t>
            </a:r>
            <a:r>
              <a:rPr lang="en-US" sz="1050" dirty="0">
                <a:solidFill>
                  <a:srgbClr val="CFCFCF"/>
                </a:solidFill>
                <a:latin typeface="Calibri" pitchFamily="34" charset="0"/>
                <a:ea typeface="Calibri" pitchFamily="34" charset="-122"/>
                <a:cs typeface="Calibri" pitchFamily="34" charset="-120"/>
              </a:rPr>
              <a:t>same steps followed every time</a:t>
            </a:r>
            <a:endParaRPr lang="en-US" sz="1050" dirty="0"/>
          </a:p>
        </p:txBody>
      </p:sp>
      <p:sp>
        <p:nvSpPr>
          <p:cNvPr id="25" name="Text 25">
            <a:extLst>
              <a:ext uri="{FF2B5EF4-FFF2-40B4-BE49-F238E27FC236}">
                <a16:creationId xmlns:a16="http://schemas.microsoft.com/office/drawing/2014/main" id="{03DF8199-5D60-DD65-06CB-A5980C77C732}"/>
              </a:ext>
            </a:extLst>
          </p:cNvPr>
          <p:cNvSpPr/>
          <p:nvPr/>
        </p:nvSpPr>
        <p:spPr>
          <a:xfrm>
            <a:off x="6355080" y="5844979"/>
            <a:ext cx="2400300" cy="300485"/>
          </a:xfrm>
          <a:prstGeom prst="rect">
            <a:avLst/>
          </a:prstGeom>
          <a:noFill/>
          <a:ln/>
        </p:spPr>
        <p:txBody>
          <a:bodyPr wrap="square" lIns="0" tIns="0" rIns="0" bIns="0" rtlCol="0" anchor="t"/>
          <a:lstStyle/>
          <a:p>
            <a:pPr marL="0" indent="0">
              <a:buNone/>
            </a:pPr>
            <a:r>
              <a:rPr lang="en-US" sz="1050" b="1" dirty="0">
                <a:solidFill>
                  <a:srgbClr val="FFFFFF"/>
                </a:solidFill>
                <a:latin typeface="Calibri" pitchFamily="34" charset="0"/>
                <a:ea typeface="Calibri" pitchFamily="34" charset="-122"/>
                <a:cs typeface="Calibri" pitchFamily="34" charset="-120"/>
              </a:rPr>
              <a:t>Context — </a:t>
            </a:r>
            <a:r>
              <a:rPr lang="en-US" sz="1050" dirty="0">
                <a:solidFill>
                  <a:srgbClr val="CFCFCF"/>
                </a:solidFill>
                <a:latin typeface="Calibri" pitchFamily="34" charset="0"/>
                <a:ea typeface="Calibri" pitchFamily="34" charset="-122"/>
                <a:cs typeface="Calibri" pitchFamily="34" charset="-120"/>
              </a:rPr>
              <a:t>bakes in project-specific instructions</a:t>
            </a:r>
            <a:endParaRPr lang="en-US" sz="1050" dirty="0"/>
          </a:p>
        </p:txBody>
      </p:sp>
      <p:sp>
        <p:nvSpPr>
          <p:cNvPr id="26" name="Text 26">
            <a:extLst>
              <a:ext uri="{FF2B5EF4-FFF2-40B4-BE49-F238E27FC236}">
                <a16:creationId xmlns:a16="http://schemas.microsoft.com/office/drawing/2014/main" id="{922785F0-F9F2-CE8C-65B2-858E5FC4CC42}"/>
              </a:ext>
            </a:extLst>
          </p:cNvPr>
          <p:cNvSpPr/>
          <p:nvPr/>
        </p:nvSpPr>
        <p:spPr>
          <a:xfrm>
            <a:off x="8892540" y="5844979"/>
            <a:ext cx="2400300" cy="300485"/>
          </a:xfrm>
          <a:prstGeom prst="rect">
            <a:avLst/>
          </a:prstGeom>
          <a:noFill/>
          <a:ln/>
        </p:spPr>
        <p:txBody>
          <a:bodyPr wrap="square" lIns="0" tIns="0" rIns="0" bIns="0" rtlCol="0" anchor="t"/>
          <a:lstStyle/>
          <a:p>
            <a:pPr marL="0" indent="0">
              <a:buNone/>
            </a:pPr>
            <a:r>
              <a:rPr lang="en-US" sz="1050" b="1" dirty="0">
                <a:solidFill>
                  <a:srgbClr val="FFFFFF"/>
                </a:solidFill>
                <a:latin typeface="Calibri" pitchFamily="34" charset="0"/>
                <a:ea typeface="Calibri" pitchFamily="34" charset="-122"/>
                <a:cs typeface="Calibri" pitchFamily="34" charset="-120"/>
              </a:rPr>
              <a:t>Flexibility — </a:t>
            </a:r>
            <a:r>
              <a:rPr lang="en-US" sz="1050" dirty="0">
                <a:solidFill>
                  <a:srgbClr val="CFCFCF"/>
                </a:solidFill>
                <a:latin typeface="Calibri" pitchFamily="34" charset="0"/>
                <a:ea typeface="Calibri" pitchFamily="34" charset="-122"/>
                <a:cs typeface="Calibri" pitchFamily="34" charset="-120"/>
              </a:rPr>
              <a:t>arguments adapt commands to new inputs</a:t>
            </a:r>
            <a:endParaRPr lang="en-US" sz="1050" dirty="0"/>
          </a:p>
        </p:txBody>
      </p:sp>
      <p:sp>
        <p:nvSpPr>
          <p:cNvPr id="30" name="TextBox 29">
            <a:extLst>
              <a:ext uri="{FF2B5EF4-FFF2-40B4-BE49-F238E27FC236}">
                <a16:creationId xmlns:a16="http://schemas.microsoft.com/office/drawing/2014/main" id="{23E513E9-3FFF-BAA4-614E-8A6A5D9F83E9}"/>
              </a:ext>
            </a:extLst>
          </p:cNvPr>
          <p:cNvSpPr txBox="1"/>
          <p:nvPr/>
        </p:nvSpPr>
        <p:spPr>
          <a:xfrm>
            <a:off x="6251511" y="3405347"/>
            <a:ext cx="5822302" cy="1569660"/>
          </a:xfrm>
          <a:prstGeom prst="rect">
            <a:avLst/>
          </a:prstGeom>
          <a:noFill/>
        </p:spPr>
        <p:txBody>
          <a:bodyPr wrap="square">
            <a:spAutoFit/>
          </a:bodyPr>
          <a:lstStyle/>
          <a:p>
            <a:r>
              <a:rPr lang="en-US" sz="1200" i="1" dirty="0"/>
              <a:t>Special format support</a:t>
            </a:r>
          </a:p>
          <a:p>
            <a:endParaRPr lang="en-US" sz="1200" dirty="0"/>
          </a:p>
          <a:p>
            <a:r>
              <a:rPr lang="en-US" sz="1200" b="1" dirty="0"/>
              <a:t>$ARGUMENTS - </a:t>
            </a:r>
            <a:r>
              <a:rPr lang="en-US" sz="1200" dirty="0"/>
              <a:t>Passes the full string after the command name</a:t>
            </a:r>
          </a:p>
          <a:p>
            <a:r>
              <a:rPr lang="en-US" sz="1200" b="1" dirty="0"/>
              <a:t>$0, $1… - </a:t>
            </a:r>
            <a:r>
              <a:rPr lang="en-US" sz="1200" dirty="0"/>
              <a:t>Positional </a:t>
            </a:r>
            <a:r>
              <a:rPr lang="en-US" sz="1200" dirty="0" err="1"/>
              <a:t>args</a:t>
            </a:r>
            <a:r>
              <a:rPr lang="en-US" sz="1200" dirty="0"/>
              <a:t> — e.g. /fix-issue 123 high</a:t>
            </a:r>
          </a:p>
          <a:p>
            <a:r>
              <a:rPr lang="en-US" sz="1200" b="1" dirty="0"/>
              <a:t>!`</a:t>
            </a:r>
            <a:r>
              <a:rPr lang="en-US" sz="1200" b="1" dirty="0" err="1"/>
              <a:t>cmd</a:t>
            </a:r>
            <a:r>
              <a:rPr lang="en-US" sz="1200" b="1" dirty="0"/>
              <a:t>` - </a:t>
            </a:r>
            <a:r>
              <a:rPr lang="en-US" sz="1200" dirty="0"/>
              <a:t>Executes bash and injects output inline</a:t>
            </a:r>
          </a:p>
          <a:p>
            <a:r>
              <a:rPr lang="en-US" sz="1200" b="1" dirty="0"/>
              <a:t>@file - </a:t>
            </a:r>
            <a:r>
              <a:rPr lang="en-US" sz="1200" dirty="0"/>
              <a:t>Includes file contents into the prompt</a:t>
            </a:r>
          </a:p>
          <a:p>
            <a:endParaRPr lang="en-US" sz="1200" dirty="0"/>
          </a:p>
          <a:p>
            <a:endParaRPr lang="en-US" sz="1200" i="1" dirty="0"/>
          </a:p>
        </p:txBody>
      </p:sp>
      <p:sp>
        <p:nvSpPr>
          <p:cNvPr id="32" name="TextBox 31">
            <a:extLst>
              <a:ext uri="{FF2B5EF4-FFF2-40B4-BE49-F238E27FC236}">
                <a16:creationId xmlns:a16="http://schemas.microsoft.com/office/drawing/2014/main" id="{5C8977E5-6C8B-86C9-23A9-CF919F9C4EA7}"/>
              </a:ext>
            </a:extLst>
          </p:cNvPr>
          <p:cNvSpPr txBox="1"/>
          <p:nvPr/>
        </p:nvSpPr>
        <p:spPr>
          <a:xfrm>
            <a:off x="410703" y="4440579"/>
            <a:ext cx="5487954" cy="2290371"/>
          </a:xfrm>
          <a:prstGeom prst="rect">
            <a:avLst/>
          </a:prstGeom>
          <a:noFill/>
        </p:spPr>
        <p:txBody>
          <a:bodyPr wrap="square">
            <a:spAutoFit/>
          </a:bodyPr>
          <a:lstStyle/>
          <a:p>
            <a:pPr algn="l">
              <a:buNone/>
            </a:pPr>
            <a:r>
              <a:rPr lang="en-US" sz="1200" b="1" i="0" dirty="0">
                <a:solidFill>
                  <a:srgbClr val="0B0B0B"/>
                </a:solidFill>
                <a:effectLst/>
                <a:latin typeface="Anthropic Sans"/>
              </a:rPr>
              <a:t>Frontmatter configuration</a:t>
            </a:r>
          </a:p>
          <a:p>
            <a:pPr algn="l">
              <a:spcAft>
                <a:spcPts val="750"/>
              </a:spcAft>
              <a:buNone/>
            </a:pPr>
            <a:r>
              <a:rPr lang="en-US" sz="1200" b="0" i="0" dirty="0">
                <a:solidFill>
                  <a:srgbClr val="993C1D"/>
                </a:solidFill>
                <a:effectLst/>
                <a:latin typeface="ui-monospace"/>
              </a:rPr>
              <a:t>--- YAML ---</a:t>
            </a:r>
          </a:p>
          <a:p>
            <a:pPr algn="l">
              <a:buNone/>
            </a:pPr>
            <a:r>
              <a:rPr lang="en-US" sz="1200" b="0" i="0" dirty="0">
                <a:solidFill>
                  <a:srgbClr val="D4D4D4"/>
                </a:solidFill>
                <a:effectLst/>
                <a:latin typeface="ui-monospace"/>
              </a:rPr>
              <a:t>---</a:t>
            </a:r>
            <a:endParaRPr lang="en-US" sz="1200" b="0" i="0" dirty="0">
              <a:solidFill>
                <a:srgbClr val="0B0B0B"/>
              </a:solidFill>
              <a:effectLst/>
              <a:latin typeface="ui-monospace"/>
            </a:endParaRPr>
          </a:p>
          <a:p>
            <a:pPr algn="l">
              <a:buNone/>
            </a:pPr>
            <a:r>
              <a:rPr lang="en-US" sz="1200" b="0" i="0" dirty="0">
                <a:solidFill>
                  <a:srgbClr val="9F8FD4"/>
                </a:solidFill>
                <a:effectLst/>
                <a:latin typeface="ui-monospace"/>
              </a:rPr>
              <a:t>description:</a:t>
            </a:r>
            <a:r>
              <a:rPr lang="en-US" sz="1200" b="0" i="0" dirty="0">
                <a:solidFill>
                  <a:srgbClr val="7EC99A"/>
                </a:solidFill>
                <a:effectLst/>
                <a:latin typeface="ui-monospace"/>
              </a:rPr>
              <a:t> Run security scan</a:t>
            </a:r>
            <a:endParaRPr lang="en-US" sz="1200" b="0" i="0" dirty="0">
              <a:solidFill>
                <a:srgbClr val="0B0B0B"/>
              </a:solidFill>
              <a:effectLst/>
              <a:latin typeface="ui-monospace"/>
            </a:endParaRPr>
          </a:p>
          <a:p>
            <a:pPr algn="l">
              <a:buNone/>
            </a:pPr>
            <a:r>
              <a:rPr lang="en-US" sz="1200" b="0" i="0" dirty="0">
                <a:solidFill>
                  <a:srgbClr val="9F8FD4"/>
                </a:solidFill>
                <a:effectLst/>
                <a:latin typeface="ui-monospace"/>
              </a:rPr>
              <a:t>allowed-tools:</a:t>
            </a:r>
            <a:r>
              <a:rPr lang="en-US" sz="1200" b="0" i="0" dirty="0">
                <a:solidFill>
                  <a:srgbClr val="7EC99A"/>
                </a:solidFill>
                <a:effectLst/>
                <a:latin typeface="ui-monospace"/>
              </a:rPr>
              <a:t> Read, Grep</a:t>
            </a:r>
            <a:endParaRPr lang="en-US" sz="1200" b="0" i="0" dirty="0">
              <a:solidFill>
                <a:srgbClr val="0B0B0B"/>
              </a:solidFill>
              <a:effectLst/>
              <a:latin typeface="ui-monospace"/>
            </a:endParaRPr>
          </a:p>
          <a:p>
            <a:pPr algn="l">
              <a:buNone/>
            </a:pPr>
            <a:r>
              <a:rPr lang="en-US" sz="1200" b="0" i="0" dirty="0">
                <a:solidFill>
                  <a:srgbClr val="9F8FD4"/>
                </a:solidFill>
                <a:effectLst/>
                <a:latin typeface="ui-monospace"/>
              </a:rPr>
              <a:t>model:</a:t>
            </a:r>
            <a:r>
              <a:rPr lang="en-US" sz="1200" b="0" i="0" dirty="0">
                <a:solidFill>
                  <a:srgbClr val="7EC99A"/>
                </a:solidFill>
                <a:effectLst/>
                <a:latin typeface="ui-monospace"/>
              </a:rPr>
              <a:t> claude-opus-4-8</a:t>
            </a:r>
            <a:endParaRPr lang="en-US" sz="1200" b="0" i="0" dirty="0">
              <a:solidFill>
                <a:srgbClr val="0B0B0B"/>
              </a:solidFill>
              <a:effectLst/>
              <a:latin typeface="ui-monospace"/>
            </a:endParaRPr>
          </a:p>
          <a:p>
            <a:pPr algn="l">
              <a:buNone/>
            </a:pPr>
            <a:r>
              <a:rPr lang="en-US" sz="1200" b="0" i="0" dirty="0">
                <a:solidFill>
                  <a:srgbClr val="9F8FD4"/>
                </a:solidFill>
                <a:effectLst/>
                <a:latin typeface="ui-monospace"/>
              </a:rPr>
              <a:t>argument-hint:</a:t>
            </a:r>
            <a:r>
              <a:rPr lang="en-US" sz="1200" b="0" i="0" dirty="0">
                <a:solidFill>
                  <a:srgbClr val="7EC99A"/>
                </a:solidFill>
                <a:effectLst/>
                <a:latin typeface="ui-monospace"/>
              </a:rPr>
              <a:t> [issue] [priority]</a:t>
            </a:r>
            <a:endParaRPr lang="en-US" sz="1200" b="0" i="0" dirty="0">
              <a:solidFill>
                <a:srgbClr val="0B0B0B"/>
              </a:solidFill>
              <a:effectLst/>
              <a:latin typeface="ui-monospace"/>
            </a:endParaRPr>
          </a:p>
          <a:p>
            <a:pPr algn="l">
              <a:buNone/>
            </a:pPr>
            <a:r>
              <a:rPr lang="en-US" sz="1200" b="0" i="0" dirty="0">
                <a:solidFill>
                  <a:srgbClr val="D4D4D4"/>
                </a:solidFill>
                <a:effectLst/>
                <a:latin typeface="ui-monospace"/>
              </a:rPr>
              <a:t>---</a:t>
            </a:r>
            <a:endParaRPr lang="en-US" sz="1200" b="0" i="0" dirty="0">
              <a:solidFill>
                <a:srgbClr val="0B0B0B"/>
              </a:solidFill>
              <a:effectLst/>
              <a:latin typeface="ui-monospace"/>
            </a:endParaRPr>
          </a:p>
          <a:p>
            <a:pPr algn="l">
              <a:spcBef>
                <a:spcPts val="450"/>
              </a:spcBef>
              <a:buNone/>
            </a:pPr>
            <a:r>
              <a:rPr lang="en-US" sz="1200" b="0" i="0" dirty="0">
                <a:solidFill>
                  <a:srgbClr val="888888"/>
                </a:solidFill>
                <a:effectLst/>
                <a:latin typeface="ui-monospace"/>
              </a:rPr>
              <a:t>Your prompt content here</a:t>
            </a:r>
            <a:endParaRPr lang="en-US" sz="1200" b="0" i="0" dirty="0">
              <a:solidFill>
                <a:srgbClr val="0B0B0B"/>
              </a:solidFill>
              <a:effectLst/>
              <a:latin typeface="ui-monospace"/>
            </a:endParaRPr>
          </a:p>
          <a:p>
            <a:pPr algn="l">
              <a:buNone/>
            </a:pPr>
            <a:r>
              <a:rPr lang="en-US" sz="1200" b="0" i="0" dirty="0">
                <a:solidFill>
                  <a:srgbClr val="898781"/>
                </a:solidFill>
                <a:effectLst/>
                <a:latin typeface="Anthropic Sans"/>
              </a:rPr>
              <a:t>Optional YAML block at the top of any </a:t>
            </a:r>
            <a:r>
              <a:rPr lang="en-US" sz="1200" b="0" i="0" dirty="0">
                <a:solidFill>
                  <a:srgbClr val="898781"/>
                </a:solidFill>
                <a:effectLst/>
                <a:latin typeface="Courier New" panose="02070309020205020404" pitchFamily="49" charset="0"/>
              </a:rPr>
              <a:t>.md</a:t>
            </a:r>
            <a:r>
              <a:rPr lang="en-US" sz="1200" b="0" i="0" dirty="0">
                <a:solidFill>
                  <a:srgbClr val="898781"/>
                </a:solidFill>
                <a:effectLst/>
                <a:latin typeface="Anthropic Sans"/>
              </a:rPr>
              <a:t> command file — configures tools, model, hints</a:t>
            </a:r>
          </a:p>
        </p:txBody>
      </p:sp>
    </p:spTree>
    <p:extLst>
      <p:ext uri="{BB962C8B-B14F-4D97-AF65-F5344CB8AC3E}">
        <p14:creationId xmlns:p14="http://schemas.microsoft.com/office/powerpoint/2010/main" val="30391901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41413"/>
        </a:solidFill>
        <a:effectLst/>
      </p:bgPr>
    </p:bg>
    <p:spTree>
      <p:nvGrpSpPr>
        <p:cNvPr id="1" name="">
          <a:extLst>
            <a:ext uri="{FF2B5EF4-FFF2-40B4-BE49-F238E27FC236}">
              <a16:creationId xmlns:a16="http://schemas.microsoft.com/office/drawing/2014/main" id="{0713EA8E-FE1E-450A-4D5C-A47712FB8C5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D23B633-A26D-231D-1734-66A4DB9550A8}"/>
              </a:ext>
            </a:extLst>
          </p:cNvPr>
          <p:cNvSpPr/>
          <p:nvPr/>
        </p:nvSpPr>
        <p:spPr>
          <a:xfrm>
            <a:off x="457200" y="320040"/>
            <a:ext cx="1371600" cy="1371600"/>
          </a:xfrm>
          <a:prstGeom prst="rect">
            <a:avLst/>
          </a:prstGeom>
          <a:noFill/>
          <a:ln/>
        </p:spPr>
        <p:txBody>
          <a:bodyPr wrap="square" rtlCol="0" anchor="ctr"/>
          <a:lstStyle/>
          <a:p>
            <a:pPr marL="0" indent="0">
              <a:buNone/>
            </a:pPr>
            <a:r>
              <a:rPr lang="en-US" sz="9000" b="1" dirty="0">
                <a:solidFill>
                  <a:srgbClr val="232220"/>
                </a:solidFill>
                <a:latin typeface="Poppins" pitchFamily="34" charset="0"/>
                <a:ea typeface="Poppins" pitchFamily="34" charset="-122"/>
                <a:cs typeface="Poppins" pitchFamily="34" charset="-120"/>
              </a:rPr>
              <a:t>{</a:t>
            </a:r>
            <a:endParaRPr lang="en-US" sz="9000" dirty="0"/>
          </a:p>
        </p:txBody>
      </p:sp>
      <p:sp>
        <p:nvSpPr>
          <p:cNvPr id="3" name="Text 1">
            <a:extLst>
              <a:ext uri="{FF2B5EF4-FFF2-40B4-BE49-F238E27FC236}">
                <a16:creationId xmlns:a16="http://schemas.microsoft.com/office/drawing/2014/main" id="{A6F50242-51FB-B9AF-7AB3-16B9C62DC10D}"/>
              </a:ext>
            </a:extLst>
          </p:cNvPr>
          <p:cNvSpPr/>
          <p:nvPr/>
        </p:nvSpPr>
        <p:spPr>
          <a:xfrm>
            <a:off x="10424160" y="5120640"/>
            <a:ext cx="1371600" cy="1371600"/>
          </a:xfrm>
          <a:prstGeom prst="rect">
            <a:avLst/>
          </a:prstGeom>
          <a:noFill/>
          <a:ln/>
        </p:spPr>
        <p:txBody>
          <a:bodyPr wrap="square" rtlCol="0" anchor="ctr"/>
          <a:lstStyle/>
          <a:p>
            <a:pPr marL="0" indent="0" algn="r">
              <a:buNone/>
            </a:pPr>
            <a:r>
              <a:rPr lang="en-US" sz="9000" b="1" dirty="0">
                <a:solidFill>
                  <a:srgbClr val="232220"/>
                </a:solidFill>
                <a:latin typeface="Poppins" pitchFamily="34" charset="0"/>
                <a:ea typeface="Poppins" pitchFamily="34" charset="-122"/>
                <a:cs typeface="Poppins" pitchFamily="34" charset="-120"/>
              </a:rPr>
              <a:t>}</a:t>
            </a:r>
            <a:endParaRPr lang="en-US" sz="9000" dirty="0"/>
          </a:p>
        </p:txBody>
      </p:sp>
      <p:sp>
        <p:nvSpPr>
          <p:cNvPr id="5" name="Text 3">
            <a:extLst>
              <a:ext uri="{FF2B5EF4-FFF2-40B4-BE49-F238E27FC236}">
                <a16:creationId xmlns:a16="http://schemas.microsoft.com/office/drawing/2014/main" id="{0C95E49A-E81C-06B6-A6EE-1A76689D8D5B}"/>
              </a:ext>
            </a:extLst>
          </p:cNvPr>
          <p:cNvSpPr/>
          <p:nvPr/>
        </p:nvSpPr>
        <p:spPr>
          <a:xfrm>
            <a:off x="822960" y="2331720"/>
            <a:ext cx="10515600" cy="1188720"/>
          </a:xfrm>
          <a:prstGeom prst="rect">
            <a:avLst/>
          </a:prstGeom>
          <a:noFill/>
          <a:ln/>
        </p:spPr>
        <p:txBody>
          <a:bodyPr wrap="square" lIns="0" tIns="0" rIns="0" bIns="0" rtlCol="0" anchor="ctr"/>
          <a:lstStyle/>
          <a:p>
            <a:pPr marL="0" indent="0">
              <a:buNone/>
            </a:pPr>
            <a:r>
              <a:rPr lang="en-US" sz="4400" b="1" dirty="0">
                <a:solidFill>
                  <a:srgbClr val="FAF9F5"/>
                </a:solidFill>
                <a:latin typeface="Poppins" pitchFamily="34" charset="0"/>
                <a:cs typeface="Poppins" pitchFamily="34" charset="-120"/>
              </a:rPr>
              <a:t>Skills</a:t>
            </a:r>
          </a:p>
        </p:txBody>
      </p:sp>
      <p:sp>
        <p:nvSpPr>
          <p:cNvPr id="10" name="Text 8">
            <a:extLst>
              <a:ext uri="{FF2B5EF4-FFF2-40B4-BE49-F238E27FC236}">
                <a16:creationId xmlns:a16="http://schemas.microsoft.com/office/drawing/2014/main" id="{94731D44-32AA-B4BE-25D3-BEB4FB37F997}"/>
              </a:ext>
            </a:extLst>
          </p:cNvPr>
          <p:cNvSpPr/>
          <p:nvPr/>
        </p:nvSpPr>
        <p:spPr>
          <a:xfrm>
            <a:off x="822960" y="6263640"/>
            <a:ext cx="7315200" cy="274320"/>
          </a:xfrm>
          <a:prstGeom prst="rect">
            <a:avLst/>
          </a:prstGeom>
          <a:noFill/>
          <a:ln/>
        </p:spPr>
        <p:txBody>
          <a:bodyPr wrap="square" rtlCol="0" anchor="ctr"/>
          <a:lstStyle/>
          <a:p>
            <a:pPr marL="0" indent="0">
              <a:buNone/>
            </a:pPr>
            <a:endParaRPr lang="en-US" sz="1100" dirty="0"/>
          </a:p>
        </p:txBody>
      </p:sp>
    </p:spTree>
    <p:extLst>
      <p:ext uri="{BB962C8B-B14F-4D97-AF65-F5344CB8AC3E}">
        <p14:creationId xmlns:p14="http://schemas.microsoft.com/office/powerpoint/2010/main" val="37857598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8DBF76A-D7D1-7C0D-AB14-F1DC7B95826A}"/>
              </a:ext>
            </a:extLst>
          </p:cNvPr>
          <p:cNvSpPr/>
          <p:nvPr/>
        </p:nvSpPr>
        <p:spPr>
          <a:xfrm>
            <a:off x="457200" y="274320"/>
            <a:ext cx="11247120" cy="502920"/>
          </a:xfrm>
          <a:prstGeom prst="rect">
            <a:avLst/>
          </a:prstGeom>
          <a:noFill/>
          <a:ln/>
        </p:spPr>
        <p:txBody>
          <a:bodyPr wrap="square" lIns="0" tIns="0" rIns="0" bIns="0" rtlCol="0" anchor="ctr"/>
          <a:lstStyle/>
          <a:p>
            <a:pPr marL="0" indent="0">
              <a:buNone/>
            </a:pPr>
            <a:r>
              <a:rPr lang="en-US" sz="3200" b="1" dirty="0">
                <a:solidFill>
                  <a:srgbClr val="141414"/>
                </a:solidFill>
                <a:latin typeface="Cambria" pitchFamily="34" charset="0"/>
                <a:ea typeface="Cambria" pitchFamily="34" charset="-122"/>
                <a:cs typeface="Cambria" pitchFamily="34" charset="-120"/>
              </a:rPr>
              <a:t>Skills</a:t>
            </a:r>
            <a:endParaRPr lang="en-US" sz="3200" dirty="0"/>
          </a:p>
        </p:txBody>
      </p:sp>
      <p:sp>
        <p:nvSpPr>
          <p:cNvPr id="3" name="Text 1">
            <a:extLst>
              <a:ext uri="{FF2B5EF4-FFF2-40B4-BE49-F238E27FC236}">
                <a16:creationId xmlns:a16="http://schemas.microsoft.com/office/drawing/2014/main" id="{14ABCE50-674F-1D46-A039-8440895AAF4E}"/>
              </a:ext>
            </a:extLst>
          </p:cNvPr>
          <p:cNvSpPr/>
          <p:nvPr/>
        </p:nvSpPr>
        <p:spPr>
          <a:xfrm>
            <a:off x="457200" y="777240"/>
            <a:ext cx="11247120" cy="320040"/>
          </a:xfrm>
          <a:prstGeom prst="rect">
            <a:avLst/>
          </a:prstGeom>
          <a:noFill/>
          <a:ln/>
        </p:spPr>
        <p:txBody>
          <a:bodyPr wrap="square" lIns="0" tIns="0" rIns="0" bIns="0" rtlCol="0" anchor="ctr"/>
          <a:lstStyle/>
          <a:p>
            <a:pPr marL="0" indent="0">
              <a:buNone/>
            </a:pPr>
            <a:r>
              <a:rPr lang="en-US" sz="1400" dirty="0">
                <a:solidFill>
                  <a:srgbClr val="6B6B6B"/>
                </a:solidFill>
                <a:latin typeface="Calibri" pitchFamily="34" charset="0"/>
                <a:ea typeface="Calibri" pitchFamily="34" charset="-122"/>
                <a:cs typeface="Calibri" pitchFamily="34" charset="-120"/>
              </a:rPr>
              <a:t>Instructions Claude loads automatically, only when they're relevant</a:t>
            </a:r>
            <a:endParaRPr lang="en-US" sz="1400" dirty="0"/>
          </a:p>
        </p:txBody>
      </p:sp>
      <p:sp>
        <p:nvSpPr>
          <p:cNvPr id="4" name="Shape 2">
            <a:extLst>
              <a:ext uri="{FF2B5EF4-FFF2-40B4-BE49-F238E27FC236}">
                <a16:creationId xmlns:a16="http://schemas.microsoft.com/office/drawing/2014/main" id="{FBB7EA29-34C2-1EF9-DC6A-2714E5974E60}"/>
              </a:ext>
            </a:extLst>
          </p:cNvPr>
          <p:cNvSpPr/>
          <p:nvPr/>
        </p:nvSpPr>
        <p:spPr>
          <a:xfrm>
            <a:off x="457200" y="1280160"/>
            <a:ext cx="5394960" cy="4251960"/>
          </a:xfrm>
          <a:prstGeom prst="roundRect">
            <a:avLst>
              <a:gd name="adj" fmla="val 1290"/>
            </a:avLst>
          </a:prstGeom>
          <a:solidFill>
            <a:srgbClr val="FFFFFF"/>
          </a:solidFill>
          <a:ln w="12700">
            <a:solidFill>
              <a:srgbClr val="E3E0D8"/>
            </a:solidFill>
            <a:prstDash val="solid"/>
          </a:ln>
          <a:effectLst>
            <a:outerShdw blurRad="101600" dist="25400" dir="5400000" algn="bl" rotWithShape="0">
              <a:srgbClr val="000000">
                <a:alpha val="8000"/>
              </a:srgbClr>
            </a:outerShdw>
          </a:effectLst>
        </p:spPr>
        <p:txBody>
          <a:bodyPr/>
          <a:lstStyle/>
          <a:p>
            <a:endParaRPr lang="en-US"/>
          </a:p>
        </p:txBody>
      </p:sp>
      <p:sp>
        <p:nvSpPr>
          <p:cNvPr id="5" name="Text 3">
            <a:extLst>
              <a:ext uri="{FF2B5EF4-FFF2-40B4-BE49-F238E27FC236}">
                <a16:creationId xmlns:a16="http://schemas.microsoft.com/office/drawing/2014/main" id="{F2CA6CBD-74AB-73D1-7DFB-F2E84BC0A410}"/>
              </a:ext>
            </a:extLst>
          </p:cNvPr>
          <p:cNvSpPr/>
          <p:nvPr/>
        </p:nvSpPr>
        <p:spPr>
          <a:xfrm>
            <a:off x="731520" y="1508760"/>
            <a:ext cx="4846320" cy="365760"/>
          </a:xfrm>
          <a:prstGeom prst="rect">
            <a:avLst/>
          </a:prstGeom>
          <a:noFill/>
          <a:ln/>
        </p:spPr>
        <p:txBody>
          <a:bodyPr wrap="square" lIns="0" tIns="0" rIns="0" bIns="0" rtlCol="0" anchor="ctr"/>
          <a:lstStyle/>
          <a:p>
            <a:pPr marL="0" indent="0">
              <a:buNone/>
            </a:pPr>
            <a:r>
              <a:rPr lang="en-US" sz="1800" b="1" dirty="0">
                <a:solidFill>
                  <a:srgbClr val="C9704F"/>
                </a:solidFill>
                <a:latin typeface="Calibri" pitchFamily="34" charset="0"/>
                <a:ea typeface="Calibri" pitchFamily="34" charset="-122"/>
                <a:cs typeface="Calibri" pitchFamily="34" charset="-120"/>
              </a:rPr>
              <a:t>What a skill is</a:t>
            </a:r>
            <a:endParaRPr lang="en-US" sz="1800" dirty="0"/>
          </a:p>
        </p:txBody>
      </p:sp>
      <p:sp>
        <p:nvSpPr>
          <p:cNvPr id="6" name="Text 4">
            <a:extLst>
              <a:ext uri="{FF2B5EF4-FFF2-40B4-BE49-F238E27FC236}">
                <a16:creationId xmlns:a16="http://schemas.microsoft.com/office/drawing/2014/main" id="{6ED2C9AF-AE67-7710-B45B-98B9E22D422E}"/>
              </a:ext>
            </a:extLst>
          </p:cNvPr>
          <p:cNvSpPr/>
          <p:nvPr/>
        </p:nvSpPr>
        <p:spPr>
          <a:xfrm>
            <a:off x="731520" y="1920240"/>
            <a:ext cx="4846320" cy="502920"/>
          </a:xfrm>
          <a:prstGeom prst="rect">
            <a:avLst/>
          </a:prstGeom>
          <a:noFill/>
          <a:ln/>
        </p:spPr>
        <p:txBody>
          <a:bodyPr wrap="square" lIns="0" tIns="0" rIns="0" bIns="0" rtlCol="0" anchor="ctr"/>
          <a:lstStyle/>
          <a:p>
            <a:pPr marL="0" indent="0">
              <a:buNone/>
            </a:pPr>
            <a:r>
              <a:rPr lang="en-US" sz="1250" dirty="0">
                <a:solidFill>
                  <a:srgbClr val="2B2B2B"/>
                </a:solidFill>
                <a:latin typeface="Calibri" pitchFamily="34" charset="0"/>
                <a:ea typeface="Calibri" pitchFamily="34" charset="-122"/>
                <a:cs typeface="Calibri" pitchFamily="34" charset="-120"/>
              </a:rPr>
              <a:t>A folder of instructions Claude discovers and applies on its own — taught once, used automatically whenever it's relevant.</a:t>
            </a:r>
            <a:endParaRPr lang="en-US" sz="1250" dirty="0"/>
          </a:p>
        </p:txBody>
      </p:sp>
      <p:sp>
        <p:nvSpPr>
          <p:cNvPr id="7" name="Text 5">
            <a:extLst>
              <a:ext uri="{FF2B5EF4-FFF2-40B4-BE49-F238E27FC236}">
                <a16:creationId xmlns:a16="http://schemas.microsoft.com/office/drawing/2014/main" id="{2DAE2D7F-1831-74EC-7BD1-A47F5569001A}"/>
              </a:ext>
            </a:extLst>
          </p:cNvPr>
          <p:cNvSpPr/>
          <p:nvPr/>
        </p:nvSpPr>
        <p:spPr>
          <a:xfrm>
            <a:off x="731520" y="2450592"/>
            <a:ext cx="4846320" cy="365760"/>
          </a:xfrm>
          <a:prstGeom prst="rect">
            <a:avLst/>
          </a:prstGeom>
          <a:noFill/>
          <a:ln/>
        </p:spPr>
        <p:txBody>
          <a:bodyPr wrap="square" lIns="0" tIns="0" rIns="0" bIns="0" rtlCol="0" anchor="ctr"/>
          <a:lstStyle/>
          <a:p>
            <a:pPr marL="0" indent="0">
              <a:buNone/>
            </a:pPr>
            <a:r>
              <a:rPr lang="en-US" sz="1250" dirty="0">
                <a:solidFill>
                  <a:srgbClr val="2B2B2B"/>
                </a:solidFill>
                <a:latin typeface="Calibri" pitchFamily="34" charset="0"/>
                <a:ea typeface="Calibri" pitchFamily="34" charset="-122"/>
                <a:cs typeface="Calibri" pitchFamily="34" charset="-120"/>
              </a:rPr>
              <a:t>Lives in a </a:t>
            </a:r>
            <a:r>
              <a:rPr lang="en-US" sz="1250" dirty="0">
                <a:solidFill>
                  <a:srgbClr val="C9704F"/>
                </a:solidFill>
                <a:latin typeface="Courier New" pitchFamily="34" charset="0"/>
                <a:ea typeface="Courier New" pitchFamily="34" charset="-122"/>
                <a:cs typeface="Courier New" pitchFamily="34" charset="-120"/>
              </a:rPr>
              <a:t>SKILL.md</a:t>
            </a:r>
            <a:r>
              <a:rPr lang="en-US" sz="1250" dirty="0">
                <a:solidFill>
                  <a:srgbClr val="2B2B2B"/>
                </a:solidFill>
                <a:latin typeface="Calibri" pitchFamily="34" charset="0"/>
                <a:ea typeface="Calibri" pitchFamily="34" charset="-122"/>
                <a:cs typeface="Calibri" pitchFamily="34" charset="-120"/>
              </a:rPr>
              <a:t> file with a name + description in its frontmatter.</a:t>
            </a:r>
            <a:endParaRPr lang="en-US" sz="1250" dirty="0"/>
          </a:p>
        </p:txBody>
      </p:sp>
      <p:sp>
        <p:nvSpPr>
          <p:cNvPr id="8" name="Shape 6">
            <a:extLst>
              <a:ext uri="{FF2B5EF4-FFF2-40B4-BE49-F238E27FC236}">
                <a16:creationId xmlns:a16="http://schemas.microsoft.com/office/drawing/2014/main" id="{88143873-F1B5-02FF-1D0C-74676333CED3}"/>
              </a:ext>
            </a:extLst>
          </p:cNvPr>
          <p:cNvSpPr/>
          <p:nvPr/>
        </p:nvSpPr>
        <p:spPr>
          <a:xfrm>
            <a:off x="731520" y="2926080"/>
            <a:ext cx="4846320" cy="1234440"/>
          </a:xfrm>
          <a:prstGeom prst="rect">
            <a:avLst/>
          </a:prstGeom>
          <a:solidFill>
            <a:srgbClr val="1E1E1E"/>
          </a:solidFill>
          <a:ln w="12700">
            <a:solidFill>
              <a:srgbClr val="1E1E1E"/>
            </a:solidFill>
            <a:prstDash val="solid"/>
          </a:ln>
        </p:spPr>
        <p:txBody>
          <a:bodyPr/>
          <a:lstStyle/>
          <a:p>
            <a:endParaRPr lang="en-US"/>
          </a:p>
        </p:txBody>
      </p:sp>
      <p:sp>
        <p:nvSpPr>
          <p:cNvPr id="9" name="Text 7">
            <a:extLst>
              <a:ext uri="{FF2B5EF4-FFF2-40B4-BE49-F238E27FC236}">
                <a16:creationId xmlns:a16="http://schemas.microsoft.com/office/drawing/2014/main" id="{39627B70-DA8B-CFFF-B129-6B920A0F3F65}"/>
              </a:ext>
            </a:extLst>
          </p:cNvPr>
          <p:cNvSpPr/>
          <p:nvPr/>
        </p:nvSpPr>
        <p:spPr>
          <a:xfrm>
            <a:off x="868680" y="3035808"/>
            <a:ext cx="4572000" cy="1051560"/>
          </a:xfrm>
          <a:prstGeom prst="rect">
            <a:avLst/>
          </a:prstGeom>
          <a:noFill/>
          <a:ln/>
        </p:spPr>
        <p:txBody>
          <a:bodyPr wrap="square" lIns="0" tIns="0" rIns="0" bIns="0" rtlCol="0" anchor="t"/>
          <a:lstStyle/>
          <a:p>
            <a:pPr marL="0" indent="0">
              <a:lnSpc>
                <a:spcPts val="1400"/>
              </a:lnSpc>
              <a:buNone/>
            </a:pPr>
            <a:r>
              <a:rPr lang="en-US" sz="1050" dirty="0">
                <a:solidFill>
                  <a:srgbClr val="6B6B6B"/>
                </a:solidFill>
                <a:latin typeface="Courier New" pitchFamily="34" charset="0"/>
                <a:ea typeface="Courier New" pitchFamily="34" charset="-122"/>
                <a:cs typeface="Courier New" pitchFamily="34" charset="-120"/>
              </a:rPr>
              <a:t>---
</a:t>
            </a:r>
            <a:r>
              <a:rPr lang="en-US" sz="1050" dirty="0">
                <a:solidFill>
                  <a:srgbClr val="9CDCFE"/>
                </a:solidFill>
                <a:latin typeface="Courier New" pitchFamily="34" charset="0"/>
                <a:ea typeface="Courier New" pitchFamily="34" charset="-122"/>
                <a:cs typeface="Courier New" pitchFamily="34" charset="-120"/>
              </a:rPr>
              <a:t>name</a:t>
            </a:r>
            <a:r>
              <a:rPr lang="en-US" sz="1050" dirty="0">
                <a:solidFill>
                  <a:srgbClr val="D4D4D4"/>
                </a:solidFill>
                <a:latin typeface="Courier New" pitchFamily="34" charset="0"/>
                <a:ea typeface="Courier New" pitchFamily="34" charset="-122"/>
                <a:cs typeface="Courier New" pitchFamily="34" charset="-120"/>
              </a:rPr>
              <a:t>: pr-review
</a:t>
            </a:r>
            <a:r>
              <a:rPr lang="en-US" sz="1050" dirty="0">
                <a:solidFill>
                  <a:srgbClr val="9CDCFE"/>
                </a:solidFill>
                <a:latin typeface="Courier New" pitchFamily="34" charset="0"/>
                <a:ea typeface="Courier New" pitchFamily="34" charset="-122"/>
                <a:cs typeface="Courier New" pitchFamily="34" charset="-120"/>
              </a:rPr>
              <a:t>description</a:t>
            </a:r>
            <a:r>
              <a:rPr lang="en-US" sz="1050" dirty="0">
                <a:solidFill>
                  <a:srgbClr val="CE9178"/>
                </a:solidFill>
                <a:latin typeface="Courier New" pitchFamily="34" charset="0"/>
                <a:ea typeface="Courier New" pitchFamily="34" charset="-122"/>
                <a:cs typeface="Courier New" pitchFamily="34" charset="-120"/>
              </a:rPr>
              <a:t>: Reviews pull requests
  for code quality. Use when reviewing
  PRs or checking code changes.
</a:t>
            </a:r>
            <a:r>
              <a:rPr lang="en-US" sz="1050" dirty="0">
                <a:solidFill>
                  <a:srgbClr val="6B6B6B"/>
                </a:solidFill>
                <a:latin typeface="Courier New" pitchFamily="34" charset="0"/>
                <a:ea typeface="Courier New" pitchFamily="34" charset="-122"/>
                <a:cs typeface="Courier New" pitchFamily="34" charset="-120"/>
              </a:rPr>
              <a:t>---</a:t>
            </a:r>
            <a:endParaRPr lang="en-US" sz="1050" dirty="0"/>
          </a:p>
        </p:txBody>
      </p:sp>
      <p:sp>
        <p:nvSpPr>
          <p:cNvPr id="10" name="Text 8">
            <a:extLst>
              <a:ext uri="{FF2B5EF4-FFF2-40B4-BE49-F238E27FC236}">
                <a16:creationId xmlns:a16="http://schemas.microsoft.com/office/drawing/2014/main" id="{E0C97FEC-5EC2-13D8-D68A-906FEE2E528A}"/>
              </a:ext>
            </a:extLst>
          </p:cNvPr>
          <p:cNvSpPr/>
          <p:nvPr/>
        </p:nvSpPr>
        <p:spPr>
          <a:xfrm>
            <a:off x="731520" y="4297680"/>
            <a:ext cx="4846320" cy="822960"/>
          </a:xfrm>
          <a:prstGeom prst="rect">
            <a:avLst/>
          </a:prstGeom>
          <a:noFill/>
          <a:ln/>
        </p:spPr>
        <p:txBody>
          <a:bodyPr wrap="square" lIns="0" tIns="0" rIns="0" bIns="0" rtlCol="0" anchor="ctr"/>
          <a:lstStyle/>
          <a:p>
            <a:pPr marL="0" indent="0">
              <a:buNone/>
            </a:pPr>
            <a:r>
              <a:rPr lang="en-US" sz="1200" dirty="0">
                <a:solidFill>
                  <a:srgbClr val="2B2B2B"/>
                </a:solidFill>
                <a:latin typeface="Calibri" pitchFamily="34" charset="0"/>
                <a:ea typeface="Calibri" pitchFamily="34" charset="-122"/>
                <a:cs typeface="Calibri" pitchFamily="34" charset="-120"/>
              </a:rPr>
              <a:t>The </a:t>
            </a:r>
            <a:r>
              <a:rPr lang="en-US" sz="1200" b="1" dirty="0">
                <a:solidFill>
                  <a:srgbClr val="C9704F"/>
                </a:solidFill>
                <a:latin typeface="Courier New" pitchFamily="34" charset="0"/>
                <a:ea typeface="Courier New" pitchFamily="34" charset="-122"/>
                <a:cs typeface="Courier New" pitchFamily="34" charset="-120"/>
              </a:rPr>
              <a:t>description</a:t>
            </a:r>
            <a:r>
              <a:rPr lang="en-US" sz="1200" dirty="0">
                <a:solidFill>
                  <a:srgbClr val="2B2B2B"/>
                </a:solidFill>
                <a:latin typeface="Calibri" pitchFamily="34" charset="0"/>
                <a:ea typeface="Calibri" pitchFamily="34" charset="-122"/>
                <a:cs typeface="Calibri" pitchFamily="34" charset="-120"/>
              </a:rPr>
              <a:t> is how Claude decides to use it — it compares your request against every available skill description and activates the ones that match.</a:t>
            </a:r>
            <a:endParaRPr lang="en-US" sz="1200" dirty="0"/>
          </a:p>
        </p:txBody>
      </p:sp>
      <p:sp>
        <p:nvSpPr>
          <p:cNvPr id="11" name="Shape 9">
            <a:extLst>
              <a:ext uri="{FF2B5EF4-FFF2-40B4-BE49-F238E27FC236}">
                <a16:creationId xmlns:a16="http://schemas.microsoft.com/office/drawing/2014/main" id="{945FA98D-ED9C-9C60-34F9-6273E4CAB469}"/>
              </a:ext>
            </a:extLst>
          </p:cNvPr>
          <p:cNvSpPr/>
          <p:nvPr/>
        </p:nvSpPr>
        <p:spPr>
          <a:xfrm>
            <a:off x="6080760" y="1280160"/>
            <a:ext cx="5623560" cy="4251960"/>
          </a:xfrm>
          <a:prstGeom prst="roundRect">
            <a:avLst>
              <a:gd name="adj" fmla="val 1290"/>
            </a:avLst>
          </a:prstGeom>
          <a:solidFill>
            <a:srgbClr val="FFFFFF"/>
          </a:solidFill>
          <a:ln w="12700">
            <a:solidFill>
              <a:srgbClr val="E3E0D8"/>
            </a:solidFill>
            <a:prstDash val="solid"/>
          </a:ln>
          <a:effectLst>
            <a:outerShdw blurRad="101600" dist="25400" dir="5400000" algn="bl" rotWithShape="0">
              <a:srgbClr val="000000">
                <a:alpha val="8000"/>
              </a:srgbClr>
            </a:outerShdw>
          </a:effectLst>
        </p:spPr>
        <p:txBody>
          <a:bodyPr/>
          <a:lstStyle/>
          <a:p>
            <a:endParaRPr lang="en-US"/>
          </a:p>
        </p:txBody>
      </p:sp>
      <p:sp>
        <p:nvSpPr>
          <p:cNvPr id="12" name="Text 10">
            <a:extLst>
              <a:ext uri="{FF2B5EF4-FFF2-40B4-BE49-F238E27FC236}">
                <a16:creationId xmlns:a16="http://schemas.microsoft.com/office/drawing/2014/main" id="{BB1A574E-5460-CBD9-66C7-2F994833D5E7}"/>
              </a:ext>
            </a:extLst>
          </p:cNvPr>
          <p:cNvSpPr/>
          <p:nvPr/>
        </p:nvSpPr>
        <p:spPr>
          <a:xfrm>
            <a:off x="6355080" y="1508760"/>
            <a:ext cx="5074920" cy="365760"/>
          </a:xfrm>
          <a:prstGeom prst="rect">
            <a:avLst/>
          </a:prstGeom>
          <a:noFill/>
          <a:ln/>
        </p:spPr>
        <p:txBody>
          <a:bodyPr wrap="square" lIns="0" tIns="0" rIns="0" bIns="0" rtlCol="0" anchor="ctr"/>
          <a:lstStyle/>
          <a:p>
            <a:pPr marL="0" indent="0">
              <a:buNone/>
            </a:pPr>
            <a:r>
              <a:rPr lang="en-US" sz="1700" b="1" dirty="0">
                <a:solidFill>
                  <a:srgbClr val="141414"/>
                </a:solidFill>
                <a:latin typeface="Calibri" pitchFamily="34" charset="0"/>
                <a:ea typeface="Calibri" pitchFamily="34" charset="-122"/>
                <a:cs typeface="Calibri" pitchFamily="34" charset="-120"/>
              </a:rPr>
              <a:t>Skills vs. CLAUDE.md vs. Commands</a:t>
            </a:r>
            <a:endParaRPr lang="en-US" sz="1700" dirty="0"/>
          </a:p>
        </p:txBody>
      </p:sp>
      <p:sp>
        <p:nvSpPr>
          <p:cNvPr id="13" name="Shape 11">
            <a:extLst>
              <a:ext uri="{FF2B5EF4-FFF2-40B4-BE49-F238E27FC236}">
                <a16:creationId xmlns:a16="http://schemas.microsoft.com/office/drawing/2014/main" id="{1F9215E9-9BD1-CCF6-7CB4-1D086E1C7A7B}"/>
              </a:ext>
            </a:extLst>
          </p:cNvPr>
          <p:cNvSpPr/>
          <p:nvPr/>
        </p:nvSpPr>
        <p:spPr>
          <a:xfrm>
            <a:off x="6355080" y="2011680"/>
            <a:ext cx="73152" cy="960120"/>
          </a:xfrm>
          <a:prstGeom prst="rect">
            <a:avLst/>
          </a:prstGeom>
          <a:solidFill>
            <a:srgbClr val="C9704F"/>
          </a:solidFill>
          <a:ln w="12700">
            <a:solidFill>
              <a:srgbClr val="C9704F"/>
            </a:solidFill>
            <a:prstDash val="solid"/>
          </a:ln>
        </p:spPr>
        <p:txBody>
          <a:bodyPr/>
          <a:lstStyle/>
          <a:p>
            <a:endParaRPr lang="en-US"/>
          </a:p>
        </p:txBody>
      </p:sp>
      <p:sp>
        <p:nvSpPr>
          <p:cNvPr id="14" name="Text 12">
            <a:extLst>
              <a:ext uri="{FF2B5EF4-FFF2-40B4-BE49-F238E27FC236}">
                <a16:creationId xmlns:a16="http://schemas.microsoft.com/office/drawing/2014/main" id="{406A9425-A7A4-024A-A650-56CECBC64284}"/>
              </a:ext>
            </a:extLst>
          </p:cNvPr>
          <p:cNvSpPr/>
          <p:nvPr/>
        </p:nvSpPr>
        <p:spPr>
          <a:xfrm>
            <a:off x="6537960" y="2011680"/>
            <a:ext cx="4846320" cy="292608"/>
          </a:xfrm>
          <a:prstGeom prst="rect">
            <a:avLst/>
          </a:prstGeom>
          <a:noFill/>
          <a:ln/>
        </p:spPr>
        <p:txBody>
          <a:bodyPr wrap="square" lIns="0" tIns="0" rIns="0" bIns="0" rtlCol="0" anchor="ctr"/>
          <a:lstStyle/>
          <a:p>
            <a:pPr marL="0" indent="0">
              <a:buNone/>
            </a:pPr>
            <a:r>
              <a:rPr lang="en-US" sz="1400" b="1" dirty="0">
                <a:solidFill>
                  <a:srgbClr val="141414"/>
                </a:solidFill>
                <a:latin typeface="Calibri" pitchFamily="34" charset="0"/>
                <a:ea typeface="Calibri" pitchFamily="34" charset="-122"/>
                <a:cs typeface="Calibri" pitchFamily="34" charset="-120"/>
              </a:rPr>
              <a:t>CLAUDE.md</a:t>
            </a:r>
            <a:endParaRPr lang="en-US" sz="1400" dirty="0"/>
          </a:p>
        </p:txBody>
      </p:sp>
      <p:sp>
        <p:nvSpPr>
          <p:cNvPr id="15" name="Text 13">
            <a:extLst>
              <a:ext uri="{FF2B5EF4-FFF2-40B4-BE49-F238E27FC236}">
                <a16:creationId xmlns:a16="http://schemas.microsoft.com/office/drawing/2014/main" id="{C15BC362-B097-E526-1DE3-E43D278C4D07}"/>
              </a:ext>
            </a:extLst>
          </p:cNvPr>
          <p:cNvSpPr/>
          <p:nvPr/>
        </p:nvSpPr>
        <p:spPr>
          <a:xfrm>
            <a:off x="6537960" y="2313432"/>
            <a:ext cx="4846320" cy="274320"/>
          </a:xfrm>
          <a:prstGeom prst="rect">
            <a:avLst/>
          </a:prstGeom>
          <a:noFill/>
          <a:ln/>
        </p:spPr>
        <p:txBody>
          <a:bodyPr wrap="square" lIns="0" tIns="0" rIns="0" bIns="0" rtlCol="0" anchor="ctr"/>
          <a:lstStyle/>
          <a:p>
            <a:pPr marL="0" indent="0">
              <a:buNone/>
            </a:pPr>
            <a:r>
              <a:rPr lang="en-US" sz="1200" b="1" dirty="0">
                <a:solidFill>
                  <a:srgbClr val="C9704F"/>
                </a:solidFill>
                <a:latin typeface="Calibri" pitchFamily="34" charset="0"/>
                <a:ea typeface="Calibri" pitchFamily="34" charset="-122"/>
                <a:cs typeface="Calibri" pitchFamily="34" charset="-120"/>
              </a:rPr>
              <a:t>Always loaded</a:t>
            </a:r>
            <a:endParaRPr lang="en-US" sz="1200" dirty="0"/>
          </a:p>
        </p:txBody>
      </p:sp>
      <p:sp>
        <p:nvSpPr>
          <p:cNvPr id="16" name="Text 14">
            <a:extLst>
              <a:ext uri="{FF2B5EF4-FFF2-40B4-BE49-F238E27FC236}">
                <a16:creationId xmlns:a16="http://schemas.microsoft.com/office/drawing/2014/main" id="{56627F07-2984-3370-4403-DDEA5BA32CAE}"/>
              </a:ext>
            </a:extLst>
          </p:cNvPr>
          <p:cNvSpPr/>
          <p:nvPr/>
        </p:nvSpPr>
        <p:spPr>
          <a:xfrm>
            <a:off x="6537960" y="2587752"/>
            <a:ext cx="4846320" cy="365760"/>
          </a:xfrm>
          <a:prstGeom prst="rect">
            <a:avLst/>
          </a:prstGeom>
          <a:noFill/>
          <a:ln/>
        </p:spPr>
        <p:txBody>
          <a:bodyPr wrap="square" lIns="0" tIns="0" rIns="0" bIns="0" rtlCol="0" anchor="ctr"/>
          <a:lstStyle/>
          <a:p>
            <a:pPr marL="0" indent="0">
              <a:buNone/>
            </a:pPr>
            <a:r>
              <a:rPr lang="en-US" sz="1100" dirty="0">
                <a:solidFill>
                  <a:srgbClr val="6B6B6B"/>
                </a:solidFill>
                <a:latin typeface="Calibri" pitchFamily="34" charset="0"/>
                <a:ea typeface="Calibri" pitchFamily="34" charset="-122"/>
                <a:cs typeface="Calibri" pitchFamily="34" charset="-120"/>
              </a:rPr>
              <a:t>Every conversation, no matter what</a:t>
            </a:r>
            <a:endParaRPr lang="en-US" sz="1100" dirty="0"/>
          </a:p>
        </p:txBody>
      </p:sp>
      <p:sp>
        <p:nvSpPr>
          <p:cNvPr id="17" name="Shape 15">
            <a:extLst>
              <a:ext uri="{FF2B5EF4-FFF2-40B4-BE49-F238E27FC236}">
                <a16:creationId xmlns:a16="http://schemas.microsoft.com/office/drawing/2014/main" id="{D0CC64D9-5B4F-7163-948D-3B2354E33B28}"/>
              </a:ext>
            </a:extLst>
          </p:cNvPr>
          <p:cNvSpPr/>
          <p:nvPr/>
        </p:nvSpPr>
        <p:spPr>
          <a:xfrm>
            <a:off x="6355080" y="3108960"/>
            <a:ext cx="73152" cy="960120"/>
          </a:xfrm>
          <a:prstGeom prst="rect">
            <a:avLst/>
          </a:prstGeom>
          <a:solidFill>
            <a:srgbClr val="6B5B95"/>
          </a:solidFill>
          <a:ln w="12700">
            <a:solidFill>
              <a:srgbClr val="6B5B95"/>
            </a:solidFill>
            <a:prstDash val="solid"/>
          </a:ln>
        </p:spPr>
        <p:txBody>
          <a:bodyPr/>
          <a:lstStyle/>
          <a:p>
            <a:endParaRPr lang="en-US"/>
          </a:p>
        </p:txBody>
      </p:sp>
      <p:sp>
        <p:nvSpPr>
          <p:cNvPr id="18" name="Text 16">
            <a:extLst>
              <a:ext uri="{FF2B5EF4-FFF2-40B4-BE49-F238E27FC236}">
                <a16:creationId xmlns:a16="http://schemas.microsoft.com/office/drawing/2014/main" id="{8C480BE2-1F07-B9C2-3100-F4962D0580A4}"/>
              </a:ext>
            </a:extLst>
          </p:cNvPr>
          <p:cNvSpPr/>
          <p:nvPr/>
        </p:nvSpPr>
        <p:spPr>
          <a:xfrm>
            <a:off x="6537960" y="3108960"/>
            <a:ext cx="4846320" cy="292608"/>
          </a:xfrm>
          <a:prstGeom prst="rect">
            <a:avLst/>
          </a:prstGeom>
          <a:noFill/>
          <a:ln/>
        </p:spPr>
        <p:txBody>
          <a:bodyPr wrap="square" lIns="0" tIns="0" rIns="0" bIns="0" rtlCol="0" anchor="ctr"/>
          <a:lstStyle/>
          <a:p>
            <a:pPr marL="0" indent="0">
              <a:buNone/>
            </a:pPr>
            <a:r>
              <a:rPr lang="en-US" sz="1400" b="1" dirty="0">
                <a:solidFill>
                  <a:srgbClr val="141414"/>
                </a:solidFill>
                <a:latin typeface="Calibri" pitchFamily="34" charset="0"/>
                <a:ea typeface="Calibri" pitchFamily="34" charset="-122"/>
                <a:cs typeface="Calibri" pitchFamily="34" charset="-120"/>
              </a:rPr>
              <a:t>Skills</a:t>
            </a:r>
            <a:endParaRPr lang="en-US" sz="1400" dirty="0"/>
          </a:p>
        </p:txBody>
      </p:sp>
      <p:sp>
        <p:nvSpPr>
          <p:cNvPr id="19" name="Text 17">
            <a:extLst>
              <a:ext uri="{FF2B5EF4-FFF2-40B4-BE49-F238E27FC236}">
                <a16:creationId xmlns:a16="http://schemas.microsoft.com/office/drawing/2014/main" id="{15D0AA87-29F2-D041-3E84-56706F181B09}"/>
              </a:ext>
            </a:extLst>
          </p:cNvPr>
          <p:cNvSpPr/>
          <p:nvPr/>
        </p:nvSpPr>
        <p:spPr>
          <a:xfrm>
            <a:off x="6537960" y="3410712"/>
            <a:ext cx="4846320" cy="274320"/>
          </a:xfrm>
          <a:prstGeom prst="rect">
            <a:avLst/>
          </a:prstGeom>
          <a:noFill/>
          <a:ln/>
        </p:spPr>
        <p:txBody>
          <a:bodyPr wrap="square" lIns="0" tIns="0" rIns="0" bIns="0" rtlCol="0" anchor="ctr"/>
          <a:lstStyle/>
          <a:p>
            <a:pPr marL="0" indent="0">
              <a:buNone/>
            </a:pPr>
            <a:r>
              <a:rPr lang="en-US" sz="1200" b="1" dirty="0">
                <a:solidFill>
                  <a:srgbClr val="6B5B95"/>
                </a:solidFill>
                <a:latin typeface="Calibri" pitchFamily="34" charset="0"/>
                <a:ea typeface="Calibri" pitchFamily="34" charset="-122"/>
                <a:cs typeface="Calibri" pitchFamily="34" charset="-120"/>
              </a:rPr>
              <a:t>Loaded on demand</a:t>
            </a:r>
            <a:endParaRPr lang="en-US" sz="1200" dirty="0"/>
          </a:p>
        </p:txBody>
      </p:sp>
      <p:sp>
        <p:nvSpPr>
          <p:cNvPr id="20" name="Text 18">
            <a:extLst>
              <a:ext uri="{FF2B5EF4-FFF2-40B4-BE49-F238E27FC236}">
                <a16:creationId xmlns:a16="http://schemas.microsoft.com/office/drawing/2014/main" id="{B17D21CB-03BD-4A3E-3047-8EB04C2919C7}"/>
              </a:ext>
            </a:extLst>
          </p:cNvPr>
          <p:cNvSpPr/>
          <p:nvPr/>
        </p:nvSpPr>
        <p:spPr>
          <a:xfrm>
            <a:off x="6537960" y="3685032"/>
            <a:ext cx="4846320" cy="365760"/>
          </a:xfrm>
          <a:prstGeom prst="rect">
            <a:avLst/>
          </a:prstGeom>
          <a:noFill/>
          <a:ln/>
        </p:spPr>
        <p:txBody>
          <a:bodyPr wrap="square" lIns="0" tIns="0" rIns="0" bIns="0" rtlCol="0" anchor="ctr"/>
          <a:lstStyle/>
          <a:p>
            <a:pPr marL="0" indent="0">
              <a:buNone/>
            </a:pPr>
            <a:r>
              <a:rPr lang="en-US" sz="1100" dirty="0">
                <a:solidFill>
                  <a:srgbClr val="6B6B6B"/>
                </a:solidFill>
                <a:latin typeface="Calibri" pitchFamily="34" charset="0"/>
                <a:ea typeface="Calibri" pitchFamily="34" charset="-122"/>
                <a:cs typeface="Calibri" pitchFamily="34" charset="-120"/>
              </a:rPr>
              <a:t>Only when Claude matches your request to a description</a:t>
            </a:r>
            <a:endParaRPr lang="en-US" sz="1100" dirty="0"/>
          </a:p>
        </p:txBody>
      </p:sp>
      <p:sp>
        <p:nvSpPr>
          <p:cNvPr id="21" name="Shape 19">
            <a:extLst>
              <a:ext uri="{FF2B5EF4-FFF2-40B4-BE49-F238E27FC236}">
                <a16:creationId xmlns:a16="http://schemas.microsoft.com/office/drawing/2014/main" id="{1866ADA6-3755-DA49-A898-38B9E8A7DC13}"/>
              </a:ext>
            </a:extLst>
          </p:cNvPr>
          <p:cNvSpPr/>
          <p:nvPr/>
        </p:nvSpPr>
        <p:spPr>
          <a:xfrm>
            <a:off x="6355080" y="4206240"/>
            <a:ext cx="73152" cy="960120"/>
          </a:xfrm>
          <a:prstGeom prst="rect">
            <a:avLst/>
          </a:prstGeom>
          <a:solidFill>
            <a:srgbClr val="3B7A75"/>
          </a:solidFill>
          <a:ln w="12700">
            <a:solidFill>
              <a:srgbClr val="3B7A75"/>
            </a:solidFill>
            <a:prstDash val="solid"/>
          </a:ln>
        </p:spPr>
        <p:txBody>
          <a:bodyPr/>
          <a:lstStyle/>
          <a:p>
            <a:endParaRPr lang="en-US"/>
          </a:p>
        </p:txBody>
      </p:sp>
      <p:sp>
        <p:nvSpPr>
          <p:cNvPr id="22" name="Text 20">
            <a:extLst>
              <a:ext uri="{FF2B5EF4-FFF2-40B4-BE49-F238E27FC236}">
                <a16:creationId xmlns:a16="http://schemas.microsoft.com/office/drawing/2014/main" id="{EA0D16D0-DFBF-5C04-CE88-720CFB7B83E9}"/>
              </a:ext>
            </a:extLst>
          </p:cNvPr>
          <p:cNvSpPr/>
          <p:nvPr/>
        </p:nvSpPr>
        <p:spPr>
          <a:xfrm>
            <a:off x="6537960" y="4206240"/>
            <a:ext cx="4846320" cy="292608"/>
          </a:xfrm>
          <a:prstGeom prst="rect">
            <a:avLst/>
          </a:prstGeom>
          <a:noFill/>
          <a:ln/>
        </p:spPr>
        <p:txBody>
          <a:bodyPr wrap="square" lIns="0" tIns="0" rIns="0" bIns="0" rtlCol="0" anchor="ctr"/>
          <a:lstStyle/>
          <a:p>
            <a:pPr marL="0" indent="0">
              <a:buNone/>
            </a:pPr>
            <a:r>
              <a:rPr lang="en-US" sz="1400" b="1" dirty="0">
                <a:solidFill>
                  <a:srgbClr val="141414"/>
                </a:solidFill>
                <a:latin typeface="Calibri" pitchFamily="34" charset="0"/>
                <a:ea typeface="Calibri" pitchFamily="34" charset="-122"/>
                <a:cs typeface="Calibri" pitchFamily="34" charset="-120"/>
              </a:rPr>
              <a:t>Commands</a:t>
            </a:r>
            <a:endParaRPr lang="en-US" sz="1400" dirty="0"/>
          </a:p>
        </p:txBody>
      </p:sp>
      <p:sp>
        <p:nvSpPr>
          <p:cNvPr id="23" name="Text 21">
            <a:extLst>
              <a:ext uri="{FF2B5EF4-FFF2-40B4-BE49-F238E27FC236}">
                <a16:creationId xmlns:a16="http://schemas.microsoft.com/office/drawing/2014/main" id="{A9982B1D-4BB8-54AA-8D90-6BE5EDD70726}"/>
              </a:ext>
            </a:extLst>
          </p:cNvPr>
          <p:cNvSpPr/>
          <p:nvPr/>
        </p:nvSpPr>
        <p:spPr>
          <a:xfrm>
            <a:off x="6537960" y="4507992"/>
            <a:ext cx="4846320" cy="274320"/>
          </a:xfrm>
          <a:prstGeom prst="rect">
            <a:avLst/>
          </a:prstGeom>
          <a:noFill/>
          <a:ln/>
        </p:spPr>
        <p:txBody>
          <a:bodyPr wrap="square" lIns="0" tIns="0" rIns="0" bIns="0" rtlCol="0" anchor="ctr"/>
          <a:lstStyle/>
          <a:p>
            <a:pPr marL="0" indent="0">
              <a:buNone/>
            </a:pPr>
            <a:r>
              <a:rPr lang="en-US" sz="1200" b="1" dirty="0">
                <a:solidFill>
                  <a:srgbClr val="3B7A75"/>
                </a:solidFill>
                <a:latin typeface="Calibri" pitchFamily="34" charset="0"/>
                <a:ea typeface="Calibri" pitchFamily="34" charset="-122"/>
                <a:cs typeface="Calibri" pitchFamily="34" charset="-120"/>
              </a:rPr>
              <a:t>Manually triggered</a:t>
            </a:r>
            <a:endParaRPr lang="en-US" sz="1200" dirty="0"/>
          </a:p>
        </p:txBody>
      </p:sp>
      <p:sp>
        <p:nvSpPr>
          <p:cNvPr id="24" name="Text 22">
            <a:extLst>
              <a:ext uri="{FF2B5EF4-FFF2-40B4-BE49-F238E27FC236}">
                <a16:creationId xmlns:a16="http://schemas.microsoft.com/office/drawing/2014/main" id="{CF3BB733-B226-E8E2-81A3-7A28D4400E8D}"/>
              </a:ext>
            </a:extLst>
          </p:cNvPr>
          <p:cNvSpPr/>
          <p:nvPr/>
        </p:nvSpPr>
        <p:spPr>
          <a:xfrm>
            <a:off x="6537960" y="4782312"/>
            <a:ext cx="4846320" cy="365760"/>
          </a:xfrm>
          <a:prstGeom prst="rect">
            <a:avLst/>
          </a:prstGeom>
          <a:noFill/>
          <a:ln/>
        </p:spPr>
        <p:txBody>
          <a:bodyPr wrap="square" lIns="0" tIns="0" rIns="0" bIns="0" rtlCol="0" anchor="ctr"/>
          <a:lstStyle/>
          <a:p>
            <a:pPr marL="0" indent="0">
              <a:buNone/>
            </a:pPr>
            <a:r>
              <a:rPr lang="en-US" sz="1100" dirty="0">
                <a:solidFill>
                  <a:srgbClr val="6B6B6B"/>
                </a:solidFill>
                <a:latin typeface="Calibri" pitchFamily="34" charset="0"/>
                <a:ea typeface="Calibri" pitchFamily="34" charset="-122"/>
                <a:cs typeface="Calibri" pitchFamily="34" charset="-120"/>
              </a:rPr>
              <a:t>Only when you type /command-name</a:t>
            </a:r>
            <a:endParaRPr lang="en-US" sz="1100" dirty="0"/>
          </a:p>
        </p:txBody>
      </p:sp>
      <p:sp>
        <p:nvSpPr>
          <p:cNvPr id="25" name="Shape 23">
            <a:extLst>
              <a:ext uri="{FF2B5EF4-FFF2-40B4-BE49-F238E27FC236}">
                <a16:creationId xmlns:a16="http://schemas.microsoft.com/office/drawing/2014/main" id="{70A9B3F7-AA5B-53BC-2BA4-C251B04FCDBE}"/>
              </a:ext>
            </a:extLst>
          </p:cNvPr>
          <p:cNvSpPr/>
          <p:nvPr/>
        </p:nvSpPr>
        <p:spPr>
          <a:xfrm>
            <a:off x="457200" y="5631021"/>
            <a:ext cx="11247120" cy="566928"/>
          </a:xfrm>
          <a:prstGeom prst="rect">
            <a:avLst/>
          </a:prstGeom>
          <a:solidFill>
            <a:srgbClr val="F7F5F0"/>
          </a:solidFill>
          <a:ln w="9525">
            <a:solidFill>
              <a:srgbClr val="E3E0D8"/>
            </a:solidFill>
            <a:prstDash val="solid"/>
          </a:ln>
        </p:spPr>
        <p:txBody>
          <a:bodyPr/>
          <a:lstStyle/>
          <a:p>
            <a:endParaRPr lang="en-US"/>
          </a:p>
        </p:txBody>
      </p:sp>
      <p:sp>
        <p:nvSpPr>
          <p:cNvPr id="26" name="Text 24">
            <a:extLst>
              <a:ext uri="{FF2B5EF4-FFF2-40B4-BE49-F238E27FC236}">
                <a16:creationId xmlns:a16="http://schemas.microsoft.com/office/drawing/2014/main" id="{9415236E-3C97-BCEF-EBFD-EAF69F43DC00}"/>
              </a:ext>
            </a:extLst>
          </p:cNvPr>
          <p:cNvSpPr/>
          <p:nvPr/>
        </p:nvSpPr>
        <p:spPr>
          <a:xfrm>
            <a:off x="777240" y="5631021"/>
            <a:ext cx="10607040" cy="566928"/>
          </a:xfrm>
          <a:prstGeom prst="rect">
            <a:avLst/>
          </a:prstGeom>
          <a:noFill/>
          <a:ln/>
        </p:spPr>
        <p:txBody>
          <a:bodyPr wrap="square" lIns="0" tIns="0" rIns="0" bIns="0" rtlCol="0" anchor="ctr"/>
          <a:lstStyle/>
          <a:p>
            <a:pPr marL="0" indent="0">
              <a:buNone/>
            </a:pPr>
            <a:r>
              <a:rPr lang="en-US" sz="1250" b="1" dirty="0">
                <a:solidFill>
                  <a:srgbClr val="C9704F"/>
                </a:solidFill>
                <a:latin typeface="Calibri" pitchFamily="34" charset="0"/>
                <a:ea typeface="Calibri" pitchFamily="34" charset="-122"/>
                <a:cs typeface="Calibri" pitchFamily="34" charset="-120"/>
              </a:rPr>
              <a:t>Context cost:  </a:t>
            </a:r>
            <a:r>
              <a:rPr lang="en-US" sz="1250" dirty="0">
                <a:solidFill>
                  <a:srgbClr val="2B2B2B"/>
                </a:solidFill>
                <a:latin typeface="Calibri" pitchFamily="34" charset="0"/>
                <a:ea typeface="Calibri" pitchFamily="34" charset="-122"/>
                <a:cs typeface="Calibri" pitchFamily="34" charset="-120"/>
              </a:rPr>
              <a:t>Claude only loads the name + description upfront — the full skill body loads only once it's actually triggered, so unused skills don't fill your context window.</a:t>
            </a:r>
            <a:endParaRPr lang="en-US" sz="1250" dirty="0"/>
          </a:p>
        </p:txBody>
      </p:sp>
      <p:sp>
        <p:nvSpPr>
          <p:cNvPr id="27" name="Shape 30">
            <a:extLst>
              <a:ext uri="{FF2B5EF4-FFF2-40B4-BE49-F238E27FC236}">
                <a16:creationId xmlns:a16="http://schemas.microsoft.com/office/drawing/2014/main" id="{88E90BF0-DAEA-A75D-1B70-68884A2C0905}"/>
              </a:ext>
            </a:extLst>
          </p:cNvPr>
          <p:cNvSpPr/>
          <p:nvPr/>
        </p:nvSpPr>
        <p:spPr>
          <a:xfrm>
            <a:off x="457200" y="6271103"/>
            <a:ext cx="11247120" cy="548640"/>
          </a:xfrm>
          <a:prstGeom prst="rect">
            <a:avLst/>
          </a:prstGeom>
          <a:solidFill>
            <a:srgbClr val="F7F5F0"/>
          </a:solidFill>
          <a:ln w="9525">
            <a:solidFill>
              <a:srgbClr val="E3E0D8"/>
            </a:solidFill>
            <a:prstDash val="solid"/>
          </a:ln>
        </p:spPr>
        <p:txBody>
          <a:bodyPr/>
          <a:lstStyle/>
          <a:p>
            <a:endParaRPr lang="en-US"/>
          </a:p>
        </p:txBody>
      </p:sp>
      <p:sp>
        <p:nvSpPr>
          <p:cNvPr id="28" name="Text 31">
            <a:extLst>
              <a:ext uri="{FF2B5EF4-FFF2-40B4-BE49-F238E27FC236}">
                <a16:creationId xmlns:a16="http://schemas.microsoft.com/office/drawing/2014/main" id="{05E4C3B0-DA02-D5D2-9C70-EC115DE42FA9}"/>
              </a:ext>
            </a:extLst>
          </p:cNvPr>
          <p:cNvSpPr/>
          <p:nvPr/>
        </p:nvSpPr>
        <p:spPr>
          <a:xfrm>
            <a:off x="777240" y="6271103"/>
            <a:ext cx="10607040" cy="548640"/>
          </a:xfrm>
          <a:prstGeom prst="rect">
            <a:avLst/>
          </a:prstGeom>
          <a:noFill/>
          <a:ln/>
        </p:spPr>
        <p:txBody>
          <a:bodyPr wrap="square" lIns="0" tIns="0" rIns="0" bIns="0" rtlCol="0" anchor="ctr"/>
          <a:lstStyle/>
          <a:p>
            <a:pPr marL="0" indent="0">
              <a:buNone/>
            </a:pPr>
            <a:r>
              <a:rPr lang="en-US" sz="1300" b="1" dirty="0">
                <a:solidFill>
                  <a:srgbClr val="C9704F"/>
                </a:solidFill>
                <a:latin typeface="Calibri" pitchFamily="34" charset="0"/>
                <a:ea typeface="Calibri" pitchFamily="34" charset="-122"/>
                <a:cs typeface="Calibri" pitchFamily="34" charset="-120"/>
              </a:rPr>
              <a:t>Rule of thumb:  </a:t>
            </a:r>
            <a:r>
              <a:rPr lang="en-US" sz="1300" dirty="0">
                <a:solidFill>
                  <a:srgbClr val="2B2B2B"/>
                </a:solidFill>
                <a:latin typeface="Calibri" pitchFamily="34" charset="0"/>
                <a:ea typeface="Calibri" pitchFamily="34" charset="-122"/>
                <a:cs typeface="Calibri" pitchFamily="34" charset="-120"/>
              </a:rPr>
              <a:t>if you find yourself explaining the same thing to Claude repeatedly, that's a skill waiting to be written.</a:t>
            </a:r>
            <a:endParaRPr lang="en-US" sz="1300" dirty="0"/>
          </a:p>
        </p:txBody>
      </p:sp>
    </p:spTree>
    <p:extLst>
      <p:ext uri="{BB962C8B-B14F-4D97-AF65-F5344CB8AC3E}">
        <p14:creationId xmlns:p14="http://schemas.microsoft.com/office/powerpoint/2010/main" val="24335930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5C5C698-D99C-4C46-583D-546622922BDA}"/>
              </a:ext>
            </a:extLst>
          </p:cNvPr>
          <p:cNvSpPr/>
          <p:nvPr/>
        </p:nvSpPr>
        <p:spPr>
          <a:xfrm>
            <a:off x="457200" y="274320"/>
            <a:ext cx="11247120" cy="502920"/>
          </a:xfrm>
          <a:prstGeom prst="rect">
            <a:avLst/>
          </a:prstGeom>
          <a:noFill/>
          <a:ln/>
        </p:spPr>
        <p:txBody>
          <a:bodyPr wrap="square" lIns="0" tIns="0" rIns="0" bIns="0" rtlCol="0" anchor="ctr"/>
          <a:lstStyle/>
          <a:p>
            <a:pPr marL="0" indent="0">
              <a:buNone/>
            </a:pPr>
            <a:r>
              <a:rPr lang="en-US" sz="3200" b="1" dirty="0">
                <a:solidFill>
                  <a:srgbClr val="141414"/>
                </a:solidFill>
                <a:latin typeface="Cambria" pitchFamily="34" charset="0"/>
                <a:ea typeface="Cambria" pitchFamily="34" charset="-122"/>
                <a:cs typeface="Cambria" pitchFamily="34" charset="-120"/>
              </a:rPr>
              <a:t>Two Ways to Create a Skill</a:t>
            </a:r>
            <a:endParaRPr lang="en-US" sz="3200" dirty="0"/>
          </a:p>
        </p:txBody>
      </p:sp>
      <p:sp>
        <p:nvSpPr>
          <p:cNvPr id="3" name="Text 1">
            <a:extLst>
              <a:ext uri="{FF2B5EF4-FFF2-40B4-BE49-F238E27FC236}">
                <a16:creationId xmlns:a16="http://schemas.microsoft.com/office/drawing/2014/main" id="{787F4D6D-25AA-7299-7526-2F0BC317FD02}"/>
              </a:ext>
            </a:extLst>
          </p:cNvPr>
          <p:cNvSpPr/>
          <p:nvPr/>
        </p:nvSpPr>
        <p:spPr>
          <a:xfrm>
            <a:off x="457200" y="777240"/>
            <a:ext cx="11247120" cy="320040"/>
          </a:xfrm>
          <a:prstGeom prst="rect">
            <a:avLst/>
          </a:prstGeom>
          <a:noFill/>
          <a:ln/>
        </p:spPr>
        <p:txBody>
          <a:bodyPr wrap="square" lIns="0" tIns="0" rIns="0" bIns="0" rtlCol="0" anchor="ctr"/>
          <a:lstStyle/>
          <a:p>
            <a:pPr marL="0" indent="0">
              <a:buNone/>
            </a:pPr>
            <a:r>
              <a:rPr lang="en-US" sz="1400" dirty="0">
                <a:solidFill>
                  <a:srgbClr val="6B6B6B"/>
                </a:solidFill>
                <a:latin typeface="Calibri" pitchFamily="34" charset="0"/>
                <a:ea typeface="Calibri" pitchFamily="34" charset="-122"/>
                <a:cs typeface="Calibri" pitchFamily="34" charset="-120"/>
              </a:rPr>
              <a:t>Write the file by hand, or let a plugin build and test it for you</a:t>
            </a:r>
            <a:endParaRPr lang="en-US" sz="1400" dirty="0"/>
          </a:p>
        </p:txBody>
      </p:sp>
      <p:sp>
        <p:nvSpPr>
          <p:cNvPr id="4" name="Shape 2">
            <a:extLst>
              <a:ext uri="{FF2B5EF4-FFF2-40B4-BE49-F238E27FC236}">
                <a16:creationId xmlns:a16="http://schemas.microsoft.com/office/drawing/2014/main" id="{E5BEEC71-A762-9F79-3C7A-699C11E942B6}"/>
              </a:ext>
            </a:extLst>
          </p:cNvPr>
          <p:cNvSpPr/>
          <p:nvPr/>
        </p:nvSpPr>
        <p:spPr>
          <a:xfrm>
            <a:off x="457200" y="1280160"/>
            <a:ext cx="5394960" cy="3246120"/>
          </a:xfrm>
          <a:prstGeom prst="roundRect">
            <a:avLst>
              <a:gd name="adj" fmla="val 1690"/>
            </a:avLst>
          </a:prstGeom>
          <a:solidFill>
            <a:srgbClr val="FFFFFF"/>
          </a:solidFill>
          <a:ln w="12700">
            <a:solidFill>
              <a:srgbClr val="E3E0D8"/>
            </a:solidFill>
            <a:prstDash val="solid"/>
          </a:ln>
          <a:effectLst>
            <a:outerShdw blurRad="101600" dist="25400" dir="5400000" algn="bl" rotWithShape="0">
              <a:srgbClr val="000000">
                <a:alpha val="8000"/>
              </a:srgbClr>
            </a:outerShdw>
          </a:effectLst>
        </p:spPr>
        <p:txBody>
          <a:bodyPr/>
          <a:lstStyle/>
          <a:p>
            <a:endParaRPr lang="en-US"/>
          </a:p>
        </p:txBody>
      </p:sp>
      <p:sp>
        <p:nvSpPr>
          <p:cNvPr id="5" name="Shape 3">
            <a:extLst>
              <a:ext uri="{FF2B5EF4-FFF2-40B4-BE49-F238E27FC236}">
                <a16:creationId xmlns:a16="http://schemas.microsoft.com/office/drawing/2014/main" id="{307B9009-48B4-671B-096B-881C37B13BF5}"/>
              </a:ext>
            </a:extLst>
          </p:cNvPr>
          <p:cNvSpPr/>
          <p:nvPr/>
        </p:nvSpPr>
        <p:spPr>
          <a:xfrm>
            <a:off x="731520" y="1508760"/>
            <a:ext cx="329184" cy="329184"/>
          </a:xfrm>
          <a:prstGeom prst="ellipse">
            <a:avLst/>
          </a:prstGeom>
          <a:solidFill>
            <a:srgbClr val="C9704F"/>
          </a:solidFill>
          <a:ln w="12700">
            <a:solidFill>
              <a:srgbClr val="C9704F"/>
            </a:solidFill>
            <a:prstDash val="solid"/>
          </a:ln>
        </p:spPr>
        <p:txBody>
          <a:bodyPr/>
          <a:lstStyle/>
          <a:p>
            <a:endParaRPr lang="en-US"/>
          </a:p>
        </p:txBody>
      </p:sp>
      <p:sp>
        <p:nvSpPr>
          <p:cNvPr id="6" name="Text 4">
            <a:extLst>
              <a:ext uri="{FF2B5EF4-FFF2-40B4-BE49-F238E27FC236}">
                <a16:creationId xmlns:a16="http://schemas.microsoft.com/office/drawing/2014/main" id="{B09D56CF-C984-64FA-844D-A9193FA227F4}"/>
              </a:ext>
            </a:extLst>
          </p:cNvPr>
          <p:cNvSpPr/>
          <p:nvPr/>
        </p:nvSpPr>
        <p:spPr>
          <a:xfrm>
            <a:off x="731520" y="1508760"/>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a:extLst>
              <a:ext uri="{FF2B5EF4-FFF2-40B4-BE49-F238E27FC236}">
                <a16:creationId xmlns:a16="http://schemas.microsoft.com/office/drawing/2014/main" id="{73948327-0CD0-E4B6-0B6D-29C510E74998}"/>
              </a:ext>
            </a:extLst>
          </p:cNvPr>
          <p:cNvSpPr/>
          <p:nvPr/>
        </p:nvSpPr>
        <p:spPr>
          <a:xfrm>
            <a:off x="1170432" y="1508760"/>
            <a:ext cx="4389120" cy="329184"/>
          </a:xfrm>
          <a:prstGeom prst="rect">
            <a:avLst/>
          </a:prstGeom>
          <a:noFill/>
          <a:ln/>
        </p:spPr>
        <p:txBody>
          <a:bodyPr wrap="square" lIns="0" tIns="0" rIns="0" bIns="0" rtlCol="0" anchor="ctr"/>
          <a:lstStyle/>
          <a:p>
            <a:pPr marL="0" indent="0">
              <a:buNone/>
            </a:pPr>
            <a:r>
              <a:rPr lang="en-US" sz="1700" b="1" dirty="0">
                <a:solidFill>
                  <a:srgbClr val="141414"/>
                </a:solidFill>
                <a:latin typeface="Calibri" pitchFamily="34" charset="0"/>
                <a:ea typeface="Calibri" pitchFamily="34" charset="-122"/>
                <a:cs typeface="Calibri" pitchFamily="34" charset="-120"/>
              </a:rPr>
              <a:t>Write it by hand</a:t>
            </a:r>
            <a:endParaRPr lang="en-US" sz="1700" dirty="0"/>
          </a:p>
        </p:txBody>
      </p:sp>
      <p:sp>
        <p:nvSpPr>
          <p:cNvPr id="8" name="Text 6">
            <a:extLst>
              <a:ext uri="{FF2B5EF4-FFF2-40B4-BE49-F238E27FC236}">
                <a16:creationId xmlns:a16="http://schemas.microsoft.com/office/drawing/2014/main" id="{543C9E63-51D7-B6BB-5093-7457D5B53B7B}"/>
              </a:ext>
            </a:extLst>
          </p:cNvPr>
          <p:cNvSpPr/>
          <p:nvPr/>
        </p:nvSpPr>
        <p:spPr>
          <a:xfrm>
            <a:off x="731520" y="1993392"/>
            <a:ext cx="4846320" cy="292608"/>
          </a:xfrm>
          <a:prstGeom prst="rect">
            <a:avLst/>
          </a:prstGeom>
          <a:noFill/>
          <a:ln/>
        </p:spPr>
        <p:txBody>
          <a:bodyPr wrap="square" lIns="0" tIns="0" rIns="0" bIns="0" rtlCol="0" anchor="ctr"/>
          <a:lstStyle/>
          <a:p>
            <a:pPr marL="0" indent="0">
              <a:buNone/>
            </a:pPr>
            <a:r>
              <a:rPr lang="en-US" sz="1250" b="1" dirty="0">
                <a:solidFill>
                  <a:srgbClr val="2B2B2B"/>
                </a:solidFill>
                <a:latin typeface="Calibri" pitchFamily="34" charset="0"/>
                <a:ea typeface="Calibri" pitchFamily="34" charset="-122"/>
                <a:cs typeface="Calibri" pitchFamily="34" charset="-120"/>
              </a:rPr>
              <a:t>1.  </a:t>
            </a:r>
            <a:r>
              <a:rPr lang="en-US" sz="1250" dirty="0">
                <a:solidFill>
                  <a:srgbClr val="2B2B2B"/>
                </a:solidFill>
                <a:latin typeface="Calibri" pitchFamily="34" charset="0"/>
                <a:ea typeface="Calibri" pitchFamily="34" charset="-122"/>
                <a:cs typeface="Calibri" pitchFamily="34" charset="-120"/>
              </a:rPr>
              <a:t>Create a folder in </a:t>
            </a:r>
            <a:r>
              <a:rPr lang="en-US" sz="1250" dirty="0">
                <a:solidFill>
                  <a:srgbClr val="C9704F"/>
                </a:solidFill>
                <a:latin typeface="Courier New" pitchFamily="34" charset="0"/>
                <a:ea typeface="Courier New" pitchFamily="34" charset="-122"/>
                <a:cs typeface="Courier New" pitchFamily="34" charset="-120"/>
              </a:rPr>
              <a:t>.claude/skills/</a:t>
            </a:r>
            <a:endParaRPr lang="en-US" sz="1250" dirty="0"/>
          </a:p>
        </p:txBody>
      </p:sp>
      <p:sp>
        <p:nvSpPr>
          <p:cNvPr id="9" name="Text 7">
            <a:extLst>
              <a:ext uri="{FF2B5EF4-FFF2-40B4-BE49-F238E27FC236}">
                <a16:creationId xmlns:a16="http://schemas.microsoft.com/office/drawing/2014/main" id="{A30DEC9D-A3E1-1AD3-7C03-E5478610BC61}"/>
              </a:ext>
            </a:extLst>
          </p:cNvPr>
          <p:cNvSpPr/>
          <p:nvPr/>
        </p:nvSpPr>
        <p:spPr>
          <a:xfrm>
            <a:off x="731520" y="2286000"/>
            <a:ext cx="4846320" cy="292608"/>
          </a:xfrm>
          <a:prstGeom prst="rect">
            <a:avLst/>
          </a:prstGeom>
          <a:noFill/>
          <a:ln/>
        </p:spPr>
        <p:txBody>
          <a:bodyPr wrap="square" lIns="0" tIns="0" rIns="0" bIns="0" rtlCol="0" anchor="ctr"/>
          <a:lstStyle/>
          <a:p>
            <a:pPr marL="0" indent="0">
              <a:buNone/>
            </a:pPr>
            <a:r>
              <a:rPr lang="en-US" sz="1250" b="1" dirty="0">
                <a:solidFill>
                  <a:srgbClr val="2B2B2B"/>
                </a:solidFill>
                <a:latin typeface="Calibri" pitchFamily="34" charset="0"/>
                <a:ea typeface="Calibri" pitchFamily="34" charset="-122"/>
                <a:cs typeface="Calibri" pitchFamily="34" charset="-120"/>
              </a:rPr>
              <a:t>2.  </a:t>
            </a:r>
            <a:r>
              <a:rPr lang="en-US" sz="1250" dirty="0">
                <a:solidFill>
                  <a:srgbClr val="2B2B2B"/>
                </a:solidFill>
                <a:latin typeface="Calibri" pitchFamily="34" charset="0"/>
                <a:ea typeface="Calibri" pitchFamily="34" charset="-122"/>
                <a:cs typeface="Calibri" pitchFamily="34" charset="-120"/>
              </a:rPr>
              <a:t>Add a </a:t>
            </a:r>
            <a:r>
              <a:rPr lang="en-US" sz="1250" dirty="0">
                <a:solidFill>
                  <a:srgbClr val="C9704F"/>
                </a:solidFill>
                <a:latin typeface="Courier New" pitchFamily="34" charset="0"/>
                <a:ea typeface="Courier New" pitchFamily="34" charset="-122"/>
                <a:cs typeface="Courier New" pitchFamily="34" charset="-120"/>
              </a:rPr>
              <a:t>SKILL.md</a:t>
            </a:r>
            <a:r>
              <a:rPr lang="en-US" sz="1250" dirty="0">
                <a:solidFill>
                  <a:srgbClr val="2B2B2B"/>
                </a:solidFill>
                <a:latin typeface="Calibri" pitchFamily="34" charset="0"/>
                <a:ea typeface="Calibri" pitchFamily="34" charset="-122"/>
                <a:cs typeface="Calibri" pitchFamily="34" charset="-120"/>
              </a:rPr>
              <a:t> with frontmatter + instructions</a:t>
            </a:r>
            <a:endParaRPr lang="en-US" sz="1250" dirty="0"/>
          </a:p>
        </p:txBody>
      </p:sp>
      <p:sp>
        <p:nvSpPr>
          <p:cNvPr id="10" name="Text 8">
            <a:extLst>
              <a:ext uri="{FF2B5EF4-FFF2-40B4-BE49-F238E27FC236}">
                <a16:creationId xmlns:a16="http://schemas.microsoft.com/office/drawing/2014/main" id="{E6568043-4E0D-7C80-A7A6-B29CA59CE97F}"/>
              </a:ext>
            </a:extLst>
          </p:cNvPr>
          <p:cNvSpPr/>
          <p:nvPr/>
        </p:nvSpPr>
        <p:spPr>
          <a:xfrm>
            <a:off x="731520" y="2578608"/>
            <a:ext cx="4846320" cy="292608"/>
          </a:xfrm>
          <a:prstGeom prst="rect">
            <a:avLst/>
          </a:prstGeom>
          <a:noFill/>
          <a:ln/>
        </p:spPr>
        <p:txBody>
          <a:bodyPr wrap="square" lIns="0" tIns="0" rIns="0" bIns="0" rtlCol="0" anchor="ctr"/>
          <a:lstStyle/>
          <a:p>
            <a:pPr marL="0" indent="0">
              <a:buNone/>
            </a:pPr>
            <a:r>
              <a:rPr lang="en-US" sz="1250" b="1" dirty="0">
                <a:solidFill>
                  <a:srgbClr val="2B2B2B"/>
                </a:solidFill>
                <a:latin typeface="Calibri" pitchFamily="34" charset="0"/>
                <a:ea typeface="Calibri" pitchFamily="34" charset="-122"/>
                <a:cs typeface="Calibri" pitchFamily="34" charset="-120"/>
              </a:rPr>
              <a:t>3.  </a:t>
            </a:r>
            <a:r>
              <a:rPr lang="en-US" sz="1250" dirty="0">
                <a:solidFill>
                  <a:srgbClr val="2B2B2B"/>
                </a:solidFill>
                <a:latin typeface="Calibri" pitchFamily="34" charset="0"/>
                <a:ea typeface="Calibri" pitchFamily="34" charset="-122"/>
                <a:cs typeface="Calibri" pitchFamily="34" charset="-120"/>
              </a:rPr>
              <a:t>Claude picks it up — no restart needed</a:t>
            </a:r>
            <a:endParaRPr lang="en-US" sz="1250" dirty="0"/>
          </a:p>
        </p:txBody>
      </p:sp>
      <p:sp>
        <p:nvSpPr>
          <p:cNvPr id="11" name="Shape 9">
            <a:extLst>
              <a:ext uri="{FF2B5EF4-FFF2-40B4-BE49-F238E27FC236}">
                <a16:creationId xmlns:a16="http://schemas.microsoft.com/office/drawing/2014/main" id="{33A6386E-6ABC-4AD0-0759-99DDB16F4D1F}"/>
              </a:ext>
            </a:extLst>
          </p:cNvPr>
          <p:cNvSpPr/>
          <p:nvPr/>
        </p:nvSpPr>
        <p:spPr>
          <a:xfrm>
            <a:off x="731520" y="2971800"/>
            <a:ext cx="4846320" cy="1234440"/>
          </a:xfrm>
          <a:prstGeom prst="rect">
            <a:avLst/>
          </a:prstGeom>
          <a:solidFill>
            <a:srgbClr val="1E1E1E"/>
          </a:solidFill>
          <a:ln w="12700">
            <a:solidFill>
              <a:srgbClr val="1E1E1E"/>
            </a:solidFill>
            <a:prstDash val="solid"/>
          </a:ln>
        </p:spPr>
        <p:txBody>
          <a:bodyPr/>
          <a:lstStyle/>
          <a:p>
            <a:endParaRPr lang="en-US"/>
          </a:p>
        </p:txBody>
      </p:sp>
      <p:sp>
        <p:nvSpPr>
          <p:cNvPr id="12" name="Text 10">
            <a:extLst>
              <a:ext uri="{FF2B5EF4-FFF2-40B4-BE49-F238E27FC236}">
                <a16:creationId xmlns:a16="http://schemas.microsoft.com/office/drawing/2014/main" id="{473CD422-6FD1-9B54-946F-DA330DB4D310}"/>
              </a:ext>
            </a:extLst>
          </p:cNvPr>
          <p:cNvSpPr/>
          <p:nvPr/>
        </p:nvSpPr>
        <p:spPr>
          <a:xfrm>
            <a:off x="868680" y="3063240"/>
            <a:ext cx="4572000" cy="1051560"/>
          </a:xfrm>
          <a:prstGeom prst="rect">
            <a:avLst/>
          </a:prstGeom>
          <a:noFill/>
          <a:ln/>
        </p:spPr>
        <p:txBody>
          <a:bodyPr wrap="square" lIns="0" tIns="0" rIns="0" bIns="0" rtlCol="0" anchor="t"/>
          <a:lstStyle/>
          <a:p>
            <a:pPr marL="0" indent="0">
              <a:lnSpc>
                <a:spcPts val="1300"/>
              </a:lnSpc>
              <a:buNone/>
            </a:pPr>
            <a:r>
              <a:rPr lang="en-US" sz="1000" dirty="0">
                <a:solidFill>
                  <a:srgbClr val="6B6B6B"/>
                </a:solidFill>
                <a:latin typeface="Courier New" pitchFamily="34" charset="0"/>
                <a:ea typeface="Courier New" pitchFamily="34" charset="-122"/>
                <a:cs typeface="Courier New" pitchFamily="34" charset="-120"/>
              </a:rPr>
              <a:t>---
</a:t>
            </a:r>
            <a:r>
              <a:rPr lang="en-US" sz="1000" dirty="0">
                <a:solidFill>
                  <a:srgbClr val="9CDCFE"/>
                </a:solidFill>
                <a:latin typeface="Courier New" pitchFamily="34" charset="0"/>
                <a:ea typeface="Courier New" pitchFamily="34" charset="-122"/>
                <a:cs typeface="Courier New" pitchFamily="34" charset="-120"/>
              </a:rPr>
              <a:t>name</a:t>
            </a:r>
            <a:r>
              <a:rPr lang="en-US" sz="1000" dirty="0">
                <a:solidFill>
                  <a:srgbClr val="D4D4D4"/>
                </a:solidFill>
                <a:latin typeface="Courier New" pitchFamily="34" charset="0"/>
                <a:ea typeface="Courier New" pitchFamily="34" charset="-122"/>
                <a:cs typeface="Courier New" pitchFamily="34" charset="-120"/>
              </a:rPr>
              <a:t>: timestamp
</a:t>
            </a:r>
            <a:r>
              <a:rPr lang="en-US" sz="1000" dirty="0">
                <a:solidFill>
                  <a:srgbClr val="9CDCFE"/>
                </a:solidFill>
                <a:latin typeface="Courier New" pitchFamily="34" charset="0"/>
                <a:ea typeface="Courier New" pitchFamily="34" charset="-122"/>
                <a:cs typeface="Courier New" pitchFamily="34" charset="-120"/>
              </a:rPr>
              <a:t>description</a:t>
            </a:r>
            <a:r>
              <a:rPr lang="en-US" sz="1000" dirty="0">
                <a:solidFill>
                  <a:srgbClr val="CE9178"/>
                </a:solidFill>
                <a:latin typeface="Courier New" pitchFamily="34" charset="0"/>
                <a:ea typeface="Courier New" pitchFamily="34" charset="-122"/>
                <a:cs typeface="Courier New" pitchFamily="34" charset="-120"/>
              </a:rPr>
              <a:t>: Create a timestamp in
  YYYY-MM-DD-HH-MM-SS format.
</a:t>
            </a:r>
            <a:r>
              <a:rPr lang="en-US" sz="1000" dirty="0">
                <a:solidFill>
                  <a:srgbClr val="6B6B6B"/>
                </a:solidFill>
                <a:latin typeface="Courier New" pitchFamily="34" charset="0"/>
                <a:ea typeface="Courier New" pitchFamily="34" charset="-122"/>
                <a:cs typeface="Courier New" pitchFamily="34" charset="-120"/>
              </a:rPr>
              <a:t>---
</a:t>
            </a:r>
            <a:r>
              <a:rPr lang="en-US" sz="1000" dirty="0">
                <a:solidFill>
                  <a:srgbClr val="D4D4D4"/>
                </a:solidFill>
                <a:latin typeface="Courier New" pitchFamily="34" charset="0"/>
                <a:ea typeface="Courier New" pitchFamily="34" charset="-122"/>
                <a:cs typeface="Courier New" pitchFamily="34" charset="-120"/>
              </a:rPr>
              <a:t>Run: </a:t>
            </a:r>
            <a:r>
              <a:rPr lang="en-US" sz="1000" dirty="0">
                <a:solidFill>
                  <a:srgbClr val="6A9955"/>
                </a:solidFill>
                <a:latin typeface="Courier New" pitchFamily="34" charset="0"/>
                <a:ea typeface="Courier New" pitchFamily="34" charset="-122"/>
                <a:cs typeface="Courier New" pitchFamily="34" charset="-120"/>
              </a:rPr>
              <a:t>date +%Y-%m-%d-%H-%M-%S</a:t>
            </a:r>
            <a:endParaRPr lang="en-US" sz="1000" dirty="0"/>
          </a:p>
        </p:txBody>
      </p:sp>
      <p:sp>
        <p:nvSpPr>
          <p:cNvPr id="13" name="Shape 11">
            <a:extLst>
              <a:ext uri="{FF2B5EF4-FFF2-40B4-BE49-F238E27FC236}">
                <a16:creationId xmlns:a16="http://schemas.microsoft.com/office/drawing/2014/main" id="{BDDB50E7-9B02-BA73-E0BF-B504022BCCE7}"/>
              </a:ext>
            </a:extLst>
          </p:cNvPr>
          <p:cNvSpPr/>
          <p:nvPr/>
        </p:nvSpPr>
        <p:spPr>
          <a:xfrm>
            <a:off x="6080760" y="1280160"/>
            <a:ext cx="5623560" cy="3246120"/>
          </a:xfrm>
          <a:prstGeom prst="roundRect">
            <a:avLst>
              <a:gd name="adj" fmla="val 1690"/>
            </a:avLst>
          </a:prstGeom>
          <a:solidFill>
            <a:srgbClr val="FFFFFF"/>
          </a:solidFill>
          <a:ln w="12700">
            <a:solidFill>
              <a:srgbClr val="E3E0D8"/>
            </a:solidFill>
            <a:prstDash val="solid"/>
          </a:ln>
          <a:effectLst>
            <a:outerShdw blurRad="101600" dist="25400" dir="5400000" algn="bl" rotWithShape="0">
              <a:srgbClr val="000000">
                <a:alpha val="8000"/>
              </a:srgbClr>
            </a:outerShdw>
          </a:effectLst>
        </p:spPr>
        <p:txBody>
          <a:bodyPr/>
          <a:lstStyle/>
          <a:p>
            <a:endParaRPr lang="en-US"/>
          </a:p>
        </p:txBody>
      </p:sp>
      <p:sp>
        <p:nvSpPr>
          <p:cNvPr id="14" name="Shape 12">
            <a:extLst>
              <a:ext uri="{FF2B5EF4-FFF2-40B4-BE49-F238E27FC236}">
                <a16:creationId xmlns:a16="http://schemas.microsoft.com/office/drawing/2014/main" id="{BC9AD244-6C5F-F2BC-1A69-A487FECEFBB5}"/>
              </a:ext>
            </a:extLst>
          </p:cNvPr>
          <p:cNvSpPr/>
          <p:nvPr/>
        </p:nvSpPr>
        <p:spPr>
          <a:xfrm>
            <a:off x="6355080" y="1508760"/>
            <a:ext cx="329184" cy="329184"/>
          </a:xfrm>
          <a:prstGeom prst="ellipse">
            <a:avLst/>
          </a:prstGeom>
          <a:solidFill>
            <a:srgbClr val="6B5B95"/>
          </a:solidFill>
          <a:ln w="12700">
            <a:solidFill>
              <a:srgbClr val="6B5B95"/>
            </a:solidFill>
            <a:prstDash val="solid"/>
          </a:ln>
        </p:spPr>
        <p:txBody>
          <a:bodyPr/>
          <a:lstStyle/>
          <a:p>
            <a:endParaRPr lang="en-US"/>
          </a:p>
        </p:txBody>
      </p:sp>
      <p:sp>
        <p:nvSpPr>
          <p:cNvPr id="15" name="Text 13">
            <a:extLst>
              <a:ext uri="{FF2B5EF4-FFF2-40B4-BE49-F238E27FC236}">
                <a16:creationId xmlns:a16="http://schemas.microsoft.com/office/drawing/2014/main" id="{99F8F560-1BB9-EFC5-B8AC-9D2CBDB88E2B}"/>
              </a:ext>
            </a:extLst>
          </p:cNvPr>
          <p:cNvSpPr/>
          <p:nvPr/>
        </p:nvSpPr>
        <p:spPr>
          <a:xfrm>
            <a:off x="6355080" y="1508760"/>
            <a:ext cx="329184"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4">
            <a:extLst>
              <a:ext uri="{FF2B5EF4-FFF2-40B4-BE49-F238E27FC236}">
                <a16:creationId xmlns:a16="http://schemas.microsoft.com/office/drawing/2014/main" id="{CBC2E9B2-37AA-1065-CDC5-8FA67309894E}"/>
              </a:ext>
            </a:extLst>
          </p:cNvPr>
          <p:cNvSpPr/>
          <p:nvPr/>
        </p:nvSpPr>
        <p:spPr>
          <a:xfrm>
            <a:off x="6793992" y="1508760"/>
            <a:ext cx="4617720" cy="329184"/>
          </a:xfrm>
          <a:prstGeom prst="rect">
            <a:avLst/>
          </a:prstGeom>
          <a:noFill/>
          <a:ln/>
        </p:spPr>
        <p:txBody>
          <a:bodyPr wrap="square" lIns="0" tIns="0" rIns="0" bIns="0" rtlCol="0" anchor="ctr"/>
          <a:lstStyle/>
          <a:p>
            <a:pPr marL="0" indent="0">
              <a:buNone/>
            </a:pPr>
            <a:r>
              <a:rPr lang="en-US" sz="1700" b="1" dirty="0">
                <a:solidFill>
                  <a:srgbClr val="141414"/>
                </a:solidFill>
                <a:latin typeface="Calibri" pitchFamily="34" charset="0"/>
                <a:ea typeface="Calibri" pitchFamily="34" charset="-122"/>
                <a:cs typeface="Calibri" pitchFamily="34" charset="-120"/>
              </a:rPr>
              <a:t>Use the skill-creator plugin</a:t>
            </a:r>
            <a:endParaRPr lang="en-US" sz="1700" dirty="0"/>
          </a:p>
        </p:txBody>
      </p:sp>
      <p:sp>
        <p:nvSpPr>
          <p:cNvPr id="17" name="Text 15">
            <a:extLst>
              <a:ext uri="{FF2B5EF4-FFF2-40B4-BE49-F238E27FC236}">
                <a16:creationId xmlns:a16="http://schemas.microsoft.com/office/drawing/2014/main" id="{6911210A-A469-0C9D-A3F7-10F5E879AF30}"/>
              </a:ext>
            </a:extLst>
          </p:cNvPr>
          <p:cNvSpPr/>
          <p:nvPr/>
        </p:nvSpPr>
        <p:spPr>
          <a:xfrm>
            <a:off x="6355080" y="1938528"/>
            <a:ext cx="5074920" cy="320040"/>
          </a:xfrm>
          <a:prstGeom prst="rect">
            <a:avLst/>
          </a:prstGeom>
          <a:noFill/>
          <a:ln/>
        </p:spPr>
        <p:txBody>
          <a:bodyPr wrap="square" lIns="0" tIns="0" rIns="0" bIns="0" rtlCol="0" anchor="ctr"/>
          <a:lstStyle/>
          <a:p>
            <a:pPr marL="0" indent="0">
              <a:buNone/>
            </a:pPr>
            <a:r>
              <a:rPr lang="en-US" sz="1150" i="1" dirty="0">
                <a:solidFill>
                  <a:srgbClr val="6B6B6B"/>
                </a:solidFill>
                <a:latin typeface="Calibri" pitchFamily="34" charset="0"/>
                <a:ea typeface="Calibri" pitchFamily="34" charset="-122"/>
                <a:cs typeface="Calibri" pitchFamily="34" charset="-120"/>
              </a:rPr>
              <a:t>Anthropic's own plugin — builds, tests, and improves skills for you.</a:t>
            </a:r>
            <a:endParaRPr lang="en-US" sz="1150" dirty="0"/>
          </a:p>
        </p:txBody>
      </p:sp>
      <p:sp>
        <p:nvSpPr>
          <p:cNvPr id="18" name="Shape 16">
            <a:extLst>
              <a:ext uri="{FF2B5EF4-FFF2-40B4-BE49-F238E27FC236}">
                <a16:creationId xmlns:a16="http://schemas.microsoft.com/office/drawing/2014/main" id="{696B667D-FEF1-8965-73E2-D93583D514AE}"/>
              </a:ext>
            </a:extLst>
          </p:cNvPr>
          <p:cNvSpPr/>
          <p:nvPr/>
        </p:nvSpPr>
        <p:spPr>
          <a:xfrm>
            <a:off x="6355080" y="2286000"/>
            <a:ext cx="5074920" cy="438912"/>
          </a:xfrm>
          <a:prstGeom prst="rect">
            <a:avLst/>
          </a:prstGeom>
          <a:solidFill>
            <a:srgbClr val="1E1E1E"/>
          </a:solidFill>
          <a:ln w="12700">
            <a:solidFill>
              <a:srgbClr val="1E1E1E"/>
            </a:solidFill>
            <a:prstDash val="solid"/>
          </a:ln>
        </p:spPr>
        <p:txBody>
          <a:bodyPr/>
          <a:lstStyle/>
          <a:p>
            <a:endParaRPr lang="en-US"/>
          </a:p>
        </p:txBody>
      </p:sp>
      <p:sp>
        <p:nvSpPr>
          <p:cNvPr id="19" name="Text 17">
            <a:extLst>
              <a:ext uri="{FF2B5EF4-FFF2-40B4-BE49-F238E27FC236}">
                <a16:creationId xmlns:a16="http://schemas.microsoft.com/office/drawing/2014/main" id="{B9E2B7A5-D2A5-DD85-3A98-3CF1E11CA835}"/>
              </a:ext>
            </a:extLst>
          </p:cNvPr>
          <p:cNvSpPr/>
          <p:nvPr/>
        </p:nvSpPr>
        <p:spPr>
          <a:xfrm>
            <a:off x="6492240" y="2286000"/>
            <a:ext cx="4800600" cy="438912"/>
          </a:xfrm>
          <a:prstGeom prst="rect">
            <a:avLst/>
          </a:prstGeom>
          <a:noFill/>
          <a:ln/>
        </p:spPr>
        <p:txBody>
          <a:bodyPr wrap="square" lIns="0" tIns="0" rIns="0" bIns="0" rtlCol="0" anchor="ctr"/>
          <a:lstStyle/>
          <a:p>
            <a:pPr marL="0" indent="0">
              <a:buNone/>
            </a:pPr>
            <a:r>
              <a:rPr lang="en-US" sz="1050" dirty="0">
                <a:solidFill>
                  <a:srgbClr val="D4D4D4"/>
                </a:solidFill>
                <a:latin typeface="Courier New" pitchFamily="34" charset="0"/>
                <a:ea typeface="Courier New" pitchFamily="34" charset="-122"/>
                <a:cs typeface="Courier New" pitchFamily="34" charset="-120"/>
              </a:rPr>
              <a:t>/plugin install </a:t>
            </a:r>
            <a:r>
              <a:rPr lang="en-US" sz="1050" b="1" dirty="0">
                <a:solidFill>
                  <a:srgbClr val="C9704F"/>
                </a:solidFill>
                <a:latin typeface="Courier New" pitchFamily="34" charset="0"/>
                <a:ea typeface="Courier New" pitchFamily="34" charset="-122"/>
                <a:cs typeface="Courier New" pitchFamily="34" charset="-120"/>
              </a:rPr>
              <a:t>skill-creator@claude-plugins-official</a:t>
            </a:r>
            <a:endParaRPr lang="en-US" sz="1050" dirty="0"/>
          </a:p>
        </p:txBody>
      </p:sp>
      <p:sp>
        <p:nvSpPr>
          <p:cNvPr id="20" name="Text 18">
            <a:extLst>
              <a:ext uri="{FF2B5EF4-FFF2-40B4-BE49-F238E27FC236}">
                <a16:creationId xmlns:a16="http://schemas.microsoft.com/office/drawing/2014/main" id="{323B38D5-B0A3-DBF3-A97E-5F396A4641D0}"/>
              </a:ext>
            </a:extLst>
          </p:cNvPr>
          <p:cNvSpPr/>
          <p:nvPr/>
        </p:nvSpPr>
        <p:spPr>
          <a:xfrm>
            <a:off x="6355080" y="2816352"/>
            <a:ext cx="5074920" cy="502920"/>
          </a:xfrm>
          <a:prstGeom prst="rect">
            <a:avLst/>
          </a:prstGeom>
          <a:noFill/>
          <a:ln/>
        </p:spPr>
        <p:txBody>
          <a:bodyPr wrap="square" lIns="0" tIns="0" rIns="0" bIns="0" rtlCol="0" anchor="ctr"/>
          <a:lstStyle/>
          <a:p>
            <a:pPr marL="0" indent="0">
              <a:buNone/>
            </a:pPr>
            <a:r>
              <a:rPr lang="en-US" sz="1100" dirty="0">
                <a:solidFill>
                  <a:srgbClr val="2B2B2B"/>
                </a:solidFill>
                <a:latin typeface="Calibri" pitchFamily="34" charset="0"/>
                <a:ea typeface="Calibri" pitchFamily="34" charset="-122"/>
                <a:cs typeface="Calibri" pitchFamily="34" charset="-120"/>
              </a:rPr>
              <a:t>Then just describe what you want:  </a:t>
            </a:r>
            <a:r>
              <a:rPr lang="en-US" sz="1100" i="1" dirty="0">
                <a:solidFill>
                  <a:srgbClr val="2B2B2B"/>
                </a:solidFill>
                <a:latin typeface="Calibri" pitchFamily="34" charset="0"/>
                <a:ea typeface="Calibri" pitchFamily="34" charset="-122"/>
                <a:cs typeface="Calibri" pitchFamily="34" charset="-120"/>
              </a:rPr>
              <a:t>“Create a skill that reviews PRs for security issues”</a:t>
            </a:r>
            <a:endParaRPr lang="en-US" sz="1100" dirty="0"/>
          </a:p>
        </p:txBody>
      </p:sp>
      <p:sp>
        <p:nvSpPr>
          <p:cNvPr id="21" name="Shape 19">
            <a:extLst>
              <a:ext uri="{FF2B5EF4-FFF2-40B4-BE49-F238E27FC236}">
                <a16:creationId xmlns:a16="http://schemas.microsoft.com/office/drawing/2014/main" id="{42F7EB80-BF63-5F18-ADCC-EF4657585C16}"/>
              </a:ext>
            </a:extLst>
          </p:cNvPr>
          <p:cNvSpPr/>
          <p:nvPr/>
        </p:nvSpPr>
        <p:spPr>
          <a:xfrm>
            <a:off x="6355080" y="3429000"/>
            <a:ext cx="1177290" cy="365760"/>
          </a:xfrm>
          <a:prstGeom prst="rect">
            <a:avLst/>
          </a:prstGeom>
          <a:solidFill>
            <a:srgbClr val="C9704F"/>
          </a:solidFill>
          <a:ln w="12700">
            <a:solidFill>
              <a:srgbClr val="C9704F"/>
            </a:solidFill>
            <a:prstDash val="solid"/>
          </a:ln>
        </p:spPr>
        <p:txBody>
          <a:bodyPr/>
          <a:lstStyle/>
          <a:p>
            <a:endParaRPr lang="en-US"/>
          </a:p>
        </p:txBody>
      </p:sp>
      <p:sp>
        <p:nvSpPr>
          <p:cNvPr id="22" name="Text 20">
            <a:extLst>
              <a:ext uri="{FF2B5EF4-FFF2-40B4-BE49-F238E27FC236}">
                <a16:creationId xmlns:a16="http://schemas.microsoft.com/office/drawing/2014/main" id="{39F5C6A8-AB80-B22F-D279-A36FCF319E11}"/>
              </a:ext>
            </a:extLst>
          </p:cNvPr>
          <p:cNvSpPr/>
          <p:nvPr/>
        </p:nvSpPr>
        <p:spPr>
          <a:xfrm>
            <a:off x="6355080" y="3429000"/>
            <a:ext cx="1177290"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Create</a:t>
            </a:r>
            <a:endParaRPr lang="en-US" sz="1050" dirty="0"/>
          </a:p>
        </p:txBody>
      </p:sp>
      <p:sp>
        <p:nvSpPr>
          <p:cNvPr id="23" name="Shape 21">
            <a:extLst>
              <a:ext uri="{FF2B5EF4-FFF2-40B4-BE49-F238E27FC236}">
                <a16:creationId xmlns:a16="http://schemas.microsoft.com/office/drawing/2014/main" id="{AEFB792F-BE9A-AD95-5306-1B730CBA9E43}"/>
              </a:ext>
            </a:extLst>
          </p:cNvPr>
          <p:cNvSpPr/>
          <p:nvPr/>
        </p:nvSpPr>
        <p:spPr>
          <a:xfrm>
            <a:off x="7623810" y="3429000"/>
            <a:ext cx="1177290" cy="365760"/>
          </a:xfrm>
          <a:prstGeom prst="rect">
            <a:avLst/>
          </a:prstGeom>
          <a:solidFill>
            <a:srgbClr val="3B7A75"/>
          </a:solidFill>
          <a:ln w="12700">
            <a:solidFill>
              <a:srgbClr val="3B7A75"/>
            </a:solidFill>
            <a:prstDash val="solid"/>
          </a:ln>
        </p:spPr>
        <p:txBody>
          <a:bodyPr/>
          <a:lstStyle/>
          <a:p>
            <a:endParaRPr lang="en-US"/>
          </a:p>
        </p:txBody>
      </p:sp>
      <p:sp>
        <p:nvSpPr>
          <p:cNvPr id="24" name="Text 22">
            <a:extLst>
              <a:ext uri="{FF2B5EF4-FFF2-40B4-BE49-F238E27FC236}">
                <a16:creationId xmlns:a16="http://schemas.microsoft.com/office/drawing/2014/main" id="{D22AAFC4-38F8-8F9B-0EAC-FCDB835F2D42}"/>
              </a:ext>
            </a:extLst>
          </p:cNvPr>
          <p:cNvSpPr/>
          <p:nvPr/>
        </p:nvSpPr>
        <p:spPr>
          <a:xfrm>
            <a:off x="7623810" y="3429000"/>
            <a:ext cx="1177290"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Eval</a:t>
            </a:r>
            <a:endParaRPr lang="en-US" sz="1050" dirty="0"/>
          </a:p>
        </p:txBody>
      </p:sp>
      <p:sp>
        <p:nvSpPr>
          <p:cNvPr id="25" name="Shape 23">
            <a:extLst>
              <a:ext uri="{FF2B5EF4-FFF2-40B4-BE49-F238E27FC236}">
                <a16:creationId xmlns:a16="http://schemas.microsoft.com/office/drawing/2014/main" id="{A3CE2322-EEEA-4199-019F-C0A3E3F5B93C}"/>
              </a:ext>
            </a:extLst>
          </p:cNvPr>
          <p:cNvSpPr/>
          <p:nvPr/>
        </p:nvSpPr>
        <p:spPr>
          <a:xfrm>
            <a:off x="8892540" y="3429000"/>
            <a:ext cx="1177290" cy="365760"/>
          </a:xfrm>
          <a:prstGeom prst="rect">
            <a:avLst/>
          </a:prstGeom>
          <a:solidFill>
            <a:srgbClr val="6B5B95"/>
          </a:solidFill>
          <a:ln w="12700">
            <a:solidFill>
              <a:srgbClr val="6B5B95"/>
            </a:solidFill>
            <a:prstDash val="solid"/>
          </a:ln>
        </p:spPr>
        <p:txBody>
          <a:bodyPr/>
          <a:lstStyle/>
          <a:p>
            <a:endParaRPr lang="en-US"/>
          </a:p>
        </p:txBody>
      </p:sp>
      <p:sp>
        <p:nvSpPr>
          <p:cNvPr id="26" name="Text 24">
            <a:extLst>
              <a:ext uri="{FF2B5EF4-FFF2-40B4-BE49-F238E27FC236}">
                <a16:creationId xmlns:a16="http://schemas.microsoft.com/office/drawing/2014/main" id="{48734863-DC1D-A247-9DB3-0BC4C225DFB6}"/>
              </a:ext>
            </a:extLst>
          </p:cNvPr>
          <p:cNvSpPr/>
          <p:nvPr/>
        </p:nvSpPr>
        <p:spPr>
          <a:xfrm>
            <a:off x="8892540" y="3429000"/>
            <a:ext cx="1177290"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Improve</a:t>
            </a:r>
            <a:endParaRPr lang="en-US" sz="1050" dirty="0"/>
          </a:p>
        </p:txBody>
      </p:sp>
      <p:sp>
        <p:nvSpPr>
          <p:cNvPr id="27" name="Shape 25">
            <a:extLst>
              <a:ext uri="{FF2B5EF4-FFF2-40B4-BE49-F238E27FC236}">
                <a16:creationId xmlns:a16="http://schemas.microsoft.com/office/drawing/2014/main" id="{1808053F-00F0-DAF5-F77D-9E66DD386DE4}"/>
              </a:ext>
            </a:extLst>
          </p:cNvPr>
          <p:cNvSpPr/>
          <p:nvPr/>
        </p:nvSpPr>
        <p:spPr>
          <a:xfrm>
            <a:off x="10161270" y="3429000"/>
            <a:ext cx="1177290" cy="365760"/>
          </a:xfrm>
          <a:prstGeom prst="rect">
            <a:avLst/>
          </a:prstGeom>
          <a:solidFill>
            <a:srgbClr val="8A6D3B"/>
          </a:solidFill>
          <a:ln w="12700">
            <a:solidFill>
              <a:srgbClr val="8A6D3B"/>
            </a:solidFill>
            <a:prstDash val="solid"/>
          </a:ln>
        </p:spPr>
        <p:txBody>
          <a:bodyPr/>
          <a:lstStyle/>
          <a:p>
            <a:endParaRPr lang="en-US"/>
          </a:p>
        </p:txBody>
      </p:sp>
      <p:sp>
        <p:nvSpPr>
          <p:cNvPr id="28" name="Text 26">
            <a:extLst>
              <a:ext uri="{FF2B5EF4-FFF2-40B4-BE49-F238E27FC236}">
                <a16:creationId xmlns:a16="http://schemas.microsoft.com/office/drawing/2014/main" id="{2F235C0C-BA0A-80FD-1D57-855B968B3149}"/>
              </a:ext>
            </a:extLst>
          </p:cNvPr>
          <p:cNvSpPr/>
          <p:nvPr/>
        </p:nvSpPr>
        <p:spPr>
          <a:xfrm>
            <a:off x="10161270" y="3429000"/>
            <a:ext cx="1177290"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Benchmark</a:t>
            </a:r>
            <a:endParaRPr lang="en-US" sz="1050" dirty="0"/>
          </a:p>
        </p:txBody>
      </p:sp>
      <p:sp>
        <p:nvSpPr>
          <p:cNvPr id="29" name="Text 27">
            <a:extLst>
              <a:ext uri="{FF2B5EF4-FFF2-40B4-BE49-F238E27FC236}">
                <a16:creationId xmlns:a16="http://schemas.microsoft.com/office/drawing/2014/main" id="{57B127F8-B216-1618-86B2-3AA0B7D74E93}"/>
              </a:ext>
            </a:extLst>
          </p:cNvPr>
          <p:cNvSpPr/>
          <p:nvPr/>
        </p:nvSpPr>
        <p:spPr>
          <a:xfrm>
            <a:off x="6355080" y="3913632"/>
            <a:ext cx="5074920" cy="502920"/>
          </a:xfrm>
          <a:prstGeom prst="rect">
            <a:avLst/>
          </a:prstGeom>
          <a:noFill/>
          <a:ln/>
        </p:spPr>
        <p:txBody>
          <a:bodyPr wrap="square" lIns="0" tIns="0" rIns="0" bIns="0" rtlCol="0" anchor="ctr"/>
          <a:lstStyle/>
          <a:p>
            <a:pPr marL="0" indent="0">
              <a:buNone/>
            </a:pPr>
            <a:r>
              <a:rPr lang="en-US" sz="1050" dirty="0">
                <a:solidFill>
                  <a:srgbClr val="6B6B6B"/>
                </a:solidFill>
                <a:latin typeface="Calibri" pitchFamily="34" charset="0"/>
                <a:ea typeface="Calibri" pitchFamily="34" charset="-122"/>
                <a:cs typeface="Calibri" pitchFamily="34" charset="-120"/>
              </a:rPr>
              <a:t>Tests the skill against real prompts and iterates on the description until it reliably triggers.</a:t>
            </a:r>
            <a:endParaRPr lang="en-US" sz="1050" dirty="0"/>
          </a:p>
        </p:txBody>
      </p:sp>
      <p:sp>
        <p:nvSpPr>
          <p:cNvPr id="30" name="Shape 28">
            <a:extLst>
              <a:ext uri="{FF2B5EF4-FFF2-40B4-BE49-F238E27FC236}">
                <a16:creationId xmlns:a16="http://schemas.microsoft.com/office/drawing/2014/main" id="{0226FF33-C888-50B4-CD26-C8BA80AD16E1}"/>
              </a:ext>
            </a:extLst>
          </p:cNvPr>
          <p:cNvSpPr/>
          <p:nvPr/>
        </p:nvSpPr>
        <p:spPr>
          <a:xfrm>
            <a:off x="457200" y="4709160"/>
            <a:ext cx="11247120" cy="1051560"/>
          </a:xfrm>
          <a:prstGeom prst="roundRect">
            <a:avLst>
              <a:gd name="adj" fmla="val 5217"/>
            </a:avLst>
          </a:prstGeom>
          <a:solidFill>
            <a:srgbClr val="141414"/>
          </a:solidFill>
          <a:ln w="12700">
            <a:solidFill>
              <a:srgbClr val="141414"/>
            </a:solidFill>
            <a:prstDash val="solid"/>
          </a:ln>
        </p:spPr>
        <p:txBody>
          <a:bodyPr/>
          <a:lstStyle/>
          <a:p>
            <a:endParaRPr lang="en-US"/>
          </a:p>
        </p:txBody>
      </p:sp>
      <p:sp>
        <p:nvSpPr>
          <p:cNvPr id="31" name="Text 29">
            <a:extLst>
              <a:ext uri="{FF2B5EF4-FFF2-40B4-BE49-F238E27FC236}">
                <a16:creationId xmlns:a16="http://schemas.microsoft.com/office/drawing/2014/main" id="{D28AAE2E-C738-8916-2F93-0D2E03C27204}"/>
              </a:ext>
            </a:extLst>
          </p:cNvPr>
          <p:cNvSpPr/>
          <p:nvPr/>
        </p:nvSpPr>
        <p:spPr>
          <a:xfrm>
            <a:off x="731520" y="4873752"/>
            <a:ext cx="2743200" cy="320040"/>
          </a:xfrm>
          <a:prstGeom prst="rect">
            <a:avLst/>
          </a:prstGeom>
          <a:noFill/>
          <a:ln/>
        </p:spPr>
        <p:txBody>
          <a:bodyPr wrap="square" lIns="0" tIns="0" rIns="0" bIns="0" rtlCol="0" anchor="ctr"/>
          <a:lstStyle/>
          <a:p>
            <a:pPr marL="0" indent="0">
              <a:buNone/>
            </a:pPr>
            <a:r>
              <a:rPr lang="en-US" sz="1500" b="1" dirty="0">
                <a:solidFill>
                  <a:srgbClr val="C9704F"/>
                </a:solidFill>
                <a:latin typeface="Calibri" pitchFamily="34" charset="0"/>
                <a:ea typeface="Calibri" pitchFamily="34" charset="-122"/>
                <a:cs typeface="Calibri" pitchFamily="34" charset="-120"/>
              </a:rPr>
              <a:t>What's a plugin?</a:t>
            </a:r>
            <a:endParaRPr lang="en-US" sz="1500" dirty="0"/>
          </a:p>
        </p:txBody>
      </p:sp>
      <p:sp>
        <p:nvSpPr>
          <p:cNvPr id="32" name="Text 30">
            <a:extLst>
              <a:ext uri="{FF2B5EF4-FFF2-40B4-BE49-F238E27FC236}">
                <a16:creationId xmlns:a16="http://schemas.microsoft.com/office/drawing/2014/main" id="{A36AA4D9-7EDF-6AF4-31ED-92A052808EB5}"/>
              </a:ext>
            </a:extLst>
          </p:cNvPr>
          <p:cNvSpPr/>
          <p:nvPr/>
        </p:nvSpPr>
        <p:spPr>
          <a:xfrm>
            <a:off x="731520" y="5212080"/>
            <a:ext cx="10698480" cy="457200"/>
          </a:xfrm>
          <a:prstGeom prst="rect">
            <a:avLst/>
          </a:prstGeom>
          <a:noFill/>
          <a:ln/>
        </p:spPr>
        <p:txBody>
          <a:bodyPr wrap="square" lIns="0" tIns="0" rIns="0" bIns="0" rtlCol="0" anchor="ctr"/>
          <a:lstStyle/>
          <a:p>
            <a:pPr marL="0" indent="0">
              <a:buNone/>
            </a:pPr>
            <a:r>
              <a:rPr lang="en-US" sz="1200" dirty="0">
                <a:solidFill>
                  <a:srgbClr val="E8E8E8"/>
                </a:solidFill>
                <a:latin typeface="Calibri" pitchFamily="34" charset="0"/>
                <a:ea typeface="Calibri" pitchFamily="34" charset="-122"/>
                <a:cs typeface="Calibri" pitchFamily="34" charset="-120"/>
              </a:rPr>
              <a:t>An installable package that adds skills, commands, or tools to Claude Code — built by Anthropic or the community, shared through a marketplace, and installed with one command instead of writing the files yourself.</a:t>
            </a:r>
            <a:endParaRPr lang="en-US" sz="1200" dirty="0"/>
          </a:p>
        </p:txBody>
      </p:sp>
      <p:sp>
        <p:nvSpPr>
          <p:cNvPr id="33" name="Shape 31">
            <a:extLst>
              <a:ext uri="{FF2B5EF4-FFF2-40B4-BE49-F238E27FC236}">
                <a16:creationId xmlns:a16="http://schemas.microsoft.com/office/drawing/2014/main" id="{1471746C-C5B5-3124-A2F5-AE95A6B5BD05}"/>
              </a:ext>
            </a:extLst>
          </p:cNvPr>
          <p:cNvSpPr/>
          <p:nvPr/>
        </p:nvSpPr>
        <p:spPr>
          <a:xfrm>
            <a:off x="457200" y="5925312"/>
            <a:ext cx="11247120" cy="502920"/>
          </a:xfrm>
          <a:prstGeom prst="rect">
            <a:avLst/>
          </a:prstGeom>
          <a:solidFill>
            <a:srgbClr val="F7F5F0"/>
          </a:solidFill>
          <a:ln w="9525">
            <a:solidFill>
              <a:srgbClr val="E3E0D8"/>
            </a:solidFill>
            <a:prstDash val="solid"/>
          </a:ln>
        </p:spPr>
        <p:txBody>
          <a:bodyPr/>
          <a:lstStyle/>
          <a:p>
            <a:endParaRPr lang="en-US"/>
          </a:p>
        </p:txBody>
      </p:sp>
      <p:sp>
        <p:nvSpPr>
          <p:cNvPr id="34" name="Text 32">
            <a:extLst>
              <a:ext uri="{FF2B5EF4-FFF2-40B4-BE49-F238E27FC236}">
                <a16:creationId xmlns:a16="http://schemas.microsoft.com/office/drawing/2014/main" id="{CF6E7E93-ABDA-88AF-90E7-8F3BACC5D911}"/>
              </a:ext>
            </a:extLst>
          </p:cNvPr>
          <p:cNvSpPr/>
          <p:nvPr/>
        </p:nvSpPr>
        <p:spPr>
          <a:xfrm>
            <a:off x="777240" y="5925312"/>
            <a:ext cx="10607040" cy="502920"/>
          </a:xfrm>
          <a:prstGeom prst="rect">
            <a:avLst/>
          </a:prstGeom>
          <a:noFill/>
          <a:ln/>
        </p:spPr>
        <p:txBody>
          <a:bodyPr wrap="square" lIns="0" tIns="0" rIns="0" bIns="0" rtlCol="0" anchor="ctr"/>
          <a:lstStyle/>
          <a:p>
            <a:pPr marL="0" indent="0">
              <a:buNone/>
            </a:pPr>
            <a:r>
              <a:rPr lang="en-US" sz="1200" b="1" dirty="0">
                <a:solidFill>
                  <a:srgbClr val="C9704F"/>
                </a:solidFill>
                <a:latin typeface="Calibri" pitchFamily="34" charset="0"/>
                <a:ea typeface="Calibri" pitchFamily="34" charset="-122"/>
                <a:cs typeface="Calibri" pitchFamily="34" charset="-120"/>
              </a:rPr>
              <a:t>Which to pick:  </a:t>
            </a:r>
            <a:r>
              <a:rPr lang="en-US" sz="1200" dirty="0">
                <a:solidFill>
                  <a:srgbClr val="2B2B2B"/>
                </a:solidFill>
                <a:latin typeface="Calibri" pitchFamily="34" charset="0"/>
                <a:ea typeface="Calibri" pitchFamily="34" charset="-122"/>
                <a:cs typeface="Calibri" pitchFamily="34" charset="-120"/>
              </a:rPr>
              <a:t>hand-write simple, one-off skills; reach for skill-creator when the description needs to trigger reliably across many different phrasings.</a:t>
            </a:r>
            <a:endParaRPr lang="en-US" sz="1200" dirty="0"/>
          </a:p>
        </p:txBody>
      </p:sp>
    </p:spTree>
    <p:extLst>
      <p:ext uri="{BB962C8B-B14F-4D97-AF65-F5344CB8AC3E}">
        <p14:creationId xmlns:p14="http://schemas.microsoft.com/office/powerpoint/2010/main" val="34544415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B72CB5CC-D4F3-376C-CD80-480CB16B5094}"/>
              </a:ext>
            </a:extLst>
          </p:cNvPr>
          <p:cNvSpPr/>
          <p:nvPr/>
        </p:nvSpPr>
        <p:spPr>
          <a:xfrm>
            <a:off x="457200" y="274320"/>
            <a:ext cx="11247120" cy="502920"/>
          </a:xfrm>
          <a:prstGeom prst="rect">
            <a:avLst/>
          </a:prstGeom>
          <a:noFill/>
          <a:ln/>
        </p:spPr>
        <p:txBody>
          <a:bodyPr wrap="square" lIns="0" tIns="0" rIns="0" bIns="0" rtlCol="0" anchor="ctr"/>
          <a:lstStyle/>
          <a:p>
            <a:pPr marL="0" indent="0">
              <a:buNone/>
            </a:pPr>
            <a:r>
              <a:rPr lang="en-US" sz="3200" b="1" dirty="0">
                <a:solidFill>
                  <a:srgbClr val="141414"/>
                </a:solidFill>
                <a:latin typeface="Cambria" pitchFamily="34" charset="0"/>
                <a:ea typeface="Cambria" pitchFamily="34" charset="-122"/>
                <a:cs typeface="Cambria" pitchFamily="34" charset="-120"/>
              </a:rPr>
              <a:t>Skill Creator plugin in Action</a:t>
            </a:r>
            <a:endParaRPr lang="en-US" sz="3200" dirty="0"/>
          </a:p>
        </p:txBody>
      </p:sp>
      <p:sp>
        <p:nvSpPr>
          <p:cNvPr id="3" name="Text 1">
            <a:extLst>
              <a:ext uri="{FF2B5EF4-FFF2-40B4-BE49-F238E27FC236}">
                <a16:creationId xmlns:a16="http://schemas.microsoft.com/office/drawing/2014/main" id="{BDA4809F-D9C6-CFD2-21F6-A02B23808067}"/>
              </a:ext>
            </a:extLst>
          </p:cNvPr>
          <p:cNvSpPr/>
          <p:nvPr/>
        </p:nvSpPr>
        <p:spPr>
          <a:xfrm>
            <a:off x="457200" y="777240"/>
            <a:ext cx="11247120" cy="320040"/>
          </a:xfrm>
          <a:prstGeom prst="rect">
            <a:avLst/>
          </a:prstGeom>
          <a:noFill/>
          <a:ln/>
        </p:spPr>
        <p:txBody>
          <a:bodyPr wrap="square" lIns="0" tIns="0" rIns="0" bIns="0" rtlCol="0" anchor="ctr"/>
          <a:lstStyle/>
          <a:p>
            <a:pPr marL="0" indent="0">
              <a:buNone/>
            </a:pPr>
            <a:r>
              <a:rPr lang="en-US" sz="1400" dirty="0">
                <a:solidFill>
                  <a:srgbClr val="6B6B6B"/>
                </a:solidFill>
                <a:latin typeface="Calibri" pitchFamily="34" charset="0"/>
                <a:ea typeface="Calibri" pitchFamily="34" charset="-122"/>
                <a:cs typeface="Calibri" pitchFamily="34" charset="-120"/>
              </a:rPr>
              <a:t>A real run: “convert a file to base64”, start to finish</a:t>
            </a:r>
            <a:endParaRPr lang="en-US" sz="1400" dirty="0"/>
          </a:p>
        </p:txBody>
      </p:sp>
      <p:sp>
        <p:nvSpPr>
          <p:cNvPr id="4" name="Shape 2">
            <a:extLst>
              <a:ext uri="{FF2B5EF4-FFF2-40B4-BE49-F238E27FC236}">
                <a16:creationId xmlns:a16="http://schemas.microsoft.com/office/drawing/2014/main" id="{A5CE1D58-A719-B99A-58B0-4F890D7BEAEE}"/>
              </a:ext>
            </a:extLst>
          </p:cNvPr>
          <p:cNvSpPr/>
          <p:nvPr/>
        </p:nvSpPr>
        <p:spPr>
          <a:xfrm>
            <a:off x="457200" y="1280160"/>
            <a:ext cx="6035040" cy="4251960"/>
          </a:xfrm>
          <a:prstGeom prst="roundRect">
            <a:avLst>
              <a:gd name="adj" fmla="val 1290"/>
            </a:avLst>
          </a:prstGeom>
          <a:solidFill>
            <a:srgbClr val="FFFFFF"/>
          </a:solidFill>
          <a:ln w="12700">
            <a:solidFill>
              <a:srgbClr val="E3E0D8"/>
            </a:solidFill>
            <a:prstDash val="solid"/>
          </a:ln>
          <a:effectLst>
            <a:outerShdw blurRad="101600" dist="25400" dir="5400000" algn="bl" rotWithShape="0">
              <a:srgbClr val="000000">
                <a:alpha val="8000"/>
              </a:srgbClr>
            </a:outerShdw>
          </a:effectLst>
        </p:spPr>
        <p:txBody>
          <a:bodyPr/>
          <a:lstStyle/>
          <a:p>
            <a:endParaRPr lang="en-US"/>
          </a:p>
        </p:txBody>
      </p:sp>
      <p:sp>
        <p:nvSpPr>
          <p:cNvPr id="5" name="Text 3">
            <a:extLst>
              <a:ext uri="{FF2B5EF4-FFF2-40B4-BE49-F238E27FC236}">
                <a16:creationId xmlns:a16="http://schemas.microsoft.com/office/drawing/2014/main" id="{82F3CD54-5945-6356-52FB-4A31F36B72B2}"/>
              </a:ext>
            </a:extLst>
          </p:cNvPr>
          <p:cNvSpPr/>
          <p:nvPr/>
        </p:nvSpPr>
        <p:spPr>
          <a:xfrm>
            <a:off x="731520" y="1481328"/>
            <a:ext cx="5486400" cy="320040"/>
          </a:xfrm>
          <a:prstGeom prst="rect">
            <a:avLst/>
          </a:prstGeom>
          <a:noFill/>
          <a:ln/>
        </p:spPr>
        <p:txBody>
          <a:bodyPr wrap="square" lIns="0" tIns="0" rIns="0" bIns="0" rtlCol="0" anchor="ctr"/>
          <a:lstStyle/>
          <a:p>
            <a:pPr marL="0" indent="0">
              <a:buNone/>
            </a:pPr>
            <a:r>
              <a:rPr lang="en-US" sz="1700" b="1" dirty="0">
                <a:solidFill>
                  <a:srgbClr val="C9704F"/>
                </a:solidFill>
                <a:latin typeface="Calibri" pitchFamily="34" charset="0"/>
                <a:ea typeface="Calibri" pitchFamily="34" charset="-122"/>
                <a:cs typeface="Calibri" pitchFamily="34" charset="-120"/>
              </a:rPr>
              <a:t>The flow</a:t>
            </a:r>
            <a:endParaRPr lang="en-US" sz="1700" dirty="0"/>
          </a:p>
        </p:txBody>
      </p:sp>
      <p:sp>
        <p:nvSpPr>
          <p:cNvPr id="6" name="Shape 4">
            <a:extLst>
              <a:ext uri="{FF2B5EF4-FFF2-40B4-BE49-F238E27FC236}">
                <a16:creationId xmlns:a16="http://schemas.microsoft.com/office/drawing/2014/main" id="{FA628D9A-0DCD-5F3C-D732-6A442AB48752}"/>
              </a:ext>
            </a:extLst>
          </p:cNvPr>
          <p:cNvSpPr/>
          <p:nvPr/>
        </p:nvSpPr>
        <p:spPr>
          <a:xfrm>
            <a:off x="731520" y="1901952"/>
            <a:ext cx="219456" cy="219456"/>
          </a:xfrm>
          <a:prstGeom prst="ellipse">
            <a:avLst/>
          </a:prstGeom>
          <a:solidFill>
            <a:srgbClr val="3B7A75"/>
          </a:solidFill>
          <a:ln w="12700">
            <a:solidFill>
              <a:srgbClr val="3B7A75"/>
            </a:solidFill>
            <a:prstDash val="solid"/>
          </a:ln>
        </p:spPr>
        <p:txBody>
          <a:bodyPr/>
          <a:lstStyle/>
          <a:p>
            <a:endParaRPr lang="en-US"/>
          </a:p>
        </p:txBody>
      </p:sp>
      <p:sp>
        <p:nvSpPr>
          <p:cNvPr id="7" name="Text 5">
            <a:extLst>
              <a:ext uri="{FF2B5EF4-FFF2-40B4-BE49-F238E27FC236}">
                <a16:creationId xmlns:a16="http://schemas.microsoft.com/office/drawing/2014/main" id="{07C7AE84-11E4-28FC-4FA3-78CAE303985F}"/>
              </a:ext>
            </a:extLst>
          </p:cNvPr>
          <p:cNvSpPr/>
          <p:nvPr/>
        </p:nvSpPr>
        <p:spPr>
          <a:xfrm>
            <a:off x="731520" y="1901952"/>
            <a:ext cx="219456"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8" name="Shape 6">
            <a:extLst>
              <a:ext uri="{FF2B5EF4-FFF2-40B4-BE49-F238E27FC236}">
                <a16:creationId xmlns:a16="http://schemas.microsoft.com/office/drawing/2014/main" id="{E4E133EE-12E8-250E-7DB9-5082F70CE471}"/>
              </a:ext>
            </a:extLst>
          </p:cNvPr>
          <p:cNvSpPr/>
          <p:nvPr/>
        </p:nvSpPr>
        <p:spPr>
          <a:xfrm>
            <a:off x="1051560" y="1874520"/>
            <a:ext cx="5166360" cy="292608"/>
          </a:xfrm>
          <a:prstGeom prst="rect">
            <a:avLst/>
          </a:prstGeom>
          <a:solidFill>
            <a:srgbClr val="1E1E1E"/>
          </a:solidFill>
          <a:ln w="12700">
            <a:solidFill>
              <a:srgbClr val="1E1E1E"/>
            </a:solidFill>
            <a:prstDash val="solid"/>
          </a:ln>
        </p:spPr>
        <p:txBody>
          <a:bodyPr/>
          <a:lstStyle/>
          <a:p>
            <a:endParaRPr lang="en-US"/>
          </a:p>
        </p:txBody>
      </p:sp>
      <p:sp>
        <p:nvSpPr>
          <p:cNvPr id="9" name="Text 7">
            <a:extLst>
              <a:ext uri="{FF2B5EF4-FFF2-40B4-BE49-F238E27FC236}">
                <a16:creationId xmlns:a16="http://schemas.microsoft.com/office/drawing/2014/main" id="{75FBCDC5-CA3B-BA5E-C8F6-9A3D90D04A35}"/>
              </a:ext>
            </a:extLst>
          </p:cNvPr>
          <p:cNvSpPr/>
          <p:nvPr/>
        </p:nvSpPr>
        <p:spPr>
          <a:xfrm>
            <a:off x="1143000" y="1874520"/>
            <a:ext cx="4983480" cy="292608"/>
          </a:xfrm>
          <a:prstGeom prst="rect">
            <a:avLst/>
          </a:prstGeom>
          <a:noFill/>
          <a:ln/>
        </p:spPr>
        <p:txBody>
          <a:bodyPr wrap="square" lIns="0" tIns="0" rIns="0" bIns="0" rtlCol="0" anchor="ctr"/>
          <a:lstStyle/>
          <a:p>
            <a:pPr marL="0" indent="0">
              <a:buNone/>
            </a:pPr>
            <a:r>
              <a:rPr lang="en-US" sz="950" dirty="0">
                <a:solidFill>
                  <a:srgbClr val="D4D4D4"/>
                </a:solidFill>
                <a:latin typeface="Courier New" pitchFamily="34" charset="0"/>
                <a:ea typeface="Courier New" pitchFamily="34" charset="-122"/>
                <a:cs typeface="Courier New" pitchFamily="34" charset="-120"/>
              </a:rPr>
              <a:t>/plugin install </a:t>
            </a:r>
            <a:r>
              <a:rPr lang="en-US" sz="950" dirty="0">
                <a:solidFill>
                  <a:srgbClr val="C9704F"/>
                </a:solidFill>
                <a:latin typeface="Courier New" pitchFamily="34" charset="0"/>
                <a:ea typeface="Courier New" pitchFamily="34" charset="-122"/>
                <a:cs typeface="Courier New" pitchFamily="34" charset="-120"/>
              </a:rPr>
              <a:t>skill-creator@claude-plugins-official</a:t>
            </a:r>
            <a:endParaRPr lang="en-US" sz="950" dirty="0"/>
          </a:p>
        </p:txBody>
      </p:sp>
      <p:sp>
        <p:nvSpPr>
          <p:cNvPr id="10" name="Shape 8">
            <a:extLst>
              <a:ext uri="{FF2B5EF4-FFF2-40B4-BE49-F238E27FC236}">
                <a16:creationId xmlns:a16="http://schemas.microsoft.com/office/drawing/2014/main" id="{F324E541-9376-9615-635A-35FB0D5C3CE1}"/>
              </a:ext>
            </a:extLst>
          </p:cNvPr>
          <p:cNvSpPr/>
          <p:nvPr/>
        </p:nvSpPr>
        <p:spPr>
          <a:xfrm>
            <a:off x="731520" y="2286000"/>
            <a:ext cx="219456" cy="219456"/>
          </a:xfrm>
          <a:prstGeom prst="ellipse">
            <a:avLst/>
          </a:prstGeom>
          <a:solidFill>
            <a:srgbClr val="3B7A75"/>
          </a:solidFill>
          <a:ln w="12700">
            <a:solidFill>
              <a:srgbClr val="3B7A75"/>
            </a:solidFill>
            <a:prstDash val="solid"/>
          </a:ln>
        </p:spPr>
        <p:txBody>
          <a:bodyPr/>
          <a:lstStyle/>
          <a:p>
            <a:endParaRPr lang="en-US"/>
          </a:p>
        </p:txBody>
      </p:sp>
      <p:sp>
        <p:nvSpPr>
          <p:cNvPr id="11" name="Text 9">
            <a:extLst>
              <a:ext uri="{FF2B5EF4-FFF2-40B4-BE49-F238E27FC236}">
                <a16:creationId xmlns:a16="http://schemas.microsoft.com/office/drawing/2014/main" id="{08B23EC3-F058-E9D8-0831-02119E9E6BC6}"/>
              </a:ext>
            </a:extLst>
          </p:cNvPr>
          <p:cNvSpPr/>
          <p:nvPr/>
        </p:nvSpPr>
        <p:spPr>
          <a:xfrm>
            <a:off x="731520" y="2286000"/>
            <a:ext cx="219456"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2" name="Shape 10">
            <a:extLst>
              <a:ext uri="{FF2B5EF4-FFF2-40B4-BE49-F238E27FC236}">
                <a16:creationId xmlns:a16="http://schemas.microsoft.com/office/drawing/2014/main" id="{BFF50C43-5DE6-5D48-2683-ADF4AB58648D}"/>
              </a:ext>
            </a:extLst>
          </p:cNvPr>
          <p:cNvSpPr/>
          <p:nvPr/>
        </p:nvSpPr>
        <p:spPr>
          <a:xfrm>
            <a:off x="1051560" y="2258568"/>
            <a:ext cx="5166360" cy="365760"/>
          </a:xfrm>
          <a:prstGeom prst="rect">
            <a:avLst/>
          </a:prstGeom>
          <a:solidFill>
            <a:srgbClr val="1E1E1E"/>
          </a:solidFill>
          <a:ln w="12700">
            <a:solidFill>
              <a:srgbClr val="1E1E1E"/>
            </a:solidFill>
            <a:prstDash val="solid"/>
          </a:ln>
        </p:spPr>
        <p:txBody>
          <a:bodyPr/>
          <a:lstStyle/>
          <a:p>
            <a:endParaRPr lang="en-US"/>
          </a:p>
        </p:txBody>
      </p:sp>
      <p:sp>
        <p:nvSpPr>
          <p:cNvPr id="13" name="Text 11">
            <a:extLst>
              <a:ext uri="{FF2B5EF4-FFF2-40B4-BE49-F238E27FC236}">
                <a16:creationId xmlns:a16="http://schemas.microsoft.com/office/drawing/2014/main" id="{3DB5282E-751F-DAF4-134C-73643111E58A}"/>
              </a:ext>
            </a:extLst>
          </p:cNvPr>
          <p:cNvSpPr/>
          <p:nvPr/>
        </p:nvSpPr>
        <p:spPr>
          <a:xfrm>
            <a:off x="1143000" y="2258568"/>
            <a:ext cx="4983480" cy="365760"/>
          </a:xfrm>
          <a:prstGeom prst="rect">
            <a:avLst/>
          </a:prstGeom>
          <a:noFill/>
          <a:ln/>
        </p:spPr>
        <p:txBody>
          <a:bodyPr wrap="square" lIns="0" tIns="0" rIns="0" bIns="0" rtlCol="0" anchor="ctr"/>
          <a:lstStyle/>
          <a:p>
            <a:pPr marL="0" indent="0">
              <a:lnSpc>
                <a:spcPts val="1000"/>
              </a:lnSpc>
              <a:buNone/>
            </a:pPr>
            <a:r>
              <a:rPr lang="en-US" sz="850" dirty="0">
                <a:solidFill>
                  <a:srgbClr val="C9704F"/>
                </a:solidFill>
                <a:latin typeface="Courier New" pitchFamily="34" charset="0"/>
                <a:ea typeface="Courier New" pitchFamily="34" charset="-122"/>
                <a:cs typeface="Courier New" pitchFamily="34" charset="-120"/>
              </a:rPr>
              <a:t>/skill-creator:skill-creator </a:t>
            </a:r>
            <a:r>
              <a:rPr lang="en-US" sz="850" dirty="0">
                <a:solidFill>
                  <a:srgbClr val="D4D4D4"/>
                </a:solidFill>
                <a:latin typeface="Courier New" pitchFamily="34" charset="0"/>
                <a:ea typeface="Courier New" pitchFamily="34" charset="-122"/>
                <a:cs typeface="Courier New" pitchFamily="34" charset="-120"/>
              </a:rPr>
              <a:t>create a skill that</a:t>
            </a:r>
            <a:endParaRPr lang="en-US" sz="850" dirty="0"/>
          </a:p>
          <a:p>
            <a:pPr marL="0" indent="0">
              <a:lnSpc>
                <a:spcPts val="1000"/>
              </a:lnSpc>
              <a:buNone/>
            </a:pPr>
            <a:r>
              <a:rPr lang="en-US" sz="850" dirty="0">
                <a:solidFill>
                  <a:srgbClr val="D4D4D4"/>
                </a:solidFill>
                <a:latin typeface="Courier New" pitchFamily="34" charset="0"/>
                <a:ea typeface="Courier New" pitchFamily="34" charset="-122"/>
                <a:cs typeface="Courier New" pitchFamily="34" charset="-120"/>
              </a:rPr>
              <a:t>converts a provided file into base64</a:t>
            </a:r>
            <a:endParaRPr lang="en-US" sz="850" dirty="0"/>
          </a:p>
        </p:txBody>
      </p:sp>
      <p:sp>
        <p:nvSpPr>
          <p:cNvPr id="14" name="Shape 12">
            <a:extLst>
              <a:ext uri="{FF2B5EF4-FFF2-40B4-BE49-F238E27FC236}">
                <a16:creationId xmlns:a16="http://schemas.microsoft.com/office/drawing/2014/main" id="{1BD1B958-147E-AC91-F9CB-23F0A425A471}"/>
              </a:ext>
            </a:extLst>
          </p:cNvPr>
          <p:cNvSpPr/>
          <p:nvPr/>
        </p:nvSpPr>
        <p:spPr>
          <a:xfrm>
            <a:off x="731520" y="2743200"/>
            <a:ext cx="219456" cy="219456"/>
          </a:xfrm>
          <a:prstGeom prst="ellipse">
            <a:avLst/>
          </a:prstGeom>
          <a:solidFill>
            <a:srgbClr val="3B7A75"/>
          </a:solidFill>
          <a:ln w="12700">
            <a:solidFill>
              <a:srgbClr val="3B7A75"/>
            </a:solidFill>
            <a:prstDash val="solid"/>
          </a:ln>
        </p:spPr>
        <p:txBody>
          <a:bodyPr/>
          <a:lstStyle/>
          <a:p>
            <a:endParaRPr lang="en-US"/>
          </a:p>
        </p:txBody>
      </p:sp>
      <p:sp>
        <p:nvSpPr>
          <p:cNvPr id="15" name="Text 13">
            <a:extLst>
              <a:ext uri="{FF2B5EF4-FFF2-40B4-BE49-F238E27FC236}">
                <a16:creationId xmlns:a16="http://schemas.microsoft.com/office/drawing/2014/main" id="{5176997A-621E-F9F4-FF37-6BD2027E1D84}"/>
              </a:ext>
            </a:extLst>
          </p:cNvPr>
          <p:cNvSpPr/>
          <p:nvPr/>
        </p:nvSpPr>
        <p:spPr>
          <a:xfrm>
            <a:off x="731520" y="2743200"/>
            <a:ext cx="219456"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6" name="Text 14">
            <a:extLst>
              <a:ext uri="{FF2B5EF4-FFF2-40B4-BE49-F238E27FC236}">
                <a16:creationId xmlns:a16="http://schemas.microsoft.com/office/drawing/2014/main" id="{83FF0164-FFDE-0ACC-8F18-42E6B7C4B8E3}"/>
              </a:ext>
            </a:extLst>
          </p:cNvPr>
          <p:cNvSpPr/>
          <p:nvPr/>
        </p:nvSpPr>
        <p:spPr>
          <a:xfrm>
            <a:off x="1051560" y="2715768"/>
            <a:ext cx="5166360" cy="384048"/>
          </a:xfrm>
          <a:prstGeom prst="rect">
            <a:avLst/>
          </a:prstGeom>
          <a:noFill/>
          <a:ln/>
        </p:spPr>
        <p:txBody>
          <a:bodyPr wrap="square" lIns="0" tIns="0" rIns="0" bIns="0" rtlCol="0" anchor="ctr"/>
          <a:lstStyle/>
          <a:p>
            <a:pPr marL="0" indent="0">
              <a:buNone/>
            </a:pPr>
            <a:r>
              <a:rPr lang="en-US" sz="1050" dirty="0">
                <a:solidFill>
                  <a:srgbClr val="2B2B2B"/>
                </a:solidFill>
                <a:latin typeface="Calibri" pitchFamily="34" charset="0"/>
                <a:ea typeface="Calibri" pitchFamily="34" charset="-122"/>
                <a:cs typeface="Calibri" pitchFamily="34" charset="-120"/>
              </a:rPr>
              <a:t>Claude explores the skills directory structure on its own — searches, reads existing skills, checks conventions</a:t>
            </a:r>
            <a:endParaRPr lang="en-US" sz="1050" dirty="0"/>
          </a:p>
        </p:txBody>
      </p:sp>
      <p:sp>
        <p:nvSpPr>
          <p:cNvPr id="17" name="Shape 15">
            <a:extLst>
              <a:ext uri="{FF2B5EF4-FFF2-40B4-BE49-F238E27FC236}">
                <a16:creationId xmlns:a16="http://schemas.microsoft.com/office/drawing/2014/main" id="{06AC17D6-7EB9-4225-6157-FCDA546B4A4E}"/>
              </a:ext>
            </a:extLst>
          </p:cNvPr>
          <p:cNvSpPr/>
          <p:nvPr/>
        </p:nvSpPr>
        <p:spPr>
          <a:xfrm>
            <a:off x="731520" y="3182112"/>
            <a:ext cx="219456" cy="219456"/>
          </a:xfrm>
          <a:prstGeom prst="ellipse">
            <a:avLst/>
          </a:prstGeom>
          <a:solidFill>
            <a:srgbClr val="3B7A75"/>
          </a:solidFill>
          <a:ln w="12700">
            <a:solidFill>
              <a:srgbClr val="3B7A75"/>
            </a:solidFill>
            <a:prstDash val="solid"/>
          </a:ln>
        </p:spPr>
        <p:txBody>
          <a:bodyPr/>
          <a:lstStyle/>
          <a:p>
            <a:endParaRPr lang="en-US"/>
          </a:p>
        </p:txBody>
      </p:sp>
      <p:sp>
        <p:nvSpPr>
          <p:cNvPr id="18" name="Text 16">
            <a:extLst>
              <a:ext uri="{FF2B5EF4-FFF2-40B4-BE49-F238E27FC236}">
                <a16:creationId xmlns:a16="http://schemas.microsoft.com/office/drawing/2014/main" id="{8F7B6382-3920-2DCC-5291-6529B9664F42}"/>
              </a:ext>
            </a:extLst>
          </p:cNvPr>
          <p:cNvSpPr/>
          <p:nvPr/>
        </p:nvSpPr>
        <p:spPr>
          <a:xfrm>
            <a:off x="731520" y="3182112"/>
            <a:ext cx="219456"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9" name="Text 17">
            <a:extLst>
              <a:ext uri="{FF2B5EF4-FFF2-40B4-BE49-F238E27FC236}">
                <a16:creationId xmlns:a16="http://schemas.microsoft.com/office/drawing/2014/main" id="{90B89F08-DEDB-9764-455F-8735F213E6CB}"/>
              </a:ext>
            </a:extLst>
          </p:cNvPr>
          <p:cNvSpPr/>
          <p:nvPr/>
        </p:nvSpPr>
        <p:spPr>
          <a:xfrm>
            <a:off x="1051560" y="3154680"/>
            <a:ext cx="5166360" cy="292608"/>
          </a:xfrm>
          <a:prstGeom prst="rect">
            <a:avLst/>
          </a:prstGeom>
          <a:noFill/>
          <a:ln/>
        </p:spPr>
        <p:txBody>
          <a:bodyPr wrap="square" lIns="0" tIns="0" rIns="0" bIns="0" rtlCol="0" anchor="ctr"/>
          <a:lstStyle/>
          <a:p>
            <a:pPr marL="0" indent="0">
              <a:buNone/>
            </a:pPr>
            <a:r>
              <a:rPr lang="en-US" sz="1050" b="1" dirty="0">
                <a:solidFill>
                  <a:srgbClr val="141414"/>
                </a:solidFill>
                <a:latin typeface="Calibri" pitchFamily="34" charset="0"/>
                <a:ea typeface="Calibri" pitchFamily="34" charset="-122"/>
                <a:cs typeface="Calibri" pitchFamily="34" charset="-120"/>
              </a:rPr>
              <a:t>Asks one clarifying question:  </a:t>
            </a:r>
            <a:r>
              <a:rPr lang="en-US" sz="1050" i="1" dirty="0">
                <a:solidFill>
                  <a:srgbClr val="2B2B2B"/>
                </a:solidFill>
                <a:latin typeface="Calibri" pitchFamily="34" charset="0"/>
                <a:ea typeface="Calibri" pitchFamily="34" charset="-122"/>
                <a:cs typeface="Calibri" pitchFamily="34" charset="-120"/>
              </a:rPr>
              <a:t>“What should the skill output?”</a:t>
            </a:r>
            <a:endParaRPr lang="en-US" sz="1050" dirty="0"/>
          </a:p>
        </p:txBody>
      </p:sp>
      <p:sp>
        <p:nvSpPr>
          <p:cNvPr id="20" name="Shape 18">
            <a:extLst>
              <a:ext uri="{FF2B5EF4-FFF2-40B4-BE49-F238E27FC236}">
                <a16:creationId xmlns:a16="http://schemas.microsoft.com/office/drawing/2014/main" id="{B5662780-DBA5-3008-5C66-DEFCACF50BCA}"/>
              </a:ext>
            </a:extLst>
          </p:cNvPr>
          <p:cNvSpPr/>
          <p:nvPr/>
        </p:nvSpPr>
        <p:spPr>
          <a:xfrm>
            <a:off x="1051560" y="3493008"/>
            <a:ext cx="5166360" cy="777240"/>
          </a:xfrm>
          <a:prstGeom prst="rect">
            <a:avLst/>
          </a:prstGeom>
          <a:solidFill>
            <a:srgbClr val="F7F5F0"/>
          </a:solidFill>
          <a:ln w="9525">
            <a:solidFill>
              <a:srgbClr val="E3E0D8"/>
            </a:solidFill>
            <a:prstDash val="solid"/>
          </a:ln>
        </p:spPr>
        <p:txBody>
          <a:bodyPr/>
          <a:lstStyle/>
          <a:p>
            <a:endParaRPr lang="en-US"/>
          </a:p>
        </p:txBody>
      </p:sp>
      <p:sp>
        <p:nvSpPr>
          <p:cNvPr id="21" name="Text 19">
            <a:extLst>
              <a:ext uri="{FF2B5EF4-FFF2-40B4-BE49-F238E27FC236}">
                <a16:creationId xmlns:a16="http://schemas.microsoft.com/office/drawing/2014/main" id="{F4B2A4C3-D816-1732-F19E-EF659C3E05EC}"/>
              </a:ext>
            </a:extLst>
          </p:cNvPr>
          <p:cNvSpPr/>
          <p:nvPr/>
        </p:nvSpPr>
        <p:spPr>
          <a:xfrm>
            <a:off x="1188720" y="3566160"/>
            <a:ext cx="4892040" cy="219456"/>
          </a:xfrm>
          <a:prstGeom prst="rect">
            <a:avLst/>
          </a:prstGeom>
          <a:noFill/>
          <a:ln/>
        </p:spPr>
        <p:txBody>
          <a:bodyPr wrap="square" lIns="0" tIns="0" rIns="0" bIns="0" rtlCol="0" anchor="ctr"/>
          <a:lstStyle/>
          <a:p>
            <a:pPr marL="0" indent="0">
              <a:buNone/>
            </a:pPr>
            <a:r>
              <a:rPr lang="en-US" sz="950" b="1" dirty="0">
                <a:solidFill>
                  <a:srgbClr val="3B7A75"/>
                </a:solidFill>
                <a:latin typeface="Calibri" pitchFamily="34" charset="0"/>
                <a:ea typeface="Calibri" pitchFamily="34" charset="-122"/>
                <a:cs typeface="Calibri" pitchFamily="34" charset="-120"/>
              </a:rPr>
              <a:t>✔  </a:t>
            </a:r>
            <a:r>
              <a:rPr lang="en-US" sz="950" b="1" dirty="0">
                <a:solidFill>
                  <a:srgbClr val="141414"/>
                </a:solidFill>
                <a:latin typeface="Calibri" pitchFamily="34" charset="0"/>
                <a:ea typeface="Calibri" pitchFamily="34" charset="-122"/>
                <a:cs typeface="Calibri" pitchFamily="34" charset="-120"/>
              </a:rPr>
              <a:t>Raw base64 string  —  plain text, chosen</a:t>
            </a:r>
            <a:endParaRPr lang="en-US" sz="950" dirty="0"/>
          </a:p>
        </p:txBody>
      </p:sp>
      <p:sp>
        <p:nvSpPr>
          <p:cNvPr id="22" name="Text 20">
            <a:extLst>
              <a:ext uri="{FF2B5EF4-FFF2-40B4-BE49-F238E27FC236}">
                <a16:creationId xmlns:a16="http://schemas.microsoft.com/office/drawing/2014/main" id="{350FA07C-D877-822C-DAD8-859406A3EE5B}"/>
              </a:ext>
            </a:extLst>
          </p:cNvPr>
          <p:cNvSpPr/>
          <p:nvPr/>
        </p:nvSpPr>
        <p:spPr>
          <a:xfrm>
            <a:off x="1188720" y="3794760"/>
            <a:ext cx="4892040" cy="219456"/>
          </a:xfrm>
          <a:prstGeom prst="rect">
            <a:avLst/>
          </a:prstGeom>
          <a:noFill/>
          <a:ln/>
        </p:spPr>
        <p:txBody>
          <a:bodyPr wrap="square" lIns="0" tIns="0" rIns="0" bIns="0" rtlCol="0" anchor="ctr"/>
          <a:lstStyle/>
          <a:p>
            <a:pPr marL="0" indent="0">
              <a:buNone/>
            </a:pPr>
            <a:r>
              <a:rPr lang="en-US" sz="950" b="1" dirty="0">
                <a:solidFill>
                  <a:srgbClr val="6B6B6B"/>
                </a:solidFill>
                <a:latin typeface="Calibri" pitchFamily="34" charset="0"/>
                <a:ea typeface="Calibri" pitchFamily="34" charset="-122"/>
                <a:cs typeface="Calibri" pitchFamily="34" charset="-120"/>
              </a:rPr>
              <a:t>○  </a:t>
            </a:r>
            <a:r>
              <a:rPr lang="en-US" sz="950" dirty="0">
                <a:solidFill>
                  <a:srgbClr val="6B6B6B"/>
                </a:solidFill>
                <a:latin typeface="Calibri" pitchFamily="34" charset="0"/>
                <a:ea typeface="Calibri" pitchFamily="34" charset="-122"/>
                <a:cs typeface="Calibri" pitchFamily="34" charset="-120"/>
              </a:rPr>
              <a:t>Data URL  (data:mime;base64,...)</a:t>
            </a:r>
            <a:endParaRPr lang="en-US" sz="950" dirty="0"/>
          </a:p>
        </p:txBody>
      </p:sp>
      <p:sp>
        <p:nvSpPr>
          <p:cNvPr id="23" name="Text 21">
            <a:extLst>
              <a:ext uri="{FF2B5EF4-FFF2-40B4-BE49-F238E27FC236}">
                <a16:creationId xmlns:a16="http://schemas.microsoft.com/office/drawing/2014/main" id="{7791B627-5820-657E-F5C6-0B65A0BBC578}"/>
              </a:ext>
            </a:extLst>
          </p:cNvPr>
          <p:cNvSpPr/>
          <p:nvPr/>
        </p:nvSpPr>
        <p:spPr>
          <a:xfrm>
            <a:off x="1188720" y="4023360"/>
            <a:ext cx="4892040" cy="219456"/>
          </a:xfrm>
          <a:prstGeom prst="rect">
            <a:avLst/>
          </a:prstGeom>
          <a:noFill/>
          <a:ln/>
        </p:spPr>
        <p:txBody>
          <a:bodyPr wrap="square" lIns="0" tIns="0" rIns="0" bIns="0" rtlCol="0" anchor="ctr"/>
          <a:lstStyle/>
          <a:p>
            <a:pPr marL="0" indent="0">
              <a:buNone/>
            </a:pPr>
            <a:r>
              <a:rPr lang="en-US" sz="950" b="1" dirty="0">
                <a:solidFill>
                  <a:srgbClr val="6B6B6B"/>
                </a:solidFill>
                <a:latin typeface="Calibri" pitchFamily="34" charset="0"/>
                <a:ea typeface="Calibri" pitchFamily="34" charset="-122"/>
                <a:cs typeface="Calibri" pitchFamily="34" charset="-120"/>
              </a:rPr>
              <a:t>○  </a:t>
            </a:r>
            <a:r>
              <a:rPr lang="en-US" sz="950" dirty="0">
                <a:solidFill>
                  <a:srgbClr val="6B6B6B"/>
                </a:solidFill>
                <a:latin typeface="Calibri" pitchFamily="34" charset="0"/>
                <a:ea typeface="Calibri" pitchFamily="34" charset="-122"/>
                <a:cs typeface="Calibri" pitchFamily="34" charset="-120"/>
              </a:rPr>
              <a:t>Write to output file</a:t>
            </a:r>
            <a:endParaRPr lang="en-US" sz="950" dirty="0"/>
          </a:p>
        </p:txBody>
      </p:sp>
      <p:sp>
        <p:nvSpPr>
          <p:cNvPr id="24" name="Shape 22">
            <a:extLst>
              <a:ext uri="{FF2B5EF4-FFF2-40B4-BE49-F238E27FC236}">
                <a16:creationId xmlns:a16="http://schemas.microsoft.com/office/drawing/2014/main" id="{949CE89D-D189-5079-F8C9-54917645577E}"/>
              </a:ext>
            </a:extLst>
          </p:cNvPr>
          <p:cNvSpPr/>
          <p:nvPr/>
        </p:nvSpPr>
        <p:spPr>
          <a:xfrm>
            <a:off x="731520" y="4407408"/>
            <a:ext cx="219456" cy="219456"/>
          </a:xfrm>
          <a:prstGeom prst="ellipse">
            <a:avLst/>
          </a:prstGeom>
          <a:solidFill>
            <a:srgbClr val="3B7A75"/>
          </a:solidFill>
          <a:ln w="12700">
            <a:solidFill>
              <a:srgbClr val="3B7A75"/>
            </a:solidFill>
            <a:prstDash val="solid"/>
          </a:ln>
        </p:spPr>
        <p:txBody>
          <a:bodyPr/>
          <a:lstStyle/>
          <a:p>
            <a:endParaRPr lang="en-US"/>
          </a:p>
        </p:txBody>
      </p:sp>
      <p:sp>
        <p:nvSpPr>
          <p:cNvPr id="25" name="Text 23">
            <a:extLst>
              <a:ext uri="{FF2B5EF4-FFF2-40B4-BE49-F238E27FC236}">
                <a16:creationId xmlns:a16="http://schemas.microsoft.com/office/drawing/2014/main" id="{6DF8C5FA-73CB-510B-F57A-75B467487916}"/>
              </a:ext>
            </a:extLst>
          </p:cNvPr>
          <p:cNvSpPr/>
          <p:nvPr/>
        </p:nvSpPr>
        <p:spPr>
          <a:xfrm>
            <a:off x="731520" y="4407408"/>
            <a:ext cx="219456"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6" name="Text 24">
            <a:extLst>
              <a:ext uri="{FF2B5EF4-FFF2-40B4-BE49-F238E27FC236}">
                <a16:creationId xmlns:a16="http://schemas.microsoft.com/office/drawing/2014/main" id="{B14F1B0E-162B-5227-DC9D-AB9D3213ED6F}"/>
              </a:ext>
            </a:extLst>
          </p:cNvPr>
          <p:cNvSpPr/>
          <p:nvPr/>
        </p:nvSpPr>
        <p:spPr>
          <a:xfrm>
            <a:off x="1051560" y="4379976"/>
            <a:ext cx="5166360" cy="502920"/>
          </a:xfrm>
          <a:prstGeom prst="rect">
            <a:avLst/>
          </a:prstGeom>
          <a:noFill/>
          <a:ln/>
        </p:spPr>
        <p:txBody>
          <a:bodyPr wrap="square" lIns="0" tIns="0" rIns="0" bIns="0" rtlCol="0" anchor="ctr"/>
          <a:lstStyle/>
          <a:p>
            <a:pPr marL="0" indent="0">
              <a:buNone/>
            </a:pPr>
            <a:r>
              <a:rPr lang="en-US" sz="1050" dirty="0">
                <a:solidFill>
                  <a:srgbClr val="2B2B2B"/>
                </a:solidFill>
                <a:latin typeface="Calibri" pitchFamily="34" charset="0"/>
                <a:ea typeface="Calibri" pitchFamily="34" charset="-122"/>
                <a:cs typeface="Calibri" pitchFamily="34" charset="-120"/>
              </a:rPr>
              <a:t>Writes the full SKILL.md — frontmatter, instructions, fallback commands, edge cases (10MB size warning, missing Python)</a:t>
            </a:r>
            <a:endParaRPr lang="en-US" sz="1050" dirty="0"/>
          </a:p>
        </p:txBody>
      </p:sp>
      <p:sp>
        <p:nvSpPr>
          <p:cNvPr id="27" name="Shape 25">
            <a:extLst>
              <a:ext uri="{FF2B5EF4-FFF2-40B4-BE49-F238E27FC236}">
                <a16:creationId xmlns:a16="http://schemas.microsoft.com/office/drawing/2014/main" id="{24D72439-B7F2-A276-D66E-1FF73DBF89E3}"/>
              </a:ext>
            </a:extLst>
          </p:cNvPr>
          <p:cNvSpPr/>
          <p:nvPr/>
        </p:nvSpPr>
        <p:spPr>
          <a:xfrm>
            <a:off x="731520" y="4956048"/>
            <a:ext cx="5486400" cy="457200"/>
          </a:xfrm>
          <a:prstGeom prst="rect">
            <a:avLst/>
          </a:prstGeom>
          <a:solidFill>
            <a:srgbClr val="FBEFE9"/>
          </a:solidFill>
          <a:ln w="9525">
            <a:solidFill>
              <a:srgbClr val="E3E0D8"/>
            </a:solidFill>
            <a:prstDash val="solid"/>
          </a:ln>
        </p:spPr>
        <p:txBody>
          <a:bodyPr/>
          <a:lstStyle/>
          <a:p>
            <a:endParaRPr lang="en-US"/>
          </a:p>
        </p:txBody>
      </p:sp>
      <p:sp>
        <p:nvSpPr>
          <p:cNvPr id="28" name="Text 26">
            <a:extLst>
              <a:ext uri="{FF2B5EF4-FFF2-40B4-BE49-F238E27FC236}">
                <a16:creationId xmlns:a16="http://schemas.microsoft.com/office/drawing/2014/main" id="{3FC9E871-1B72-9F2C-03B8-70EF66D0A4B1}"/>
              </a:ext>
            </a:extLst>
          </p:cNvPr>
          <p:cNvSpPr/>
          <p:nvPr/>
        </p:nvSpPr>
        <p:spPr>
          <a:xfrm>
            <a:off x="868680" y="4956048"/>
            <a:ext cx="5212080" cy="457200"/>
          </a:xfrm>
          <a:prstGeom prst="rect">
            <a:avLst/>
          </a:prstGeom>
          <a:noFill/>
          <a:ln/>
        </p:spPr>
        <p:txBody>
          <a:bodyPr wrap="square" lIns="0" tIns="0" rIns="0" bIns="0" rtlCol="0" anchor="ctr"/>
          <a:lstStyle/>
          <a:p>
            <a:pPr marL="0" indent="0">
              <a:buNone/>
            </a:pPr>
            <a:r>
              <a:rPr lang="en-US" sz="1000" b="1" i="1" dirty="0">
                <a:solidFill>
                  <a:srgbClr val="C9704F"/>
                </a:solidFill>
                <a:latin typeface="Calibri" pitchFamily="34" charset="0"/>
                <a:ea typeface="Calibri" pitchFamily="34" charset="-122"/>
                <a:cs typeface="Calibri" pitchFamily="34" charset="-120"/>
              </a:rPr>
              <a:t>No eval loop needed here — </a:t>
            </a:r>
            <a:r>
              <a:rPr lang="en-US" sz="1000" i="1" dirty="0">
                <a:solidFill>
                  <a:srgbClr val="2B2B2B"/>
                </a:solidFill>
                <a:latin typeface="Calibri" pitchFamily="34" charset="0"/>
                <a:ea typeface="Calibri" pitchFamily="34" charset="-122"/>
                <a:cs typeface="Calibri" pitchFamily="34" charset="-120"/>
              </a:rPr>
              <a:t>simple, one-off asks skip straight to the file.</a:t>
            </a:r>
            <a:endParaRPr lang="en-US" sz="1000" dirty="0"/>
          </a:p>
        </p:txBody>
      </p:sp>
      <p:sp>
        <p:nvSpPr>
          <p:cNvPr id="29" name="Shape 27">
            <a:extLst>
              <a:ext uri="{FF2B5EF4-FFF2-40B4-BE49-F238E27FC236}">
                <a16:creationId xmlns:a16="http://schemas.microsoft.com/office/drawing/2014/main" id="{62538C97-345D-B1F1-4118-B34F52F75D35}"/>
              </a:ext>
            </a:extLst>
          </p:cNvPr>
          <p:cNvSpPr/>
          <p:nvPr/>
        </p:nvSpPr>
        <p:spPr>
          <a:xfrm>
            <a:off x="6675120" y="1280160"/>
            <a:ext cx="5029200" cy="4251960"/>
          </a:xfrm>
          <a:prstGeom prst="roundRect">
            <a:avLst>
              <a:gd name="adj" fmla="val 1290"/>
            </a:avLst>
          </a:prstGeom>
          <a:solidFill>
            <a:srgbClr val="FFFFFF"/>
          </a:solidFill>
          <a:ln w="12700">
            <a:solidFill>
              <a:srgbClr val="E3E0D8"/>
            </a:solidFill>
            <a:prstDash val="solid"/>
          </a:ln>
          <a:effectLst>
            <a:outerShdw blurRad="101600" dist="25400" dir="5400000" algn="bl" rotWithShape="0">
              <a:srgbClr val="000000">
                <a:alpha val="8000"/>
              </a:srgbClr>
            </a:outerShdw>
          </a:effectLst>
        </p:spPr>
        <p:txBody>
          <a:bodyPr/>
          <a:lstStyle/>
          <a:p>
            <a:endParaRPr lang="en-US"/>
          </a:p>
        </p:txBody>
      </p:sp>
      <p:sp>
        <p:nvSpPr>
          <p:cNvPr id="30" name="Text 28">
            <a:extLst>
              <a:ext uri="{FF2B5EF4-FFF2-40B4-BE49-F238E27FC236}">
                <a16:creationId xmlns:a16="http://schemas.microsoft.com/office/drawing/2014/main" id="{9AEC4491-58F5-EE23-E75C-34480DA8B7A8}"/>
              </a:ext>
            </a:extLst>
          </p:cNvPr>
          <p:cNvSpPr/>
          <p:nvPr/>
        </p:nvSpPr>
        <p:spPr>
          <a:xfrm>
            <a:off x="6949440" y="1481328"/>
            <a:ext cx="4480560" cy="320040"/>
          </a:xfrm>
          <a:prstGeom prst="rect">
            <a:avLst/>
          </a:prstGeom>
          <a:noFill/>
          <a:ln/>
        </p:spPr>
        <p:txBody>
          <a:bodyPr wrap="square" lIns="0" tIns="0" rIns="0" bIns="0" rtlCol="0" anchor="ctr"/>
          <a:lstStyle/>
          <a:p>
            <a:pPr marL="0" indent="0">
              <a:buNone/>
            </a:pPr>
            <a:r>
              <a:rPr lang="en-US" sz="1500" b="1" dirty="0">
                <a:solidFill>
                  <a:srgbClr val="141414"/>
                </a:solidFill>
                <a:latin typeface="Calibri" pitchFamily="34" charset="0"/>
                <a:ea typeface="Calibri" pitchFamily="34" charset="-122"/>
                <a:cs typeface="Calibri" pitchFamily="34" charset="-120"/>
              </a:rPr>
              <a:t>The generated SKILL.md</a:t>
            </a:r>
            <a:endParaRPr lang="en-US" sz="1500" dirty="0"/>
          </a:p>
        </p:txBody>
      </p:sp>
      <p:sp>
        <p:nvSpPr>
          <p:cNvPr id="31" name="Shape 29">
            <a:extLst>
              <a:ext uri="{FF2B5EF4-FFF2-40B4-BE49-F238E27FC236}">
                <a16:creationId xmlns:a16="http://schemas.microsoft.com/office/drawing/2014/main" id="{9C6EFF00-F3C8-4DE7-EBA1-8C7D9A1657FA}"/>
              </a:ext>
            </a:extLst>
          </p:cNvPr>
          <p:cNvSpPr/>
          <p:nvPr/>
        </p:nvSpPr>
        <p:spPr>
          <a:xfrm>
            <a:off x="6903720" y="1847088"/>
            <a:ext cx="4572000" cy="3246120"/>
          </a:xfrm>
          <a:prstGeom prst="rect">
            <a:avLst/>
          </a:prstGeom>
          <a:solidFill>
            <a:srgbClr val="1E1E1E"/>
          </a:solidFill>
          <a:ln w="12700">
            <a:solidFill>
              <a:srgbClr val="1E1E1E"/>
            </a:solidFill>
            <a:prstDash val="solid"/>
          </a:ln>
        </p:spPr>
        <p:txBody>
          <a:bodyPr/>
          <a:lstStyle/>
          <a:p>
            <a:endParaRPr lang="en-US"/>
          </a:p>
        </p:txBody>
      </p:sp>
      <p:sp>
        <p:nvSpPr>
          <p:cNvPr id="32" name="Text 30">
            <a:extLst>
              <a:ext uri="{FF2B5EF4-FFF2-40B4-BE49-F238E27FC236}">
                <a16:creationId xmlns:a16="http://schemas.microsoft.com/office/drawing/2014/main" id="{92827C6F-A4D5-664A-54F8-3541E8220E38}"/>
              </a:ext>
            </a:extLst>
          </p:cNvPr>
          <p:cNvSpPr/>
          <p:nvPr/>
        </p:nvSpPr>
        <p:spPr>
          <a:xfrm>
            <a:off x="7040880" y="1938528"/>
            <a:ext cx="4297680" cy="3063240"/>
          </a:xfrm>
          <a:prstGeom prst="rect">
            <a:avLst/>
          </a:prstGeom>
          <a:noFill/>
          <a:ln/>
        </p:spPr>
        <p:txBody>
          <a:bodyPr wrap="square" lIns="0" tIns="0" rIns="0" bIns="0" rtlCol="0" anchor="t"/>
          <a:lstStyle/>
          <a:p>
            <a:pPr marL="0" indent="0">
              <a:lnSpc>
                <a:spcPts val="1150"/>
              </a:lnSpc>
              <a:buNone/>
            </a:pPr>
            <a:r>
              <a:rPr lang="en-US" sz="900" dirty="0">
                <a:solidFill>
                  <a:srgbClr val="6B6B6B"/>
                </a:solidFill>
                <a:latin typeface="Courier New" pitchFamily="34" charset="0"/>
                <a:ea typeface="Courier New" pitchFamily="34" charset="-122"/>
                <a:cs typeface="Courier New" pitchFamily="34" charset="-120"/>
              </a:rPr>
              <a:t>---
</a:t>
            </a:r>
            <a:r>
              <a:rPr lang="en-US" sz="900" dirty="0">
                <a:solidFill>
                  <a:srgbClr val="9CDCFE"/>
                </a:solidFill>
                <a:latin typeface="Courier New" pitchFamily="34" charset="0"/>
                <a:ea typeface="Courier New" pitchFamily="34" charset="-122"/>
                <a:cs typeface="Courier New" pitchFamily="34" charset="-120"/>
              </a:rPr>
              <a:t>name</a:t>
            </a:r>
            <a:r>
              <a:rPr lang="en-US" sz="900" dirty="0">
                <a:solidFill>
                  <a:srgbClr val="D4D4D4"/>
                </a:solidFill>
                <a:latin typeface="Courier New" pitchFamily="34" charset="0"/>
                <a:ea typeface="Courier New" pitchFamily="34" charset="-122"/>
                <a:cs typeface="Courier New" pitchFamily="34" charset="-120"/>
              </a:rPr>
              <a:t>: file-to-base64
</a:t>
            </a:r>
            <a:r>
              <a:rPr lang="en-US" sz="900" dirty="0">
                <a:solidFill>
                  <a:srgbClr val="9CDCFE"/>
                </a:solidFill>
                <a:latin typeface="Courier New" pitchFamily="34" charset="0"/>
                <a:ea typeface="Courier New" pitchFamily="34" charset="-122"/>
                <a:cs typeface="Courier New" pitchFamily="34" charset="-120"/>
              </a:rPr>
              <a:t>description</a:t>
            </a:r>
            <a:r>
              <a:rPr lang="en-US" sz="900" dirty="0">
                <a:solidFill>
                  <a:srgbClr val="CE9178"/>
                </a:solidFill>
                <a:latin typeface="Courier New" pitchFamily="34" charset="0"/>
                <a:ea typeface="Courier New" pitchFamily="34" charset="-122"/>
                <a:cs typeface="Courier New" pitchFamily="34" charset="-120"/>
              </a:rPr>
              <a:t>: Convert any file to
  base64. Use when asked to encode a
  file to base64, or given a file path
  and mention of base64.
</a:t>
            </a:r>
            <a:r>
              <a:rPr lang="en-US" sz="900" dirty="0">
                <a:solidFill>
                  <a:srgbClr val="6B6B6B"/>
                </a:solidFill>
                <a:latin typeface="Courier New" pitchFamily="34" charset="0"/>
                <a:ea typeface="Courier New" pitchFamily="34" charset="-122"/>
                <a:cs typeface="Courier New" pitchFamily="34" charset="-120"/>
              </a:rPr>
              <a:t>---
</a:t>
            </a:r>
            <a:r>
              <a:rPr lang="en-US" sz="900" b="1" dirty="0">
                <a:solidFill>
                  <a:srgbClr val="C586C0"/>
                </a:solidFill>
                <a:latin typeface="Courier New" pitchFamily="34" charset="0"/>
                <a:ea typeface="Courier New" pitchFamily="34" charset="-122"/>
                <a:cs typeface="Courier New" pitchFamily="34" charset="-120"/>
              </a:rPr>
              <a:t>## When the user gives a file path
</a:t>
            </a:r>
            <a:r>
              <a:rPr lang="en-US" sz="900" dirty="0">
                <a:solidFill>
                  <a:srgbClr val="D4D4D4"/>
                </a:solidFill>
                <a:latin typeface="Courier New" pitchFamily="34" charset="0"/>
                <a:ea typeface="Courier New" pitchFamily="34" charset="-122"/>
                <a:cs typeface="Courier New" pitchFamily="34" charset="-120"/>
              </a:rPr>
              <a:t>1. Confirm the file exists
2. Warn if file &gt; 10 MB
3. Run conversion via Python
4. Show inline if short, else save
   to &lt;file&gt;.b64
</a:t>
            </a:r>
            <a:r>
              <a:rPr lang="en-US" sz="900" b="1" dirty="0">
                <a:solidFill>
                  <a:srgbClr val="C586C0"/>
                </a:solidFill>
                <a:latin typeface="Courier New" pitchFamily="34" charset="0"/>
                <a:ea typeface="Courier New" pitchFamily="34" charset="-122"/>
                <a:cs typeface="Courier New" pitchFamily="34" charset="-120"/>
              </a:rPr>
              <a:t>## Conversion script
</a:t>
            </a:r>
            <a:r>
              <a:rPr lang="en-US" sz="900" dirty="0">
                <a:solidFill>
                  <a:srgbClr val="6A9955"/>
                </a:solidFill>
                <a:latin typeface="Courier New" pitchFamily="34" charset="0"/>
                <a:ea typeface="Courier New" pitchFamily="34" charset="-122"/>
                <a:cs typeface="Courier New" pitchFamily="34" charset="-120"/>
              </a:rPr>
              <a:t>import base64, sys
with open(sys.argv[1],'rb') as f:
    print(base64.b64encode(</a:t>
            </a:r>
            <a:endParaRPr lang="en-US" sz="900" dirty="0"/>
          </a:p>
          <a:p>
            <a:pPr marL="0" indent="0">
              <a:lnSpc>
                <a:spcPts val="1150"/>
              </a:lnSpc>
              <a:buNone/>
            </a:pPr>
            <a:r>
              <a:rPr lang="en-US" sz="900" dirty="0">
                <a:solidFill>
                  <a:srgbClr val="6A9955"/>
                </a:solidFill>
                <a:latin typeface="Courier New" pitchFamily="34" charset="0"/>
                <a:ea typeface="Courier New" pitchFamily="34" charset="-122"/>
                <a:cs typeface="Courier New" pitchFamily="34" charset="-120"/>
              </a:rPr>
              <a:t>        f.read()).decode())</a:t>
            </a:r>
            <a:endParaRPr lang="en-US" sz="900" dirty="0"/>
          </a:p>
        </p:txBody>
      </p:sp>
      <p:sp>
        <p:nvSpPr>
          <p:cNvPr id="33" name="Text 31">
            <a:extLst>
              <a:ext uri="{FF2B5EF4-FFF2-40B4-BE49-F238E27FC236}">
                <a16:creationId xmlns:a16="http://schemas.microsoft.com/office/drawing/2014/main" id="{291F5F1B-3611-9C7A-55D8-0FE4C58D80F2}"/>
              </a:ext>
            </a:extLst>
          </p:cNvPr>
          <p:cNvSpPr/>
          <p:nvPr/>
        </p:nvSpPr>
        <p:spPr>
          <a:xfrm>
            <a:off x="6949440" y="5202936"/>
            <a:ext cx="4480560" cy="365760"/>
          </a:xfrm>
          <a:prstGeom prst="rect">
            <a:avLst/>
          </a:prstGeom>
          <a:noFill/>
          <a:ln/>
        </p:spPr>
        <p:txBody>
          <a:bodyPr wrap="square" lIns="0" tIns="0" rIns="0" bIns="0"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Also includes: Unix/macOS + Windows fallback commands if Python isn't available.</a:t>
            </a:r>
            <a:endParaRPr lang="en-US" sz="1000" dirty="0"/>
          </a:p>
        </p:txBody>
      </p:sp>
      <p:sp>
        <p:nvSpPr>
          <p:cNvPr id="34" name="Shape 32">
            <a:extLst>
              <a:ext uri="{FF2B5EF4-FFF2-40B4-BE49-F238E27FC236}">
                <a16:creationId xmlns:a16="http://schemas.microsoft.com/office/drawing/2014/main" id="{D5078806-3474-E087-E2FA-762F25CB8747}"/>
              </a:ext>
            </a:extLst>
          </p:cNvPr>
          <p:cNvSpPr/>
          <p:nvPr/>
        </p:nvSpPr>
        <p:spPr>
          <a:xfrm>
            <a:off x="457200" y="5715000"/>
            <a:ext cx="11247120" cy="868680"/>
          </a:xfrm>
          <a:prstGeom prst="roundRect">
            <a:avLst>
              <a:gd name="adj" fmla="val 6316"/>
            </a:avLst>
          </a:prstGeom>
          <a:solidFill>
            <a:srgbClr val="141414"/>
          </a:solidFill>
          <a:ln w="12700">
            <a:solidFill>
              <a:srgbClr val="141414"/>
            </a:solidFill>
            <a:prstDash val="solid"/>
          </a:ln>
        </p:spPr>
        <p:txBody>
          <a:bodyPr/>
          <a:lstStyle/>
          <a:p>
            <a:endParaRPr lang="en-US"/>
          </a:p>
        </p:txBody>
      </p:sp>
      <p:sp>
        <p:nvSpPr>
          <p:cNvPr id="35" name="Text 33">
            <a:extLst>
              <a:ext uri="{FF2B5EF4-FFF2-40B4-BE49-F238E27FC236}">
                <a16:creationId xmlns:a16="http://schemas.microsoft.com/office/drawing/2014/main" id="{8F4707B7-F4E4-F317-2A86-2F9EFFE9A8DF}"/>
              </a:ext>
            </a:extLst>
          </p:cNvPr>
          <p:cNvSpPr/>
          <p:nvPr/>
        </p:nvSpPr>
        <p:spPr>
          <a:xfrm>
            <a:off x="731520" y="5843016"/>
            <a:ext cx="10698480" cy="274320"/>
          </a:xfrm>
          <a:prstGeom prst="rect">
            <a:avLst/>
          </a:prstGeom>
          <a:noFill/>
          <a:ln/>
        </p:spPr>
        <p:txBody>
          <a:bodyPr wrap="square" lIns="0" tIns="0" rIns="0" bIns="0" rtlCol="0" anchor="ctr"/>
          <a:lstStyle/>
          <a:p>
            <a:pPr marL="0" indent="0">
              <a:buNone/>
            </a:pPr>
            <a:r>
              <a:rPr lang="en-US" sz="1300" b="1" dirty="0">
                <a:solidFill>
                  <a:srgbClr val="C9704F"/>
                </a:solidFill>
                <a:latin typeface="Calibri" pitchFamily="34" charset="0"/>
                <a:ea typeface="Calibri" pitchFamily="34" charset="-122"/>
                <a:cs typeface="Calibri" pitchFamily="34" charset="-120"/>
              </a:rPr>
              <a:t>Worth knowing: the eval loop is optional</a:t>
            </a:r>
            <a:endParaRPr lang="en-US" sz="1300" dirty="0"/>
          </a:p>
        </p:txBody>
      </p:sp>
      <p:sp>
        <p:nvSpPr>
          <p:cNvPr id="36" name="Text 34">
            <a:extLst>
              <a:ext uri="{FF2B5EF4-FFF2-40B4-BE49-F238E27FC236}">
                <a16:creationId xmlns:a16="http://schemas.microsoft.com/office/drawing/2014/main" id="{BE6B665C-B1A6-17FD-1A20-5B33BC20AB64}"/>
              </a:ext>
            </a:extLst>
          </p:cNvPr>
          <p:cNvSpPr/>
          <p:nvPr/>
        </p:nvSpPr>
        <p:spPr>
          <a:xfrm>
            <a:off x="731520" y="6153912"/>
            <a:ext cx="10698480" cy="384048"/>
          </a:xfrm>
          <a:prstGeom prst="rect">
            <a:avLst/>
          </a:prstGeom>
          <a:noFill/>
          <a:ln/>
        </p:spPr>
        <p:txBody>
          <a:bodyPr wrap="square" lIns="0" tIns="0" rIns="0" bIns="0" rtlCol="0" anchor="ctr"/>
          <a:lstStyle/>
          <a:p>
            <a:pPr marL="0" indent="0">
              <a:buNone/>
            </a:pPr>
            <a:r>
              <a:rPr lang="en-US" sz="1100" dirty="0">
                <a:solidFill>
                  <a:srgbClr val="E8E8E8"/>
                </a:solidFill>
                <a:latin typeface="Calibri" pitchFamily="34" charset="0"/>
                <a:ea typeface="Calibri" pitchFamily="34" charset="-122"/>
                <a:cs typeface="Calibri" pitchFamily="34" charset="-120"/>
              </a:rPr>
              <a:t>skill-creator's default workflow is write → test → grade → benchmark → iterate. But its own instructions say to skip straight to the file when the ask is simple — the full loop is for cases worth verifying before shipping, not every one-liner.</a:t>
            </a:r>
            <a:endParaRPr lang="en-US" sz="1100" dirty="0"/>
          </a:p>
        </p:txBody>
      </p:sp>
    </p:spTree>
    <p:extLst>
      <p:ext uri="{BB962C8B-B14F-4D97-AF65-F5344CB8AC3E}">
        <p14:creationId xmlns:p14="http://schemas.microsoft.com/office/powerpoint/2010/main" val="29213695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5D660ED-CE4A-4AC3-40C8-49F1BFAF0FA9}"/>
              </a:ext>
            </a:extLst>
          </p:cNvPr>
          <p:cNvSpPr/>
          <p:nvPr/>
        </p:nvSpPr>
        <p:spPr>
          <a:xfrm>
            <a:off x="457200" y="274320"/>
            <a:ext cx="11247120" cy="502920"/>
          </a:xfrm>
          <a:prstGeom prst="rect">
            <a:avLst/>
          </a:prstGeom>
          <a:noFill/>
          <a:ln/>
        </p:spPr>
        <p:txBody>
          <a:bodyPr wrap="square" lIns="0" tIns="0" rIns="0" bIns="0" rtlCol="0" anchor="ctr"/>
          <a:lstStyle/>
          <a:p>
            <a:pPr marL="0" indent="0">
              <a:buNone/>
            </a:pPr>
            <a:r>
              <a:rPr lang="en-US" sz="3000" b="1" dirty="0">
                <a:solidFill>
                  <a:srgbClr val="141414"/>
                </a:solidFill>
                <a:latin typeface="Cambria" pitchFamily="34" charset="0"/>
                <a:ea typeface="Cambria" pitchFamily="34" charset="-122"/>
                <a:cs typeface="Cambria" pitchFamily="34" charset="-120"/>
              </a:rPr>
              <a:t>Advanced Skill Configuration</a:t>
            </a:r>
            <a:endParaRPr lang="en-US" sz="3000" dirty="0"/>
          </a:p>
        </p:txBody>
      </p:sp>
      <p:sp>
        <p:nvSpPr>
          <p:cNvPr id="3" name="Text 1">
            <a:extLst>
              <a:ext uri="{FF2B5EF4-FFF2-40B4-BE49-F238E27FC236}">
                <a16:creationId xmlns:a16="http://schemas.microsoft.com/office/drawing/2014/main" id="{3FAB0215-28DA-BD04-CE7C-351BEC5AD8A9}"/>
              </a:ext>
            </a:extLst>
          </p:cNvPr>
          <p:cNvSpPr/>
          <p:nvPr/>
        </p:nvSpPr>
        <p:spPr>
          <a:xfrm>
            <a:off x="457200" y="777240"/>
            <a:ext cx="11247120" cy="320040"/>
          </a:xfrm>
          <a:prstGeom prst="rect">
            <a:avLst/>
          </a:prstGeom>
          <a:noFill/>
          <a:ln/>
        </p:spPr>
        <p:txBody>
          <a:bodyPr wrap="square" lIns="0" tIns="0" rIns="0" bIns="0" rtlCol="0" anchor="ctr"/>
          <a:lstStyle/>
          <a:p>
            <a:pPr marL="0" indent="0">
              <a:buNone/>
            </a:pPr>
            <a:r>
              <a:rPr lang="en-US" sz="1400" dirty="0">
                <a:solidFill>
                  <a:srgbClr val="6B6B6B"/>
                </a:solidFill>
                <a:latin typeface="Calibri" pitchFamily="34" charset="0"/>
                <a:ea typeface="Calibri" pitchFamily="34" charset="-122"/>
                <a:cs typeface="Calibri" pitchFamily="34" charset="-120"/>
              </a:rPr>
              <a:t>Metadata fields, description quality, and keeping skills lean</a:t>
            </a:r>
            <a:endParaRPr lang="en-US" sz="1400" dirty="0"/>
          </a:p>
        </p:txBody>
      </p:sp>
      <p:sp>
        <p:nvSpPr>
          <p:cNvPr id="4" name="Shape 2">
            <a:extLst>
              <a:ext uri="{FF2B5EF4-FFF2-40B4-BE49-F238E27FC236}">
                <a16:creationId xmlns:a16="http://schemas.microsoft.com/office/drawing/2014/main" id="{A993EB5E-B6F7-9A42-8A72-223F19C04B1F}"/>
              </a:ext>
            </a:extLst>
          </p:cNvPr>
          <p:cNvSpPr/>
          <p:nvPr/>
        </p:nvSpPr>
        <p:spPr>
          <a:xfrm>
            <a:off x="457200" y="1280160"/>
            <a:ext cx="5486400" cy="4251960"/>
          </a:xfrm>
          <a:prstGeom prst="roundRect">
            <a:avLst>
              <a:gd name="adj" fmla="val 1290"/>
            </a:avLst>
          </a:prstGeom>
          <a:solidFill>
            <a:srgbClr val="FFFFFF"/>
          </a:solidFill>
          <a:ln w="12700">
            <a:solidFill>
              <a:srgbClr val="E3E0D8"/>
            </a:solidFill>
            <a:prstDash val="solid"/>
          </a:ln>
          <a:effectLst>
            <a:outerShdw blurRad="101600" dist="25400" dir="5400000" algn="bl" rotWithShape="0">
              <a:srgbClr val="000000">
                <a:alpha val="8000"/>
              </a:srgbClr>
            </a:outerShdw>
          </a:effectLst>
        </p:spPr>
        <p:txBody>
          <a:bodyPr/>
          <a:lstStyle/>
          <a:p>
            <a:endParaRPr lang="en-US"/>
          </a:p>
        </p:txBody>
      </p:sp>
      <p:sp>
        <p:nvSpPr>
          <p:cNvPr id="5" name="Text 3">
            <a:extLst>
              <a:ext uri="{FF2B5EF4-FFF2-40B4-BE49-F238E27FC236}">
                <a16:creationId xmlns:a16="http://schemas.microsoft.com/office/drawing/2014/main" id="{AF9D9F43-3F69-BEB2-BDE5-E9EFCD4C8425}"/>
              </a:ext>
            </a:extLst>
          </p:cNvPr>
          <p:cNvSpPr/>
          <p:nvPr/>
        </p:nvSpPr>
        <p:spPr>
          <a:xfrm>
            <a:off x="731520" y="1481328"/>
            <a:ext cx="4937760" cy="320040"/>
          </a:xfrm>
          <a:prstGeom prst="rect">
            <a:avLst/>
          </a:prstGeom>
          <a:noFill/>
          <a:ln/>
        </p:spPr>
        <p:txBody>
          <a:bodyPr wrap="square" lIns="0" tIns="0" rIns="0" bIns="0" rtlCol="0" anchor="ctr"/>
          <a:lstStyle/>
          <a:p>
            <a:pPr marL="0" indent="0">
              <a:buNone/>
            </a:pPr>
            <a:r>
              <a:rPr lang="en-US" sz="1600" b="1" dirty="0">
                <a:solidFill>
                  <a:srgbClr val="C9704F"/>
                </a:solidFill>
                <a:latin typeface="Calibri" pitchFamily="34" charset="0"/>
                <a:ea typeface="Calibri" pitchFamily="34" charset="-122"/>
                <a:cs typeface="Calibri" pitchFamily="34" charset="-120"/>
              </a:rPr>
              <a:t>Frontmatter fields</a:t>
            </a:r>
            <a:endParaRPr lang="en-US" sz="1600" dirty="0"/>
          </a:p>
        </p:txBody>
      </p:sp>
      <p:sp>
        <p:nvSpPr>
          <p:cNvPr id="6" name="Text 4">
            <a:extLst>
              <a:ext uri="{FF2B5EF4-FFF2-40B4-BE49-F238E27FC236}">
                <a16:creationId xmlns:a16="http://schemas.microsoft.com/office/drawing/2014/main" id="{0B191A3B-0F18-2658-7946-0A84626EA55A}"/>
              </a:ext>
            </a:extLst>
          </p:cNvPr>
          <p:cNvSpPr/>
          <p:nvPr/>
        </p:nvSpPr>
        <p:spPr>
          <a:xfrm>
            <a:off x="731520" y="1847088"/>
            <a:ext cx="1828800" cy="228600"/>
          </a:xfrm>
          <a:prstGeom prst="rect">
            <a:avLst/>
          </a:prstGeom>
          <a:noFill/>
          <a:ln/>
        </p:spPr>
        <p:txBody>
          <a:bodyPr wrap="square" lIns="0" tIns="0" rIns="0" bIns="0" rtlCol="0" anchor="ctr"/>
          <a:lstStyle/>
          <a:p>
            <a:pPr marL="0" indent="0">
              <a:buNone/>
            </a:pPr>
            <a:r>
              <a:rPr lang="en-US" sz="1100" b="1" dirty="0">
                <a:solidFill>
                  <a:srgbClr val="141414"/>
                </a:solidFill>
                <a:latin typeface="Courier New" pitchFamily="34" charset="0"/>
                <a:ea typeface="Courier New" pitchFamily="34" charset="-122"/>
                <a:cs typeface="Courier New" pitchFamily="34" charset="-120"/>
              </a:rPr>
              <a:t>name</a:t>
            </a:r>
            <a:endParaRPr lang="en-US" sz="1100" dirty="0"/>
          </a:p>
        </p:txBody>
      </p:sp>
      <p:sp>
        <p:nvSpPr>
          <p:cNvPr id="7" name="Shape 5">
            <a:extLst>
              <a:ext uri="{FF2B5EF4-FFF2-40B4-BE49-F238E27FC236}">
                <a16:creationId xmlns:a16="http://schemas.microsoft.com/office/drawing/2014/main" id="{6BB5E1C7-B991-B911-9F5F-18B21EA69B53}"/>
              </a:ext>
            </a:extLst>
          </p:cNvPr>
          <p:cNvSpPr/>
          <p:nvPr/>
        </p:nvSpPr>
        <p:spPr>
          <a:xfrm>
            <a:off x="2103120" y="1856232"/>
            <a:ext cx="777240" cy="201168"/>
          </a:xfrm>
          <a:prstGeom prst="rect">
            <a:avLst/>
          </a:prstGeom>
          <a:solidFill>
            <a:srgbClr val="C9704F"/>
          </a:solidFill>
          <a:ln w="12700">
            <a:solidFill>
              <a:srgbClr val="C9704F"/>
            </a:solidFill>
            <a:prstDash val="solid"/>
          </a:ln>
        </p:spPr>
        <p:txBody>
          <a:bodyPr/>
          <a:lstStyle/>
          <a:p>
            <a:endParaRPr lang="en-US"/>
          </a:p>
        </p:txBody>
      </p:sp>
      <p:sp>
        <p:nvSpPr>
          <p:cNvPr id="8" name="Text 6">
            <a:extLst>
              <a:ext uri="{FF2B5EF4-FFF2-40B4-BE49-F238E27FC236}">
                <a16:creationId xmlns:a16="http://schemas.microsoft.com/office/drawing/2014/main" id="{3E76D09A-DD95-BD7B-5C94-E95CDA3E992F}"/>
              </a:ext>
            </a:extLst>
          </p:cNvPr>
          <p:cNvSpPr/>
          <p:nvPr/>
        </p:nvSpPr>
        <p:spPr>
          <a:xfrm>
            <a:off x="2103120" y="1856232"/>
            <a:ext cx="77724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required</a:t>
            </a:r>
            <a:endParaRPr lang="en-US" sz="800" dirty="0"/>
          </a:p>
        </p:txBody>
      </p:sp>
      <p:sp>
        <p:nvSpPr>
          <p:cNvPr id="9" name="Text 7">
            <a:extLst>
              <a:ext uri="{FF2B5EF4-FFF2-40B4-BE49-F238E27FC236}">
                <a16:creationId xmlns:a16="http://schemas.microsoft.com/office/drawing/2014/main" id="{F29DADCD-3810-D3C5-64A8-EE18394889F1}"/>
              </a:ext>
            </a:extLst>
          </p:cNvPr>
          <p:cNvSpPr/>
          <p:nvPr/>
        </p:nvSpPr>
        <p:spPr>
          <a:xfrm>
            <a:off x="731520" y="2093976"/>
            <a:ext cx="4937760" cy="292608"/>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lowercase, numbers, hyphens only — max 64 chars, matches the folder name</a:t>
            </a:r>
            <a:endParaRPr lang="en-US" sz="950" dirty="0"/>
          </a:p>
        </p:txBody>
      </p:sp>
      <p:sp>
        <p:nvSpPr>
          <p:cNvPr id="10" name="Text 8">
            <a:extLst>
              <a:ext uri="{FF2B5EF4-FFF2-40B4-BE49-F238E27FC236}">
                <a16:creationId xmlns:a16="http://schemas.microsoft.com/office/drawing/2014/main" id="{DC299FF2-76E7-CF10-601B-172A63F60ECF}"/>
              </a:ext>
            </a:extLst>
          </p:cNvPr>
          <p:cNvSpPr/>
          <p:nvPr/>
        </p:nvSpPr>
        <p:spPr>
          <a:xfrm>
            <a:off x="731520" y="2395728"/>
            <a:ext cx="1828800" cy="228600"/>
          </a:xfrm>
          <a:prstGeom prst="rect">
            <a:avLst/>
          </a:prstGeom>
          <a:noFill/>
          <a:ln/>
        </p:spPr>
        <p:txBody>
          <a:bodyPr wrap="square" lIns="0" tIns="0" rIns="0" bIns="0" rtlCol="0" anchor="ctr"/>
          <a:lstStyle/>
          <a:p>
            <a:pPr marL="0" indent="0">
              <a:buNone/>
            </a:pPr>
            <a:r>
              <a:rPr lang="en-US" sz="1100" b="1" dirty="0">
                <a:solidFill>
                  <a:srgbClr val="141414"/>
                </a:solidFill>
                <a:latin typeface="Courier New" pitchFamily="34" charset="0"/>
                <a:ea typeface="Courier New" pitchFamily="34" charset="-122"/>
                <a:cs typeface="Courier New" pitchFamily="34" charset="-120"/>
              </a:rPr>
              <a:t>description</a:t>
            </a:r>
            <a:endParaRPr lang="en-US" sz="1100" dirty="0"/>
          </a:p>
        </p:txBody>
      </p:sp>
      <p:sp>
        <p:nvSpPr>
          <p:cNvPr id="11" name="Shape 9">
            <a:extLst>
              <a:ext uri="{FF2B5EF4-FFF2-40B4-BE49-F238E27FC236}">
                <a16:creationId xmlns:a16="http://schemas.microsoft.com/office/drawing/2014/main" id="{3B266D5A-D064-F4F3-703F-485938690229}"/>
              </a:ext>
            </a:extLst>
          </p:cNvPr>
          <p:cNvSpPr/>
          <p:nvPr/>
        </p:nvSpPr>
        <p:spPr>
          <a:xfrm>
            <a:off x="2103120" y="2404872"/>
            <a:ext cx="777240" cy="201168"/>
          </a:xfrm>
          <a:prstGeom prst="rect">
            <a:avLst/>
          </a:prstGeom>
          <a:solidFill>
            <a:srgbClr val="C9704F"/>
          </a:solidFill>
          <a:ln w="12700">
            <a:solidFill>
              <a:srgbClr val="C9704F"/>
            </a:solidFill>
            <a:prstDash val="solid"/>
          </a:ln>
        </p:spPr>
        <p:txBody>
          <a:bodyPr/>
          <a:lstStyle/>
          <a:p>
            <a:endParaRPr lang="en-US"/>
          </a:p>
        </p:txBody>
      </p:sp>
      <p:sp>
        <p:nvSpPr>
          <p:cNvPr id="12" name="Text 10">
            <a:extLst>
              <a:ext uri="{FF2B5EF4-FFF2-40B4-BE49-F238E27FC236}">
                <a16:creationId xmlns:a16="http://schemas.microsoft.com/office/drawing/2014/main" id="{EC3E4BA9-0C41-830C-C755-644263E8F5D9}"/>
              </a:ext>
            </a:extLst>
          </p:cNvPr>
          <p:cNvSpPr/>
          <p:nvPr/>
        </p:nvSpPr>
        <p:spPr>
          <a:xfrm>
            <a:off x="2103120" y="2404872"/>
            <a:ext cx="77724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required</a:t>
            </a:r>
            <a:endParaRPr lang="en-US" sz="800" dirty="0"/>
          </a:p>
        </p:txBody>
      </p:sp>
      <p:sp>
        <p:nvSpPr>
          <p:cNvPr id="13" name="Text 11">
            <a:extLst>
              <a:ext uri="{FF2B5EF4-FFF2-40B4-BE49-F238E27FC236}">
                <a16:creationId xmlns:a16="http://schemas.microsoft.com/office/drawing/2014/main" id="{21C9CD70-A80C-FD26-538D-9A24DD149EA3}"/>
              </a:ext>
            </a:extLst>
          </p:cNvPr>
          <p:cNvSpPr/>
          <p:nvPr/>
        </p:nvSpPr>
        <p:spPr>
          <a:xfrm>
            <a:off x="731520" y="2642616"/>
            <a:ext cx="4937760" cy="292608"/>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max 1,024 chars — the most important field, this is what Claude matches against</a:t>
            </a:r>
            <a:endParaRPr lang="en-US" sz="950" dirty="0"/>
          </a:p>
        </p:txBody>
      </p:sp>
      <p:sp>
        <p:nvSpPr>
          <p:cNvPr id="14" name="Text 12">
            <a:extLst>
              <a:ext uri="{FF2B5EF4-FFF2-40B4-BE49-F238E27FC236}">
                <a16:creationId xmlns:a16="http://schemas.microsoft.com/office/drawing/2014/main" id="{40874D87-E526-FF12-4224-90F4A215E1DA}"/>
              </a:ext>
            </a:extLst>
          </p:cNvPr>
          <p:cNvSpPr/>
          <p:nvPr/>
        </p:nvSpPr>
        <p:spPr>
          <a:xfrm>
            <a:off x="731520" y="2944368"/>
            <a:ext cx="1828800" cy="228600"/>
          </a:xfrm>
          <a:prstGeom prst="rect">
            <a:avLst/>
          </a:prstGeom>
          <a:noFill/>
          <a:ln/>
        </p:spPr>
        <p:txBody>
          <a:bodyPr wrap="square" lIns="0" tIns="0" rIns="0" bIns="0" rtlCol="0" anchor="ctr"/>
          <a:lstStyle/>
          <a:p>
            <a:pPr marL="0" indent="0">
              <a:buNone/>
            </a:pPr>
            <a:r>
              <a:rPr lang="en-US" sz="1100" b="1" dirty="0">
                <a:solidFill>
                  <a:srgbClr val="141414"/>
                </a:solidFill>
                <a:latin typeface="Courier New" pitchFamily="34" charset="0"/>
                <a:ea typeface="Courier New" pitchFamily="34" charset="-122"/>
                <a:cs typeface="Courier New" pitchFamily="34" charset="-120"/>
              </a:rPr>
              <a:t>allowed-tools</a:t>
            </a:r>
            <a:endParaRPr lang="en-US" sz="1100" dirty="0"/>
          </a:p>
        </p:txBody>
      </p:sp>
      <p:sp>
        <p:nvSpPr>
          <p:cNvPr id="15" name="Shape 13">
            <a:extLst>
              <a:ext uri="{FF2B5EF4-FFF2-40B4-BE49-F238E27FC236}">
                <a16:creationId xmlns:a16="http://schemas.microsoft.com/office/drawing/2014/main" id="{A5FF18BE-A767-6E9D-FA55-3CD1F0A452D2}"/>
              </a:ext>
            </a:extLst>
          </p:cNvPr>
          <p:cNvSpPr/>
          <p:nvPr/>
        </p:nvSpPr>
        <p:spPr>
          <a:xfrm>
            <a:off x="2103120" y="2953512"/>
            <a:ext cx="777240" cy="201168"/>
          </a:xfrm>
          <a:prstGeom prst="rect">
            <a:avLst/>
          </a:prstGeom>
          <a:solidFill>
            <a:srgbClr val="6B5B95"/>
          </a:solidFill>
          <a:ln w="12700">
            <a:solidFill>
              <a:srgbClr val="6B5B95"/>
            </a:solidFill>
            <a:prstDash val="solid"/>
          </a:ln>
        </p:spPr>
        <p:txBody>
          <a:bodyPr/>
          <a:lstStyle/>
          <a:p>
            <a:endParaRPr lang="en-US"/>
          </a:p>
        </p:txBody>
      </p:sp>
      <p:sp>
        <p:nvSpPr>
          <p:cNvPr id="16" name="Text 14">
            <a:extLst>
              <a:ext uri="{FF2B5EF4-FFF2-40B4-BE49-F238E27FC236}">
                <a16:creationId xmlns:a16="http://schemas.microsoft.com/office/drawing/2014/main" id="{4EA84953-10FC-1740-B1BD-EB5CAD1B1E40}"/>
              </a:ext>
            </a:extLst>
          </p:cNvPr>
          <p:cNvSpPr/>
          <p:nvPr/>
        </p:nvSpPr>
        <p:spPr>
          <a:xfrm>
            <a:off x="2103120" y="2953512"/>
            <a:ext cx="77724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optional</a:t>
            </a:r>
            <a:endParaRPr lang="en-US" sz="800" dirty="0"/>
          </a:p>
        </p:txBody>
      </p:sp>
      <p:sp>
        <p:nvSpPr>
          <p:cNvPr id="17" name="Text 15">
            <a:extLst>
              <a:ext uri="{FF2B5EF4-FFF2-40B4-BE49-F238E27FC236}">
                <a16:creationId xmlns:a16="http://schemas.microsoft.com/office/drawing/2014/main" id="{593FC9EF-D75E-7E0A-F564-FC83C87694EB}"/>
              </a:ext>
            </a:extLst>
          </p:cNvPr>
          <p:cNvSpPr/>
          <p:nvPr/>
        </p:nvSpPr>
        <p:spPr>
          <a:xfrm>
            <a:off x="731520" y="3191256"/>
            <a:ext cx="4937760" cy="292608"/>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restricts which tools Claude can use while the skill is active</a:t>
            </a:r>
            <a:endParaRPr lang="en-US" sz="950" dirty="0"/>
          </a:p>
        </p:txBody>
      </p:sp>
      <p:sp>
        <p:nvSpPr>
          <p:cNvPr id="18" name="Text 16">
            <a:extLst>
              <a:ext uri="{FF2B5EF4-FFF2-40B4-BE49-F238E27FC236}">
                <a16:creationId xmlns:a16="http://schemas.microsoft.com/office/drawing/2014/main" id="{7FE49354-042E-6485-7485-62EE1F9023C8}"/>
              </a:ext>
            </a:extLst>
          </p:cNvPr>
          <p:cNvSpPr/>
          <p:nvPr/>
        </p:nvSpPr>
        <p:spPr>
          <a:xfrm>
            <a:off x="731520" y="3493008"/>
            <a:ext cx="1828800" cy="228600"/>
          </a:xfrm>
          <a:prstGeom prst="rect">
            <a:avLst/>
          </a:prstGeom>
          <a:noFill/>
          <a:ln/>
        </p:spPr>
        <p:txBody>
          <a:bodyPr wrap="square" lIns="0" tIns="0" rIns="0" bIns="0" rtlCol="0" anchor="ctr"/>
          <a:lstStyle/>
          <a:p>
            <a:pPr marL="0" indent="0">
              <a:buNone/>
            </a:pPr>
            <a:r>
              <a:rPr lang="en-US" sz="1100" b="1" dirty="0">
                <a:solidFill>
                  <a:srgbClr val="141414"/>
                </a:solidFill>
                <a:latin typeface="Courier New" pitchFamily="34" charset="0"/>
                <a:ea typeface="Courier New" pitchFamily="34" charset="-122"/>
                <a:cs typeface="Courier New" pitchFamily="34" charset="-120"/>
              </a:rPr>
              <a:t>model</a:t>
            </a:r>
            <a:endParaRPr lang="en-US" sz="1100" dirty="0"/>
          </a:p>
        </p:txBody>
      </p:sp>
      <p:sp>
        <p:nvSpPr>
          <p:cNvPr id="19" name="Shape 17">
            <a:extLst>
              <a:ext uri="{FF2B5EF4-FFF2-40B4-BE49-F238E27FC236}">
                <a16:creationId xmlns:a16="http://schemas.microsoft.com/office/drawing/2014/main" id="{88A40FFF-C3D4-FECA-3311-300C7F4B73FE}"/>
              </a:ext>
            </a:extLst>
          </p:cNvPr>
          <p:cNvSpPr/>
          <p:nvPr/>
        </p:nvSpPr>
        <p:spPr>
          <a:xfrm>
            <a:off x="2103120" y="3502152"/>
            <a:ext cx="777240" cy="201168"/>
          </a:xfrm>
          <a:prstGeom prst="rect">
            <a:avLst/>
          </a:prstGeom>
          <a:solidFill>
            <a:srgbClr val="6B5B95"/>
          </a:solidFill>
          <a:ln w="12700">
            <a:solidFill>
              <a:srgbClr val="6B5B95"/>
            </a:solidFill>
            <a:prstDash val="solid"/>
          </a:ln>
        </p:spPr>
        <p:txBody>
          <a:bodyPr/>
          <a:lstStyle/>
          <a:p>
            <a:endParaRPr lang="en-US"/>
          </a:p>
        </p:txBody>
      </p:sp>
      <p:sp>
        <p:nvSpPr>
          <p:cNvPr id="20" name="Text 18">
            <a:extLst>
              <a:ext uri="{FF2B5EF4-FFF2-40B4-BE49-F238E27FC236}">
                <a16:creationId xmlns:a16="http://schemas.microsoft.com/office/drawing/2014/main" id="{4F20FCA5-6AF6-6090-E9AD-37A833267C4D}"/>
              </a:ext>
            </a:extLst>
          </p:cNvPr>
          <p:cNvSpPr/>
          <p:nvPr/>
        </p:nvSpPr>
        <p:spPr>
          <a:xfrm>
            <a:off x="2103120" y="3502152"/>
            <a:ext cx="77724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optional</a:t>
            </a:r>
            <a:endParaRPr lang="en-US" sz="800" dirty="0"/>
          </a:p>
        </p:txBody>
      </p:sp>
      <p:sp>
        <p:nvSpPr>
          <p:cNvPr id="21" name="Text 19">
            <a:extLst>
              <a:ext uri="{FF2B5EF4-FFF2-40B4-BE49-F238E27FC236}">
                <a16:creationId xmlns:a16="http://schemas.microsoft.com/office/drawing/2014/main" id="{DBA71EE0-7D75-06D8-E6F0-2745C5DB9518}"/>
              </a:ext>
            </a:extLst>
          </p:cNvPr>
          <p:cNvSpPr/>
          <p:nvPr/>
        </p:nvSpPr>
        <p:spPr>
          <a:xfrm>
            <a:off x="731520" y="3739896"/>
            <a:ext cx="4937760" cy="292608"/>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pins the skill to a specific Claude model</a:t>
            </a:r>
            <a:endParaRPr lang="en-US" sz="950" dirty="0"/>
          </a:p>
        </p:txBody>
      </p:sp>
      <p:sp>
        <p:nvSpPr>
          <p:cNvPr id="22" name="Text 20">
            <a:extLst>
              <a:ext uri="{FF2B5EF4-FFF2-40B4-BE49-F238E27FC236}">
                <a16:creationId xmlns:a16="http://schemas.microsoft.com/office/drawing/2014/main" id="{A549CF87-5C25-E2AF-DF20-50995102873F}"/>
              </a:ext>
            </a:extLst>
          </p:cNvPr>
          <p:cNvSpPr/>
          <p:nvPr/>
        </p:nvSpPr>
        <p:spPr>
          <a:xfrm>
            <a:off x="731520" y="4059936"/>
            <a:ext cx="4937760" cy="256032"/>
          </a:xfrm>
          <a:prstGeom prst="rect">
            <a:avLst/>
          </a:prstGeom>
          <a:noFill/>
          <a:ln/>
        </p:spPr>
        <p:txBody>
          <a:bodyPr wrap="square" lIns="0" tIns="0" rIns="0" bIns="0" rtlCol="0" anchor="ctr"/>
          <a:lstStyle/>
          <a:p>
            <a:pPr marL="0" indent="0">
              <a:buNone/>
            </a:pPr>
            <a:r>
              <a:rPr lang="en-US" sz="1100" b="1" dirty="0">
                <a:solidFill>
                  <a:srgbClr val="141414"/>
                </a:solidFill>
                <a:latin typeface="Calibri" pitchFamily="34" charset="0"/>
                <a:ea typeface="Calibri" pitchFamily="34" charset="-122"/>
                <a:cs typeface="Calibri" pitchFamily="34" charset="-120"/>
              </a:rPr>
              <a:t>Example — read-only skill:</a:t>
            </a:r>
            <a:endParaRPr lang="en-US" sz="1100" dirty="0"/>
          </a:p>
        </p:txBody>
      </p:sp>
      <p:sp>
        <p:nvSpPr>
          <p:cNvPr id="23" name="Shape 21">
            <a:extLst>
              <a:ext uri="{FF2B5EF4-FFF2-40B4-BE49-F238E27FC236}">
                <a16:creationId xmlns:a16="http://schemas.microsoft.com/office/drawing/2014/main" id="{604862B2-866B-4C04-6369-7BDF1B35750A}"/>
              </a:ext>
            </a:extLst>
          </p:cNvPr>
          <p:cNvSpPr/>
          <p:nvPr/>
        </p:nvSpPr>
        <p:spPr>
          <a:xfrm>
            <a:off x="731520" y="4334256"/>
            <a:ext cx="4937760" cy="1051560"/>
          </a:xfrm>
          <a:prstGeom prst="rect">
            <a:avLst/>
          </a:prstGeom>
          <a:solidFill>
            <a:srgbClr val="1E1E1E"/>
          </a:solidFill>
          <a:ln w="12700">
            <a:solidFill>
              <a:srgbClr val="1E1E1E"/>
            </a:solidFill>
            <a:prstDash val="solid"/>
          </a:ln>
        </p:spPr>
        <p:txBody>
          <a:bodyPr/>
          <a:lstStyle/>
          <a:p>
            <a:endParaRPr lang="en-US"/>
          </a:p>
        </p:txBody>
      </p:sp>
      <p:sp>
        <p:nvSpPr>
          <p:cNvPr id="24" name="Text 22">
            <a:extLst>
              <a:ext uri="{FF2B5EF4-FFF2-40B4-BE49-F238E27FC236}">
                <a16:creationId xmlns:a16="http://schemas.microsoft.com/office/drawing/2014/main" id="{5771CF8E-75B1-C5F4-E6AF-49094CC94BFE}"/>
              </a:ext>
            </a:extLst>
          </p:cNvPr>
          <p:cNvSpPr/>
          <p:nvPr/>
        </p:nvSpPr>
        <p:spPr>
          <a:xfrm>
            <a:off x="868680" y="4407408"/>
            <a:ext cx="4663440" cy="914400"/>
          </a:xfrm>
          <a:prstGeom prst="rect">
            <a:avLst/>
          </a:prstGeom>
          <a:noFill/>
          <a:ln/>
        </p:spPr>
        <p:txBody>
          <a:bodyPr wrap="square" lIns="0" tIns="0" rIns="0" bIns="0" rtlCol="0" anchor="t"/>
          <a:lstStyle/>
          <a:p>
            <a:pPr marL="0" indent="0">
              <a:lnSpc>
                <a:spcPts val="1150"/>
              </a:lnSpc>
              <a:buNone/>
            </a:pPr>
            <a:r>
              <a:rPr lang="en-US" sz="850" dirty="0">
                <a:solidFill>
                  <a:srgbClr val="6B6B6B"/>
                </a:solidFill>
                <a:latin typeface="Courier New" pitchFamily="34" charset="0"/>
                <a:ea typeface="Courier New" pitchFamily="34" charset="-122"/>
                <a:cs typeface="Courier New" pitchFamily="34" charset="-120"/>
              </a:rPr>
              <a:t>---
</a:t>
            </a:r>
            <a:r>
              <a:rPr lang="en-US" sz="850" dirty="0">
                <a:solidFill>
                  <a:srgbClr val="9CDCFE"/>
                </a:solidFill>
                <a:latin typeface="Courier New" pitchFamily="34" charset="0"/>
                <a:ea typeface="Courier New" pitchFamily="34" charset="-122"/>
                <a:cs typeface="Courier New" pitchFamily="34" charset="-120"/>
              </a:rPr>
              <a:t>name</a:t>
            </a:r>
            <a:r>
              <a:rPr lang="en-US" sz="850" dirty="0">
                <a:solidFill>
                  <a:srgbClr val="D4D4D4"/>
                </a:solidFill>
                <a:latin typeface="Courier New" pitchFamily="34" charset="0"/>
                <a:ea typeface="Courier New" pitchFamily="34" charset="-122"/>
                <a:cs typeface="Courier New" pitchFamily="34" charset="-120"/>
              </a:rPr>
              <a:t>: codebase-onboarding
</a:t>
            </a:r>
            <a:r>
              <a:rPr lang="en-US" sz="850" dirty="0">
                <a:solidFill>
                  <a:srgbClr val="9CDCFE"/>
                </a:solidFill>
                <a:latin typeface="Courier New" pitchFamily="34" charset="0"/>
                <a:ea typeface="Courier New" pitchFamily="34" charset="-122"/>
                <a:cs typeface="Courier New" pitchFamily="34" charset="-120"/>
              </a:rPr>
              <a:t>description</a:t>
            </a:r>
            <a:r>
              <a:rPr lang="en-US" sz="850" dirty="0">
                <a:solidFill>
                  <a:srgbClr val="CE9178"/>
                </a:solidFill>
                <a:latin typeface="Courier New" pitchFamily="34" charset="0"/>
                <a:ea typeface="Courier New" pitchFamily="34" charset="-122"/>
                <a:cs typeface="Courier New" pitchFamily="34" charset="-120"/>
              </a:rPr>
              <a:t>: Helps new devs
  understand how the system works.
</a:t>
            </a:r>
            <a:r>
              <a:rPr lang="en-US" sz="850" b="1" dirty="0">
                <a:solidFill>
                  <a:srgbClr val="6B5B95"/>
                </a:solidFill>
                <a:latin typeface="Courier New" pitchFamily="34" charset="0"/>
                <a:ea typeface="Courier New" pitchFamily="34" charset="-122"/>
                <a:cs typeface="Courier New" pitchFamily="34" charset="-120"/>
              </a:rPr>
              <a:t>allowed-tools</a:t>
            </a:r>
            <a:r>
              <a:rPr lang="en-US" sz="850" dirty="0">
                <a:solidFill>
                  <a:srgbClr val="D4D4D4"/>
                </a:solidFill>
                <a:latin typeface="Courier New" pitchFamily="34" charset="0"/>
                <a:ea typeface="Courier New" pitchFamily="34" charset="-122"/>
                <a:cs typeface="Courier New" pitchFamily="34" charset="-120"/>
              </a:rPr>
              <a:t>: Read, Grep, Glob, Bash
</a:t>
            </a:r>
            <a:r>
              <a:rPr lang="en-US" sz="850" dirty="0">
                <a:solidFill>
                  <a:srgbClr val="9CDCFE"/>
                </a:solidFill>
                <a:latin typeface="Courier New" pitchFamily="34" charset="0"/>
                <a:ea typeface="Courier New" pitchFamily="34" charset="-122"/>
                <a:cs typeface="Courier New" pitchFamily="34" charset="-120"/>
              </a:rPr>
              <a:t>model</a:t>
            </a:r>
            <a:r>
              <a:rPr lang="en-US" sz="850" dirty="0">
                <a:solidFill>
                  <a:srgbClr val="D4D4D4"/>
                </a:solidFill>
                <a:latin typeface="Courier New" pitchFamily="34" charset="0"/>
                <a:ea typeface="Courier New" pitchFamily="34" charset="-122"/>
                <a:cs typeface="Courier New" pitchFamily="34" charset="-120"/>
              </a:rPr>
              <a:t>: sonnet
</a:t>
            </a:r>
            <a:r>
              <a:rPr lang="en-US" sz="850" dirty="0">
                <a:solidFill>
                  <a:srgbClr val="6B6B6B"/>
                </a:solidFill>
                <a:latin typeface="Courier New" pitchFamily="34" charset="0"/>
                <a:ea typeface="Courier New" pitchFamily="34" charset="-122"/>
                <a:cs typeface="Courier New" pitchFamily="34" charset="-120"/>
              </a:rPr>
              <a:t>---</a:t>
            </a:r>
            <a:endParaRPr lang="en-US" sz="850" dirty="0"/>
          </a:p>
        </p:txBody>
      </p:sp>
      <p:sp>
        <p:nvSpPr>
          <p:cNvPr id="25" name="Text 23">
            <a:extLst>
              <a:ext uri="{FF2B5EF4-FFF2-40B4-BE49-F238E27FC236}">
                <a16:creationId xmlns:a16="http://schemas.microsoft.com/office/drawing/2014/main" id="{39554E13-CFAB-1A64-ACA4-4CFBF99E8E1D}"/>
              </a:ext>
            </a:extLst>
          </p:cNvPr>
          <p:cNvSpPr/>
          <p:nvPr/>
        </p:nvSpPr>
        <p:spPr>
          <a:xfrm>
            <a:off x="731520" y="5449824"/>
            <a:ext cx="4937760" cy="274320"/>
          </a:xfrm>
          <a:prstGeom prst="rect">
            <a:avLst/>
          </a:prstGeom>
          <a:noFill/>
          <a:ln/>
        </p:spPr>
        <p:txBody>
          <a:bodyPr wrap="square" lIns="0" tIns="0" rIns="0" bIns="0" rtlCol="0" anchor="ctr"/>
          <a:lstStyle/>
          <a:p>
            <a:pPr marL="0" indent="0">
              <a:buNone/>
            </a:pPr>
            <a:r>
              <a:rPr lang="en-US" sz="950" i="1" dirty="0">
                <a:solidFill>
                  <a:srgbClr val="6B6B6B"/>
                </a:solidFill>
                <a:latin typeface="Calibri" pitchFamily="34" charset="0"/>
                <a:ea typeface="Calibri" pitchFamily="34" charset="-122"/>
                <a:cs typeface="Calibri" pitchFamily="34" charset="-120"/>
              </a:rPr>
              <a:t>No editing, no writing — explore-only, no permission prompts for those tools.</a:t>
            </a:r>
            <a:endParaRPr lang="en-US" sz="950" dirty="0"/>
          </a:p>
        </p:txBody>
      </p:sp>
      <p:sp>
        <p:nvSpPr>
          <p:cNvPr id="26" name="Shape 24">
            <a:extLst>
              <a:ext uri="{FF2B5EF4-FFF2-40B4-BE49-F238E27FC236}">
                <a16:creationId xmlns:a16="http://schemas.microsoft.com/office/drawing/2014/main" id="{B0B40291-9EF9-B2FA-272B-A67492A192AA}"/>
              </a:ext>
            </a:extLst>
          </p:cNvPr>
          <p:cNvSpPr/>
          <p:nvPr/>
        </p:nvSpPr>
        <p:spPr>
          <a:xfrm>
            <a:off x="6172200" y="1280160"/>
            <a:ext cx="5532120" cy="4251960"/>
          </a:xfrm>
          <a:prstGeom prst="roundRect">
            <a:avLst>
              <a:gd name="adj" fmla="val 1290"/>
            </a:avLst>
          </a:prstGeom>
          <a:solidFill>
            <a:srgbClr val="FFFFFF"/>
          </a:solidFill>
          <a:ln w="12700">
            <a:solidFill>
              <a:srgbClr val="E3E0D8"/>
            </a:solidFill>
            <a:prstDash val="solid"/>
          </a:ln>
          <a:effectLst>
            <a:outerShdw blurRad="101600" dist="25400" dir="5400000" algn="bl" rotWithShape="0">
              <a:srgbClr val="000000">
                <a:alpha val="8000"/>
              </a:srgbClr>
            </a:outerShdw>
          </a:effectLst>
        </p:spPr>
        <p:txBody>
          <a:bodyPr/>
          <a:lstStyle/>
          <a:p>
            <a:endParaRPr lang="en-US"/>
          </a:p>
        </p:txBody>
      </p:sp>
      <p:sp>
        <p:nvSpPr>
          <p:cNvPr id="27" name="Text 25">
            <a:extLst>
              <a:ext uri="{FF2B5EF4-FFF2-40B4-BE49-F238E27FC236}">
                <a16:creationId xmlns:a16="http://schemas.microsoft.com/office/drawing/2014/main" id="{A98CE759-8451-5DAF-8C82-45E9196FDBC6}"/>
              </a:ext>
            </a:extLst>
          </p:cNvPr>
          <p:cNvSpPr/>
          <p:nvPr/>
        </p:nvSpPr>
        <p:spPr>
          <a:xfrm>
            <a:off x="6446520" y="1481328"/>
            <a:ext cx="4983480" cy="365760"/>
          </a:xfrm>
          <a:prstGeom prst="rect">
            <a:avLst/>
          </a:prstGeom>
          <a:noFill/>
          <a:ln/>
        </p:spPr>
        <p:txBody>
          <a:bodyPr wrap="square" lIns="0" tIns="0" rIns="0" bIns="0" rtlCol="0" anchor="ctr"/>
          <a:lstStyle/>
          <a:p>
            <a:pPr marL="0" indent="0">
              <a:buNone/>
            </a:pPr>
            <a:r>
              <a:rPr lang="en-US" sz="1500" b="1" dirty="0">
                <a:solidFill>
                  <a:srgbClr val="141414"/>
                </a:solidFill>
                <a:latin typeface="Calibri" pitchFamily="34" charset="0"/>
                <a:ea typeface="Calibri" pitchFamily="34" charset="-122"/>
                <a:cs typeface="Calibri" pitchFamily="34" charset="-120"/>
              </a:rPr>
              <a:t>A good description answers two questions</a:t>
            </a:r>
            <a:endParaRPr lang="en-US" sz="1500" dirty="0"/>
          </a:p>
        </p:txBody>
      </p:sp>
      <p:sp>
        <p:nvSpPr>
          <p:cNvPr id="28" name="Shape 26">
            <a:extLst>
              <a:ext uri="{FF2B5EF4-FFF2-40B4-BE49-F238E27FC236}">
                <a16:creationId xmlns:a16="http://schemas.microsoft.com/office/drawing/2014/main" id="{61B862C1-3446-B79A-7CE0-5B9D2EDBB461}"/>
              </a:ext>
            </a:extLst>
          </p:cNvPr>
          <p:cNvSpPr/>
          <p:nvPr/>
        </p:nvSpPr>
        <p:spPr>
          <a:xfrm>
            <a:off x="6446520" y="1901952"/>
            <a:ext cx="2446020" cy="502920"/>
          </a:xfrm>
          <a:prstGeom prst="rect">
            <a:avLst/>
          </a:prstGeom>
          <a:solidFill>
            <a:srgbClr val="F7F5F0"/>
          </a:solidFill>
          <a:ln w="9525">
            <a:solidFill>
              <a:srgbClr val="E3E0D8"/>
            </a:solidFill>
            <a:prstDash val="solid"/>
          </a:ln>
        </p:spPr>
        <p:txBody>
          <a:bodyPr/>
          <a:lstStyle/>
          <a:p>
            <a:endParaRPr lang="en-US"/>
          </a:p>
        </p:txBody>
      </p:sp>
      <p:sp>
        <p:nvSpPr>
          <p:cNvPr id="29" name="Text 27">
            <a:extLst>
              <a:ext uri="{FF2B5EF4-FFF2-40B4-BE49-F238E27FC236}">
                <a16:creationId xmlns:a16="http://schemas.microsoft.com/office/drawing/2014/main" id="{91D54641-DDAB-D2CE-3944-96734029C488}"/>
              </a:ext>
            </a:extLst>
          </p:cNvPr>
          <p:cNvSpPr/>
          <p:nvPr/>
        </p:nvSpPr>
        <p:spPr>
          <a:xfrm>
            <a:off x="6537960" y="1901952"/>
            <a:ext cx="2263140" cy="502920"/>
          </a:xfrm>
          <a:prstGeom prst="rect">
            <a:avLst/>
          </a:prstGeom>
          <a:noFill/>
          <a:ln/>
        </p:spPr>
        <p:txBody>
          <a:bodyPr wrap="square" lIns="0" tIns="0" rIns="0" bIns="0" rtlCol="0" anchor="ctr"/>
          <a:lstStyle/>
          <a:p>
            <a:pPr marL="0" indent="0">
              <a:buNone/>
            </a:pPr>
            <a:r>
              <a:rPr lang="en-US" sz="1050" b="1" dirty="0">
                <a:solidFill>
                  <a:srgbClr val="3B7A75"/>
                </a:solidFill>
                <a:latin typeface="Calibri" pitchFamily="34" charset="0"/>
                <a:ea typeface="Calibri" pitchFamily="34" charset="-122"/>
                <a:cs typeface="Calibri" pitchFamily="34" charset="-120"/>
              </a:rPr>
              <a:t>What does it do?</a:t>
            </a:r>
            <a:endParaRPr lang="en-US" sz="1050" dirty="0"/>
          </a:p>
        </p:txBody>
      </p:sp>
      <p:sp>
        <p:nvSpPr>
          <p:cNvPr id="30" name="Shape 28">
            <a:extLst>
              <a:ext uri="{FF2B5EF4-FFF2-40B4-BE49-F238E27FC236}">
                <a16:creationId xmlns:a16="http://schemas.microsoft.com/office/drawing/2014/main" id="{62AB285C-1108-1AA8-4802-6FE3C6EFA6CA}"/>
              </a:ext>
            </a:extLst>
          </p:cNvPr>
          <p:cNvSpPr/>
          <p:nvPr/>
        </p:nvSpPr>
        <p:spPr>
          <a:xfrm>
            <a:off x="8983980" y="1901952"/>
            <a:ext cx="2446020" cy="502920"/>
          </a:xfrm>
          <a:prstGeom prst="rect">
            <a:avLst/>
          </a:prstGeom>
          <a:solidFill>
            <a:srgbClr val="F7F5F0"/>
          </a:solidFill>
          <a:ln w="9525">
            <a:solidFill>
              <a:srgbClr val="E3E0D8"/>
            </a:solidFill>
            <a:prstDash val="solid"/>
          </a:ln>
        </p:spPr>
        <p:txBody>
          <a:bodyPr/>
          <a:lstStyle/>
          <a:p>
            <a:endParaRPr lang="en-US"/>
          </a:p>
        </p:txBody>
      </p:sp>
      <p:sp>
        <p:nvSpPr>
          <p:cNvPr id="31" name="Text 29">
            <a:extLst>
              <a:ext uri="{FF2B5EF4-FFF2-40B4-BE49-F238E27FC236}">
                <a16:creationId xmlns:a16="http://schemas.microsoft.com/office/drawing/2014/main" id="{0B163C9B-1754-F3B1-09B8-E1401F4225D9}"/>
              </a:ext>
            </a:extLst>
          </p:cNvPr>
          <p:cNvSpPr/>
          <p:nvPr/>
        </p:nvSpPr>
        <p:spPr>
          <a:xfrm>
            <a:off x="9075420" y="1901952"/>
            <a:ext cx="2263140" cy="502920"/>
          </a:xfrm>
          <a:prstGeom prst="rect">
            <a:avLst/>
          </a:prstGeom>
          <a:noFill/>
          <a:ln/>
        </p:spPr>
        <p:txBody>
          <a:bodyPr wrap="square" lIns="0" tIns="0" rIns="0" bIns="0" rtlCol="0" anchor="ctr"/>
          <a:lstStyle/>
          <a:p>
            <a:pPr marL="0" indent="0">
              <a:buNone/>
            </a:pPr>
            <a:r>
              <a:rPr lang="en-US" sz="1050" b="1" dirty="0">
                <a:solidFill>
                  <a:srgbClr val="3B7A75"/>
                </a:solidFill>
                <a:latin typeface="Calibri" pitchFamily="34" charset="0"/>
                <a:ea typeface="Calibri" pitchFamily="34" charset="-122"/>
                <a:cs typeface="Calibri" pitchFamily="34" charset="-120"/>
              </a:rPr>
              <a:t>When to use it?</a:t>
            </a:r>
            <a:endParaRPr lang="en-US" sz="1050" dirty="0"/>
          </a:p>
        </p:txBody>
      </p:sp>
      <p:sp>
        <p:nvSpPr>
          <p:cNvPr id="32" name="Text 30">
            <a:extLst>
              <a:ext uri="{FF2B5EF4-FFF2-40B4-BE49-F238E27FC236}">
                <a16:creationId xmlns:a16="http://schemas.microsoft.com/office/drawing/2014/main" id="{4764277F-050C-447F-9ACB-09E1C889A5DD}"/>
              </a:ext>
            </a:extLst>
          </p:cNvPr>
          <p:cNvSpPr/>
          <p:nvPr/>
        </p:nvSpPr>
        <p:spPr>
          <a:xfrm>
            <a:off x="6446520" y="2542032"/>
            <a:ext cx="4983480" cy="502920"/>
          </a:xfrm>
          <a:prstGeom prst="rect">
            <a:avLst/>
          </a:prstGeom>
          <a:noFill/>
          <a:ln/>
        </p:spPr>
        <p:txBody>
          <a:bodyPr wrap="square" lIns="0" tIns="0" rIns="0" bIns="0" rtlCol="0" anchor="ctr"/>
          <a:lstStyle/>
          <a:p>
            <a:pPr marL="0" indent="0">
              <a:buNone/>
            </a:pPr>
            <a:r>
              <a:rPr lang="en-US" sz="1050" b="1" dirty="0">
                <a:solidFill>
                  <a:srgbClr val="141414"/>
                </a:solidFill>
                <a:latin typeface="Calibri" pitchFamily="34" charset="0"/>
                <a:ea typeface="Calibri" pitchFamily="34" charset="-122"/>
                <a:cs typeface="Calibri" pitchFamily="34" charset="-120"/>
              </a:rPr>
              <a:t>Not triggering?  </a:t>
            </a:r>
            <a:r>
              <a:rPr lang="en-US" sz="1050" dirty="0">
                <a:solidFill>
                  <a:srgbClr val="2B2B2B"/>
                </a:solidFill>
                <a:latin typeface="Calibri" pitchFamily="34" charset="0"/>
                <a:ea typeface="Calibri" pitchFamily="34" charset="-122"/>
                <a:cs typeface="Calibri" pitchFamily="34" charset="-120"/>
              </a:rPr>
              <a:t>Add more keywords matching how you actually phrase requests — Claude matches on the description's language.</a:t>
            </a:r>
            <a:endParaRPr lang="en-US" sz="1050" dirty="0"/>
          </a:p>
        </p:txBody>
      </p:sp>
      <p:sp>
        <p:nvSpPr>
          <p:cNvPr id="33" name="Shape 31">
            <a:extLst>
              <a:ext uri="{FF2B5EF4-FFF2-40B4-BE49-F238E27FC236}">
                <a16:creationId xmlns:a16="http://schemas.microsoft.com/office/drawing/2014/main" id="{2C04989F-F274-0C5F-507A-1C651F10076E}"/>
              </a:ext>
            </a:extLst>
          </p:cNvPr>
          <p:cNvSpPr/>
          <p:nvPr/>
        </p:nvSpPr>
        <p:spPr>
          <a:xfrm>
            <a:off x="6446520" y="3108960"/>
            <a:ext cx="4983480" cy="0"/>
          </a:xfrm>
          <a:prstGeom prst="line">
            <a:avLst/>
          </a:prstGeom>
          <a:noFill/>
          <a:ln w="12700">
            <a:solidFill>
              <a:srgbClr val="E3E0D8"/>
            </a:solidFill>
            <a:prstDash val="solid"/>
          </a:ln>
        </p:spPr>
        <p:txBody>
          <a:bodyPr/>
          <a:lstStyle/>
          <a:p>
            <a:endParaRPr lang="en-US"/>
          </a:p>
        </p:txBody>
      </p:sp>
      <p:sp>
        <p:nvSpPr>
          <p:cNvPr id="34" name="Text 32">
            <a:extLst>
              <a:ext uri="{FF2B5EF4-FFF2-40B4-BE49-F238E27FC236}">
                <a16:creationId xmlns:a16="http://schemas.microsoft.com/office/drawing/2014/main" id="{A958F7E5-515B-CEA5-0770-55A65B7DA785}"/>
              </a:ext>
            </a:extLst>
          </p:cNvPr>
          <p:cNvSpPr/>
          <p:nvPr/>
        </p:nvSpPr>
        <p:spPr>
          <a:xfrm>
            <a:off x="6446520" y="3218688"/>
            <a:ext cx="4983480" cy="320040"/>
          </a:xfrm>
          <a:prstGeom prst="rect">
            <a:avLst/>
          </a:prstGeom>
          <a:noFill/>
          <a:ln/>
        </p:spPr>
        <p:txBody>
          <a:bodyPr wrap="square" lIns="0" tIns="0" rIns="0" bIns="0" rtlCol="0" anchor="ctr"/>
          <a:lstStyle/>
          <a:p>
            <a:pPr marL="0" indent="0">
              <a:buNone/>
            </a:pPr>
            <a:r>
              <a:rPr lang="en-US" sz="1500" b="1" dirty="0">
                <a:solidFill>
                  <a:srgbClr val="141414"/>
                </a:solidFill>
                <a:latin typeface="Calibri" pitchFamily="34" charset="0"/>
                <a:ea typeface="Calibri" pitchFamily="34" charset="-122"/>
                <a:cs typeface="Calibri" pitchFamily="34" charset="-120"/>
              </a:rPr>
              <a:t>Progressive disclosure</a:t>
            </a:r>
            <a:endParaRPr lang="en-US" sz="1500" dirty="0"/>
          </a:p>
        </p:txBody>
      </p:sp>
      <p:sp>
        <p:nvSpPr>
          <p:cNvPr id="35" name="Text 33">
            <a:extLst>
              <a:ext uri="{FF2B5EF4-FFF2-40B4-BE49-F238E27FC236}">
                <a16:creationId xmlns:a16="http://schemas.microsoft.com/office/drawing/2014/main" id="{39B3DE67-3D02-7830-56E8-5597EA4BA0F2}"/>
              </a:ext>
            </a:extLst>
          </p:cNvPr>
          <p:cNvSpPr/>
          <p:nvPr/>
        </p:nvSpPr>
        <p:spPr>
          <a:xfrm>
            <a:off x="6446520" y="3566160"/>
            <a:ext cx="4983480" cy="365760"/>
          </a:xfrm>
          <a:prstGeom prst="rect">
            <a:avLst/>
          </a:prstGeom>
          <a:noFill/>
          <a:ln/>
        </p:spPr>
        <p:txBody>
          <a:bodyPr wrap="square" lIns="0" tIns="0" rIns="0" bIns="0" rtlCol="0" anchor="ctr"/>
          <a:lstStyle/>
          <a:p>
            <a:pPr marL="0" indent="0">
              <a:buNone/>
            </a:pPr>
            <a:r>
              <a:rPr lang="en-US" sz="1050" dirty="0">
                <a:solidFill>
                  <a:srgbClr val="2B2B2B"/>
                </a:solidFill>
                <a:latin typeface="Calibri" pitchFamily="34" charset="0"/>
                <a:ea typeface="Calibri" pitchFamily="34" charset="-122"/>
                <a:cs typeface="Calibri" pitchFamily="34" charset="-120"/>
              </a:rPr>
              <a:t>Keep SKILL.md under 500 lines. Push detail into subfolders Claude reads only when needed:</a:t>
            </a:r>
            <a:endParaRPr lang="en-US" sz="1050" dirty="0"/>
          </a:p>
        </p:txBody>
      </p:sp>
      <p:sp>
        <p:nvSpPr>
          <p:cNvPr id="36" name="Shape 34">
            <a:extLst>
              <a:ext uri="{FF2B5EF4-FFF2-40B4-BE49-F238E27FC236}">
                <a16:creationId xmlns:a16="http://schemas.microsoft.com/office/drawing/2014/main" id="{EAAE9B77-62F7-7077-D680-FAEB6048E0C0}"/>
              </a:ext>
            </a:extLst>
          </p:cNvPr>
          <p:cNvSpPr/>
          <p:nvPr/>
        </p:nvSpPr>
        <p:spPr>
          <a:xfrm>
            <a:off x="6446520" y="3977640"/>
            <a:ext cx="1588008" cy="457200"/>
          </a:xfrm>
          <a:prstGeom prst="rect">
            <a:avLst/>
          </a:prstGeom>
          <a:solidFill>
            <a:srgbClr val="3B7A75"/>
          </a:solidFill>
          <a:ln w="12700">
            <a:solidFill>
              <a:srgbClr val="3B7A75"/>
            </a:solidFill>
            <a:prstDash val="solid"/>
          </a:ln>
        </p:spPr>
        <p:txBody>
          <a:bodyPr/>
          <a:lstStyle/>
          <a:p>
            <a:endParaRPr lang="en-US"/>
          </a:p>
        </p:txBody>
      </p:sp>
      <p:sp>
        <p:nvSpPr>
          <p:cNvPr id="37" name="Text 35">
            <a:extLst>
              <a:ext uri="{FF2B5EF4-FFF2-40B4-BE49-F238E27FC236}">
                <a16:creationId xmlns:a16="http://schemas.microsoft.com/office/drawing/2014/main" id="{868C54FA-50E1-3C17-012C-13A8A7F3A2A0}"/>
              </a:ext>
            </a:extLst>
          </p:cNvPr>
          <p:cNvSpPr/>
          <p:nvPr/>
        </p:nvSpPr>
        <p:spPr>
          <a:xfrm>
            <a:off x="6446520" y="3977640"/>
            <a:ext cx="1588008"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scripts/</a:t>
            </a:r>
            <a:endParaRPr lang="en-US" sz="1000" dirty="0"/>
          </a:p>
        </p:txBody>
      </p:sp>
      <p:sp>
        <p:nvSpPr>
          <p:cNvPr id="38" name="Text 36">
            <a:extLst>
              <a:ext uri="{FF2B5EF4-FFF2-40B4-BE49-F238E27FC236}">
                <a16:creationId xmlns:a16="http://schemas.microsoft.com/office/drawing/2014/main" id="{82330A5C-7E8E-D19A-436C-487E68D9D982}"/>
              </a:ext>
            </a:extLst>
          </p:cNvPr>
          <p:cNvSpPr/>
          <p:nvPr/>
        </p:nvSpPr>
        <p:spPr>
          <a:xfrm>
            <a:off x="6492240" y="4206240"/>
            <a:ext cx="1496568" cy="219456"/>
          </a:xfrm>
          <a:prstGeom prst="rect">
            <a:avLst/>
          </a:prstGeom>
          <a:noFill/>
          <a:ln/>
        </p:spPr>
        <p:txBody>
          <a:bodyPr wrap="square" lIns="0" tIns="0" rIns="0" bIns="0" rtlCol="0" anchor="ctr"/>
          <a:lstStyle/>
          <a:p>
            <a:pPr marL="0" indent="0" algn="ctr">
              <a:buNone/>
            </a:pPr>
            <a:r>
              <a:rPr lang="en-US" sz="750" dirty="0">
                <a:solidFill>
                  <a:srgbClr val="F2F2F2"/>
                </a:solidFill>
                <a:latin typeface="Calibri" pitchFamily="34" charset="0"/>
                <a:ea typeface="Calibri" pitchFamily="34" charset="-122"/>
                <a:cs typeface="Calibri" pitchFamily="34" charset="-120"/>
              </a:rPr>
              <a:t>executable code</a:t>
            </a:r>
            <a:endParaRPr lang="en-US" sz="750" dirty="0"/>
          </a:p>
        </p:txBody>
      </p:sp>
      <p:sp>
        <p:nvSpPr>
          <p:cNvPr id="39" name="Shape 37">
            <a:extLst>
              <a:ext uri="{FF2B5EF4-FFF2-40B4-BE49-F238E27FC236}">
                <a16:creationId xmlns:a16="http://schemas.microsoft.com/office/drawing/2014/main" id="{2A0B5805-73D8-C20B-5882-50A81717A24D}"/>
              </a:ext>
            </a:extLst>
          </p:cNvPr>
          <p:cNvSpPr/>
          <p:nvPr/>
        </p:nvSpPr>
        <p:spPr>
          <a:xfrm>
            <a:off x="8144256" y="3977640"/>
            <a:ext cx="1588008" cy="457200"/>
          </a:xfrm>
          <a:prstGeom prst="rect">
            <a:avLst/>
          </a:prstGeom>
          <a:solidFill>
            <a:srgbClr val="6B5B95"/>
          </a:solidFill>
          <a:ln w="12700">
            <a:solidFill>
              <a:srgbClr val="6B5B95"/>
            </a:solidFill>
            <a:prstDash val="solid"/>
          </a:ln>
        </p:spPr>
        <p:txBody>
          <a:bodyPr/>
          <a:lstStyle/>
          <a:p>
            <a:endParaRPr lang="en-US"/>
          </a:p>
        </p:txBody>
      </p:sp>
      <p:sp>
        <p:nvSpPr>
          <p:cNvPr id="40" name="Text 38">
            <a:extLst>
              <a:ext uri="{FF2B5EF4-FFF2-40B4-BE49-F238E27FC236}">
                <a16:creationId xmlns:a16="http://schemas.microsoft.com/office/drawing/2014/main" id="{B93AB2F2-A950-5BB5-79C7-CFB56CE23BA8}"/>
              </a:ext>
            </a:extLst>
          </p:cNvPr>
          <p:cNvSpPr/>
          <p:nvPr/>
        </p:nvSpPr>
        <p:spPr>
          <a:xfrm>
            <a:off x="8144256" y="3977640"/>
            <a:ext cx="1588008"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references/</a:t>
            </a:r>
            <a:endParaRPr lang="en-US" sz="1000" dirty="0"/>
          </a:p>
        </p:txBody>
      </p:sp>
      <p:sp>
        <p:nvSpPr>
          <p:cNvPr id="41" name="Text 39">
            <a:extLst>
              <a:ext uri="{FF2B5EF4-FFF2-40B4-BE49-F238E27FC236}">
                <a16:creationId xmlns:a16="http://schemas.microsoft.com/office/drawing/2014/main" id="{3D3A9859-A73A-2C7C-0821-564B2ADA30FD}"/>
              </a:ext>
            </a:extLst>
          </p:cNvPr>
          <p:cNvSpPr/>
          <p:nvPr/>
        </p:nvSpPr>
        <p:spPr>
          <a:xfrm>
            <a:off x="8189976" y="4206240"/>
            <a:ext cx="1496568" cy="219456"/>
          </a:xfrm>
          <a:prstGeom prst="rect">
            <a:avLst/>
          </a:prstGeom>
          <a:noFill/>
          <a:ln/>
        </p:spPr>
        <p:txBody>
          <a:bodyPr wrap="square" lIns="0" tIns="0" rIns="0" bIns="0" rtlCol="0" anchor="ctr"/>
          <a:lstStyle/>
          <a:p>
            <a:pPr marL="0" indent="0" algn="ctr">
              <a:buNone/>
            </a:pPr>
            <a:r>
              <a:rPr lang="en-US" sz="750" dirty="0">
                <a:solidFill>
                  <a:srgbClr val="F2F2F2"/>
                </a:solidFill>
                <a:latin typeface="Calibri" pitchFamily="34" charset="0"/>
                <a:ea typeface="Calibri" pitchFamily="34" charset="-122"/>
                <a:cs typeface="Calibri" pitchFamily="34" charset="-120"/>
              </a:rPr>
              <a:t>docs, loaded on demand</a:t>
            </a:r>
            <a:endParaRPr lang="en-US" sz="750" dirty="0"/>
          </a:p>
        </p:txBody>
      </p:sp>
      <p:sp>
        <p:nvSpPr>
          <p:cNvPr id="42" name="Shape 40">
            <a:extLst>
              <a:ext uri="{FF2B5EF4-FFF2-40B4-BE49-F238E27FC236}">
                <a16:creationId xmlns:a16="http://schemas.microsoft.com/office/drawing/2014/main" id="{6E6826AC-D380-2D28-E571-EF1D04996155}"/>
              </a:ext>
            </a:extLst>
          </p:cNvPr>
          <p:cNvSpPr/>
          <p:nvPr/>
        </p:nvSpPr>
        <p:spPr>
          <a:xfrm>
            <a:off x="9841992" y="3977640"/>
            <a:ext cx="1588008" cy="457200"/>
          </a:xfrm>
          <a:prstGeom prst="rect">
            <a:avLst/>
          </a:prstGeom>
          <a:solidFill>
            <a:srgbClr val="8A6D3B"/>
          </a:solidFill>
          <a:ln w="12700">
            <a:solidFill>
              <a:srgbClr val="8A6D3B"/>
            </a:solidFill>
            <a:prstDash val="solid"/>
          </a:ln>
        </p:spPr>
        <p:txBody>
          <a:bodyPr/>
          <a:lstStyle/>
          <a:p>
            <a:endParaRPr lang="en-US"/>
          </a:p>
        </p:txBody>
      </p:sp>
      <p:sp>
        <p:nvSpPr>
          <p:cNvPr id="43" name="Text 41">
            <a:extLst>
              <a:ext uri="{FF2B5EF4-FFF2-40B4-BE49-F238E27FC236}">
                <a16:creationId xmlns:a16="http://schemas.microsoft.com/office/drawing/2014/main" id="{4A89CE87-5FC6-1655-11F5-6E367C4BEB4B}"/>
              </a:ext>
            </a:extLst>
          </p:cNvPr>
          <p:cNvSpPr/>
          <p:nvPr/>
        </p:nvSpPr>
        <p:spPr>
          <a:xfrm>
            <a:off x="9841992" y="3977640"/>
            <a:ext cx="1588008"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assets/</a:t>
            </a:r>
            <a:endParaRPr lang="en-US" sz="1000" dirty="0"/>
          </a:p>
        </p:txBody>
      </p:sp>
      <p:sp>
        <p:nvSpPr>
          <p:cNvPr id="44" name="Text 42">
            <a:extLst>
              <a:ext uri="{FF2B5EF4-FFF2-40B4-BE49-F238E27FC236}">
                <a16:creationId xmlns:a16="http://schemas.microsoft.com/office/drawing/2014/main" id="{69507E34-4F69-EA83-067C-230388362732}"/>
              </a:ext>
            </a:extLst>
          </p:cNvPr>
          <p:cNvSpPr/>
          <p:nvPr/>
        </p:nvSpPr>
        <p:spPr>
          <a:xfrm>
            <a:off x="9887712" y="4206240"/>
            <a:ext cx="1496568" cy="219456"/>
          </a:xfrm>
          <a:prstGeom prst="rect">
            <a:avLst/>
          </a:prstGeom>
          <a:noFill/>
          <a:ln/>
        </p:spPr>
        <p:txBody>
          <a:bodyPr wrap="square" lIns="0" tIns="0" rIns="0" bIns="0" rtlCol="0" anchor="ctr"/>
          <a:lstStyle/>
          <a:p>
            <a:pPr marL="0" indent="0" algn="ctr">
              <a:buNone/>
            </a:pPr>
            <a:r>
              <a:rPr lang="en-US" sz="750" dirty="0">
                <a:solidFill>
                  <a:srgbClr val="F2F2F2"/>
                </a:solidFill>
                <a:latin typeface="Calibri" pitchFamily="34" charset="0"/>
                <a:ea typeface="Calibri" pitchFamily="34" charset="-122"/>
                <a:cs typeface="Calibri" pitchFamily="34" charset="-120"/>
              </a:rPr>
              <a:t>templates, images, data</a:t>
            </a:r>
            <a:endParaRPr lang="en-US" sz="750" dirty="0"/>
          </a:p>
        </p:txBody>
      </p:sp>
      <p:sp>
        <p:nvSpPr>
          <p:cNvPr id="45" name="Text 43">
            <a:extLst>
              <a:ext uri="{FF2B5EF4-FFF2-40B4-BE49-F238E27FC236}">
                <a16:creationId xmlns:a16="http://schemas.microsoft.com/office/drawing/2014/main" id="{0BB47E04-9BB7-0907-F581-05830D643EF0}"/>
              </a:ext>
            </a:extLst>
          </p:cNvPr>
          <p:cNvSpPr/>
          <p:nvPr/>
        </p:nvSpPr>
        <p:spPr>
          <a:xfrm>
            <a:off x="6446520" y="4617720"/>
            <a:ext cx="4983480" cy="548640"/>
          </a:xfrm>
          <a:prstGeom prst="rect">
            <a:avLst/>
          </a:prstGeom>
          <a:noFill/>
          <a:ln/>
        </p:spPr>
        <p:txBody>
          <a:bodyPr wrap="square" lIns="0" tIns="0" rIns="0" bIns="0" rtlCol="0" anchor="ctr"/>
          <a:lstStyle/>
          <a:p>
            <a:pPr marL="0" indent="0">
              <a:buNone/>
            </a:pPr>
            <a:r>
              <a:rPr lang="en-US" sz="1050" b="1" dirty="0">
                <a:solidFill>
                  <a:srgbClr val="141414"/>
                </a:solidFill>
                <a:latin typeface="Calibri" pitchFamily="34" charset="0"/>
                <a:ea typeface="Calibri" pitchFamily="34" charset="-122"/>
                <a:cs typeface="Calibri" pitchFamily="34" charset="-120"/>
              </a:rPr>
              <a:t>Scripts run without loading their code into context — </a:t>
            </a:r>
            <a:r>
              <a:rPr lang="en-US" sz="1050" dirty="0">
                <a:solidFill>
                  <a:srgbClr val="2B2B2B"/>
                </a:solidFill>
                <a:latin typeface="Calibri" pitchFamily="34" charset="0"/>
                <a:ea typeface="Calibri" pitchFamily="34" charset="-122"/>
                <a:cs typeface="Calibri" pitchFamily="34" charset="-120"/>
              </a:rPr>
              <a:t>only the output consumes tokens. Tell Claude to run the script, not read it.</a:t>
            </a:r>
            <a:endParaRPr lang="en-US" sz="1050" dirty="0"/>
          </a:p>
        </p:txBody>
      </p:sp>
      <p:sp>
        <p:nvSpPr>
          <p:cNvPr id="46" name="Text 44">
            <a:extLst>
              <a:ext uri="{FF2B5EF4-FFF2-40B4-BE49-F238E27FC236}">
                <a16:creationId xmlns:a16="http://schemas.microsoft.com/office/drawing/2014/main" id="{9EF585AB-11E0-DA72-D986-AE07E43C8EFE}"/>
              </a:ext>
            </a:extLst>
          </p:cNvPr>
          <p:cNvSpPr/>
          <p:nvPr/>
        </p:nvSpPr>
        <p:spPr>
          <a:xfrm>
            <a:off x="6446520" y="5166360"/>
            <a:ext cx="4983480" cy="320040"/>
          </a:xfrm>
          <a:prstGeom prst="rect">
            <a:avLst/>
          </a:prstGeom>
          <a:noFill/>
          <a:ln/>
        </p:spPr>
        <p:txBody>
          <a:bodyPr wrap="square" lIns="0" tIns="0" rIns="0" bIns="0" rtlCol="0" anchor="ctr"/>
          <a:lstStyle/>
          <a:p>
            <a:pPr marL="0" indent="0">
              <a:buNone/>
            </a:pPr>
            <a:r>
              <a:rPr lang="en-US" sz="950" i="1" dirty="0">
                <a:solidFill>
                  <a:srgbClr val="6B6B6B"/>
                </a:solidFill>
                <a:latin typeface="Calibri" pitchFamily="34" charset="0"/>
                <a:ea typeface="Calibri" pitchFamily="34" charset="-122"/>
                <a:cs typeface="Calibri" pitchFamily="34" charset="-120"/>
              </a:rPr>
              <a:t>Best for: environment checks, data transforms, anything more reliable as tested code than generated code.</a:t>
            </a:r>
            <a:endParaRPr lang="en-US" sz="950" dirty="0"/>
          </a:p>
        </p:txBody>
      </p:sp>
      <p:sp>
        <p:nvSpPr>
          <p:cNvPr id="47" name="Shape 45">
            <a:extLst>
              <a:ext uri="{FF2B5EF4-FFF2-40B4-BE49-F238E27FC236}">
                <a16:creationId xmlns:a16="http://schemas.microsoft.com/office/drawing/2014/main" id="{03B92886-CAB6-B465-81D3-4F2E479AFD4F}"/>
              </a:ext>
            </a:extLst>
          </p:cNvPr>
          <p:cNvSpPr/>
          <p:nvPr/>
        </p:nvSpPr>
        <p:spPr>
          <a:xfrm>
            <a:off x="457200" y="5715000"/>
            <a:ext cx="11247120" cy="502920"/>
          </a:xfrm>
          <a:prstGeom prst="rect">
            <a:avLst/>
          </a:prstGeom>
          <a:solidFill>
            <a:srgbClr val="F7F5F0"/>
          </a:solidFill>
          <a:ln w="9525">
            <a:solidFill>
              <a:srgbClr val="E3E0D8"/>
            </a:solidFill>
            <a:prstDash val="solid"/>
          </a:ln>
        </p:spPr>
        <p:txBody>
          <a:bodyPr/>
          <a:lstStyle/>
          <a:p>
            <a:endParaRPr lang="en-US"/>
          </a:p>
        </p:txBody>
      </p:sp>
      <p:sp>
        <p:nvSpPr>
          <p:cNvPr id="48" name="Text 46">
            <a:extLst>
              <a:ext uri="{FF2B5EF4-FFF2-40B4-BE49-F238E27FC236}">
                <a16:creationId xmlns:a16="http://schemas.microsoft.com/office/drawing/2014/main" id="{CDE05AD7-8C8D-B6E7-33A1-6A4B6094C047}"/>
              </a:ext>
            </a:extLst>
          </p:cNvPr>
          <p:cNvSpPr/>
          <p:nvPr/>
        </p:nvSpPr>
        <p:spPr>
          <a:xfrm>
            <a:off x="777240" y="5715000"/>
            <a:ext cx="10607040" cy="502920"/>
          </a:xfrm>
          <a:prstGeom prst="rect">
            <a:avLst/>
          </a:prstGeom>
          <a:noFill/>
          <a:ln/>
        </p:spPr>
        <p:txBody>
          <a:bodyPr wrap="square" lIns="0" tIns="0" rIns="0" bIns="0" rtlCol="0" anchor="ctr"/>
          <a:lstStyle/>
          <a:p>
            <a:pPr marL="0" indent="0">
              <a:buNone/>
            </a:pPr>
            <a:r>
              <a:rPr lang="en-US" sz="1200" b="1" dirty="0">
                <a:solidFill>
                  <a:srgbClr val="C9704F"/>
                </a:solidFill>
                <a:latin typeface="Calibri" pitchFamily="34" charset="0"/>
                <a:ea typeface="Calibri" pitchFamily="34" charset="-122"/>
                <a:cs typeface="Calibri" pitchFamily="34" charset="-120"/>
              </a:rPr>
              <a:t>Think table of contents, not full document:  </a:t>
            </a:r>
            <a:r>
              <a:rPr lang="en-US" sz="1200" dirty="0">
                <a:solidFill>
                  <a:srgbClr val="2B2B2B"/>
                </a:solidFill>
                <a:latin typeface="Calibri" pitchFamily="34" charset="0"/>
                <a:ea typeface="Calibri" pitchFamily="34" charset="-122"/>
                <a:cs typeface="Calibri" pitchFamily="34" charset="-120"/>
              </a:rPr>
              <a:t>SKILL.md stays lean; Claude only opens a reference file when the task actually needs it.</a:t>
            </a:r>
            <a:endParaRPr lang="en-US" sz="1200" dirty="0"/>
          </a:p>
        </p:txBody>
      </p:sp>
    </p:spTree>
    <p:extLst>
      <p:ext uri="{BB962C8B-B14F-4D97-AF65-F5344CB8AC3E}">
        <p14:creationId xmlns:p14="http://schemas.microsoft.com/office/powerpoint/2010/main" val="15165025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BE83307-3BA2-77EC-560D-11E19F339CCC}"/>
              </a:ext>
            </a:extLst>
          </p:cNvPr>
          <p:cNvSpPr/>
          <p:nvPr/>
        </p:nvSpPr>
        <p:spPr>
          <a:xfrm>
            <a:off x="457200" y="274320"/>
            <a:ext cx="11247120" cy="502920"/>
          </a:xfrm>
          <a:prstGeom prst="rect">
            <a:avLst/>
          </a:prstGeom>
          <a:noFill/>
          <a:ln/>
        </p:spPr>
        <p:txBody>
          <a:bodyPr wrap="square" lIns="0" tIns="0" rIns="0" bIns="0" rtlCol="0" anchor="ctr"/>
          <a:lstStyle/>
          <a:p>
            <a:pPr marL="0" indent="0">
              <a:buNone/>
            </a:pPr>
            <a:r>
              <a:rPr lang="en-US" sz="3000" b="1" dirty="0">
                <a:solidFill>
                  <a:srgbClr val="141414"/>
                </a:solidFill>
                <a:latin typeface="Cambria" pitchFamily="34" charset="0"/>
                <a:ea typeface="Cambria" pitchFamily="34" charset="-122"/>
                <a:cs typeface="Cambria" pitchFamily="34" charset="-120"/>
              </a:rPr>
              <a:t>Structuring a Multi-File Skill</a:t>
            </a:r>
            <a:endParaRPr lang="en-US" sz="3000" dirty="0"/>
          </a:p>
        </p:txBody>
      </p:sp>
      <p:sp>
        <p:nvSpPr>
          <p:cNvPr id="3" name="Text 1">
            <a:extLst>
              <a:ext uri="{FF2B5EF4-FFF2-40B4-BE49-F238E27FC236}">
                <a16:creationId xmlns:a16="http://schemas.microsoft.com/office/drawing/2014/main" id="{91A7767C-72E3-C2D4-F893-89F518EEE659}"/>
              </a:ext>
            </a:extLst>
          </p:cNvPr>
          <p:cNvSpPr/>
          <p:nvPr/>
        </p:nvSpPr>
        <p:spPr>
          <a:xfrm>
            <a:off x="457200" y="777240"/>
            <a:ext cx="11247120" cy="320040"/>
          </a:xfrm>
          <a:prstGeom prst="rect">
            <a:avLst/>
          </a:prstGeom>
          <a:noFill/>
          <a:ln/>
        </p:spPr>
        <p:txBody>
          <a:bodyPr wrap="square" lIns="0" tIns="0" rIns="0" bIns="0" rtlCol="0" anchor="ctr"/>
          <a:lstStyle/>
          <a:p>
            <a:pPr marL="0" indent="0">
              <a:buNone/>
            </a:pPr>
            <a:r>
              <a:rPr lang="en-US" sz="1400" dirty="0">
                <a:solidFill>
                  <a:srgbClr val="6B6B6B"/>
                </a:solidFill>
                <a:latin typeface="Calibri" pitchFamily="34" charset="0"/>
                <a:ea typeface="Calibri" pitchFamily="34" charset="-122"/>
                <a:cs typeface="Calibri" pitchFamily="34" charset="-120"/>
              </a:rPr>
              <a:t>A real example: codebase-onboarding, with references and scripts</a:t>
            </a:r>
            <a:endParaRPr lang="en-US" sz="1400" dirty="0"/>
          </a:p>
        </p:txBody>
      </p:sp>
      <p:sp>
        <p:nvSpPr>
          <p:cNvPr id="4" name="Shape 2">
            <a:extLst>
              <a:ext uri="{FF2B5EF4-FFF2-40B4-BE49-F238E27FC236}">
                <a16:creationId xmlns:a16="http://schemas.microsoft.com/office/drawing/2014/main" id="{17FE6EC7-E3E6-7FC1-6E17-C54F5EBBC526}"/>
              </a:ext>
            </a:extLst>
          </p:cNvPr>
          <p:cNvSpPr/>
          <p:nvPr/>
        </p:nvSpPr>
        <p:spPr>
          <a:xfrm>
            <a:off x="457200" y="1280160"/>
            <a:ext cx="4114800" cy="4251960"/>
          </a:xfrm>
          <a:prstGeom prst="roundRect">
            <a:avLst>
              <a:gd name="adj" fmla="val 1333"/>
            </a:avLst>
          </a:prstGeom>
          <a:solidFill>
            <a:srgbClr val="FFFFFF"/>
          </a:solidFill>
          <a:ln w="12700">
            <a:solidFill>
              <a:srgbClr val="E3E0D8"/>
            </a:solidFill>
            <a:prstDash val="solid"/>
          </a:ln>
          <a:effectLst>
            <a:outerShdw blurRad="101600" dist="25400" dir="5400000" algn="bl" rotWithShape="0">
              <a:srgbClr val="000000">
                <a:alpha val="8000"/>
              </a:srgbClr>
            </a:outerShdw>
          </a:effectLst>
        </p:spPr>
        <p:txBody>
          <a:bodyPr/>
          <a:lstStyle/>
          <a:p>
            <a:endParaRPr lang="en-US"/>
          </a:p>
        </p:txBody>
      </p:sp>
      <p:sp>
        <p:nvSpPr>
          <p:cNvPr id="5" name="Text 3">
            <a:extLst>
              <a:ext uri="{FF2B5EF4-FFF2-40B4-BE49-F238E27FC236}">
                <a16:creationId xmlns:a16="http://schemas.microsoft.com/office/drawing/2014/main" id="{25528621-64C3-DF60-1CD8-E2A2DFE76A1E}"/>
              </a:ext>
            </a:extLst>
          </p:cNvPr>
          <p:cNvSpPr/>
          <p:nvPr/>
        </p:nvSpPr>
        <p:spPr>
          <a:xfrm>
            <a:off x="731520" y="1481328"/>
            <a:ext cx="3566160" cy="320040"/>
          </a:xfrm>
          <a:prstGeom prst="rect">
            <a:avLst/>
          </a:prstGeom>
          <a:noFill/>
          <a:ln/>
        </p:spPr>
        <p:txBody>
          <a:bodyPr wrap="square" lIns="0" tIns="0" rIns="0" bIns="0" rtlCol="0" anchor="ctr"/>
          <a:lstStyle/>
          <a:p>
            <a:pPr marL="0" indent="0">
              <a:buNone/>
            </a:pPr>
            <a:r>
              <a:rPr lang="en-US" sz="1500" b="1" dirty="0">
                <a:solidFill>
                  <a:srgbClr val="C9704F"/>
                </a:solidFill>
                <a:latin typeface="Calibri" pitchFamily="34" charset="0"/>
                <a:ea typeface="Calibri" pitchFamily="34" charset="-122"/>
                <a:cs typeface="Calibri" pitchFamily="34" charset="-120"/>
              </a:rPr>
              <a:t>Expected folder structure</a:t>
            </a:r>
            <a:endParaRPr lang="en-US" sz="1500" dirty="0"/>
          </a:p>
        </p:txBody>
      </p:sp>
      <p:sp>
        <p:nvSpPr>
          <p:cNvPr id="6" name="Shape 4">
            <a:extLst>
              <a:ext uri="{FF2B5EF4-FFF2-40B4-BE49-F238E27FC236}">
                <a16:creationId xmlns:a16="http://schemas.microsoft.com/office/drawing/2014/main" id="{0590DF97-D7A2-3232-449B-5F7972035B4A}"/>
              </a:ext>
            </a:extLst>
          </p:cNvPr>
          <p:cNvSpPr/>
          <p:nvPr/>
        </p:nvSpPr>
        <p:spPr>
          <a:xfrm>
            <a:off x="731520" y="1874520"/>
            <a:ext cx="3566160" cy="2331720"/>
          </a:xfrm>
          <a:prstGeom prst="rect">
            <a:avLst/>
          </a:prstGeom>
          <a:solidFill>
            <a:srgbClr val="1E1E1E"/>
          </a:solidFill>
          <a:ln w="12700">
            <a:solidFill>
              <a:srgbClr val="1E1E1E"/>
            </a:solidFill>
            <a:prstDash val="solid"/>
          </a:ln>
        </p:spPr>
        <p:txBody>
          <a:bodyPr/>
          <a:lstStyle/>
          <a:p>
            <a:endParaRPr lang="en-US"/>
          </a:p>
        </p:txBody>
      </p:sp>
      <p:sp>
        <p:nvSpPr>
          <p:cNvPr id="7" name="Text 5">
            <a:extLst>
              <a:ext uri="{FF2B5EF4-FFF2-40B4-BE49-F238E27FC236}">
                <a16:creationId xmlns:a16="http://schemas.microsoft.com/office/drawing/2014/main" id="{FCA93ED4-5E8C-8D5D-424D-AD4F7D3D7DF0}"/>
              </a:ext>
            </a:extLst>
          </p:cNvPr>
          <p:cNvSpPr/>
          <p:nvPr/>
        </p:nvSpPr>
        <p:spPr>
          <a:xfrm>
            <a:off x="868680" y="2011680"/>
            <a:ext cx="3291840" cy="2103120"/>
          </a:xfrm>
          <a:prstGeom prst="rect">
            <a:avLst/>
          </a:prstGeom>
          <a:noFill/>
          <a:ln/>
        </p:spPr>
        <p:txBody>
          <a:bodyPr wrap="square" lIns="0" tIns="0" rIns="0" bIns="0" rtlCol="0" anchor="t"/>
          <a:lstStyle/>
          <a:p>
            <a:pPr marL="0" indent="0">
              <a:lnSpc>
                <a:spcPts val="1500"/>
              </a:lnSpc>
              <a:buNone/>
            </a:pPr>
            <a:r>
              <a:rPr lang="en-US" sz="1100" b="1" dirty="0">
                <a:solidFill>
                  <a:srgbClr val="FFFFFF"/>
                </a:solidFill>
                <a:latin typeface="Courier New" pitchFamily="34" charset="0"/>
                <a:ea typeface="Courier New" pitchFamily="34" charset="-122"/>
                <a:cs typeface="Courier New" pitchFamily="34" charset="-120"/>
              </a:rPr>
              <a:t>codebase-onboarding/
</a:t>
            </a:r>
            <a:r>
              <a:rPr lang="en-US" sz="1100" dirty="0">
                <a:solidFill>
                  <a:srgbClr val="6B6B6B"/>
                </a:solidFill>
                <a:latin typeface="Courier New" pitchFamily="34" charset="0"/>
                <a:ea typeface="Courier New" pitchFamily="34" charset="-122"/>
                <a:cs typeface="Courier New" pitchFamily="34" charset="-120"/>
              </a:rPr>
              <a:t>├─ </a:t>
            </a:r>
            <a:r>
              <a:rPr lang="en-US" sz="1100" b="1" dirty="0">
                <a:solidFill>
                  <a:srgbClr val="C9704F"/>
                </a:solidFill>
                <a:latin typeface="Courier New" pitchFamily="34" charset="0"/>
                <a:ea typeface="Courier New" pitchFamily="34" charset="-122"/>
                <a:cs typeface="Courier New" pitchFamily="34" charset="-120"/>
              </a:rPr>
              <a:t>SKILL.md
</a:t>
            </a:r>
            <a:r>
              <a:rPr lang="en-US" sz="1100" dirty="0">
                <a:solidFill>
                  <a:srgbClr val="6B6B6B"/>
                </a:solidFill>
                <a:latin typeface="Courier New" pitchFamily="34" charset="0"/>
                <a:ea typeface="Courier New" pitchFamily="34" charset="-122"/>
                <a:cs typeface="Courier New" pitchFamily="34" charset="-120"/>
              </a:rPr>
              <a:t>│
├─ </a:t>
            </a:r>
            <a:r>
              <a:rPr lang="en-US" sz="1100" b="1" dirty="0">
                <a:solidFill>
                  <a:srgbClr val="6B5B95"/>
                </a:solidFill>
                <a:latin typeface="Courier New" pitchFamily="34" charset="0"/>
                <a:ea typeface="Courier New" pitchFamily="34" charset="-122"/>
                <a:cs typeface="Courier New" pitchFamily="34" charset="-120"/>
              </a:rPr>
              <a:t>references/
</a:t>
            </a:r>
            <a:r>
              <a:rPr lang="en-US" sz="1100" dirty="0">
                <a:solidFill>
                  <a:srgbClr val="D4D4D4"/>
                </a:solidFill>
                <a:latin typeface="Courier New" pitchFamily="34" charset="0"/>
                <a:ea typeface="Courier New" pitchFamily="34" charset="-122"/>
                <a:cs typeface="Courier New" pitchFamily="34" charset="-120"/>
              </a:rPr>
              <a:t>│  ├─ architecture-guide.md
│  └─ deep-dive-guide.md
</a:t>
            </a:r>
            <a:r>
              <a:rPr lang="en-US" sz="1100" dirty="0">
                <a:solidFill>
                  <a:srgbClr val="6B6B6B"/>
                </a:solidFill>
                <a:latin typeface="Courier New" pitchFamily="34" charset="0"/>
                <a:ea typeface="Courier New" pitchFamily="34" charset="-122"/>
                <a:cs typeface="Courier New" pitchFamily="34" charset="-120"/>
              </a:rPr>
              <a:t>│
├─ </a:t>
            </a:r>
            <a:r>
              <a:rPr lang="en-US" sz="1100" b="1" dirty="0">
                <a:solidFill>
                  <a:srgbClr val="3B7A75"/>
                </a:solidFill>
                <a:latin typeface="Courier New" pitchFamily="34" charset="0"/>
                <a:ea typeface="Courier New" pitchFamily="34" charset="-122"/>
                <a:cs typeface="Courier New" pitchFamily="34" charset="-120"/>
              </a:rPr>
              <a:t>scripts/
</a:t>
            </a:r>
            <a:r>
              <a:rPr lang="en-US" sz="1100" dirty="0">
                <a:solidFill>
                  <a:srgbClr val="D4D4D4"/>
                </a:solidFill>
                <a:latin typeface="Courier New" pitchFamily="34" charset="0"/>
                <a:ea typeface="Courier New" pitchFamily="34" charset="-122"/>
                <a:cs typeface="Courier New" pitchFamily="34" charset="-120"/>
              </a:rPr>
              <a:t>│  └─ count_loc.py
</a:t>
            </a:r>
            <a:r>
              <a:rPr lang="en-US" sz="1100" dirty="0">
                <a:solidFill>
                  <a:srgbClr val="6B6B6B"/>
                </a:solidFill>
                <a:latin typeface="Courier New" pitchFamily="34" charset="0"/>
                <a:ea typeface="Courier New" pitchFamily="34" charset="-122"/>
                <a:cs typeface="Courier New" pitchFamily="34" charset="-120"/>
              </a:rPr>
              <a:t>│
└─ </a:t>
            </a:r>
            <a:r>
              <a:rPr lang="en-US" sz="1100" b="1" dirty="0">
                <a:solidFill>
                  <a:srgbClr val="8A6D3B"/>
                </a:solidFill>
                <a:latin typeface="Courier New" pitchFamily="34" charset="0"/>
                <a:ea typeface="Courier New" pitchFamily="34" charset="-122"/>
                <a:cs typeface="Courier New" pitchFamily="34" charset="-120"/>
              </a:rPr>
              <a:t>assets/
</a:t>
            </a:r>
            <a:r>
              <a:rPr lang="en-US" sz="1100" dirty="0">
                <a:solidFill>
                  <a:srgbClr val="D4D4D4"/>
                </a:solidFill>
                <a:latin typeface="Courier New" pitchFamily="34" charset="0"/>
                <a:ea typeface="Courier New" pitchFamily="34" charset="-122"/>
                <a:cs typeface="Courier New" pitchFamily="34" charset="-120"/>
              </a:rPr>
              <a:t>   └─ diagram-template.svg</a:t>
            </a:r>
            <a:endParaRPr lang="en-US" sz="1100" dirty="0"/>
          </a:p>
        </p:txBody>
      </p:sp>
      <p:sp>
        <p:nvSpPr>
          <p:cNvPr id="8" name="Text 6">
            <a:extLst>
              <a:ext uri="{FF2B5EF4-FFF2-40B4-BE49-F238E27FC236}">
                <a16:creationId xmlns:a16="http://schemas.microsoft.com/office/drawing/2014/main" id="{49979ECD-12EC-9489-5378-837DB88DB3EA}"/>
              </a:ext>
            </a:extLst>
          </p:cNvPr>
          <p:cNvSpPr/>
          <p:nvPr/>
        </p:nvSpPr>
        <p:spPr>
          <a:xfrm>
            <a:off x="731520" y="4343400"/>
            <a:ext cx="3566160" cy="548640"/>
          </a:xfrm>
          <a:prstGeom prst="rect">
            <a:avLst/>
          </a:prstGeom>
          <a:noFill/>
          <a:ln/>
        </p:spPr>
        <p:txBody>
          <a:bodyPr wrap="square" lIns="0" tIns="0" rIns="0" bIns="0"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Three levels: SKILL.md loads first, references/ and scripts load only when the topic calls for them.</a:t>
            </a:r>
            <a:endParaRPr lang="en-US" sz="1000" dirty="0"/>
          </a:p>
        </p:txBody>
      </p:sp>
      <p:sp>
        <p:nvSpPr>
          <p:cNvPr id="9" name="Shape 7">
            <a:extLst>
              <a:ext uri="{FF2B5EF4-FFF2-40B4-BE49-F238E27FC236}">
                <a16:creationId xmlns:a16="http://schemas.microsoft.com/office/drawing/2014/main" id="{525CFBA3-8174-45FC-4725-005B5080CAFD}"/>
              </a:ext>
            </a:extLst>
          </p:cNvPr>
          <p:cNvSpPr/>
          <p:nvPr/>
        </p:nvSpPr>
        <p:spPr>
          <a:xfrm>
            <a:off x="4800600" y="1280160"/>
            <a:ext cx="6903720" cy="4251960"/>
          </a:xfrm>
          <a:prstGeom prst="roundRect">
            <a:avLst>
              <a:gd name="adj" fmla="val 1290"/>
            </a:avLst>
          </a:prstGeom>
          <a:solidFill>
            <a:srgbClr val="FFFFFF"/>
          </a:solidFill>
          <a:ln w="12700">
            <a:solidFill>
              <a:srgbClr val="E3E0D8"/>
            </a:solidFill>
            <a:prstDash val="solid"/>
          </a:ln>
          <a:effectLst>
            <a:outerShdw blurRad="101600" dist="25400" dir="5400000" algn="bl" rotWithShape="0">
              <a:srgbClr val="000000">
                <a:alpha val="8000"/>
              </a:srgbClr>
            </a:outerShdw>
          </a:effectLst>
        </p:spPr>
        <p:txBody>
          <a:bodyPr/>
          <a:lstStyle/>
          <a:p>
            <a:endParaRPr lang="en-US"/>
          </a:p>
        </p:txBody>
      </p:sp>
      <p:sp>
        <p:nvSpPr>
          <p:cNvPr id="10" name="Text 8">
            <a:extLst>
              <a:ext uri="{FF2B5EF4-FFF2-40B4-BE49-F238E27FC236}">
                <a16:creationId xmlns:a16="http://schemas.microsoft.com/office/drawing/2014/main" id="{A5CEDF85-E1B6-4CB8-7905-E1E3DA1B71D6}"/>
              </a:ext>
            </a:extLst>
          </p:cNvPr>
          <p:cNvSpPr/>
          <p:nvPr/>
        </p:nvSpPr>
        <p:spPr>
          <a:xfrm>
            <a:off x="5074920" y="1481328"/>
            <a:ext cx="6355080" cy="320040"/>
          </a:xfrm>
          <a:prstGeom prst="rect">
            <a:avLst/>
          </a:prstGeom>
          <a:noFill/>
          <a:ln/>
        </p:spPr>
        <p:txBody>
          <a:bodyPr wrap="square" lIns="0" tIns="0" rIns="0" bIns="0" rtlCol="0" anchor="ctr"/>
          <a:lstStyle/>
          <a:p>
            <a:pPr marL="0" indent="0">
              <a:buNone/>
            </a:pPr>
            <a:r>
              <a:rPr lang="en-US" sz="1500" b="1" dirty="0">
                <a:solidFill>
                  <a:srgbClr val="141414"/>
                </a:solidFill>
                <a:latin typeface="Calibri" pitchFamily="34" charset="0"/>
                <a:ea typeface="Calibri" pitchFamily="34" charset="-122"/>
                <a:cs typeface="Calibri" pitchFamily="34" charset="-120"/>
              </a:rPr>
              <a:t>Inside SKILL.md — two patterns</a:t>
            </a:r>
            <a:endParaRPr lang="en-US" sz="1500" dirty="0"/>
          </a:p>
        </p:txBody>
      </p:sp>
      <p:sp>
        <p:nvSpPr>
          <p:cNvPr id="11" name="Shape 9">
            <a:extLst>
              <a:ext uri="{FF2B5EF4-FFF2-40B4-BE49-F238E27FC236}">
                <a16:creationId xmlns:a16="http://schemas.microsoft.com/office/drawing/2014/main" id="{DBFEE840-6EF2-5204-4101-24DB494ED2F2}"/>
              </a:ext>
            </a:extLst>
          </p:cNvPr>
          <p:cNvSpPr/>
          <p:nvPr/>
        </p:nvSpPr>
        <p:spPr>
          <a:xfrm>
            <a:off x="5074920" y="1883664"/>
            <a:ext cx="73152" cy="1188720"/>
          </a:xfrm>
          <a:prstGeom prst="rect">
            <a:avLst/>
          </a:prstGeom>
          <a:solidFill>
            <a:srgbClr val="6B5B95"/>
          </a:solidFill>
          <a:ln w="12700">
            <a:solidFill>
              <a:srgbClr val="6B5B95"/>
            </a:solidFill>
            <a:prstDash val="solid"/>
          </a:ln>
        </p:spPr>
        <p:txBody>
          <a:bodyPr/>
          <a:lstStyle/>
          <a:p>
            <a:endParaRPr lang="en-US"/>
          </a:p>
        </p:txBody>
      </p:sp>
      <p:sp>
        <p:nvSpPr>
          <p:cNvPr id="12" name="Text 10">
            <a:extLst>
              <a:ext uri="{FF2B5EF4-FFF2-40B4-BE49-F238E27FC236}">
                <a16:creationId xmlns:a16="http://schemas.microsoft.com/office/drawing/2014/main" id="{88502D82-A12C-093C-0BF9-CD72DE5737FE}"/>
              </a:ext>
            </a:extLst>
          </p:cNvPr>
          <p:cNvSpPr/>
          <p:nvPr/>
        </p:nvSpPr>
        <p:spPr>
          <a:xfrm>
            <a:off x="5257800" y="1883664"/>
            <a:ext cx="6172200" cy="274320"/>
          </a:xfrm>
          <a:prstGeom prst="rect">
            <a:avLst/>
          </a:prstGeom>
          <a:noFill/>
          <a:ln/>
        </p:spPr>
        <p:txBody>
          <a:bodyPr wrap="square" lIns="0" tIns="0" rIns="0" bIns="0" rtlCol="0" anchor="ctr"/>
          <a:lstStyle/>
          <a:p>
            <a:pPr marL="0" indent="0">
              <a:buNone/>
            </a:pPr>
            <a:r>
              <a:rPr lang="en-US" sz="1150" b="1" dirty="0">
                <a:solidFill>
                  <a:srgbClr val="141414"/>
                </a:solidFill>
                <a:latin typeface="Calibri" pitchFamily="34" charset="0"/>
                <a:ea typeface="Calibri" pitchFamily="34" charset="-122"/>
                <a:cs typeface="Calibri" pitchFamily="34" charset="-120"/>
              </a:rPr>
              <a:t>1. Link a reference — loads only on demand</a:t>
            </a:r>
            <a:endParaRPr lang="en-US" sz="1150" dirty="0"/>
          </a:p>
        </p:txBody>
      </p:sp>
      <p:sp>
        <p:nvSpPr>
          <p:cNvPr id="13" name="Shape 11">
            <a:extLst>
              <a:ext uri="{FF2B5EF4-FFF2-40B4-BE49-F238E27FC236}">
                <a16:creationId xmlns:a16="http://schemas.microsoft.com/office/drawing/2014/main" id="{9559358E-6B9C-9760-85D2-E43D37E26F7C}"/>
              </a:ext>
            </a:extLst>
          </p:cNvPr>
          <p:cNvSpPr/>
          <p:nvPr/>
        </p:nvSpPr>
        <p:spPr>
          <a:xfrm>
            <a:off x="5257800" y="2194560"/>
            <a:ext cx="6172200" cy="822960"/>
          </a:xfrm>
          <a:prstGeom prst="rect">
            <a:avLst/>
          </a:prstGeom>
          <a:solidFill>
            <a:srgbClr val="1E1E1E"/>
          </a:solidFill>
          <a:ln w="12700">
            <a:solidFill>
              <a:srgbClr val="1E1E1E"/>
            </a:solidFill>
            <a:prstDash val="solid"/>
          </a:ln>
        </p:spPr>
        <p:txBody>
          <a:bodyPr/>
          <a:lstStyle/>
          <a:p>
            <a:endParaRPr lang="en-US"/>
          </a:p>
        </p:txBody>
      </p:sp>
      <p:sp>
        <p:nvSpPr>
          <p:cNvPr id="14" name="Text 12">
            <a:extLst>
              <a:ext uri="{FF2B5EF4-FFF2-40B4-BE49-F238E27FC236}">
                <a16:creationId xmlns:a16="http://schemas.microsoft.com/office/drawing/2014/main" id="{C248AE08-F309-FB18-5742-194058FB2CD5}"/>
              </a:ext>
            </a:extLst>
          </p:cNvPr>
          <p:cNvSpPr/>
          <p:nvPr/>
        </p:nvSpPr>
        <p:spPr>
          <a:xfrm>
            <a:off x="5394960" y="2267712"/>
            <a:ext cx="5897880" cy="685800"/>
          </a:xfrm>
          <a:prstGeom prst="rect">
            <a:avLst/>
          </a:prstGeom>
          <a:noFill/>
          <a:ln/>
        </p:spPr>
        <p:txBody>
          <a:bodyPr wrap="square" lIns="0" tIns="0" rIns="0" bIns="0" rtlCol="0" anchor="t"/>
          <a:lstStyle/>
          <a:p>
            <a:pPr marL="0" indent="0">
              <a:lnSpc>
                <a:spcPts val="1250"/>
              </a:lnSpc>
              <a:buNone/>
            </a:pPr>
            <a:r>
              <a:rPr lang="en-US" sz="950" b="1" dirty="0">
                <a:solidFill>
                  <a:srgbClr val="C586C0"/>
                </a:solidFill>
                <a:latin typeface="Courier New" pitchFamily="34" charset="0"/>
                <a:ea typeface="Courier New" pitchFamily="34" charset="-122"/>
                <a:cs typeface="Courier New" pitchFamily="34" charset="-120"/>
              </a:rPr>
              <a:t>### Level 2: Architecture Overview
</a:t>
            </a:r>
            <a:r>
              <a:rPr lang="en-US" sz="950" dirty="0">
                <a:solidFill>
                  <a:srgbClr val="D4D4D4"/>
                </a:solidFill>
                <a:latin typeface="Courier New" pitchFamily="34" charset="0"/>
                <a:ea typeface="Courier New" pitchFamily="34" charset="-122"/>
                <a:cs typeface="Courier New" pitchFamily="34" charset="-120"/>
              </a:rPr>
              <a:t>**Only load when user requests more detail.**
See [architecture-guide.md]</a:t>
            </a:r>
            <a:r>
              <a:rPr lang="en-US" sz="950" dirty="0">
                <a:solidFill>
                  <a:srgbClr val="6A9955"/>
                </a:solidFill>
                <a:latin typeface="Courier New" pitchFamily="34" charset="0"/>
                <a:ea typeface="Courier New" pitchFamily="34" charset="-122"/>
                <a:cs typeface="Courier New" pitchFamily="34" charset="-120"/>
              </a:rPr>
              <a:t>(references/architecture-guide.md).</a:t>
            </a:r>
            <a:endParaRPr lang="en-US" sz="950" dirty="0"/>
          </a:p>
        </p:txBody>
      </p:sp>
      <p:sp>
        <p:nvSpPr>
          <p:cNvPr id="15" name="Shape 13">
            <a:extLst>
              <a:ext uri="{FF2B5EF4-FFF2-40B4-BE49-F238E27FC236}">
                <a16:creationId xmlns:a16="http://schemas.microsoft.com/office/drawing/2014/main" id="{421F8224-5EE4-03CD-79FF-849135988F8C}"/>
              </a:ext>
            </a:extLst>
          </p:cNvPr>
          <p:cNvSpPr/>
          <p:nvPr/>
        </p:nvSpPr>
        <p:spPr>
          <a:xfrm>
            <a:off x="5074920" y="3246120"/>
            <a:ext cx="73152" cy="1325880"/>
          </a:xfrm>
          <a:prstGeom prst="rect">
            <a:avLst/>
          </a:prstGeom>
          <a:solidFill>
            <a:srgbClr val="3B7A75"/>
          </a:solidFill>
          <a:ln w="12700">
            <a:solidFill>
              <a:srgbClr val="3B7A75"/>
            </a:solidFill>
            <a:prstDash val="solid"/>
          </a:ln>
        </p:spPr>
        <p:txBody>
          <a:bodyPr/>
          <a:lstStyle/>
          <a:p>
            <a:endParaRPr lang="en-US"/>
          </a:p>
        </p:txBody>
      </p:sp>
      <p:sp>
        <p:nvSpPr>
          <p:cNvPr id="16" name="Text 14">
            <a:extLst>
              <a:ext uri="{FF2B5EF4-FFF2-40B4-BE49-F238E27FC236}">
                <a16:creationId xmlns:a16="http://schemas.microsoft.com/office/drawing/2014/main" id="{90EEB442-C3D5-2137-13A5-5192C0ABA1A7}"/>
              </a:ext>
            </a:extLst>
          </p:cNvPr>
          <p:cNvSpPr/>
          <p:nvPr/>
        </p:nvSpPr>
        <p:spPr>
          <a:xfrm>
            <a:off x="5257800" y="3246120"/>
            <a:ext cx="6172200" cy="274320"/>
          </a:xfrm>
          <a:prstGeom prst="rect">
            <a:avLst/>
          </a:prstGeom>
          <a:noFill/>
          <a:ln/>
        </p:spPr>
        <p:txBody>
          <a:bodyPr wrap="square" lIns="0" tIns="0" rIns="0" bIns="0" rtlCol="0" anchor="ctr"/>
          <a:lstStyle/>
          <a:p>
            <a:pPr marL="0" indent="0">
              <a:buNone/>
            </a:pPr>
            <a:r>
              <a:rPr lang="en-US" sz="1150" b="1" dirty="0">
                <a:solidFill>
                  <a:srgbClr val="141414"/>
                </a:solidFill>
                <a:latin typeface="Calibri" pitchFamily="34" charset="0"/>
                <a:ea typeface="Calibri" pitchFamily="34" charset="-122"/>
                <a:cs typeface="Calibri" pitchFamily="34" charset="-120"/>
              </a:rPr>
              <a:t>2. Run a script — only its output enters context</a:t>
            </a:r>
            <a:endParaRPr lang="en-US" sz="1150" dirty="0"/>
          </a:p>
        </p:txBody>
      </p:sp>
      <p:sp>
        <p:nvSpPr>
          <p:cNvPr id="17" name="Shape 15">
            <a:extLst>
              <a:ext uri="{FF2B5EF4-FFF2-40B4-BE49-F238E27FC236}">
                <a16:creationId xmlns:a16="http://schemas.microsoft.com/office/drawing/2014/main" id="{1B02B0AA-19B8-AEF1-EC14-C644225661BD}"/>
              </a:ext>
            </a:extLst>
          </p:cNvPr>
          <p:cNvSpPr/>
          <p:nvPr/>
        </p:nvSpPr>
        <p:spPr>
          <a:xfrm>
            <a:off x="5257800" y="3557016"/>
            <a:ext cx="6172200" cy="914400"/>
          </a:xfrm>
          <a:prstGeom prst="rect">
            <a:avLst/>
          </a:prstGeom>
          <a:solidFill>
            <a:srgbClr val="1E1E1E"/>
          </a:solidFill>
          <a:ln w="12700">
            <a:solidFill>
              <a:srgbClr val="1E1E1E"/>
            </a:solidFill>
            <a:prstDash val="solid"/>
          </a:ln>
        </p:spPr>
        <p:txBody>
          <a:bodyPr/>
          <a:lstStyle/>
          <a:p>
            <a:endParaRPr lang="en-US"/>
          </a:p>
        </p:txBody>
      </p:sp>
      <p:sp>
        <p:nvSpPr>
          <p:cNvPr id="18" name="Text 16">
            <a:extLst>
              <a:ext uri="{FF2B5EF4-FFF2-40B4-BE49-F238E27FC236}">
                <a16:creationId xmlns:a16="http://schemas.microsoft.com/office/drawing/2014/main" id="{423D9D97-012D-0E80-1A84-FDDA8E35FEFB}"/>
              </a:ext>
            </a:extLst>
          </p:cNvPr>
          <p:cNvSpPr/>
          <p:nvPr/>
        </p:nvSpPr>
        <p:spPr>
          <a:xfrm>
            <a:off x="5394960" y="3630168"/>
            <a:ext cx="5897880" cy="777240"/>
          </a:xfrm>
          <a:prstGeom prst="rect">
            <a:avLst/>
          </a:prstGeom>
          <a:noFill/>
          <a:ln/>
        </p:spPr>
        <p:txBody>
          <a:bodyPr wrap="square" lIns="0" tIns="0" rIns="0" bIns="0" rtlCol="0" anchor="t"/>
          <a:lstStyle/>
          <a:p>
            <a:pPr marL="0" indent="0">
              <a:lnSpc>
                <a:spcPts val="1250"/>
              </a:lnSpc>
              <a:buNone/>
            </a:pPr>
            <a:r>
              <a:rPr lang="en-US" sz="950" b="1" dirty="0">
                <a:solidFill>
                  <a:srgbClr val="C586C0"/>
                </a:solidFill>
                <a:latin typeface="Courier New" pitchFamily="34" charset="0"/>
                <a:ea typeface="Courier New" pitchFamily="34" charset="-122"/>
                <a:cs typeface="Courier New" pitchFamily="34" charset="-120"/>
              </a:rPr>
              <a:t>## Counting lines of code
</a:t>
            </a:r>
            <a:r>
              <a:rPr lang="en-US" sz="950" dirty="0">
                <a:solidFill>
                  <a:srgbClr val="D4D4D4"/>
                </a:solidFill>
                <a:latin typeface="Courier New" pitchFamily="34" charset="0"/>
                <a:ea typeface="Courier New" pitchFamily="34" charset="-122"/>
                <a:cs typeface="Courier New" pitchFamily="34" charset="-120"/>
              </a:rPr>
              <a:t>Run </a:t>
            </a:r>
            <a:r>
              <a:rPr lang="en-US" sz="950" b="1" dirty="0">
                <a:solidFill>
                  <a:srgbClr val="3B7A75"/>
                </a:solidFill>
                <a:latin typeface="Courier New" pitchFamily="34" charset="0"/>
                <a:ea typeface="Courier New" pitchFamily="34" charset="-122"/>
                <a:cs typeface="Courier New" pitchFamily="34" charset="-120"/>
              </a:rPr>
              <a:t>scripts/count_loc.py</a:t>
            </a:r>
            <a:r>
              <a:rPr lang="en-US" sz="950" dirty="0">
                <a:solidFill>
                  <a:srgbClr val="D4D4D4"/>
                </a:solidFill>
                <a:latin typeface="Courier New" pitchFamily="34" charset="0"/>
                <a:ea typeface="Courier New" pitchFamily="34" charset="-122"/>
                <a:cs typeface="Courier New" pitchFamily="34" charset="-120"/>
              </a:rPr>
              <a:t> and report the result.
</a:t>
            </a:r>
            <a:r>
              <a:rPr lang="en-US" sz="950" dirty="0">
                <a:solidFill>
                  <a:srgbClr val="CE9178"/>
                </a:solidFill>
                <a:latin typeface="Courier New" pitchFamily="34" charset="0"/>
                <a:ea typeface="Courier New" pitchFamily="34" charset="-122"/>
                <a:cs typeface="Courier New" pitchFamily="34" charset="-120"/>
              </a:rPr>
              <a:t>Do not read the script — just execute it:
</a:t>
            </a:r>
            <a:r>
              <a:rPr lang="en-US" sz="950" dirty="0">
                <a:solidFill>
                  <a:srgbClr val="6A9955"/>
                </a:solidFill>
                <a:latin typeface="Courier New" pitchFamily="34" charset="0"/>
                <a:ea typeface="Courier New" pitchFamily="34" charset="-122"/>
                <a:cs typeface="Courier New" pitchFamily="34" charset="-120"/>
              </a:rPr>
              <a:t>python scripts/count_loc.py .</a:t>
            </a:r>
            <a:endParaRPr lang="en-US" sz="950" dirty="0"/>
          </a:p>
        </p:txBody>
      </p:sp>
      <p:sp>
        <p:nvSpPr>
          <p:cNvPr id="19" name="Shape 17">
            <a:extLst>
              <a:ext uri="{FF2B5EF4-FFF2-40B4-BE49-F238E27FC236}">
                <a16:creationId xmlns:a16="http://schemas.microsoft.com/office/drawing/2014/main" id="{494CB79E-1329-85BD-99C8-7C47D92B9B55}"/>
              </a:ext>
            </a:extLst>
          </p:cNvPr>
          <p:cNvSpPr/>
          <p:nvPr/>
        </p:nvSpPr>
        <p:spPr>
          <a:xfrm>
            <a:off x="5074920" y="4709160"/>
            <a:ext cx="6355080" cy="685800"/>
          </a:xfrm>
          <a:prstGeom prst="rect">
            <a:avLst/>
          </a:prstGeom>
          <a:solidFill>
            <a:srgbClr val="FBEFE9"/>
          </a:solidFill>
          <a:ln w="12700">
            <a:solidFill>
              <a:srgbClr val="C9704F"/>
            </a:solidFill>
            <a:prstDash val="solid"/>
          </a:ln>
        </p:spPr>
        <p:txBody>
          <a:bodyPr/>
          <a:lstStyle/>
          <a:p>
            <a:endParaRPr lang="en-US"/>
          </a:p>
        </p:txBody>
      </p:sp>
      <p:sp>
        <p:nvSpPr>
          <p:cNvPr id="20" name="Text 18">
            <a:extLst>
              <a:ext uri="{FF2B5EF4-FFF2-40B4-BE49-F238E27FC236}">
                <a16:creationId xmlns:a16="http://schemas.microsoft.com/office/drawing/2014/main" id="{F016475E-D619-A89C-F414-C043B5C91C59}"/>
              </a:ext>
            </a:extLst>
          </p:cNvPr>
          <p:cNvSpPr/>
          <p:nvPr/>
        </p:nvSpPr>
        <p:spPr>
          <a:xfrm>
            <a:off x="5257800" y="4709160"/>
            <a:ext cx="5989320" cy="685800"/>
          </a:xfrm>
          <a:prstGeom prst="rect">
            <a:avLst/>
          </a:prstGeom>
          <a:noFill/>
          <a:ln/>
        </p:spPr>
        <p:txBody>
          <a:bodyPr wrap="square" lIns="0" tIns="0" rIns="0" bIns="0" rtlCol="0" anchor="ctr"/>
          <a:lstStyle/>
          <a:p>
            <a:pPr marL="0" indent="0">
              <a:buNone/>
            </a:pPr>
            <a:r>
              <a:rPr lang="en-US" sz="1250" b="1" i="1" dirty="0">
                <a:solidFill>
                  <a:srgbClr val="141414"/>
                </a:solidFill>
                <a:latin typeface="Calibri" pitchFamily="34" charset="0"/>
                <a:ea typeface="Calibri" pitchFamily="34" charset="-122"/>
                <a:cs typeface="Calibri" pitchFamily="34" charset="-120"/>
              </a:rPr>
              <a:t>“The key instruction to include in your SKILL.md is to tell Claude to run the script, not read it.”</a:t>
            </a:r>
            <a:endParaRPr lang="en-US" sz="1250" dirty="0"/>
          </a:p>
        </p:txBody>
      </p:sp>
      <p:sp>
        <p:nvSpPr>
          <p:cNvPr id="21" name="Shape 19">
            <a:extLst>
              <a:ext uri="{FF2B5EF4-FFF2-40B4-BE49-F238E27FC236}">
                <a16:creationId xmlns:a16="http://schemas.microsoft.com/office/drawing/2014/main" id="{881C3EC7-4E43-3E64-BDE6-8ABA3689852F}"/>
              </a:ext>
            </a:extLst>
          </p:cNvPr>
          <p:cNvSpPr/>
          <p:nvPr/>
        </p:nvSpPr>
        <p:spPr>
          <a:xfrm>
            <a:off x="457200" y="5715000"/>
            <a:ext cx="11247120" cy="502920"/>
          </a:xfrm>
          <a:prstGeom prst="rect">
            <a:avLst/>
          </a:prstGeom>
          <a:solidFill>
            <a:srgbClr val="F7F5F0"/>
          </a:solidFill>
          <a:ln w="9525">
            <a:solidFill>
              <a:srgbClr val="E3E0D8"/>
            </a:solidFill>
            <a:prstDash val="solid"/>
          </a:ln>
        </p:spPr>
        <p:txBody>
          <a:bodyPr/>
          <a:lstStyle/>
          <a:p>
            <a:endParaRPr lang="en-US"/>
          </a:p>
        </p:txBody>
      </p:sp>
      <p:sp>
        <p:nvSpPr>
          <p:cNvPr id="22" name="Text 20">
            <a:extLst>
              <a:ext uri="{FF2B5EF4-FFF2-40B4-BE49-F238E27FC236}">
                <a16:creationId xmlns:a16="http://schemas.microsoft.com/office/drawing/2014/main" id="{3752B860-D855-5F35-F97D-BA058BEBC208}"/>
              </a:ext>
            </a:extLst>
          </p:cNvPr>
          <p:cNvSpPr/>
          <p:nvPr/>
        </p:nvSpPr>
        <p:spPr>
          <a:xfrm>
            <a:off x="777240" y="5715000"/>
            <a:ext cx="10607040" cy="502920"/>
          </a:xfrm>
          <a:prstGeom prst="rect">
            <a:avLst/>
          </a:prstGeom>
          <a:noFill/>
          <a:ln/>
        </p:spPr>
        <p:txBody>
          <a:bodyPr wrap="square" lIns="0" tIns="0" rIns="0" bIns="0" rtlCol="0" anchor="ctr"/>
          <a:lstStyle/>
          <a:p>
            <a:pPr marL="0" indent="0">
              <a:buNone/>
            </a:pPr>
            <a:r>
              <a:rPr lang="en-US" sz="1200" b="1" dirty="0">
                <a:solidFill>
                  <a:srgbClr val="C9704F"/>
                </a:solidFill>
                <a:latin typeface="Calibri" pitchFamily="34" charset="0"/>
                <a:ea typeface="Calibri" pitchFamily="34" charset="-122"/>
                <a:cs typeface="Calibri" pitchFamily="34" charset="-120"/>
              </a:rPr>
              <a:t>Why it matters:  </a:t>
            </a:r>
            <a:r>
              <a:rPr lang="en-US" sz="1200" dirty="0">
                <a:solidFill>
                  <a:srgbClr val="2B2B2B"/>
                </a:solidFill>
                <a:latin typeface="Calibri" pitchFamily="34" charset="0"/>
                <a:ea typeface="Calibri" pitchFamily="34" charset="-122"/>
                <a:cs typeface="Calibri" pitchFamily="34" charset="-120"/>
              </a:rPr>
              <a:t>reading a reference file spends tokens on its text; running a script spends tokens only on the output — the code itself never enters context.</a:t>
            </a:r>
            <a:endParaRPr lang="en-US" sz="1200" dirty="0"/>
          </a:p>
        </p:txBody>
      </p:sp>
    </p:spTree>
    <p:extLst>
      <p:ext uri="{BB962C8B-B14F-4D97-AF65-F5344CB8AC3E}">
        <p14:creationId xmlns:p14="http://schemas.microsoft.com/office/powerpoint/2010/main" val="10068148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41413"/>
        </a:solidFill>
        <a:effectLst/>
      </p:bgPr>
    </p:bg>
    <p:spTree>
      <p:nvGrpSpPr>
        <p:cNvPr id="1" name="">
          <a:extLst>
            <a:ext uri="{FF2B5EF4-FFF2-40B4-BE49-F238E27FC236}">
              <a16:creationId xmlns:a16="http://schemas.microsoft.com/office/drawing/2014/main" id="{C7CF31C2-2F74-BF7C-15AF-FA1AADF12FA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137AB70-A168-2055-1B93-E8B836D845DC}"/>
              </a:ext>
            </a:extLst>
          </p:cNvPr>
          <p:cNvSpPr/>
          <p:nvPr/>
        </p:nvSpPr>
        <p:spPr>
          <a:xfrm>
            <a:off x="457200" y="320040"/>
            <a:ext cx="1371600" cy="1371600"/>
          </a:xfrm>
          <a:prstGeom prst="rect">
            <a:avLst/>
          </a:prstGeom>
          <a:noFill/>
          <a:ln/>
        </p:spPr>
        <p:txBody>
          <a:bodyPr wrap="square" rtlCol="0" anchor="ctr"/>
          <a:lstStyle/>
          <a:p>
            <a:pPr marL="0" indent="0">
              <a:buNone/>
            </a:pPr>
            <a:r>
              <a:rPr lang="en-US" sz="9000" b="1" dirty="0">
                <a:solidFill>
                  <a:srgbClr val="232220"/>
                </a:solidFill>
                <a:latin typeface="Poppins" pitchFamily="34" charset="0"/>
                <a:ea typeface="Poppins" pitchFamily="34" charset="-122"/>
                <a:cs typeface="Poppins" pitchFamily="34" charset="-120"/>
              </a:rPr>
              <a:t>{</a:t>
            </a:r>
            <a:endParaRPr lang="en-US" sz="9000" dirty="0"/>
          </a:p>
        </p:txBody>
      </p:sp>
      <p:sp>
        <p:nvSpPr>
          <p:cNvPr id="3" name="Text 1">
            <a:extLst>
              <a:ext uri="{FF2B5EF4-FFF2-40B4-BE49-F238E27FC236}">
                <a16:creationId xmlns:a16="http://schemas.microsoft.com/office/drawing/2014/main" id="{218E0E3F-2F0B-ABD9-732D-A0396B01B6A2}"/>
              </a:ext>
            </a:extLst>
          </p:cNvPr>
          <p:cNvSpPr/>
          <p:nvPr/>
        </p:nvSpPr>
        <p:spPr>
          <a:xfrm>
            <a:off x="10424160" y="5120640"/>
            <a:ext cx="1371600" cy="1371600"/>
          </a:xfrm>
          <a:prstGeom prst="rect">
            <a:avLst/>
          </a:prstGeom>
          <a:noFill/>
          <a:ln/>
        </p:spPr>
        <p:txBody>
          <a:bodyPr wrap="square" rtlCol="0" anchor="ctr"/>
          <a:lstStyle/>
          <a:p>
            <a:pPr marL="0" indent="0" algn="r">
              <a:buNone/>
            </a:pPr>
            <a:r>
              <a:rPr lang="en-US" sz="9000" b="1" dirty="0">
                <a:solidFill>
                  <a:srgbClr val="232220"/>
                </a:solidFill>
                <a:latin typeface="Poppins" pitchFamily="34" charset="0"/>
                <a:ea typeface="Poppins" pitchFamily="34" charset="-122"/>
                <a:cs typeface="Poppins" pitchFamily="34" charset="-120"/>
              </a:rPr>
              <a:t>}</a:t>
            </a:r>
            <a:endParaRPr lang="en-US" sz="9000" dirty="0"/>
          </a:p>
        </p:txBody>
      </p:sp>
      <p:sp>
        <p:nvSpPr>
          <p:cNvPr id="5" name="Text 3">
            <a:extLst>
              <a:ext uri="{FF2B5EF4-FFF2-40B4-BE49-F238E27FC236}">
                <a16:creationId xmlns:a16="http://schemas.microsoft.com/office/drawing/2014/main" id="{99510242-0622-254B-62CB-E4A6AC380D3F}"/>
              </a:ext>
            </a:extLst>
          </p:cNvPr>
          <p:cNvSpPr/>
          <p:nvPr/>
        </p:nvSpPr>
        <p:spPr>
          <a:xfrm>
            <a:off x="822960" y="2331720"/>
            <a:ext cx="10515600" cy="1188720"/>
          </a:xfrm>
          <a:prstGeom prst="rect">
            <a:avLst/>
          </a:prstGeom>
          <a:noFill/>
          <a:ln/>
        </p:spPr>
        <p:txBody>
          <a:bodyPr wrap="square" lIns="0" tIns="0" rIns="0" bIns="0" rtlCol="0" anchor="ctr"/>
          <a:lstStyle/>
          <a:p>
            <a:pPr marL="0" indent="0">
              <a:buNone/>
            </a:pPr>
            <a:r>
              <a:rPr lang="en-US" sz="4400" b="1" dirty="0">
                <a:solidFill>
                  <a:srgbClr val="FAF9F5"/>
                </a:solidFill>
                <a:latin typeface="Poppins" pitchFamily="34" charset="0"/>
                <a:cs typeface="Poppins" pitchFamily="34" charset="-120"/>
              </a:rPr>
              <a:t>Sub Agents</a:t>
            </a:r>
          </a:p>
        </p:txBody>
      </p:sp>
      <p:sp>
        <p:nvSpPr>
          <p:cNvPr id="10" name="Text 8">
            <a:extLst>
              <a:ext uri="{FF2B5EF4-FFF2-40B4-BE49-F238E27FC236}">
                <a16:creationId xmlns:a16="http://schemas.microsoft.com/office/drawing/2014/main" id="{F3C8E237-9DCA-B7B9-C9F7-5364BFC58116}"/>
              </a:ext>
            </a:extLst>
          </p:cNvPr>
          <p:cNvSpPr/>
          <p:nvPr/>
        </p:nvSpPr>
        <p:spPr>
          <a:xfrm>
            <a:off x="822960" y="6263640"/>
            <a:ext cx="7315200" cy="274320"/>
          </a:xfrm>
          <a:prstGeom prst="rect">
            <a:avLst/>
          </a:prstGeom>
          <a:noFill/>
          <a:ln/>
        </p:spPr>
        <p:txBody>
          <a:bodyPr wrap="square" rtlCol="0" anchor="ctr"/>
          <a:lstStyle/>
          <a:p>
            <a:pPr marL="0" indent="0">
              <a:buNone/>
            </a:pPr>
            <a:endParaRPr lang="en-US" sz="1100" dirty="0"/>
          </a:p>
        </p:txBody>
      </p:sp>
    </p:spTree>
    <p:extLst>
      <p:ext uri="{BB962C8B-B14F-4D97-AF65-F5344CB8AC3E}">
        <p14:creationId xmlns:p14="http://schemas.microsoft.com/office/powerpoint/2010/main" val="27455798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9D9CFAF-D82B-E2C5-EC6E-27A019DB666C}"/>
              </a:ext>
            </a:extLst>
          </p:cNvPr>
          <p:cNvSpPr/>
          <p:nvPr/>
        </p:nvSpPr>
        <p:spPr>
          <a:xfrm>
            <a:off x="457200" y="274320"/>
            <a:ext cx="11247120" cy="502920"/>
          </a:xfrm>
          <a:prstGeom prst="rect">
            <a:avLst/>
          </a:prstGeom>
          <a:noFill/>
          <a:ln/>
        </p:spPr>
        <p:txBody>
          <a:bodyPr wrap="square" lIns="0" tIns="0" rIns="0" bIns="0" rtlCol="0" anchor="ctr"/>
          <a:lstStyle/>
          <a:p>
            <a:pPr marL="0" indent="0">
              <a:buNone/>
            </a:pPr>
            <a:r>
              <a:rPr lang="en-US" sz="3200" b="1" dirty="0">
                <a:solidFill>
                  <a:srgbClr val="141414"/>
                </a:solidFill>
                <a:latin typeface="Cambria" pitchFamily="34" charset="0"/>
                <a:ea typeface="Cambria" pitchFamily="34" charset="-122"/>
                <a:cs typeface="Cambria" pitchFamily="34" charset="-120"/>
              </a:rPr>
              <a:t>Subagents</a:t>
            </a:r>
            <a:endParaRPr lang="en-US" sz="3200" dirty="0"/>
          </a:p>
        </p:txBody>
      </p:sp>
      <p:sp>
        <p:nvSpPr>
          <p:cNvPr id="3" name="Text 1">
            <a:extLst>
              <a:ext uri="{FF2B5EF4-FFF2-40B4-BE49-F238E27FC236}">
                <a16:creationId xmlns:a16="http://schemas.microsoft.com/office/drawing/2014/main" id="{26B4E9A0-55D1-A6E2-19FC-ED141B377A6B}"/>
              </a:ext>
            </a:extLst>
          </p:cNvPr>
          <p:cNvSpPr/>
          <p:nvPr/>
        </p:nvSpPr>
        <p:spPr>
          <a:xfrm>
            <a:off x="457200" y="777240"/>
            <a:ext cx="11247120" cy="320040"/>
          </a:xfrm>
          <a:prstGeom prst="rect">
            <a:avLst/>
          </a:prstGeom>
          <a:noFill/>
          <a:ln/>
        </p:spPr>
        <p:txBody>
          <a:bodyPr wrap="square" lIns="0" tIns="0" rIns="0" bIns="0" rtlCol="0" anchor="ctr"/>
          <a:lstStyle/>
          <a:p>
            <a:pPr marL="0" indent="0">
              <a:buNone/>
            </a:pPr>
            <a:r>
              <a:rPr lang="en-US" sz="1400" dirty="0">
                <a:solidFill>
                  <a:srgbClr val="6B6B6B"/>
                </a:solidFill>
                <a:latin typeface="Calibri" pitchFamily="34" charset="0"/>
                <a:ea typeface="Calibri" pitchFamily="34" charset="-122"/>
                <a:cs typeface="Calibri" pitchFamily="34" charset="-120"/>
              </a:rPr>
              <a:t>Models + Tools + Purpose</a:t>
            </a:r>
            <a:endParaRPr lang="en-US" sz="1400" dirty="0"/>
          </a:p>
        </p:txBody>
      </p:sp>
      <p:sp>
        <p:nvSpPr>
          <p:cNvPr id="4" name="Shape 2">
            <a:extLst>
              <a:ext uri="{FF2B5EF4-FFF2-40B4-BE49-F238E27FC236}">
                <a16:creationId xmlns:a16="http://schemas.microsoft.com/office/drawing/2014/main" id="{4E1D1AAF-030D-0570-0FD6-C5FB7BC42B85}"/>
              </a:ext>
            </a:extLst>
          </p:cNvPr>
          <p:cNvSpPr/>
          <p:nvPr/>
        </p:nvSpPr>
        <p:spPr>
          <a:xfrm>
            <a:off x="457200" y="1115568"/>
            <a:ext cx="11247120" cy="457200"/>
          </a:xfrm>
          <a:prstGeom prst="rect">
            <a:avLst/>
          </a:prstGeom>
          <a:solidFill>
            <a:srgbClr val="FBEFE9"/>
          </a:solidFill>
          <a:ln w="12700">
            <a:solidFill>
              <a:srgbClr val="C9704F"/>
            </a:solidFill>
            <a:prstDash val="solid"/>
          </a:ln>
        </p:spPr>
        <p:txBody>
          <a:bodyPr/>
          <a:lstStyle/>
          <a:p>
            <a:endParaRPr lang="en-US"/>
          </a:p>
        </p:txBody>
      </p:sp>
      <p:sp>
        <p:nvSpPr>
          <p:cNvPr id="5" name="Text 3">
            <a:extLst>
              <a:ext uri="{FF2B5EF4-FFF2-40B4-BE49-F238E27FC236}">
                <a16:creationId xmlns:a16="http://schemas.microsoft.com/office/drawing/2014/main" id="{CFA2D1D3-F27B-6472-43AD-F9DAECA8D5EB}"/>
              </a:ext>
            </a:extLst>
          </p:cNvPr>
          <p:cNvSpPr/>
          <p:nvPr/>
        </p:nvSpPr>
        <p:spPr>
          <a:xfrm>
            <a:off x="685800" y="1115568"/>
            <a:ext cx="10789920" cy="457200"/>
          </a:xfrm>
          <a:prstGeom prst="rect">
            <a:avLst/>
          </a:prstGeom>
          <a:noFill/>
          <a:ln/>
        </p:spPr>
        <p:txBody>
          <a:bodyPr wrap="square" lIns="0" tIns="0" rIns="0" bIns="0" rtlCol="0" anchor="ctr"/>
          <a:lstStyle/>
          <a:p>
            <a:pPr marL="0" indent="0">
              <a:buNone/>
            </a:pPr>
            <a:r>
              <a:rPr lang="en-US" sz="1200" b="1" dirty="0">
                <a:solidFill>
                  <a:srgbClr val="C9704F"/>
                </a:solidFill>
                <a:latin typeface="Calibri" pitchFamily="34" charset="0"/>
                <a:ea typeface="Calibri" pitchFamily="34" charset="-122"/>
                <a:cs typeface="Calibri" pitchFamily="34" charset="-120"/>
              </a:rPr>
              <a:t>The main point:  </a:t>
            </a:r>
            <a:r>
              <a:rPr lang="en-US" sz="1200" dirty="0">
                <a:solidFill>
                  <a:srgbClr val="141414"/>
                </a:solidFill>
                <a:latin typeface="Calibri" pitchFamily="34" charset="0"/>
                <a:ea typeface="Calibri" pitchFamily="34" charset="-122"/>
                <a:cs typeface="Calibri" pitchFamily="34" charset="-120"/>
              </a:rPr>
              <a:t>delegate work to an isolated copy of Claude so the noise — file reads, search results, exploration — never touches your main conversation. Only the summary comes back.</a:t>
            </a:r>
            <a:endParaRPr lang="en-US" sz="1200" dirty="0"/>
          </a:p>
        </p:txBody>
      </p:sp>
      <p:sp>
        <p:nvSpPr>
          <p:cNvPr id="6" name="Shape 4">
            <a:extLst>
              <a:ext uri="{FF2B5EF4-FFF2-40B4-BE49-F238E27FC236}">
                <a16:creationId xmlns:a16="http://schemas.microsoft.com/office/drawing/2014/main" id="{1523E0BD-A53C-8D8C-DDAE-9AE540CC0DE1}"/>
              </a:ext>
            </a:extLst>
          </p:cNvPr>
          <p:cNvSpPr/>
          <p:nvPr/>
        </p:nvSpPr>
        <p:spPr>
          <a:xfrm>
            <a:off x="457200" y="1719072"/>
            <a:ext cx="5394960" cy="3611880"/>
          </a:xfrm>
          <a:prstGeom prst="roundRect">
            <a:avLst>
              <a:gd name="adj" fmla="val 1519"/>
            </a:avLst>
          </a:prstGeom>
          <a:solidFill>
            <a:srgbClr val="FFFFFF"/>
          </a:solidFill>
          <a:ln w="12700">
            <a:solidFill>
              <a:srgbClr val="E3E0D8"/>
            </a:solidFill>
            <a:prstDash val="solid"/>
          </a:ln>
          <a:effectLst>
            <a:outerShdw blurRad="101600" dist="25400" dir="5400000" algn="bl" rotWithShape="0">
              <a:srgbClr val="000000">
                <a:alpha val="8000"/>
              </a:srgbClr>
            </a:outerShdw>
          </a:effectLst>
        </p:spPr>
        <p:txBody>
          <a:bodyPr/>
          <a:lstStyle/>
          <a:p>
            <a:endParaRPr lang="en-US"/>
          </a:p>
        </p:txBody>
      </p:sp>
      <p:sp>
        <p:nvSpPr>
          <p:cNvPr id="7" name="Text 5">
            <a:extLst>
              <a:ext uri="{FF2B5EF4-FFF2-40B4-BE49-F238E27FC236}">
                <a16:creationId xmlns:a16="http://schemas.microsoft.com/office/drawing/2014/main" id="{FC3F3984-4089-F434-DDBB-14C9053675CE}"/>
              </a:ext>
            </a:extLst>
          </p:cNvPr>
          <p:cNvSpPr/>
          <p:nvPr/>
        </p:nvSpPr>
        <p:spPr>
          <a:xfrm>
            <a:off x="731520" y="1920240"/>
            <a:ext cx="4846320" cy="365760"/>
          </a:xfrm>
          <a:prstGeom prst="rect">
            <a:avLst/>
          </a:prstGeom>
          <a:noFill/>
          <a:ln/>
        </p:spPr>
        <p:txBody>
          <a:bodyPr wrap="square" lIns="0" tIns="0" rIns="0" bIns="0" rtlCol="0" anchor="ctr"/>
          <a:lstStyle/>
          <a:p>
            <a:pPr marL="0" indent="0">
              <a:buNone/>
            </a:pPr>
            <a:r>
              <a:rPr lang="en-US" sz="1800" b="1" dirty="0">
                <a:solidFill>
                  <a:srgbClr val="C9704F"/>
                </a:solidFill>
                <a:latin typeface="Calibri" pitchFamily="34" charset="0"/>
                <a:ea typeface="Calibri" pitchFamily="34" charset="-122"/>
                <a:cs typeface="Calibri" pitchFamily="34" charset="-120"/>
              </a:rPr>
              <a:t>Built-in</a:t>
            </a:r>
            <a:endParaRPr lang="en-US" sz="1800" dirty="0"/>
          </a:p>
        </p:txBody>
      </p:sp>
      <p:sp>
        <p:nvSpPr>
          <p:cNvPr id="8" name="Shape 6">
            <a:extLst>
              <a:ext uri="{FF2B5EF4-FFF2-40B4-BE49-F238E27FC236}">
                <a16:creationId xmlns:a16="http://schemas.microsoft.com/office/drawing/2014/main" id="{6999F8BA-42CD-86DA-D99F-F115652FB822}"/>
              </a:ext>
            </a:extLst>
          </p:cNvPr>
          <p:cNvSpPr/>
          <p:nvPr/>
        </p:nvSpPr>
        <p:spPr>
          <a:xfrm>
            <a:off x="731520" y="2313432"/>
            <a:ext cx="54864" cy="804672"/>
          </a:xfrm>
          <a:prstGeom prst="rect">
            <a:avLst/>
          </a:prstGeom>
          <a:solidFill>
            <a:srgbClr val="3B7A75"/>
          </a:solidFill>
          <a:ln w="12700">
            <a:solidFill>
              <a:srgbClr val="3B7A75"/>
            </a:solidFill>
            <a:prstDash val="solid"/>
          </a:ln>
        </p:spPr>
        <p:txBody>
          <a:bodyPr/>
          <a:lstStyle/>
          <a:p>
            <a:endParaRPr lang="en-US"/>
          </a:p>
        </p:txBody>
      </p:sp>
      <p:sp>
        <p:nvSpPr>
          <p:cNvPr id="9" name="Text 7">
            <a:extLst>
              <a:ext uri="{FF2B5EF4-FFF2-40B4-BE49-F238E27FC236}">
                <a16:creationId xmlns:a16="http://schemas.microsoft.com/office/drawing/2014/main" id="{4A94EEB5-3F06-1E3C-AEF3-93F6F13B990D}"/>
              </a:ext>
            </a:extLst>
          </p:cNvPr>
          <p:cNvSpPr/>
          <p:nvPr/>
        </p:nvSpPr>
        <p:spPr>
          <a:xfrm>
            <a:off x="914400" y="2313432"/>
            <a:ext cx="4617720" cy="274320"/>
          </a:xfrm>
          <a:prstGeom prst="rect">
            <a:avLst/>
          </a:prstGeom>
          <a:noFill/>
          <a:ln/>
        </p:spPr>
        <p:txBody>
          <a:bodyPr wrap="square" lIns="0" tIns="0" rIns="0" bIns="0" rtlCol="0" anchor="ctr"/>
          <a:lstStyle/>
          <a:p>
            <a:pPr marL="0" indent="0">
              <a:buNone/>
            </a:pPr>
            <a:r>
              <a:rPr lang="en-US" sz="1150" b="1" dirty="0">
                <a:solidFill>
                  <a:srgbClr val="141414"/>
                </a:solidFill>
                <a:latin typeface="Calibri" pitchFamily="34" charset="0"/>
                <a:ea typeface="Calibri" pitchFamily="34" charset="-122"/>
                <a:cs typeface="Calibri" pitchFamily="34" charset="-120"/>
              </a:rPr>
              <a:t>Explore</a:t>
            </a:r>
            <a:r>
              <a:rPr lang="en-US" sz="1150" b="1" dirty="0">
                <a:solidFill>
                  <a:srgbClr val="3B7A75"/>
                </a:solidFill>
                <a:latin typeface="Calibri" pitchFamily="34" charset="0"/>
                <a:ea typeface="Calibri" pitchFamily="34" charset="-122"/>
                <a:cs typeface="Calibri" pitchFamily="34" charset="-120"/>
              </a:rPr>
              <a:t>  —  Haiku, Read-only tools</a:t>
            </a:r>
            <a:endParaRPr lang="en-US" sz="1150" dirty="0"/>
          </a:p>
        </p:txBody>
      </p:sp>
      <p:sp>
        <p:nvSpPr>
          <p:cNvPr id="10" name="Text 8">
            <a:extLst>
              <a:ext uri="{FF2B5EF4-FFF2-40B4-BE49-F238E27FC236}">
                <a16:creationId xmlns:a16="http://schemas.microsoft.com/office/drawing/2014/main" id="{215FF382-C162-206C-042A-51C618D78FC0}"/>
              </a:ext>
            </a:extLst>
          </p:cNvPr>
          <p:cNvSpPr/>
          <p:nvPr/>
        </p:nvSpPr>
        <p:spPr>
          <a:xfrm>
            <a:off x="914400" y="2587752"/>
            <a:ext cx="4617720" cy="457200"/>
          </a:xfrm>
          <a:prstGeom prst="rect">
            <a:avLst/>
          </a:prstGeom>
          <a:noFill/>
          <a:ln/>
        </p:spPr>
        <p:txBody>
          <a:bodyPr wrap="square" lIns="0" tIns="0" rIns="0" bIns="0" rtlCol="0" anchor="ctr"/>
          <a:lstStyle/>
          <a:p>
            <a:pPr marL="0" indent="0">
              <a:buNone/>
            </a:pPr>
            <a:r>
              <a:rPr lang="en-US" sz="1000" dirty="0">
                <a:solidFill>
                  <a:srgbClr val="2B2B2B"/>
                </a:solidFill>
                <a:latin typeface="Calibri" pitchFamily="34" charset="0"/>
                <a:ea typeface="Calibri" pitchFamily="34" charset="-122"/>
                <a:cs typeface="Calibri" pitchFamily="34" charset="-120"/>
              </a:rPr>
              <a:t>Fast file discovery &amp; code search. Skips CLAUDE.md and git status to stay cheap.</a:t>
            </a:r>
            <a:endParaRPr lang="en-US" sz="1000" dirty="0"/>
          </a:p>
        </p:txBody>
      </p:sp>
      <p:sp>
        <p:nvSpPr>
          <p:cNvPr id="11" name="Shape 9">
            <a:extLst>
              <a:ext uri="{FF2B5EF4-FFF2-40B4-BE49-F238E27FC236}">
                <a16:creationId xmlns:a16="http://schemas.microsoft.com/office/drawing/2014/main" id="{64F27D2F-E2D2-FFAF-B2B8-50408E677848}"/>
              </a:ext>
            </a:extLst>
          </p:cNvPr>
          <p:cNvSpPr/>
          <p:nvPr/>
        </p:nvSpPr>
        <p:spPr>
          <a:xfrm>
            <a:off x="731520" y="3209544"/>
            <a:ext cx="54864" cy="804672"/>
          </a:xfrm>
          <a:prstGeom prst="rect">
            <a:avLst/>
          </a:prstGeom>
          <a:solidFill>
            <a:srgbClr val="3B7A75"/>
          </a:solidFill>
          <a:ln w="12700">
            <a:solidFill>
              <a:srgbClr val="3B7A75"/>
            </a:solidFill>
            <a:prstDash val="solid"/>
          </a:ln>
        </p:spPr>
        <p:txBody>
          <a:bodyPr/>
          <a:lstStyle/>
          <a:p>
            <a:endParaRPr lang="en-US"/>
          </a:p>
        </p:txBody>
      </p:sp>
      <p:sp>
        <p:nvSpPr>
          <p:cNvPr id="12" name="Text 10">
            <a:extLst>
              <a:ext uri="{FF2B5EF4-FFF2-40B4-BE49-F238E27FC236}">
                <a16:creationId xmlns:a16="http://schemas.microsoft.com/office/drawing/2014/main" id="{24071B3E-23A4-F1ED-9067-4A6D34FFA947}"/>
              </a:ext>
            </a:extLst>
          </p:cNvPr>
          <p:cNvSpPr/>
          <p:nvPr/>
        </p:nvSpPr>
        <p:spPr>
          <a:xfrm>
            <a:off x="914400" y="3209544"/>
            <a:ext cx="4617720" cy="274320"/>
          </a:xfrm>
          <a:prstGeom prst="rect">
            <a:avLst/>
          </a:prstGeom>
          <a:noFill/>
          <a:ln/>
        </p:spPr>
        <p:txBody>
          <a:bodyPr wrap="square" lIns="0" tIns="0" rIns="0" bIns="0" rtlCol="0" anchor="ctr"/>
          <a:lstStyle/>
          <a:p>
            <a:pPr marL="0" indent="0">
              <a:buNone/>
            </a:pPr>
            <a:r>
              <a:rPr lang="en-US" sz="1150" b="1" dirty="0">
                <a:solidFill>
                  <a:srgbClr val="141414"/>
                </a:solidFill>
                <a:latin typeface="Calibri" pitchFamily="34" charset="0"/>
                <a:ea typeface="Calibri" pitchFamily="34" charset="-122"/>
                <a:cs typeface="Calibri" pitchFamily="34" charset="-120"/>
              </a:rPr>
              <a:t>Plan</a:t>
            </a:r>
            <a:r>
              <a:rPr lang="en-US" sz="1150" b="1" dirty="0">
                <a:solidFill>
                  <a:srgbClr val="3B7A75"/>
                </a:solidFill>
                <a:latin typeface="Calibri" pitchFamily="34" charset="0"/>
                <a:ea typeface="Calibri" pitchFamily="34" charset="-122"/>
                <a:cs typeface="Calibri" pitchFamily="34" charset="-120"/>
              </a:rPr>
              <a:t>  —  Inherits main, Read-only tools</a:t>
            </a:r>
            <a:endParaRPr lang="en-US" sz="1150" dirty="0"/>
          </a:p>
        </p:txBody>
      </p:sp>
      <p:sp>
        <p:nvSpPr>
          <p:cNvPr id="13" name="Text 11">
            <a:extLst>
              <a:ext uri="{FF2B5EF4-FFF2-40B4-BE49-F238E27FC236}">
                <a16:creationId xmlns:a16="http://schemas.microsoft.com/office/drawing/2014/main" id="{DE77E524-BB48-E518-2748-AC0AE18A7975}"/>
              </a:ext>
            </a:extLst>
          </p:cNvPr>
          <p:cNvSpPr/>
          <p:nvPr/>
        </p:nvSpPr>
        <p:spPr>
          <a:xfrm>
            <a:off x="914400" y="3483864"/>
            <a:ext cx="4617720" cy="457200"/>
          </a:xfrm>
          <a:prstGeom prst="rect">
            <a:avLst/>
          </a:prstGeom>
          <a:noFill/>
          <a:ln/>
        </p:spPr>
        <p:txBody>
          <a:bodyPr wrap="square" lIns="0" tIns="0" rIns="0" bIns="0" rtlCol="0" anchor="ctr"/>
          <a:lstStyle/>
          <a:p>
            <a:pPr marL="0" indent="0">
              <a:buNone/>
            </a:pPr>
            <a:r>
              <a:rPr lang="en-US" sz="1000" dirty="0">
                <a:solidFill>
                  <a:srgbClr val="2B2B2B"/>
                </a:solidFill>
                <a:latin typeface="Calibri" pitchFamily="34" charset="0"/>
                <a:ea typeface="Calibri" pitchFamily="34" charset="-122"/>
                <a:cs typeface="Calibri" pitchFamily="34" charset="-120"/>
              </a:rPr>
              <a:t>Codebase research during plan mode, before presenting a plan.</a:t>
            </a:r>
            <a:endParaRPr lang="en-US" sz="1000" dirty="0"/>
          </a:p>
        </p:txBody>
      </p:sp>
      <p:sp>
        <p:nvSpPr>
          <p:cNvPr id="14" name="Shape 12">
            <a:extLst>
              <a:ext uri="{FF2B5EF4-FFF2-40B4-BE49-F238E27FC236}">
                <a16:creationId xmlns:a16="http://schemas.microsoft.com/office/drawing/2014/main" id="{EC2B2077-D61B-76E2-46F2-856A42CF56FA}"/>
              </a:ext>
            </a:extLst>
          </p:cNvPr>
          <p:cNvSpPr/>
          <p:nvPr/>
        </p:nvSpPr>
        <p:spPr>
          <a:xfrm>
            <a:off x="731520" y="4105656"/>
            <a:ext cx="54864" cy="804672"/>
          </a:xfrm>
          <a:prstGeom prst="rect">
            <a:avLst/>
          </a:prstGeom>
          <a:solidFill>
            <a:srgbClr val="3B7A75"/>
          </a:solidFill>
          <a:ln w="12700">
            <a:solidFill>
              <a:srgbClr val="3B7A75"/>
            </a:solidFill>
            <a:prstDash val="solid"/>
          </a:ln>
        </p:spPr>
        <p:txBody>
          <a:bodyPr/>
          <a:lstStyle/>
          <a:p>
            <a:endParaRPr lang="en-US"/>
          </a:p>
        </p:txBody>
      </p:sp>
      <p:sp>
        <p:nvSpPr>
          <p:cNvPr id="15" name="Text 13">
            <a:extLst>
              <a:ext uri="{FF2B5EF4-FFF2-40B4-BE49-F238E27FC236}">
                <a16:creationId xmlns:a16="http://schemas.microsoft.com/office/drawing/2014/main" id="{9B835B32-3CA0-FB63-C309-6C2460D3D83E}"/>
              </a:ext>
            </a:extLst>
          </p:cNvPr>
          <p:cNvSpPr/>
          <p:nvPr/>
        </p:nvSpPr>
        <p:spPr>
          <a:xfrm>
            <a:off x="914400" y="4105656"/>
            <a:ext cx="4617720" cy="274320"/>
          </a:xfrm>
          <a:prstGeom prst="rect">
            <a:avLst/>
          </a:prstGeom>
          <a:noFill/>
          <a:ln/>
        </p:spPr>
        <p:txBody>
          <a:bodyPr wrap="square" lIns="0" tIns="0" rIns="0" bIns="0" rtlCol="0" anchor="ctr"/>
          <a:lstStyle/>
          <a:p>
            <a:pPr marL="0" indent="0">
              <a:buNone/>
            </a:pPr>
            <a:r>
              <a:rPr lang="en-US" sz="1150" b="1" dirty="0">
                <a:solidFill>
                  <a:srgbClr val="141414"/>
                </a:solidFill>
                <a:latin typeface="Calibri" pitchFamily="34" charset="0"/>
                <a:ea typeface="Calibri" pitchFamily="34" charset="-122"/>
                <a:cs typeface="Calibri" pitchFamily="34" charset="-120"/>
              </a:rPr>
              <a:t>General-purpose</a:t>
            </a:r>
            <a:r>
              <a:rPr lang="en-US" sz="1150" b="1" dirty="0">
                <a:solidFill>
                  <a:srgbClr val="3B7A75"/>
                </a:solidFill>
                <a:latin typeface="Calibri" pitchFamily="34" charset="0"/>
                <a:ea typeface="Calibri" pitchFamily="34" charset="-122"/>
                <a:cs typeface="Calibri" pitchFamily="34" charset="-120"/>
              </a:rPr>
              <a:t>  —  Inherits main, All tools</a:t>
            </a:r>
            <a:endParaRPr lang="en-US" sz="1150" dirty="0"/>
          </a:p>
        </p:txBody>
      </p:sp>
      <p:sp>
        <p:nvSpPr>
          <p:cNvPr id="16" name="Text 14">
            <a:extLst>
              <a:ext uri="{FF2B5EF4-FFF2-40B4-BE49-F238E27FC236}">
                <a16:creationId xmlns:a16="http://schemas.microsoft.com/office/drawing/2014/main" id="{EBD386F6-0D1D-A010-49F4-F48176F6F9A6}"/>
              </a:ext>
            </a:extLst>
          </p:cNvPr>
          <p:cNvSpPr/>
          <p:nvPr/>
        </p:nvSpPr>
        <p:spPr>
          <a:xfrm>
            <a:off x="914400" y="4379976"/>
            <a:ext cx="4617720" cy="457200"/>
          </a:xfrm>
          <a:prstGeom prst="rect">
            <a:avLst/>
          </a:prstGeom>
          <a:noFill/>
          <a:ln/>
        </p:spPr>
        <p:txBody>
          <a:bodyPr wrap="square" lIns="0" tIns="0" rIns="0" bIns="0" rtlCol="0" anchor="ctr"/>
          <a:lstStyle/>
          <a:p>
            <a:pPr marL="0" indent="0">
              <a:buNone/>
            </a:pPr>
            <a:r>
              <a:rPr lang="en-US" sz="1000" dirty="0">
                <a:solidFill>
                  <a:srgbClr val="2B2B2B"/>
                </a:solidFill>
                <a:latin typeface="Calibri" pitchFamily="34" charset="0"/>
                <a:ea typeface="Calibri" pitchFamily="34" charset="-122"/>
                <a:cs typeface="Calibri" pitchFamily="34" charset="-120"/>
              </a:rPr>
              <a:t>Complex research, multi-step operations, and code modifications.</a:t>
            </a:r>
            <a:endParaRPr lang="en-US" sz="1000" dirty="0"/>
          </a:p>
        </p:txBody>
      </p:sp>
      <p:sp>
        <p:nvSpPr>
          <p:cNvPr id="17" name="Shape 15">
            <a:extLst>
              <a:ext uri="{FF2B5EF4-FFF2-40B4-BE49-F238E27FC236}">
                <a16:creationId xmlns:a16="http://schemas.microsoft.com/office/drawing/2014/main" id="{69FAA28B-1D6E-ACF9-C465-6F62ACE9B4F5}"/>
              </a:ext>
            </a:extLst>
          </p:cNvPr>
          <p:cNvSpPr/>
          <p:nvPr/>
        </p:nvSpPr>
        <p:spPr>
          <a:xfrm>
            <a:off x="6080760" y="1719072"/>
            <a:ext cx="5623560" cy="3611880"/>
          </a:xfrm>
          <a:prstGeom prst="roundRect">
            <a:avLst>
              <a:gd name="adj" fmla="val 1519"/>
            </a:avLst>
          </a:prstGeom>
          <a:solidFill>
            <a:srgbClr val="FFFFFF"/>
          </a:solidFill>
          <a:ln w="12700">
            <a:solidFill>
              <a:srgbClr val="E3E0D8"/>
            </a:solidFill>
            <a:prstDash val="solid"/>
          </a:ln>
          <a:effectLst>
            <a:outerShdw blurRad="101600" dist="25400" dir="5400000" algn="bl" rotWithShape="0">
              <a:srgbClr val="000000">
                <a:alpha val="8000"/>
              </a:srgbClr>
            </a:outerShdw>
          </a:effectLst>
        </p:spPr>
        <p:txBody>
          <a:bodyPr/>
          <a:lstStyle/>
          <a:p>
            <a:endParaRPr lang="en-US"/>
          </a:p>
        </p:txBody>
      </p:sp>
      <p:sp>
        <p:nvSpPr>
          <p:cNvPr id="18" name="Text 16">
            <a:extLst>
              <a:ext uri="{FF2B5EF4-FFF2-40B4-BE49-F238E27FC236}">
                <a16:creationId xmlns:a16="http://schemas.microsoft.com/office/drawing/2014/main" id="{167F59A4-A9D1-5CB8-C4EC-6F385B4FADA7}"/>
              </a:ext>
            </a:extLst>
          </p:cNvPr>
          <p:cNvSpPr/>
          <p:nvPr/>
        </p:nvSpPr>
        <p:spPr>
          <a:xfrm>
            <a:off x="6355080" y="1920240"/>
            <a:ext cx="5074920" cy="365760"/>
          </a:xfrm>
          <a:prstGeom prst="rect">
            <a:avLst/>
          </a:prstGeom>
          <a:noFill/>
          <a:ln/>
        </p:spPr>
        <p:txBody>
          <a:bodyPr wrap="square" lIns="0" tIns="0" rIns="0" bIns="0" rtlCol="0" anchor="ctr"/>
          <a:lstStyle/>
          <a:p>
            <a:pPr marL="0" indent="0">
              <a:buNone/>
            </a:pPr>
            <a:r>
              <a:rPr lang="en-US" sz="1800" b="1" dirty="0">
                <a:solidFill>
                  <a:srgbClr val="6B5B95"/>
                </a:solidFill>
                <a:latin typeface="Calibri" pitchFamily="34" charset="0"/>
                <a:ea typeface="Calibri" pitchFamily="34" charset="-122"/>
                <a:cs typeface="Calibri" pitchFamily="34" charset="-120"/>
              </a:rPr>
              <a:t>Custom</a:t>
            </a:r>
            <a:endParaRPr lang="en-US" sz="1800" dirty="0"/>
          </a:p>
        </p:txBody>
      </p:sp>
      <p:sp>
        <p:nvSpPr>
          <p:cNvPr id="19" name="Text 17">
            <a:extLst>
              <a:ext uri="{FF2B5EF4-FFF2-40B4-BE49-F238E27FC236}">
                <a16:creationId xmlns:a16="http://schemas.microsoft.com/office/drawing/2014/main" id="{F452743B-4752-442F-E9B6-57C7AED4F1E6}"/>
              </a:ext>
            </a:extLst>
          </p:cNvPr>
          <p:cNvSpPr/>
          <p:nvPr/>
        </p:nvSpPr>
        <p:spPr>
          <a:xfrm>
            <a:off x="6355080" y="2286000"/>
            <a:ext cx="5074920" cy="274320"/>
          </a:xfrm>
          <a:prstGeom prst="rect">
            <a:avLst/>
          </a:prstGeom>
          <a:noFill/>
          <a:ln/>
        </p:spPr>
        <p:txBody>
          <a:bodyPr wrap="square" lIns="0" tIns="0" rIns="0" bIns="0" rtlCol="0" anchor="ctr"/>
          <a:lstStyle/>
          <a:p>
            <a:pPr marL="0" indent="0">
              <a:buNone/>
            </a:pPr>
            <a:r>
              <a:rPr lang="en-US" sz="1050" dirty="0">
                <a:solidFill>
                  <a:srgbClr val="6B5B95"/>
                </a:solidFill>
                <a:latin typeface="Courier New" pitchFamily="34" charset="0"/>
                <a:ea typeface="Courier New" pitchFamily="34" charset="-122"/>
                <a:cs typeface="Courier New" pitchFamily="34" charset="-120"/>
              </a:rPr>
              <a:t>.claude/agents/</a:t>
            </a:r>
            <a:r>
              <a:rPr lang="en-US" sz="1050" dirty="0">
                <a:solidFill>
                  <a:srgbClr val="6B6B6B"/>
                </a:solidFill>
                <a:latin typeface="Calibri" pitchFamily="34" charset="0"/>
                <a:ea typeface="Calibri" pitchFamily="34" charset="-122"/>
                <a:cs typeface="Calibri" pitchFamily="34" charset="-120"/>
              </a:rPr>
              <a:t> (project)  or  </a:t>
            </a:r>
            <a:r>
              <a:rPr lang="en-US" sz="1050" dirty="0">
                <a:solidFill>
                  <a:srgbClr val="6B5B95"/>
                </a:solidFill>
                <a:latin typeface="Courier New" pitchFamily="34" charset="0"/>
                <a:ea typeface="Courier New" pitchFamily="34" charset="-122"/>
                <a:cs typeface="Courier New" pitchFamily="34" charset="-120"/>
              </a:rPr>
              <a:t>~/.claude/agents/</a:t>
            </a:r>
            <a:r>
              <a:rPr lang="en-US" sz="1050" dirty="0">
                <a:solidFill>
                  <a:srgbClr val="6B6B6B"/>
                </a:solidFill>
                <a:latin typeface="Calibri" pitchFamily="34" charset="0"/>
                <a:ea typeface="Calibri" pitchFamily="34" charset="-122"/>
                <a:cs typeface="Calibri" pitchFamily="34" charset="-120"/>
              </a:rPr>
              <a:t> (personal)</a:t>
            </a:r>
            <a:endParaRPr lang="en-US" sz="1050" dirty="0"/>
          </a:p>
        </p:txBody>
      </p:sp>
      <p:sp>
        <p:nvSpPr>
          <p:cNvPr id="20" name="Shape 18">
            <a:extLst>
              <a:ext uri="{FF2B5EF4-FFF2-40B4-BE49-F238E27FC236}">
                <a16:creationId xmlns:a16="http://schemas.microsoft.com/office/drawing/2014/main" id="{C15AC821-CE5C-400F-61C2-03DD79EA79AA}"/>
              </a:ext>
            </a:extLst>
          </p:cNvPr>
          <p:cNvSpPr/>
          <p:nvPr/>
        </p:nvSpPr>
        <p:spPr>
          <a:xfrm>
            <a:off x="6355080" y="2633472"/>
            <a:ext cx="5074920" cy="1691640"/>
          </a:xfrm>
          <a:prstGeom prst="rect">
            <a:avLst/>
          </a:prstGeom>
          <a:solidFill>
            <a:srgbClr val="1E1E1E"/>
          </a:solidFill>
          <a:ln w="12700">
            <a:solidFill>
              <a:srgbClr val="1E1E1E"/>
            </a:solidFill>
            <a:prstDash val="solid"/>
          </a:ln>
        </p:spPr>
        <p:txBody>
          <a:bodyPr/>
          <a:lstStyle/>
          <a:p>
            <a:endParaRPr lang="en-US"/>
          </a:p>
        </p:txBody>
      </p:sp>
      <p:sp>
        <p:nvSpPr>
          <p:cNvPr id="21" name="Text 19">
            <a:extLst>
              <a:ext uri="{FF2B5EF4-FFF2-40B4-BE49-F238E27FC236}">
                <a16:creationId xmlns:a16="http://schemas.microsoft.com/office/drawing/2014/main" id="{FE8D31FB-2EFF-308B-1234-C51F1DF9E8C8}"/>
              </a:ext>
            </a:extLst>
          </p:cNvPr>
          <p:cNvSpPr/>
          <p:nvPr/>
        </p:nvSpPr>
        <p:spPr>
          <a:xfrm>
            <a:off x="6492240" y="2724912"/>
            <a:ext cx="4800600" cy="1508760"/>
          </a:xfrm>
          <a:prstGeom prst="rect">
            <a:avLst/>
          </a:prstGeom>
          <a:noFill/>
          <a:ln/>
        </p:spPr>
        <p:txBody>
          <a:bodyPr wrap="square" lIns="0" tIns="0" rIns="0" bIns="0" rtlCol="0" anchor="t"/>
          <a:lstStyle/>
          <a:p>
            <a:pPr marL="0" indent="0">
              <a:lnSpc>
                <a:spcPts val="1250"/>
              </a:lnSpc>
              <a:buNone/>
            </a:pPr>
            <a:r>
              <a:rPr lang="en-US" sz="950" dirty="0">
                <a:solidFill>
                  <a:srgbClr val="6B6B6B"/>
                </a:solidFill>
                <a:latin typeface="Courier New" pitchFamily="34" charset="0"/>
                <a:ea typeface="Courier New" pitchFamily="34" charset="-122"/>
                <a:cs typeface="Courier New" pitchFamily="34" charset="-120"/>
              </a:rPr>
              <a:t>---
</a:t>
            </a:r>
            <a:r>
              <a:rPr lang="en-US" sz="950" dirty="0">
                <a:solidFill>
                  <a:srgbClr val="9CDCFE"/>
                </a:solidFill>
                <a:latin typeface="Courier New" pitchFamily="34" charset="0"/>
                <a:ea typeface="Courier New" pitchFamily="34" charset="-122"/>
                <a:cs typeface="Courier New" pitchFamily="34" charset="-120"/>
              </a:rPr>
              <a:t>name</a:t>
            </a:r>
            <a:r>
              <a:rPr lang="en-US" sz="950" dirty="0">
                <a:solidFill>
                  <a:srgbClr val="D4D4D4"/>
                </a:solidFill>
                <a:latin typeface="Courier New" pitchFamily="34" charset="0"/>
                <a:ea typeface="Courier New" pitchFamily="34" charset="-122"/>
                <a:cs typeface="Courier New" pitchFamily="34" charset="-120"/>
              </a:rPr>
              <a:t>: code-reviewer
</a:t>
            </a:r>
            <a:r>
              <a:rPr lang="en-US" sz="950" dirty="0">
                <a:solidFill>
                  <a:srgbClr val="9CDCFE"/>
                </a:solidFill>
                <a:latin typeface="Courier New" pitchFamily="34" charset="0"/>
                <a:ea typeface="Courier New" pitchFamily="34" charset="-122"/>
                <a:cs typeface="Courier New" pitchFamily="34" charset="-120"/>
              </a:rPr>
              <a:t>description</a:t>
            </a:r>
            <a:r>
              <a:rPr lang="en-US" sz="950" dirty="0">
                <a:solidFill>
                  <a:srgbClr val="CE9178"/>
                </a:solidFill>
                <a:latin typeface="Courier New" pitchFamily="34" charset="0"/>
                <a:ea typeface="Courier New" pitchFamily="34" charset="-122"/>
                <a:cs typeface="Courier New" pitchFamily="34" charset="-120"/>
              </a:rPr>
              <a:t>: Reviews code for
  quality and best practices
</a:t>
            </a:r>
            <a:r>
              <a:rPr lang="en-US" sz="950" dirty="0">
                <a:solidFill>
                  <a:srgbClr val="9CDCFE"/>
                </a:solidFill>
                <a:latin typeface="Courier New" pitchFamily="34" charset="0"/>
                <a:ea typeface="Courier New" pitchFamily="34" charset="-122"/>
                <a:cs typeface="Courier New" pitchFamily="34" charset="-120"/>
              </a:rPr>
              <a:t>tools</a:t>
            </a:r>
            <a:r>
              <a:rPr lang="en-US" sz="950" dirty="0">
                <a:solidFill>
                  <a:srgbClr val="D4D4D4"/>
                </a:solidFill>
                <a:latin typeface="Courier New" pitchFamily="34" charset="0"/>
                <a:ea typeface="Courier New" pitchFamily="34" charset="-122"/>
                <a:cs typeface="Courier New" pitchFamily="34" charset="-120"/>
              </a:rPr>
              <a:t>: Read, Glob, Grep
</a:t>
            </a:r>
            <a:r>
              <a:rPr lang="en-US" sz="950" dirty="0">
                <a:solidFill>
                  <a:srgbClr val="9CDCFE"/>
                </a:solidFill>
                <a:latin typeface="Courier New" pitchFamily="34" charset="0"/>
                <a:ea typeface="Courier New" pitchFamily="34" charset="-122"/>
                <a:cs typeface="Courier New" pitchFamily="34" charset="-120"/>
              </a:rPr>
              <a:t>model</a:t>
            </a:r>
            <a:r>
              <a:rPr lang="en-US" sz="950" dirty="0">
                <a:solidFill>
                  <a:srgbClr val="D4D4D4"/>
                </a:solidFill>
                <a:latin typeface="Courier New" pitchFamily="34" charset="0"/>
                <a:ea typeface="Courier New" pitchFamily="34" charset="-122"/>
                <a:cs typeface="Courier New" pitchFamily="34" charset="-120"/>
              </a:rPr>
              <a:t>: sonnet
</a:t>
            </a:r>
            <a:r>
              <a:rPr lang="en-US" sz="950" dirty="0">
                <a:solidFill>
                  <a:srgbClr val="6B6B6B"/>
                </a:solidFill>
                <a:latin typeface="Courier New" pitchFamily="34" charset="0"/>
                <a:ea typeface="Courier New" pitchFamily="34" charset="-122"/>
                <a:cs typeface="Courier New" pitchFamily="34" charset="-120"/>
              </a:rPr>
              <a:t>---
</a:t>
            </a:r>
            <a:r>
              <a:rPr lang="en-US" sz="950" dirty="0">
                <a:solidFill>
                  <a:srgbClr val="6A9955"/>
                </a:solidFill>
                <a:latin typeface="Courier New" pitchFamily="34" charset="0"/>
                <a:ea typeface="Courier New" pitchFamily="34" charset="-122"/>
                <a:cs typeface="Courier New" pitchFamily="34" charset="-120"/>
              </a:rPr>
              <a:t>You are a code reviewer. When invoked,
analyze the code and provide specific,
actionable feedback.</a:t>
            </a:r>
            <a:endParaRPr lang="en-US" sz="950" dirty="0"/>
          </a:p>
        </p:txBody>
      </p:sp>
      <p:sp>
        <p:nvSpPr>
          <p:cNvPr id="22" name="Text 20">
            <a:extLst>
              <a:ext uri="{FF2B5EF4-FFF2-40B4-BE49-F238E27FC236}">
                <a16:creationId xmlns:a16="http://schemas.microsoft.com/office/drawing/2014/main" id="{0345D436-157E-FE6B-D06C-B4A1BC27DF12}"/>
              </a:ext>
            </a:extLst>
          </p:cNvPr>
          <p:cNvSpPr/>
          <p:nvPr/>
        </p:nvSpPr>
        <p:spPr>
          <a:xfrm>
            <a:off x="6355080" y="4416552"/>
            <a:ext cx="5074920" cy="320040"/>
          </a:xfrm>
          <a:prstGeom prst="rect">
            <a:avLst/>
          </a:prstGeom>
          <a:noFill/>
          <a:ln/>
        </p:spPr>
        <p:txBody>
          <a:bodyPr wrap="square" lIns="0" tIns="0" rIns="0" bIns="0" rtlCol="0" anchor="ctr"/>
          <a:lstStyle/>
          <a:p>
            <a:pPr marL="0" indent="0">
              <a:buNone/>
            </a:pPr>
            <a:r>
              <a:rPr lang="en-US" sz="1000" b="1" dirty="0">
                <a:solidFill>
                  <a:srgbClr val="6B5B95"/>
                </a:solidFill>
                <a:latin typeface="Calibri" pitchFamily="34" charset="0"/>
                <a:ea typeface="Calibri" pitchFamily="34" charset="-122"/>
                <a:cs typeface="Calibri" pitchFamily="34" charset="-120"/>
              </a:rPr>
              <a:t>Frontmatter</a:t>
            </a:r>
            <a:r>
              <a:rPr lang="en-US" sz="1000" dirty="0">
                <a:solidFill>
                  <a:srgbClr val="6B6B6B"/>
                </a:solidFill>
                <a:latin typeface="Calibri" pitchFamily="34" charset="0"/>
                <a:ea typeface="Calibri" pitchFamily="34" charset="-122"/>
                <a:cs typeface="Calibri" pitchFamily="34" charset="-120"/>
              </a:rPr>
              <a:t> = config (name, description required)   ·   </a:t>
            </a:r>
            <a:r>
              <a:rPr lang="en-US" sz="1000" b="1" dirty="0">
                <a:solidFill>
                  <a:srgbClr val="3B7A75"/>
                </a:solidFill>
                <a:latin typeface="Calibri" pitchFamily="34" charset="0"/>
                <a:ea typeface="Calibri" pitchFamily="34" charset="-122"/>
                <a:cs typeface="Calibri" pitchFamily="34" charset="-120"/>
              </a:rPr>
              <a:t>Body</a:t>
            </a:r>
            <a:r>
              <a:rPr lang="en-US" sz="1000" dirty="0">
                <a:solidFill>
                  <a:srgbClr val="6B6B6B"/>
                </a:solidFill>
                <a:latin typeface="Calibri" pitchFamily="34" charset="0"/>
                <a:ea typeface="Calibri" pitchFamily="34" charset="-122"/>
                <a:cs typeface="Calibri" pitchFamily="34" charset="-120"/>
              </a:rPr>
              <a:t> = the system prompt</a:t>
            </a:r>
            <a:endParaRPr lang="en-US" sz="1000" dirty="0"/>
          </a:p>
        </p:txBody>
      </p:sp>
      <p:sp>
        <p:nvSpPr>
          <p:cNvPr id="23" name="Shape 21">
            <a:extLst>
              <a:ext uri="{FF2B5EF4-FFF2-40B4-BE49-F238E27FC236}">
                <a16:creationId xmlns:a16="http://schemas.microsoft.com/office/drawing/2014/main" id="{28CDF52A-EEA9-E52F-E40B-9420E7450FA4}"/>
              </a:ext>
            </a:extLst>
          </p:cNvPr>
          <p:cNvSpPr/>
          <p:nvPr/>
        </p:nvSpPr>
        <p:spPr>
          <a:xfrm>
            <a:off x="457200" y="5468112"/>
            <a:ext cx="11247120" cy="713232"/>
          </a:xfrm>
          <a:prstGeom prst="roundRect">
            <a:avLst>
              <a:gd name="adj" fmla="val 7692"/>
            </a:avLst>
          </a:prstGeom>
          <a:solidFill>
            <a:srgbClr val="141414"/>
          </a:solidFill>
          <a:ln w="12700">
            <a:solidFill>
              <a:srgbClr val="141414"/>
            </a:solidFill>
            <a:prstDash val="solid"/>
          </a:ln>
        </p:spPr>
        <p:txBody>
          <a:bodyPr/>
          <a:lstStyle/>
          <a:p>
            <a:endParaRPr lang="en-US"/>
          </a:p>
        </p:txBody>
      </p:sp>
      <p:sp>
        <p:nvSpPr>
          <p:cNvPr id="24" name="Text 22">
            <a:extLst>
              <a:ext uri="{FF2B5EF4-FFF2-40B4-BE49-F238E27FC236}">
                <a16:creationId xmlns:a16="http://schemas.microsoft.com/office/drawing/2014/main" id="{5260EE72-9451-726D-EF44-72D92EEA113C}"/>
              </a:ext>
            </a:extLst>
          </p:cNvPr>
          <p:cNvSpPr/>
          <p:nvPr/>
        </p:nvSpPr>
        <p:spPr>
          <a:xfrm>
            <a:off x="731520" y="5577840"/>
            <a:ext cx="5029200" cy="256032"/>
          </a:xfrm>
          <a:prstGeom prst="rect">
            <a:avLst/>
          </a:prstGeom>
          <a:noFill/>
          <a:ln/>
        </p:spPr>
        <p:txBody>
          <a:bodyPr wrap="square" lIns="0" tIns="0" rIns="0" bIns="0" rtlCol="0" anchor="ctr"/>
          <a:lstStyle/>
          <a:p>
            <a:pPr marL="0" indent="0">
              <a:buNone/>
            </a:pPr>
            <a:r>
              <a:rPr lang="en-US" sz="1350" b="1" dirty="0">
                <a:solidFill>
                  <a:srgbClr val="C9704F"/>
                </a:solidFill>
                <a:latin typeface="Calibri" pitchFamily="34" charset="0"/>
                <a:ea typeface="Calibri" pitchFamily="34" charset="-122"/>
                <a:cs typeface="Calibri" pitchFamily="34" charset="-120"/>
              </a:rPr>
              <a:t>Typically invoked automatically</a:t>
            </a:r>
            <a:endParaRPr lang="en-US" sz="1350" dirty="0"/>
          </a:p>
        </p:txBody>
      </p:sp>
      <p:sp>
        <p:nvSpPr>
          <p:cNvPr id="25" name="Text 23">
            <a:extLst>
              <a:ext uri="{FF2B5EF4-FFF2-40B4-BE49-F238E27FC236}">
                <a16:creationId xmlns:a16="http://schemas.microsoft.com/office/drawing/2014/main" id="{072DAB97-2E34-4AC9-C8E5-2652D1C438A1}"/>
              </a:ext>
            </a:extLst>
          </p:cNvPr>
          <p:cNvSpPr/>
          <p:nvPr/>
        </p:nvSpPr>
        <p:spPr>
          <a:xfrm>
            <a:off x="731520" y="5843016"/>
            <a:ext cx="10698480" cy="301752"/>
          </a:xfrm>
          <a:prstGeom prst="rect">
            <a:avLst/>
          </a:prstGeom>
          <a:noFill/>
          <a:ln/>
        </p:spPr>
        <p:txBody>
          <a:bodyPr wrap="square" lIns="0" tIns="0" rIns="0" bIns="0" rtlCol="0" anchor="ctr"/>
          <a:lstStyle/>
          <a:p>
            <a:pPr marL="0" indent="0">
              <a:buNone/>
            </a:pPr>
            <a:r>
              <a:rPr lang="en-US" sz="1050" dirty="0">
                <a:solidFill>
                  <a:srgbClr val="E8E8E8"/>
                </a:solidFill>
                <a:latin typeface="Calibri" pitchFamily="34" charset="0"/>
                <a:ea typeface="Calibri" pitchFamily="34" charset="-122"/>
                <a:cs typeface="Calibri" pitchFamily="34" charset="-120"/>
              </a:rPr>
              <a:t>Claude matches your request against each subagent's description field and delegates — no special syntax needed. You can also name one directly: “Use the code-reviewer subagent to look at my changes.”</a:t>
            </a:r>
            <a:endParaRPr lang="en-US" sz="1050" dirty="0"/>
          </a:p>
        </p:txBody>
      </p:sp>
      <p:sp>
        <p:nvSpPr>
          <p:cNvPr id="26" name="Shape 24">
            <a:extLst>
              <a:ext uri="{FF2B5EF4-FFF2-40B4-BE49-F238E27FC236}">
                <a16:creationId xmlns:a16="http://schemas.microsoft.com/office/drawing/2014/main" id="{D0D011B2-F733-F807-8EE4-1EC2FA839475}"/>
              </a:ext>
            </a:extLst>
          </p:cNvPr>
          <p:cNvSpPr/>
          <p:nvPr/>
        </p:nvSpPr>
        <p:spPr>
          <a:xfrm>
            <a:off x="457200" y="6291072"/>
            <a:ext cx="11247120" cy="502920"/>
          </a:xfrm>
          <a:prstGeom prst="rect">
            <a:avLst/>
          </a:prstGeom>
          <a:solidFill>
            <a:srgbClr val="F7F5F0"/>
          </a:solidFill>
          <a:ln w="9525">
            <a:solidFill>
              <a:srgbClr val="E3E0D8"/>
            </a:solidFill>
            <a:prstDash val="solid"/>
          </a:ln>
        </p:spPr>
        <p:txBody>
          <a:bodyPr/>
          <a:lstStyle/>
          <a:p>
            <a:endParaRPr lang="en-US"/>
          </a:p>
        </p:txBody>
      </p:sp>
      <p:sp>
        <p:nvSpPr>
          <p:cNvPr id="27" name="Text 25">
            <a:extLst>
              <a:ext uri="{FF2B5EF4-FFF2-40B4-BE49-F238E27FC236}">
                <a16:creationId xmlns:a16="http://schemas.microsoft.com/office/drawing/2014/main" id="{2822111F-2B76-A823-9422-620FFDF22C01}"/>
              </a:ext>
            </a:extLst>
          </p:cNvPr>
          <p:cNvSpPr/>
          <p:nvPr/>
        </p:nvSpPr>
        <p:spPr>
          <a:xfrm>
            <a:off x="777240" y="6291072"/>
            <a:ext cx="10607040" cy="502920"/>
          </a:xfrm>
          <a:prstGeom prst="rect">
            <a:avLst/>
          </a:prstGeom>
          <a:noFill/>
          <a:ln/>
        </p:spPr>
        <p:txBody>
          <a:bodyPr wrap="square" lIns="0" tIns="0" rIns="0" bIns="0" rtlCol="0" anchor="ctr"/>
          <a:lstStyle/>
          <a:p>
            <a:pPr marL="0" indent="0">
              <a:buNone/>
            </a:pPr>
            <a:r>
              <a:rPr lang="en-US" sz="1200" b="1" dirty="0">
                <a:solidFill>
                  <a:srgbClr val="C9704F"/>
                </a:solidFill>
                <a:latin typeface="Calibri" pitchFamily="34" charset="0"/>
                <a:ea typeface="Calibri" pitchFamily="34" charset="-122"/>
                <a:cs typeface="Calibri" pitchFamily="34" charset="-120"/>
              </a:rPr>
              <a:t>Fresh context every time:  </a:t>
            </a:r>
            <a:r>
              <a:rPr lang="en-US" sz="1200" dirty="0">
                <a:solidFill>
                  <a:srgbClr val="2B2B2B"/>
                </a:solidFill>
                <a:latin typeface="Calibri" pitchFamily="34" charset="0"/>
                <a:ea typeface="Calibri" pitchFamily="34" charset="-122"/>
                <a:cs typeface="Calibri" pitchFamily="34" charset="-120"/>
              </a:rPr>
              <a:t>a subagent doesn't see your conversation history — only its own system prompt, the task, and (usually) your CLAUDE.md.</a:t>
            </a:r>
            <a:endParaRPr lang="en-US" sz="1200" dirty="0"/>
          </a:p>
        </p:txBody>
      </p:sp>
    </p:spTree>
    <p:extLst>
      <p:ext uri="{BB962C8B-B14F-4D97-AF65-F5344CB8AC3E}">
        <p14:creationId xmlns:p14="http://schemas.microsoft.com/office/powerpoint/2010/main" val="30408420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54556DE-C737-18BF-72DA-81A9D9EDDF21}"/>
              </a:ext>
            </a:extLst>
          </p:cNvPr>
          <p:cNvSpPr/>
          <p:nvPr/>
        </p:nvSpPr>
        <p:spPr>
          <a:xfrm>
            <a:off x="457200" y="274320"/>
            <a:ext cx="11247120" cy="457200"/>
          </a:xfrm>
          <a:prstGeom prst="rect">
            <a:avLst/>
          </a:prstGeom>
          <a:noFill/>
          <a:ln/>
        </p:spPr>
        <p:txBody>
          <a:bodyPr wrap="square" lIns="0" tIns="0" rIns="0" bIns="0" rtlCol="0" anchor="ctr"/>
          <a:lstStyle/>
          <a:p>
            <a:pPr marL="0" indent="0">
              <a:buNone/>
            </a:pPr>
            <a:r>
              <a:rPr lang="en-US" sz="3000" b="1" dirty="0">
                <a:solidFill>
                  <a:srgbClr val="141414"/>
                </a:solidFill>
                <a:latin typeface="Cambria" pitchFamily="34" charset="0"/>
                <a:ea typeface="Cambria" pitchFamily="34" charset="-122"/>
                <a:cs typeface="Cambria" pitchFamily="34" charset="-120"/>
              </a:rPr>
              <a:t>Where Subagents Live</a:t>
            </a:r>
            <a:endParaRPr lang="en-US" sz="3000" dirty="0"/>
          </a:p>
        </p:txBody>
      </p:sp>
      <p:sp>
        <p:nvSpPr>
          <p:cNvPr id="3" name="Text 1">
            <a:extLst>
              <a:ext uri="{FF2B5EF4-FFF2-40B4-BE49-F238E27FC236}">
                <a16:creationId xmlns:a16="http://schemas.microsoft.com/office/drawing/2014/main" id="{81096B72-45CF-5351-F928-00F1928A6955}"/>
              </a:ext>
            </a:extLst>
          </p:cNvPr>
          <p:cNvSpPr/>
          <p:nvPr/>
        </p:nvSpPr>
        <p:spPr>
          <a:xfrm>
            <a:off x="457200" y="731520"/>
            <a:ext cx="11247120" cy="457200"/>
          </a:xfrm>
          <a:prstGeom prst="rect">
            <a:avLst/>
          </a:prstGeom>
          <a:noFill/>
          <a:ln/>
        </p:spPr>
        <p:txBody>
          <a:bodyPr wrap="square" lIns="0" tIns="0" rIns="0" bIns="0" rtlCol="0" anchor="ctr"/>
          <a:lstStyle/>
          <a:p>
            <a:pPr marL="0" indent="0">
              <a:buNone/>
            </a:pPr>
            <a:r>
              <a:rPr lang="en-US" sz="1250" dirty="0">
                <a:solidFill>
                  <a:srgbClr val="6B6B6B"/>
                </a:solidFill>
                <a:latin typeface="Calibri" pitchFamily="34" charset="0"/>
                <a:ea typeface="Calibri" pitchFamily="34" charset="-122"/>
                <a:cs typeface="Calibri" pitchFamily="34" charset="-120"/>
              </a:rPr>
              <a:t>A subagent is just a markdown file. Where you save it decides who can use it and what wins if two subagents share a name.</a:t>
            </a:r>
            <a:endParaRPr lang="en-US" sz="1250" dirty="0"/>
          </a:p>
        </p:txBody>
      </p:sp>
      <p:sp>
        <p:nvSpPr>
          <p:cNvPr id="4" name="Shape 2">
            <a:extLst>
              <a:ext uri="{FF2B5EF4-FFF2-40B4-BE49-F238E27FC236}">
                <a16:creationId xmlns:a16="http://schemas.microsoft.com/office/drawing/2014/main" id="{0E52D552-8472-BC41-6972-1389E7C1CDF8}"/>
              </a:ext>
            </a:extLst>
          </p:cNvPr>
          <p:cNvSpPr/>
          <p:nvPr/>
        </p:nvSpPr>
        <p:spPr>
          <a:xfrm>
            <a:off x="457200" y="1325880"/>
            <a:ext cx="5394960" cy="4206240"/>
          </a:xfrm>
          <a:prstGeom prst="roundRect">
            <a:avLst>
              <a:gd name="adj" fmla="val 1304"/>
            </a:avLst>
          </a:prstGeom>
          <a:solidFill>
            <a:srgbClr val="FFFFFF"/>
          </a:solidFill>
          <a:ln w="12700">
            <a:solidFill>
              <a:srgbClr val="E3E0D8"/>
            </a:solidFill>
            <a:prstDash val="solid"/>
          </a:ln>
          <a:effectLst>
            <a:outerShdw blurRad="101600" dist="25400" dir="5400000" algn="bl" rotWithShape="0">
              <a:srgbClr val="000000">
                <a:alpha val="8000"/>
              </a:srgbClr>
            </a:outerShdw>
          </a:effectLst>
        </p:spPr>
        <p:txBody>
          <a:bodyPr/>
          <a:lstStyle/>
          <a:p>
            <a:endParaRPr lang="en-US"/>
          </a:p>
        </p:txBody>
      </p:sp>
      <p:sp>
        <p:nvSpPr>
          <p:cNvPr id="5" name="Text 3">
            <a:extLst>
              <a:ext uri="{FF2B5EF4-FFF2-40B4-BE49-F238E27FC236}">
                <a16:creationId xmlns:a16="http://schemas.microsoft.com/office/drawing/2014/main" id="{7D44B0A0-611C-A319-BB29-767001EC55DE}"/>
              </a:ext>
            </a:extLst>
          </p:cNvPr>
          <p:cNvSpPr/>
          <p:nvPr/>
        </p:nvSpPr>
        <p:spPr>
          <a:xfrm>
            <a:off x="731520" y="1508760"/>
            <a:ext cx="4846320" cy="320040"/>
          </a:xfrm>
          <a:prstGeom prst="rect">
            <a:avLst/>
          </a:prstGeom>
          <a:noFill/>
          <a:ln/>
        </p:spPr>
        <p:txBody>
          <a:bodyPr wrap="square" lIns="0" tIns="0" rIns="0" bIns="0" rtlCol="0" anchor="ctr"/>
          <a:lstStyle/>
          <a:p>
            <a:pPr marL="0" indent="0">
              <a:buNone/>
            </a:pPr>
            <a:r>
              <a:rPr lang="en-US" sz="1500" b="1" dirty="0">
                <a:solidFill>
                  <a:srgbClr val="C9704F"/>
                </a:solidFill>
                <a:latin typeface="Calibri" pitchFamily="34" charset="0"/>
                <a:ea typeface="Calibri" pitchFamily="34" charset="-122"/>
                <a:cs typeface="Calibri" pitchFamily="34" charset="-120"/>
              </a:rPr>
              <a:t>Four file-based scopes, ranked by priority</a:t>
            </a:r>
            <a:endParaRPr lang="en-US" sz="1500" dirty="0"/>
          </a:p>
        </p:txBody>
      </p:sp>
      <p:sp>
        <p:nvSpPr>
          <p:cNvPr id="7" name="Shape 5">
            <a:extLst>
              <a:ext uri="{FF2B5EF4-FFF2-40B4-BE49-F238E27FC236}">
                <a16:creationId xmlns:a16="http://schemas.microsoft.com/office/drawing/2014/main" id="{AAE459CA-2C7D-26CA-CB75-7C215514DA47}"/>
              </a:ext>
            </a:extLst>
          </p:cNvPr>
          <p:cNvSpPr/>
          <p:nvPr/>
        </p:nvSpPr>
        <p:spPr>
          <a:xfrm>
            <a:off x="731520" y="1904378"/>
            <a:ext cx="292608" cy="292608"/>
          </a:xfrm>
          <a:prstGeom prst="ellipse">
            <a:avLst/>
          </a:prstGeom>
          <a:solidFill>
            <a:srgbClr val="8A6D3B"/>
          </a:solidFill>
          <a:ln w="12700">
            <a:solidFill>
              <a:srgbClr val="8A6D3B"/>
            </a:solidFill>
            <a:prstDash val="solid"/>
          </a:ln>
        </p:spPr>
        <p:txBody>
          <a:bodyPr/>
          <a:lstStyle/>
          <a:p>
            <a:endParaRPr lang="en-US"/>
          </a:p>
        </p:txBody>
      </p:sp>
      <p:sp>
        <p:nvSpPr>
          <p:cNvPr id="8" name="Text 6">
            <a:extLst>
              <a:ext uri="{FF2B5EF4-FFF2-40B4-BE49-F238E27FC236}">
                <a16:creationId xmlns:a16="http://schemas.microsoft.com/office/drawing/2014/main" id="{C9B06A7E-E21C-C4D0-4BF6-7A94F97A6E50}"/>
              </a:ext>
            </a:extLst>
          </p:cNvPr>
          <p:cNvSpPr/>
          <p:nvPr/>
        </p:nvSpPr>
        <p:spPr>
          <a:xfrm>
            <a:off x="731520" y="1904378"/>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a:extLst>
              <a:ext uri="{FF2B5EF4-FFF2-40B4-BE49-F238E27FC236}">
                <a16:creationId xmlns:a16="http://schemas.microsoft.com/office/drawing/2014/main" id="{B7D81787-8E75-60C7-96E0-C3F349F3B302}"/>
              </a:ext>
            </a:extLst>
          </p:cNvPr>
          <p:cNvSpPr/>
          <p:nvPr/>
        </p:nvSpPr>
        <p:spPr>
          <a:xfrm>
            <a:off x="1143000" y="1904378"/>
            <a:ext cx="2286000" cy="256032"/>
          </a:xfrm>
          <a:prstGeom prst="rect">
            <a:avLst/>
          </a:prstGeom>
          <a:noFill/>
          <a:ln/>
        </p:spPr>
        <p:txBody>
          <a:bodyPr wrap="square" lIns="0" tIns="0" rIns="0" bIns="0" rtlCol="0" anchor="ctr"/>
          <a:lstStyle/>
          <a:p>
            <a:pPr marL="0" indent="0">
              <a:buNone/>
            </a:pPr>
            <a:r>
              <a:rPr lang="en-US" sz="1200" b="1" dirty="0">
                <a:solidFill>
                  <a:srgbClr val="141414"/>
                </a:solidFill>
                <a:latin typeface="Courier New" pitchFamily="34" charset="0"/>
                <a:ea typeface="Courier New" pitchFamily="34" charset="-122"/>
                <a:cs typeface="Courier New" pitchFamily="34" charset="-120"/>
              </a:rPr>
              <a:t>Managed settings</a:t>
            </a:r>
            <a:endParaRPr lang="en-US" sz="1200" dirty="0"/>
          </a:p>
        </p:txBody>
      </p:sp>
      <p:sp>
        <p:nvSpPr>
          <p:cNvPr id="10" name="Text 8">
            <a:extLst>
              <a:ext uri="{FF2B5EF4-FFF2-40B4-BE49-F238E27FC236}">
                <a16:creationId xmlns:a16="http://schemas.microsoft.com/office/drawing/2014/main" id="{06A00F1E-E8F8-3CB6-9FD7-FF7699DF506D}"/>
              </a:ext>
            </a:extLst>
          </p:cNvPr>
          <p:cNvSpPr/>
          <p:nvPr/>
        </p:nvSpPr>
        <p:spPr>
          <a:xfrm>
            <a:off x="3429000" y="1904378"/>
            <a:ext cx="2148840" cy="256032"/>
          </a:xfrm>
          <a:prstGeom prst="rect">
            <a:avLst/>
          </a:prstGeom>
          <a:noFill/>
          <a:ln/>
        </p:spPr>
        <p:txBody>
          <a:bodyPr wrap="square" lIns="0" tIns="0" rIns="0" bIns="0"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Organization-wide</a:t>
            </a:r>
            <a:endParaRPr lang="en-US" sz="1000" dirty="0"/>
          </a:p>
        </p:txBody>
      </p:sp>
      <p:sp>
        <p:nvSpPr>
          <p:cNvPr id="11" name="Text 9">
            <a:extLst>
              <a:ext uri="{FF2B5EF4-FFF2-40B4-BE49-F238E27FC236}">
                <a16:creationId xmlns:a16="http://schemas.microsoft.com/office/drawing/2014/main" id="{51F57500-74D3-B01D-4F82-B32EB597BCD1}"/>
              </a:ext>
            </a:extLst>
          </p:cNvPr>
          <p:cNvSpPr/>
          <p:nvPr/>
        </p:nvSpPr>
        <p:spPr>
          <a:xfrm>
            <a:off x="1143000" y="2178698"/>
            <a:ext cx="4434840" cy="274320"/>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Deployed by admins; wins every naming conflict</a:t>
            </a:r>
            <a:endParaRPr lang="en-US" sz="950" dirty="0"/>
          </a:p>
        </p:txBody>
      </p:sp>
      <p:sp>
        <p:nvSpPr>
          <p:cNvPr id="12" name="Shape 10">
            <a:extLst>
              <a:ext uri="{FF2B5EF4-FFF2-40B4-BE49-F238E27FC236}">
                <a16:creationId xmlns:a16="http://schemas.microsoft.com/office/drawing/2014/main" id="{11B6AF81-1833-27BF-41F3-9D725A6CB7C9}"/>
              </a:ext>
            </a:extLst>
          </p:cNvPr>
          <p:cNvSpPr/>
          <p:nvPr/>
        </p:nvSpPr>
        <p:spPr>
          <a:xfrm>
            <a:off x="731520" y="3140685"/>
            <a:ext cx="292608" cy="292608"/>
          </a:xfrm>
          <a:prstGeom prst="ellipse">
            <a:avLst/>
          </a:prstGeom>
          <a:solidFill>
            <a:srgbClr val="3B7A75"/>
          </a:solidFill>
          <a:ln w="12700">
            <a:solidFill>
              <a:srgbClr val="3B7A75"/>
            </a:solidFill>
            <a:prstDash val="solid"/>
          </a:ln>
        </p:spPr>
        <p:txBody>
          <a:bodyPr/>
          <a:lstStyle/>
          <a:p>
            <a:endParaRPr lang="en-US"/>
          </a:p>
        </p:txBody>
      </p:sp>
      <p:sp>
        <p:nvSpPr>
          <p:cNvPr id="13" name="Text 11">
            <a:extLst>
              <a:ext uri="{FF2B5EF4-FFF2-40B4-BE49-F238E27FC236}">
                <a16:creationId xmlns:a16="http://schemas.microsoft.com/office/drawing/2014/main" id="{46D4EB18-C01B-DCB4-A398-4E70A595AFFB}"/>
              </a:ext>
            </a:extLst>
          </p:cNvPr>
          <p:cNvSpPr/>
          <p:nvPr/>
        </p:nvSpPr>
        <p:spPr>
          <a:xfrm>
            <a:off x="731520" y="3140685"/>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a:extLst>
              <a:ext uri="{FF2B5EF4-FFF2-40B4-BE49-F238E27FC236}">
                <a16:creationId xmlns:a16="http://schemas.microsoft.com/office/drawing/2014/main" id="{4B358AEE-D5DC-06FE-0F5E-0F89B0F41861}"/>
              </a:ext>
            </a:extLst>
          </p:cNvPr>
          <p:cNvSpPr/>
          <p:nvPr/>
        </p:nvSpPr>
        <p:spPr>
          <a:xfrm>
            <a:off x="1143000" y="3140685"/>
            <a:ext cx="2286000" cy="256032"/>
          </a:xfrm>
          <a:prstGeom prst="rect">
            <a:avLst/>
          </a:prstGeom>
          <a:noFill/>
          <a:ln/>
        </p:spPr>
        <p:txBody>
          <a:bodyPr wrap="square" lIns="0" tIns="0" rIns="0" bIns="0" rtlCol="0" anchor="ctr"/>
          <a:lstStyle/>
          <a:p>
            <a:pPr marL="0" indent="0">
              <a:buNone/>
            </a:pPr>
            <a:r>
              <a:rPr lang="en-US" sz="1200" b="1" dirty="0">
                <a:solidFill>
                  <a:srgbClr val="141414"/>
                </a:solidFill>
                <a:latin typeface="Courier New" pitchFamily="34" charset="0"/>
                <a:ea typeface="Courier New" pitchFamily="34" charset="-122"/>
                <a:cs typeface="Courier New" pitchFamily="34" charset="-120"/>
              </a:rPr>
              <a:t>.claude/agents/</a:t>
            </a:r>
            <a:endParaRPr lang="en-US" sz="1200" dirty="0"/>
          </a:p>
        </p:txBody>
      </p:sp>
      <p:sp>
        <p:nvSpPr>
          <p:cNvPr id="15" name="Text 13">
            <a:extLst>
              <a:ext uri="{FF2B5EF4-FFF2-40B4-BE49-F238E27FC236}">
                <a16:creationId xmlns:a16="http://schemas.microsoft.com/office/drawing/2014/main" id="{9C448108-0294-B8F8-6A0D-9A1B8F1E2F93}"/>
              </a:ext>
            </a:extLst>
          </p:cNvPr>
          <p:cNvSpPr/>
          <p:nvPr/>
        </p:nvSpPr>
        <p:spPr>
          <a:xfrm>
            <a:off x="3429000" y="3140685"/>
            <a:ext cx="2148840" cy="256032"/>
          </a:xfrm>
          <a:prstGeom prst="rect">
            <a:avLst/>
          </a:prstGeom>
          <a:noFill/>
          <a:ln/>
        </p:spPr>
        <p:txBody>
          <a:bodyPr wrap="square" lIns="0" tIns="0" rIns="0" bIns="0"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Current project</a:t>
            </a:r>
            <a:endParaRPr lang="en-US" sz="1000" dirty="0"/>
          </a:p>
        </p:txBody>
      </p:sp>
      <p:sp>
        <p:nvSpPr>
          <p:cNvPr id="16" name="Text 14">
            <a:extLst>
              <a:ext uri="{FF2B5EF4-FFF2-40B4-BE49-F238E27FC236}">
                <a16:creationId xmlns:a16="http://schemas.microsoft.com/office/drawing/2014/main" id="{E7FEB53A-F21F-DD49-93FB-CAF9216500A8}"/>
              </a:ext>
            </a:extLst>
          </p:cNvPr>
          <p:cNvSpPr/>
          <p:nvPr/>
        </p:nvSpPr>
        <p:spPr>
          <a:xfrm>
            <a:off x="1143000" y="3415005"/>
            <a:ext cx="4434840" cy="274320"/>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Shared with your team via git</a:t>
            </a:r>
            <a:endParaRPr lang="en-US" sz="950" dirty="0"/>
          </a:p>
        </p:txBody>
      </p:sp>
      <p:sp>
        <p:nvSpPr>
          <p:cNvPr id="17" name="Shape 15">
            <a:extLst>
              <a:ext uri="{FF2B5EF4-FFF2-40B4-BE49-F238E27FC236}">
                <a16:creationId xmlns:a16="http://schemas.microsoft.com/office/drawing/2014/main" id="{B28C0595-8668-C047-F05D-8E1351EB0B21}"/>
              </a:ext>
            </a:extLst>
          </p:cNvPr>
          <p:cNvSpPr/>
          <p:nvPr/>
        </p:nvSpPr>
        <p:spPr>
          <a:xfrm>
            <a:off x="731520" y="3826485"/>
            <a:ext cx="292608" cy="292608"/>
          </a:xfrm>
          <a:prstGeom prst="ellipse">
            <a:avLst/>
          </a:prstGeom>
          <a:solidFill>
            <a:srgbClr val="3B6E8F"/>
          </a:solidFill>
          <a:ln w="12700">
            <a:solidFill>
              <a:srgbClr val="3B6E8F"/>
            </a:solidFill>
            <a:prstDash val="solid"/>
          </a:ln>
        </p:spPr>
        <p:txBody>
          <a:bodyPr/>
          <a:lstStyle/>
          <a:p>
            <a:endParaRPr lang="en-US" dirty="0"/>
          </a:p>
        </p:txBody>
      </p:sp>
      <p:sp>
        <p:nvSpPr>
          <p:cNvPr id="18" name="Text 16">
            <a:extLst>
              <a:ext uri="{FF2B5EF4-FFF2-40B4-BE49-F238E27FC236}">
                <a16:creationId xmlns:a16="http://schemas.microsoft.com/office/drawing/2014/main" id="{22FA25E6-AA43-1E59-4570-18AAAB440F31}"/>
              </a:ext>
            </a:extLst>
          </p:cNvPr>
          <p:cNvSpPr/>
          <p:nvPr/>
        </p:nvSpPr>
        <p:spPr>
          <a:xfrm>
            <a:off x="731520" y="3826485"/>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a:extLst>
              <a:ext uri="{FF2B5EF4-FFF2-40B4-BE49-F238E27FC236}">
                <a16:creationId xmlns:a16="http://schemas.microsoft.com/office/drawing/2014/main" id="{FD3EF0E3-AB64-F80E-714E-31D6FD5D337A}"/>
              </a:ext>
            </a:extLst>
          </p:cNvPr>
          <p:cNvSpPr/>
          <p:nvPr/>
        </p:nvSpPr>
        <p:spPr>
          <a:xfrm>
            <a:off x="1143000" y="3826485"/>
            <a:ext cx="2286000" cy="256032"/>
          </a:xfrm>
          <a:prstGeom prst="rect">
            <a:avLst/>
          </a:prstGeom>
          <a:noFill/>
          <a:ln/>
        </p:spPr>
        <p:txBody>
          <a:bodyPr wrap="square" lIns="0" tIns="0" rIns="0" bIns="0" rtlCol="0" anchor="ctr"/>
          <a:lstStyle/>
          <a:p>
            <a:pPr marL="0" indent="0">
              <a:buNone/>
            </a:pPr>
            <a:r>
              <a:rPr lang="en-US" sz="1200" b="1" dirty="0">
                <a:solidFill>
                  <a:srgbClr val="141414"/>
                </a:solidFill>
                <a:latin typeface="Courier New" pitchFamily="34" charset="0"/>
                <a:ea typeface="Courier New" pitchFamily="34" charset="-122"/>
                <a:cs typeface="Courier New" pitchFamily="34" charset="-120"/>
              </a:rPr>
              <a:t>~/.claude/agents/</a:t>
            </a:r>
            <a:endParaRPr lang="en-US" sz="1200" dirty="0"/>
          </a:p>
        </p:txBody>
      </p:sp>
      <p:sp>
        <p:nvSpPr>
          <p:cNvPr id="20" name="Text 18">
            <a:extLst>
              <a:ext uri="{FF2B5EF4-FFF2-40B4-BE49-F238E27FC236}">
                <a16:creationId xmlns:a16="http://schemas.microsoft.com/office/drawing/2014/main" id="{C3E883B5-1932-879E-BEC1-DE0FAFC58928}"/>
              </a:ext>
            </a:extLst>
          </p:cNvPr>
          <p:cNvSpPr/>
          <p:nvPr/>
        </p:nvSpPr>
        <p:spPr>
          <a:xfrm>
            <a:off x="3429000" y="3826485"/>
            <a:ext cx="2148840" cy="256032"/>
          </a:xfrm>
          <a:prstGeom prst="rect">
            <a:avLst/>
          </a:prstGeom>
          <a:noFill/>
          <a:ln/>
        </p:spPr>
        <p:txBody>
          <a:bodyPr wrap="square" lIns="0" tIns="0" rIns="0" bIns="0"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All your projects</a:t>
            </a:r>
            <a:endParaRPr lang="en-US" sz="1000" dirty="0"/>
          </a:p>
        </p:txBody>
      </p:sp>
      <p:sp>
        <p:nvSpPr>
          <p:cNvPr id="21" name="Text 19">
            <a:extLst>
              <a:ext uri="{FF2B5EF4-FFF2-40B4-BE49-F238E27FC236}">
                <a16:creationId xmlns:a16="http://schemas.microsoft.com/office/drawing/2014/main" id="{F4DF4A4D-D282-B582-1BA3-C7EF276EE8C1}"/>
              </a:ext>
            </a:extLst>
          </p:cNvPr>
          <p:cNvSpPr/>
          <p:nvPr/>
        </p:nvSpPr>
        <p:spPr>
          <a:xfrm>
            <a:off x="1143000" y="4100805"/>
            <a:ext cx="4434840" cy="274320"/>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Personal, follows you everywhere</a:t>
            </a:r>
            <a:endParaRPr lang="en-US" sz="950" dirty="0"/>
          </a:p>
        </p:txBody>
      </p:sp>
      <p:sp>
        <p:nvSpPr>
          <p:cNvPr id="22" name="Shape 20">
            <a:extLst>
              <a:ext uri="{FF2B5EF4-FFF2-40B4-BE49-F238E27FC236}">
                <a16:creationId xmlns:a16="http://schemas.microsoft.com/office/drawing/2014/main" id="{87B756AB-3F11-2C8D-58EC-1FC22337380C}"/>
              </a:ext>
            </a:extLst>
          </p:cNvPr>
          <p:cNvSpPr/>
          <p:nvPr/>
        </p:nvSpPr>
        <p:spPr>
          <a:xfrm>
            <a:off x="731520" y="4512285"/>
            <a:ext cx="292608" cy="292608"/>
          </a:xfrm>
          <a:prstGeom prst="ellipse">
            <a:avLst/>
          </a:prstGeom>
          <a:solidFill>
            <a:srgbClr val="6B6B6B"/>
          </a:solidFill>
          <a:ln w="12700">
            <a:solidFill>
              <a:srgbClr val="6B6B6B"/>
            </a:solidFill>
            <a:prstDash val="solid"/>
          </a:ln>
        </p:spPr>
        <p:txBody>
          <a:bodyPr/>
          <a:lstStyle/>
          <a:p>
            <a:endParaRPr lang="en-US"/>
          </a:p>
        </p:txBody>
      </p:sp>
      <p:sp>
        <p:nvSpPr>
          <p:cNvPr id="23" name="Text 21">
            <a:extLst>
              <a:ext uri="{FF2B5EF4-FFF2-40B4-BE49-F238E27FC236}">
                <a16:creationId xmlns:a16="http://schemas.microsoft.com/office/drawing/2014/main" id="{F5801B1A-325F-42A7-3DAC-5C29779AB0B2}"/>
              </a:ext>
            </a:extLst>
          </p:cNvPr>
          <p:cNvSpPr/>
          <p:nvPr/>
        </p:nvSpPr>
        <p:spPr>
          <a:xfrm>
            <a:off x="731520" y="4512285"/>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4" name="Text 22">
            <a:extLst>
              <a:ext uri="{FF2B5EF4-FFF2-40B4-BE49-F238E27FC236}">
                <a16:creationId xmlns:a16="http://schemas.microsoft.com/office/drawing/2014/main" id="{D9981138-AB0C-126C-5D60-355F78618A2C}"/>
              </a:ext>
            </a:extLst>
          </p:cNvPr>
          <p:cNvSpPr/>
          <p:nvPr/>
        </p:nvSpPr>
        <p:spPr>
          <a:xfrm>
            <a:off x="1143000" y="4512285"/>
            <a:ext cx="2286000" cy="256032"/>
          </a:xfrm>
          <a:prstGeom prst="rect">
            <a:avLst/>
          </a:prstGeom>
          <a:noFill/>
          <a:ln/>
        </p:spPr>
        <p:txBody>
          <a:bodyPr wrap="square" lIns="0" tIns="0" rIns="0" bIns="0" rtlCol="0" anchor="ctr"/>
          <a:lstStyle/>
          <a:p>
            <a:pPr marL="0" indent="0">
              <a:buNone/>
            </a:pPr>
            <a:r>
              <a:rPr lang="en-US" sz="1200" b="1" dirty="0">
                <a:solidFill>
                  <a:srgbClr val="141414"/>
                </a:solidFill>
                <a:latin typeface="Courier New" pitchFamily="34" charset="0"/>
                <a:ea typeface="Courier New" pitchFamily="34" charset="-122"/>
                <a:cs typeface="Courier New" pitchFamily="34" charset="-120"/>
              </a:rPr>
              <a:t>Plugin's agents/</a:t>
            </a:r>
            <a:endParaRPr lang="en-US" sz="1200" dirty="0"/>
          </a:p>
        </p:txBody>
      </p:sp>
      <p:sp>
        <p:nvSpPr>
          <p:cNvPr id="25" name="Text 23">
            <a:extLst>
              <a:ext uri="{FF2B5EF4-FFF2-40B4-BE49-F238E27FC236}">
                <a16:creationId xmlns:a16="http://schemas.microsoft.com/office/drawing/2014/main" id="{5043B276-9BD0-2D05-17CD-03D8F3A4732B}"/>
              </a:ext>
            </a:extLst>
          </p:cNvPr>
          <p:cNvSpPr/>
          <p:nvPr/>
        </p:nvSpPr>
        <p:spPr>
          <a:xfrm>
            <a:off x="3429000" y="4512285"/>
            <a:ext cx="2148840" cy="256032"/>
          </a:xfrm>
          <a:prstGeom prst="rect">
            <a:avLst/>
          </a:prstGeom>
          <a:noFill/>
          <a:ln/>
        </p:spPr>
        <p:txBody>
          <a:bodyPr wrap="square" lIns="0" tIns="0" rIns="0" bIns="0"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Where plugin enabled</a:t>
            </a:r>
            <a:endParaRPr lang="en-US" sz="1000" dirty="0"/>
          </a:p>
        </p:txBody>
      </p:sp>
      <p:sp>
        <p:nvSpPr>
          <p:cNvPr id="26" name="Text 24">
            <a:extLst>
              <a:ext uri="{FF2B5EF4-FFF2-40B4-BE49-F238E27FC236}">
                <a16:creationId xmlns:a16="http://schemas.microsoft.com/office/drawing/2014/main" id="{1A3A24C8-840C-ABFA-CDB4-4E122B0CE0E3}"/>
              </a:ext>
            </a:extLst>
          </p:cNvPr>
          <p:cNvSpPr/>
          <p:nvPr/>
        </p:nvSpPr>
        <p:spPr>
          <a:xfrm>
            <a:off x="1143000" y="4786605"/>
            <a:ext cx="4434840" cy="274320"/>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Comes bundled with an installed plugin</a:t>
            </a:r>
            <a:endParaRPr lang="en-US" sz="950" dirty="0"/>
          </a:p>
        </p:txBody>
      </p:sp>
      <p:sp>
        <p:nvSpPr>
          <p:cNvPr id="27" name="Shape 25">
            <a:extLst>
              <a:ext uri="{FF2B5EF4-FFF2-40B4-BE49-F238E27FC236}">
                <a16:creationId xmlns:a16="http://schemas.microsoft.com/office/drawing/2014/main" id="{572F60F0-ACB8-1378-A9D6-C73D66DA8A68}"/>
              </a:ext>
            </a:extLst>
          </p:cNvPr>
          <p:cNvSpPr/>
          <p:nvPr/>
        </p:nvSpPr>
        <p:spPr>
          <a:xfrm>
            <a:off x="731520" y="5029200"/>
            <a:ext cx="4846320" cy="594360"/>
          </a:xfrm>
          <a:prstGeom prst="rect">
            <a:avLst/>
          </a:prstGeom>
          <a:solidFill>
            <a:srgbClr val="FBEFE9"/>
          </a:solidFill>
          <a:ln w="12700">
            <a:solidFill>
              <a:srgbClr val="C9704F"/>
            </a:solidFill>
            <a:prstDash val="solid"/>
          </a:ln>
        </p:spPr>
        <p:txBody>
          <a:bodyPr/>
          <a:lstStyle/>
          <a:p>
            <a:endParaRPr lang="en-US"/>
          </a:p>
        </p:txBody>
      </p:sp>
      <p:sp>
        <p:nvSpPr>
          <p:cNvPr id="28" name="Text 26">
            <a:extLst>
              <a:ext uri="{FF2B5EF4-FFF2-40B4-BE49-F238E27FC236}">
                <a16:creationId xmlns:a16="http://schemas.microsoft.com/office/drawing/2014/main" id="{2D8B2340-FC83-43BA-22D7-4C91ECB1E8ED}"/>
              </a:ext>
            </a:extLst>
          </p:cNvPr>
          <p:cNvSpPr/>
          <p:nvPr/>
        </p:nvSpPr>
        <p:spPr>
          <a:xfrm>
            <a:off x="868680" y="5029200"/>
            <a:ext cx="4572000" cy="594360"/>
          </a:xfrm>
          <a:prstGeom prst="rect">
            <a:avLst/>
          </a:prstGeom>
          <a:noFill/>
          <a:ln/>
        </p:spPr>
        <p:txBody>
          <a:bodyPr wrap="square" lIns="0" tIns="0" rIns="0" bIns="0" rtlCol="0" anchor="ctr"/>
          <a:lstStyle/>
          <a:p>
            <a:pPr marL="0" indent="0">
              <a:buNone/>
            </a:pPr>
            <a:r>
              <a:rPr lang="en-US" sz="950" i="1" dirty="0">
                <a:solidFill>
                  <a:srgbClr val="141414"/>
                </a:solidFill>
                <a:latin typeface="Calibri" pitchFamily="34" charset="0"/>
                <a:ea typeface="Calibri" pitchFamily="34" charset="-122"/>
                <a:cs typeface="Calibri" pitchFamily="34" charset="-120"/>
              </a:rPr>
              <a:t>If two subagents share a name, the one from the higher-priority scope wins. Within the same scope, the definition closer to your working directory wins.</a:t>
            </a:r>
            <a:endParaRPr lang="en-US" sz="950" dirty="0"/>
          </a:p>
        </p:txBody>
      </p:sp>
      <p:sp>
        <p:nvSpPr>
          <p:cNvPr id="29" name="Shape 27">
            <a:extLst>
              <a:ext uri="{FF2B5EF4-FFF2-40B4-BE49-F238E27FC236}">
                <a16:creationId xmlns:a16="http://schemas.microsoft.com/office/drawing/2014/main" id="{F0992311-3846-5939-BD3B-5654D800C5BE}"/>
              </a:ext>
            </a:extLst>
          </p:cNvPr>
          <p:cNvSpPr/>
          <p:nvPr/>
        </p:nvSpPr>
        <p:spPr>
          <a:xfrm>
            <a:off x="6080760" y="1325880"/>
            <a:ext cx="5623560" cy="4206240"/>
          </a:xfrm>
          <a:prstGeom prst="roundRect">
            <a:avLst>
              <a:gd name="adj" fmla="val 1304"/>
            </a:avLst>
          </a:prstGeom>
          <a:solidFill>
            <a:srgbClr val="FFFFFF"/>
          </a:solidFill>
          <a:ln w="12700">
            <a:solidFill>
              <a:srgbClr val="E3E0D8"/>
            </a:solidFill>
            <a:prstDash val="solid"/>
          </a:ln>
          <a:effectLst>
            <a:outerShdw blurRad="101600" dist="25400" dir="5400000" algn="bl" rotWithShape="0">
              <a:srgbClr val="000000">
                <a:alpha val="8000"/>
              </a:srgbClr>
            </a:outerShdw>
          </a:effectLst>
        </p:spPr>
        <p:txBody>
          <a:bodyPr/>
          <a:lstStyle/>
          <a:p>
            <a:endParaRPr lang="en-US"/>
          </a:p>
        </p:txBody>
      </p:sp>
      <p:sp>
        <p:nvSpPr>
          <p:cNvPr id="30" name="Text 28">
            <a:extLst>
              <a:ext uri="{FF2B5EF4-FFF2-40B4-BE49-F238E27FC236}">
                <a16:creationId xmlns:a16="http://schemas.microsoft.com/office/drawing/2014/main" id="{95FF11BA-C8C2-BAA0-9CD7-2A954A75E47E}"/>
              </a:ext>
            </a:extLst>
          </p:cNvPr>
          <p:cNvSpPr/>
          <p:nvPr/>
        </p:nvSpPr>
        <p:spPr>
          <a:xfrm>
            <a:off x="6355080" y="1508760"/>
            <a:ext cx="5074920" cy="320040"/>
          </a:xfrm>
          <a:prstGeom prst="rect">
            <a:avLst/>
          </a:prstGeom>
          <a:noFill/>
          <a:ln/>
        </p:spPr>
        <p:txBody>
          <a:bodyPr wrap="square" lIns="0" tIns="0" rIns="0" bIns="0" rtlCol="0" anchor="ctr"/>
          <a:lstStyle/>
          <a:p>
            <a:pPr marL="0" indent="0">
              <a:buNone/>
            </a:pPr>
            <a:r>
              <a:rPr lang="en-US" sz="1500" b="1" dirty="0">
                <a:solidFill>
                  <a:srgbClr val="141414"/>
                </a:solidFill>
                <a:latin typeface="Calibri" pitchFamily="34" charset="0"/>
                <a:ea typeface="Calibri" pitchFamily="34" charset="-122"/>
                <a:cs typeface="Calibri" pitchFamily="34" charset="-120"/>
              </a:rPr>
              <a:t>What goes in the file</a:t>
            </a:r>
            <a:endParaRPr lang="en-US" sz="1500" dirty="0"/>
          </a:p>
        </p:txBody>
      </p:sp>
      <p:sp>
        <p:nvSpPr>
          <p:cNvPr id="31" name="Text 29">
            <a:extLst>
              <a:ext uri="{FF2B5EF4-FFF2-40B4-BE49-F238E27FC236}">
                <a16:creationId xmlns:a16="http://schemas.microsoft.com/office/drawing/2014/main" id="{022F6579-09F6-FC72-515F-F61DC7448F40}"/>
              </a:ext>
            </a:extLst>
          </p:cNvPr>
          <p:cNvSpPr/>
          <p:nvPr/>
        </p:nvSpPr>
        <p:spPr>
          <a:xfrm>
            <a:off x="6355080" y="1837944"/>
            <a:ext cx="5074920" cy="365760"/>
          </a:xfrm>
          <a:prstGeom prst="rect">
            <a:avLst/>
          </a:prstGeom>
          <a:noFill/>
          <a:ln/>
        </p:spPr>
        <p:txBody>
          <a:bodyPr wrap="square" lIns="0" tIns="0" rIns="0" bIns="0"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Only name and description are required. Everything below is optional — add a field only when the default behavior isn't what you want.</a:t>
            </a:r>
            <a:endParaRPr lang="en-US" sz="1000" dirty="0"/>
          </a:p>
        </p:txBody>
      </p:sp>
      <p:sp>
        <p:nvSpPr>
          <p:cNvPr id="32" name="Shape 30">
            <a:extLst>
              <a:ext uri="{FF2B5EF4-FFF2-40B4-BE49-F238E27FC236}">
                <a16:creationId xmlns:a16="http://schemas.microsoft.com/office/drawing/2014/main" id="{B6CB3DE2-E4A9-ABC4-29E5-A5A0F0F17CB1}"/>
              </a:ext>
            </a:extLst>
          </p:cNvPr>
          <p:cNvSpPr/>
          <p:nvPr/>
        </p:nvSpPr>
        <p:spPr>
          <a:xfrm>
            <a:off x="6355080" y="2331720"/>
            <a:ext cx="54864" cy="438912"/>
          </a:xfrm>
          <a:prstGeom prst="rect">
            <a:avLst/>
          </a:prstGeom>
          <a:solidFill>
            <a:srgbClr val="6B5B95"/>
          </a:solidFill>
          <a:ln w="12700">
            <a:solidFill>
              <a:srgbClr val="6B5B95"/>
            </a:solidFill>
            <a:prstDash val="solid"/>
          </a:ln>
        </p:spPr>
        <p:txBody>
          <a:bodyPr/>
          <a:lstStyle/>
          <a:p>
            <a:endParaRPr lang="en-US"/>
          </a:p>
        </p:txBody>
      </p:sp>
      <p:sp>
        <p:nvSpPr>
          <p:cNvPr id="33" name="Text 31">
            <a:extLst>
              <a:ext uri="{FF2B5EF4-FFF2-40B4-BE49-F238E27FC236}">
                <a16:creationId xmlns:a16="http://schemas.microsoft.com/office/drawing/2014/main" id="{70D94EDA-562E-86B8-BE8D-7C3805320B09}"/>
              </a:ext>
            </a:extLst>
          </p:cNvPr>
          <p:cNvSpPr/>
          <p:nvPr/>
        </p:nvSpPr>
        <p:spPr>
          <a:xfrm>
            <a:off x="6519672" y="2313432"/>
            <a:ext cx="4892040" cy="219456"/>
          </a:xfrm>
          <a:prstGeom prst="rect">
            <a:avLst/>
          </a:prstGeom>
          <a:noFill/>
          <a:ln/>
        </p:spPr>
        <p:txBody>
          <a:bodyPr wrap="square" lIns="0" tIns="0" rIns="0" bIns="0" rtlCol="0" anchor="ctr"/>
          <a:lstStyle/>
          <a:p>
            <a:pPr marL="0" indent="0">
              <a:buNone/>
            </a:pPr>
            <a:r>
              <a:rPr lang="en-US" sz="1050" b="1" dirty="0">
                <a:solidFill>
                  <a:srgbClr val="141414"/>
                </a:solidFill>
                <a:latin typeface="Courier New" pitchFamily="34" charset="0"/>
                <a:ea typeface="Courier New" pitchFamily="34" charset="-122"/>
                <a:cs typeface="Courier New" pitchFamily="34" charset="-120"/>
              </a:rPr>
              <a:t>tools / disallowedTools</a:t>
            </a:r>
            <a:endParaRPr lang="en-US" sz="1050" dirty="0"/>
          </a:p>
        </p:txBody>
      </p:sp>
      <p:sp>
        <p:nvSpPr>
          <p:cNvPr id="34" name="Text 32">
            <a:extLst>
              <a:ext uri="{FF2B5EF4-FFF2-40B4-BE49-F238E27FC236}">
                <a16:creationId xmlns:a16="http://schemas.microsoft.com/office/drawing/2014/main" id="{7B5B828F-C9C7-3A9B-2D82-8569258779CF}"/>
              </a:ext>
            </a:extLst>
          </p:cNvPr>
          <p:cNvSpPr/>
          <p:nvPr/>
        </p:nvSpPr>
        <p:spPr>
          <a:xfrm>
            <a:off x="6519672" y="2514600"/>
            <a:ext cx="4892040" cy="274320"/>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Which tools this subagent can use — covered in detail next slide</a:t>
            </a:r>
            <a:endParaRPr lang="en-US" sz="950" dirty="0"/>
          </a:p>
        </p:txBody>
      </p:sp>
      <p:sp>
        <p:nvSpPr>
          <p:cNvPr id="35" name="Shape 33">
            <a:extLst>
              <a:ext uri="{FF2B5EF4-FFF2-40B4-BE49-F238E27FC236}">
                <a16:creationId xmlns:a16="http://schemas.microsoft.com/office/drawing/2014/main" id="{E51B229D-5137-8406-FD7B-9729C0331126}"/>
              </a:ext>
            </a:extLst>
          </p:cNvPr>
          <p:cNvSpPr/>
          <p:nvPr/>
        </p:nvSpPr>
        <p:spPr>
          <a:xfrm>
            <a:off x="6355080" y="2843784"/>
            <a:ext cx="54864" cy="438912"/>
          </a:xfrm>
          <a:prstGeom prst="rect">
            <a:avLst/>
          </a:prstGeom>
          <a:solidFill>
            <a:srgbClr val="6B5B95"/>
          </a:solidFill>
          <a:ln w="12700">
            <a:solidFill>
              <a:srgbClr val="6B5B95"/>
            </a:solidFill>
            <a:prstDash val="solid"/>
          </a:ln>
        </p:spPr>
        <p:txBody>
          <a:bodyPr/>
          <a:lstStyle/>
          <a:p>
            <a:endParaRPr lang="en-US"/>
          </a:p>
        </p:txBody>
      </p:sp>
      <p:sp>
        <p:nvSpPr>
          <p:cNvPr id="36" name="Text 34">
            <a:extLst>
              <a:ext uri="{FF2B5EF4-FFF2-40B4-BE49-F238E27FC236}">
                <a16:creationId xmlns:a16="http://schemas.microsoft.com/office/drawing/2014/main" id="{BAF0B1F3-E1D3-4FC4-D355-102A3CB604C5}"/>
              </a:ext>
            </a:extLst>
          </p:cNvPr>
          <p:cNvSpPr/>
          <p:nvPr/>
        </p:nvSpPr>
        <p:spPr>
          <a:xfrm>
            <a:off x="6519672" y="2825496"/>
            <a:ext cx="4892040" cy="219456"/>
          </a:xfrm>
          <a:prstGeom prst="rect">
            <a:avLst/>
          </a:prstGeom>
          <a:noFill/>
          <a:ln/>
        </p:spPr>
        <p:txBody>
          <a:bodyPr wrap="square" lIns="0" tIns="0" rIns="0" bIns="0" rtlCol="0" anchor="ctr"/>
          <a:lstStyle/>
          <a:p>
            <a:pPr marL="0" indent="0">
              <a:buNone/>
            </a:pPr>
            <a:r>
              <a:rPr lang="en-US" sz="1050" b="1" dirty="0">
                <a:solidFill>
                  <a:srgbClr val="141414"/>
                </a:solidFill>
                <a:latin typeface="Courier New" pitchFamily="34" charset="0"/>
                <a:ea typeface="Courier New" pitchFamily="34" charset="-122"/>
                <a:cs typeface="Courier New" pitchFamily="34" charset="-120"/>
              </a:rPr>
              <a:t>model</a:t>
            </a:r>
            <a:endParaRPr lang="en-US" sz="1050" dirty="0"/>
          </a:p>
        </p:txBody>
      </p:sp>
      <p:sp>
        <p:nvSpPr>
          <p:cNvPr id="37" name="Text 35">
            <a:extLst>
              <a:ext uri="{FF2B5EF4-FFF2-40B4-BE49-F238E27FC236}">
                <a16:creationId xmlns:a16="http://schemas.microsoft.com/office/drawing/2014/main" id="{FFF7F66C-6F0C-59F8-AB48-88DACDB9FE59}"/>
              </a:ext>
            </a:extLst>
          </p:cNvPr>
          <p:cNvSpPr/>
          <p:nvPr/>
        </p:nvSpPr>
        <p:spPr>
          <a:xfrm>
            <a:off x="6519672" y="3026664"/>
            <a:ext cx="4892040" cy="274320"/>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sonnet, opus, haiku, fable, or inherit (default: same as main)</a:t>
            </a:r>
            <a:endParaRPr lang="en-US" sz="950" dirty="0"/>
          </a:p>
        </p:txBody>
      </p:sp>
      <p:sp>
        <p:nvSpPr>
          <p:cNvPr id="38" name="Shape 36">
            <a:extLst>
              <a:ext uri="{FF2B5EF4-FFF2-40B4-BE49-F238E27FC236}">
                <a16:creationId xmlns:a16="http://schemas.microsoft.com/office/drawing/2014/main" id="{E288F3FC-C9AA-58CE-9E60-95A4506720CF}"/>
              </a:ext>
            </a:extLst>
          </p:cNvPr>
          <p:cNvSpPr/>
          <p:nvPr/>
        </p:nvSpPr>
        <p:spPr>
          <a:xfrm>
            <a:off x="6355080" y="3355848"/>
            <a:ext cx="54864" cy="438912"/>
          </a:xfrm>
          <a:prstGeom prst="rect">
            <a:avLst/>
          </a:prstGeom>
          <a:solidFill>
            <a:srgbClr val="3B7A75"/>
          </a:solidFill>
          <a:ln w="12700">
            <a:solidFill>
              <a:srgbClr val="3B7A75"/>
            </a:solidFill>
            <a:prstDash val="solid"/>
          </a:ln>
        </p:spPr>
        <p:txBody>
          <a:bodyPr/>
          <a:lstStyle/>
          <a:p>
            <a:endParaRPr lang="en-US"/>
          </a:p>
        </p:txBody>
      </p:sp>
      <p:sp>
        <p:nvSpPr>
          <p:cNvPr id="39" name="Text 37">
            <a:extLst>
              <a:ext uri="{FF2B5EF4-FFF2-40B4-BE49-F238E27FC236}">
                <a16:creationId xmlns:a16="http://schemas.microsoft.com/office/drawing/2014/main" id="{62343970-DEA3-D6DE-9530-64E7B91C3158}"/>
              </a:ext>
            </a:extLst>
          </p:cNvPr>
          <p:cNvSpPr/>
          <p:nvPr/>
        </p:nvSpPr>
        <p:spPr>
          <a:xfrm>
            <a:off x="6519672" y="3337560"/>
            <a:ext cx="4892040" cy="219456"/>
          </a:xfrm>
          <a:prstGeom prst="rect">
            <a:avLst/>
          </a:prstGeom>
          <a:noFill/>
          <a:ln/>
        </p:spPr>
        <p:txBody>
          <a:bodyPr wrap="square" lIns="0" tIns="0" rIns="0" bIns="0" rtlCol="0" anchor="ctr"/>
          <a:lstStyle/>
          <a:p>
            <a:pPr marL="0" indent="0">
              <a:buNone/>
            </a:pPr>
            <a:r>
              <a:rPr lang="en-US" sz="1050" b="1" dirty="0">
                <a:solidFill>
                  <a:srgbClr val="141414"/>
                </a:solidFill>
                <a:latin typeface="Courier New" pitchFamily="34" charset="0"/>
                <a:ea typeface="Courier New" pitchFamily="34" charset="-122"/>
                <a:cs typeface="Courier New" pitchFamily="34" charset="-120"/>
              </a:rPr>
              <a:t>permissionMode</a:t>
            </a:r>
            <a:endParaRPr lang="en-US" sz="1050" dirty="0"/>
          </a:p>
        </p:txBody>
      </p:sp>
      <p:sp>
        <p:nvSpPr>
          <p:cNvPr id="40" name="Text 38">
            <a:extLst>
              <a:ext uri="{FF2B5EF4-FFF2-40B4-BE49-F238E27FC236}">
                <a16:creationId xmlns:a16="http://schemas.microsoft.com/office/drawing/2014/main" id="{37C2B666-7EAE-57F1-B23E-2BB92F3D1FBE}"/>
              </a:ext>
            </a:extLst>
          </p:cNvPr>
          <p:cNvSpPr/>
          <p:nvPr/>
        </p:nvSpPr>
        <p:spPr>
          <a:xfrm>
            <a:off x="6519672" y="3538728"/>
            <a:ext cx="4892040" cy="274320"/>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How it handles permission prompts — also next slide</a:t>
            </a:r>
            <a:endParaRPr lang="en-US" sz="950" dirty="0"/>
          </a:p>
        </p:txBody>
      </p:sp>
      <p:sp>
        <p:nvSpPr>
          <p:cNvPr id="41" name="Shape 39">
            <a:extLst>
              <a:ext uri="{FF2B5EF4-FFF2-40B4-BE49-F238E27FC236}">
                <a16:creationId xmlns:a16="http://schemas.microsoft.com/office/drawing/2014/main" id="{C219DF00-DBC6-1775-70FE-F83A77F98574}"/>
              </a:ext>
            </a:extLst>
          </p:cNvPr>
          <p:cNvSpPr/>
          <p:nvPr/>
        </p:nvSpPr>
        <p:spPr>
          <a:xfrm>
            <a:off x="6355080" y="3867912"/>
            <a:ext cx="54864" cy="438912"/>
          </a:xfrm>
          <a:prstGeom prst="rect">
            <a:avLst/>
          </a:prstGeom>
          <a:solidFill>
            <a:srgbClr val="3B7A75"/>
          </a:solidFill>
          <a:ln w="12700">
            <a:solidFill>
              <a:srgbClr val="3B7A75"/>
            </a:solidFill>
            <a:prstDash val="solid"/>
          </a:ln>
        </p:spPr>
        <p:txBody>
          <a:bodyPr/>
          <a:lstStyle/>
          <a:p>
            <a:endParaRPr lang="en-US"/>
          </a:p>
        </p:txBody>
      </p:sp>
      <p:sp>
        <p:nvSpPr>
          <p:cNvPr id="42" name="Text 40">
            <a:extLst>
              <a:ext uri="{FF2B5EF4-FFF2-40B4-BE49-F238E27FC236}">
                <a16:creationId xmlns:a16="http://schemas.microsoft.com/office/drawing/2014/main" id="{22C022C8-3866-BB21-798E-C0A62DB1B653}"/>
              </a:ext>
            </a:extLst>
          </p:cNvPr>
          <p:cNvSpPr/>
          <p:nvPr/>
        </p:nvSpPr>
        <p:spPr>
          <a:xfrm>
            <a:off x="6519672" y="3849624"/>
            <a:ext cx="4892040" cy="219456"/>
          </a:xfrm>
          <a:prstGeom prst="rect">
            <a:avLst/>
          </a:prstGeom>
          <a:noFill/>
          <a:ln/>
        </p:spPr>
        <p:txBody>
          <a:bodyPr wrap="square" lIns="0" tIns="0" rIns="0" bIns="0" rtlCol="0" anchor="ctr"/>
          <a:lstStyle/>
          <a:p>
            <a:pPr marL="0" indent="0">
              <a:buNone/>
            </a:pPr>
            <a:r>
              <a:rPr lang="en-US" sz="1050" b="1" dirty="0">
                <a:solidFill>
                  <a:srgbClr val="141414"/>
                </a:solidFill>
                <a:latin typeface="Courier New" pitchFamily="34" charset="0"/>
                <a:ea typeface="Courier New" pitchFamily="34" charset="-122"/>
                <a:cs typeface="Courier New" pitchFamily="34" charset="-120"/>
              </a:rPr>
              <a:t>skills</a:t>
            </a:r>
            <a:endParaRPr lang="en-US" sz="1050" dirty="0"/>
          </a:p>
        </p:txBody>
      </p:sp>
      <p:sp>
        <p:nvSpPr>
          <p:cNvPr id="43" name="Text 41">
            <a:extLst>
              <a:ext uri="{FF2B5EF4-FFF2-40B4-BE49-F238E27FC236}">
                <a16:creationId xmlns:a16="http://schemas.microsoft.com/office/drawing/2014/main" id="{60E36659-FE83-101F-E156-564E970389A5}"/>
              </a:ext>
            </a:extLst>
          </p:cNvPr>
          <p:cNvSpPr/>
          <p:nvPr/>
        </p:nvSpPr>
        <p:spPr>
          <a:xfrm>
            <a:off x="6519672" y="4050792"/>
            <a:ext cx="4892040" cy="274320"/>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Preloads full skill content into context at startup</a:t>
            </a:r>
            <a:endParaRPr lang="en-US" sz="950" dirty="0"/>
          </a:p>
        </p:txBody>
      </p:sp>
      <p:sp>
        <p:nvSpPr>
          <p:cNvPr id="44" name="Shape 42">
            <a:extLst>
              <a:ext uri="{FF2B5EF4-FFF2-40B4-BE49-F238E27FC236}">
                <a16:creationId xmlns:a16="http://schemas.microsoft.com/office/drawing/2014/main" id="{60957514-062F-4086-189A-C55FE9D712B9}"/>
              </a:ext>
            </a:extLst>
          </p:cNvPr>
          <p:cNvSpPr/>
          <p:nvPr/>
        </p:nvSpPr>
        <p:spPr>
          <a:xfrm>
            <a:off x="6355080" y="4379976"/>
            <a:ext cx="54864" cy="438912"/>
          </a:xfrm>
          <a:prstGeom prst="rect">
            <a:avLst/>
          </a:prstGeom>
          <a:solidFill>
            <a:srgbClr val="8A6D3B"/>
          </a:solidFill>
          <a:ln w="12700">
            <a:solidFill>
              <a:srgbClr val="8A6D3B"/>
            </a:solidFill>
            <a:prstDash val="solid"/>
          </a:ln>
        </p:spPr>
        <p:txBody>
          <a:bodyPr/>
          <a:lstStyle/>
          <a:p>
            <a:endParaRPr lang="en-US"/>
          </a:p>
        </p:txBody>
      </p:sp>
      <p:sp>
        <p:nvSpPr>
          <p:cNvPr id="45" name="Text 43">
            <a:extLst>
              <a:ext uri="{FF2B5EF4-FFF2-40B4-BE49-F238E27FC236}">
                <a16:creationId xmlns:a16="http://schemas.microsoft.com/office/drawing/2014/main" id="{F7B10ECA-7AB0-7557-D8C2-81175AA968DF}"/>
              </a:ext>
            </a:extLst>
          </p:cNvPr>
          <p:cNvSpPr/>
          <p:nvPr/>
        </p:nvSpPr>
        <p:spPr>
          <a:xfrm>
            <a:off x="6519672" y="4361688"/>
            <a:ext cx="4892040" cy="219456"/>
          </a:xfrm>
          <a:prstGeom prst="rect">
            <a:avLst/>
          </a:prstGeom>
          <a:noFill/>
          <a:ln/>
        </p:spPr>
        <p:txBody>
          <a:bodyPr wrap="square" lIns="0" tIns="0" rIns="0" bIns="0" rtlCol="0" anchor="ctr"/>
          <a:lstStyle/>
          <a:p>
            <a:pPr marL="0" indent="0">
              <a:buNone/>
            </a:pPr>
            <a:r>
              <a:rPr lang="en-US" sz="1050" b="1" dirty="0">
                <a:solidFill>
                  <a:srgbClr val="141414"/>
                </a:solidFill>
                <a:latin typeface="Courier New" pitchFamily="34" charset="0"/>
                <a:ea typeface="Courier New" pitchFamily="34" charset="-122"/>
                <a:cs typeface="Courier New" pitchFamily="34" charset="-120"/>
              </a:rPr>
              <a:t>mcpServers</a:t>
            </a:r>
            <a:endParaRPr lang="en-US" sz="1050" dirty="0"/>
          </a:p>
        </p:txBody>
      </p:sp>
      <p:sp>
        <p:nvSpPr>
          <p:cNvPr id="46" name="Text 44">
            <a:extLst>
              <a:ext uri="{FF2B5EF4-FFF2-40B4-BE49-F238E27FC236}">
                <a16:creationId xmlns:a16="http://schemas.microsoft.com/office/drawing/2014/main" id="{25CA7A2D-96CC-4905-57A5-EDD4CDEF9A97}"/>
              </a:ext>
            </a:extLst>
          </p:cNvPr>
          <p:cNvSpPr/>
          <p:nvPr/>
        </p:nvSpPr>
        <p:spPr>
          <a:xfrm>
            <a:off x="6519672" y="4562856"/>
            <a:ext cx="4892040" cy="274320"/>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Gives this subagent MCP tools the main session doesn't have</a:t>
            </a:r>
            <a:endParaRPr lang="en-US" sz="950" dirty="0"/>
          </a:p>
        </p:txBody>
      </p:sp>
      <p:sp>
        <p:nvSpPr>
          <p:cNvPr id="47" name="Shape 45">
            <a:extLst>
              <a:ext uri="{FF2B5EF4-FFF2-40B4-BE49-F238E27FC236}">
                <a16:creationId xmlns:a16="http://schemas.microsoft.com/office/drawing/2014/main" id="{DC14383D-4486-A786-FF12-ACB5C3B5F041}"/>
              </a:ext>
            </a:extLst>
          </p:cNvPr>
          <p:cNvSpPr/>
          <p:nvPr/>
        </p:nvSpPr>
        <p:spPr>
          <a:xfrm>
            <a:off x="6355080" y="4892040"/>
            <a:ext cx="54864" cy="438912"/>
          </a:xfrm>
          <a:prstGeom prst="rect">
            <a:avLst/>
          </a:prstGeom>
          <a:solidFill>
            <a:srgbClr val="8A6D3B"/>
          </a:solidFill>
          <a:ln w="12700">
            <a:solidFill>
              <a:srgbClr val="8A6D3B"/>
            </a:solidFill>
            <a:prstDash val="solid"/>
          </a:ln>
        </p:spPr>
        <p:txBody>
          <a:bodyPr/>
          <a:lstStyle/>
          <a:p>
            <a:endParaRPr lang="en-US"/>
          </a:p>
        </p:txBody>
      </p:sp>
      <p:sp>
        <p:nvSpPr>
          <p:cNvPr id="48" name="Text 46">
            <a:extLst>
              <a:ext uri="{FF2B5EF4-FFF2-40B4-BE49-F238E27FC236}">
                <a16:creationId xmlns:a16="http://schemas.microsoft.com/office/drawing/2014/main" id="{CECF01B8-D1C6-DBBA-BE49-F8EECF213838}"/>
              </a:ext>
            </a:extLst>
          </p:cNvPr>
          <p:cNvSpPr/>
          <p:nvPr/>
        </p:nvSpPr>
        <p:spPr>
          <a:xfrm>
            <a:off x="6519672" y="4873752"/>
            <a:ext cx="4892040" cy="219456"/>
          </a:xfrm>
          <a:prstGeom prst="rect">
            <a:avLst/>
          </a:prstGeom>
          <a:noFill/>
          <a:ln/>
        </p:spPr>
        <p:txBody>
          <a:bodyPr wrap="square" lIns="0" tIns="0" rIns="0" bIns="0" rtlCol="0" anchor="ctr"/>
          <a:lstStyle/>
          <a:p>
            <a:pPr marL="0" indent="0">
              <a:buNone/>
            </a:pPr>
            <a:r>
              <a:rPr lang="en-US" sz="1050" b="1" dirty="0">
                <a:solidFill>
                  <a:srgbClr val="141414"/>
                </a:solidFill>
                <a:latin typeface="Courier New" pitchFamily="34" charset="0"/>
                <a:ea typeface="Courier New" pitchFamily="34" charset="-122"/>
                <a:cs typeface="Courier New" pitchFamily="34" charset="-120"/>
              </a:rPr>
              <a:t>other</a:t>
            </a:r>
            <a:endParaRPr lang="en-US" sz="1050" dirty="0"/>
          </a:p>
        </p:txBody>
      </p:sp>
      <p:sp>
        <p:nvSpPr>
          <p:cNvPr id="49" name="Text 47">
            <a:extLst>
              <a:ext uri="{FF2B5EF4-FFF2-40B4-BE49-F238E27FC236}">
                <a16:creationId xmlns:a16="http://schemas.microsoft.com/office/drawing/2014/main" id="{7F1AA247-467A-24C3-9F69-F0F6608275CF}"/>
              </a:ext>
            </a:extLst>
          </p:cNvPr>
          <p:cNvSpPr/>
          <p:nvPr/>
        </p:nvSpPr>
        <p:spPr>
          <a:xfrm>
            <a:off x="6519672" y="5074920"/>
            <a:ext cx="4892040" cy="274320"/>
          </a:xfrm>
          <a:prstGeom prst="rect">
            <a:avLst/>
          </a:prstGeom>
          <a:noFill/>
          <a:ln/>
        </p:spPr>
        <p:txBody>
          <a:bodyPr wrap="square" lIns="0" tIns="0" rIns="0" bIns="0" rtlCol="0" anchor="ctr"/>
          <a:lstStyle/>
          <a:p>
            <a:r>
              <a:rPr lang="en-US" sz="950" dirty="0"/>
              <a:t>“hooks”, “memory”, “background”, “effort”, “isolation”, “color” and more</a:t>
            </a:r>
          </a:p>
        </p:txBody>
      </p:sp>
      <p:sp>
        <p:nvSpPr>
          <p:cNvPr id="50" name="Shape 48">
            <a:extLst>
              <a:ext uri="{FF2B5EF4-FFF2-40B4-BE49-F238E27FC236}">
                <a16:creationId xmlns:a16="http://schemas.microsoft.com/office/drawing/2014/main" id="{1F316867-28CB-58FB-6ED1-720153A34AD6}"/>
              </a:ext>
            </a:extLst>
          </p:cNvPr>
          <p:cNvSpPr/>
          <p:nvPr/>
        </p:nvSpPr>
        <p:spPr>
          <a:xfrm>
            <a:off x="457200" y="5669280"/>
            <a:ext cx="11247120" cy="548640"/>
          </a:xfrm>
          <a:prstGeom prst="rect">
            <a:avLst/>
          </a:prstGeom>
          <a:solidFill>
            <a:srgbClr val="F7F5F0"/>
          </a:solidFill>
          <a:ln w="9525">
            <a:solidFill>
              <a:srgbClr val="E3E0D8"/>
            </a:solidFill>
            <a:prstDash val="solid"/>
          </a:ln>
        </p:spPr>
        <p:txBody>
          <a:bodyPr/>
          <a:lstStyle/>
          <a:p>
            <a:endParaRPr lang="en-US"/>
          </a:p>
        </p:txBody>
      </p:sp>
      <p:sp>
        <p:nvSpPr>
          <p:cNvPr id="51" name="Text 49">
            <a:extLst>
              <a:ext uri="{FF2B5EF4-FFF2-40B4-BE49-F238E27FC236}">
                <a16:creationId xmlns:a16="http://schemas.microsoft.com/office/drawing/2014/main" id="{C1224C10-A001-2C22-95D3-ABAE017DF91B}"/>
              </a:ext>
            </a:extLst>
          </p:cNvPr>
          <p:cNvSpPr/>
          <p:nvPr/>
        </p:nvSpPr>
        <p:spPr>
          <a:xfrm>
            <a:off x="777240" y="5669280"/>
            <a:ext cx="10607040" cy="548640"/>
          </a:xfrm>
          <a:prstGeom prst="rect">
            <a:avLst/>
          </a:prstGeom>
          <a:noFill/>
          <a:ln/>
        </p:spPr>
        <p:txBody>
          <a:bodyPr wrap="square" lIns="0" tIns="0" rIns="0" bIns="0" rtlCol="0" anchor="ctr"/>
          <a:lstStyle/>
          <a:p>
            <a:pPr marL="0" indent="0">
              <a:buNone/>
            </a:pPr>
            <a:r>
              <a:rPr lang="en-US" sz="1150" b="1" dirty="0">
                <a:solidFill>
                  <a:srgbClr val="C9704F"/>
                </a:solidFill>
                <a:latin typeface="Calibri" pitchFamily="34" charset="0"/>
                <a:ea typeface="Calibri" pitchFamily="34" charset="-122"/>
                <a:cs typeface="Calibri" pitchFamily="34" charset="-120"/>
              </a:rPr>
              <a:t>The recommended way to create one:  </a:t>
            </a:r>
            <a:r>
              <a:rPr lang="en-US" sz="1150" dirty="0">
                <a:solidFill>
                  <a:srgbClr val="2B2B2B"/>
                </a:solidFill>
                <a:latin typeface="Calibri" pitchFamily="34" charset="0"/>
                <a:ea typeface="Calibri" pitchFamily="34" charset="-122"/>
                <a:cs typeface="Calibri" pitchFamily="34" charset="-120"/>
              </a:rPr>
              <a:t>run /agents → Library → Create new agent. Claude drafts the frontmatter and system prompt from a plain-language description — you rarely need to write this file by hand.</a:t>
            </a:r>
            <a:endParaRPr lang="en-US" sz="1150" dirty="0"/>
          </a:p>
        </p:txBody>
      </p:sp>
      <p:sp>
        <p:nvSpPr>
          <p:cNvPr id="52" name="Shape 20">
            <a:extLst>
              <a:ext uri="{FF2B5EF4-FFF2-40B4-BE49-F238E27FC236}">
                <a16:creationId xmlns:a16="http://schemas.microsoft.com/office/drawing/2014/main" id="{5D741FC3-1A32-A561-00CF-C9A4427AB4D7}"/>
              </a:ext>
            </a:extLst>
          </p:cNvPr>
          <p:cNvSpPr/>
          <p:nvPr/>
        </p:nvSpPr>
        <p:spPr>
          <a:xfrm>
            <a:off x="722376" y="2567693"/>
            <a:ext cx="292608" cy="292608"/>
          </a:xfrm>
          <a:prstGeom prst="ellipse">
            <a:avLst/>
          </a:prstGeom>
          <a:solidFill>
            <a:srgbClr val="6B6B6B"/>
          </a:solidFill>
          <a:ln w="12700">
            <a:solidFill>
              <a:srgbClr val="6B6B6B"/>
            </a:solidFill>
            <a:prstDash val="solid"/>
          </a:ln>
        </p:spPr>
        <p:txBody>
          <a:bodyPr/>
          <a:lstStyle/>
          <a:p>
            <a:endParaRPr lang="en-US" dirty="0"/>
          </a:p>
        </p:txBody>
      </p:sp>
      <p:sp>
        <p:nvSpPr>
          <p:cNvPr id="53" name="Text 21">
            <a:extLst>
              <a:ext uri="{FF2B5EF4-FFF2-40B4-BE49-F238E27FC236}">
                <a16:creationId xmlns:a16="http://schemas.microsoft.com/office/drawing/2014/main" id="{3A9E0A70-5DEC-27AE-F914-2E8FA940B429}"/>
              </a:ext>
            </a:extLst>
          </p:cNvPr>
          <p:cNvSpPr/>
          <p:nvPr/>
        </p:nvSpPr>
        <p:spPr>
          <a:xfrm>
            <a:off x="722376" y="2567693"/>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54" name="Text 22">
            <a:extLst>
              <a:ext uri="{FF2B5EF4-FFF2-40B4-BE49-F238E27FC236}">
                <a16:creationId xmlns:a16="http://schemas.microsoft.com/office/drawing/2014/main" id="{E079DB95-C487-29C6-7C0B-E4B80A66D2EC}"/>
              </a:ext>
            </a:extLst>
          </p:cNvPr>
          <p:cNvSpPr/>
          <p:nvPr/>
        </p:nvSpPr>
        <p:spPr>
          <a:xfrm>
            <a:off x="1124712" y="2567693"/>
            <a:ext cx="3932666" cy="243902"/>
          </a:xfrm>
          <a:prstGeom prst="rect">
            <a:avLst/>
          </a:prstGeom>
          <a:noFill/>
          <a:ln/>
        </p:spPr>
        <p:txBody>
          <a:bodyPr wrap="square" lIns="0" tIns="0" rIns="0" bIns="0" rtlCol="0" anchor="ctr"/>
          <a:lstStyle/>
          <a:p>
            <a:pPr marL="0" indent="0">
              <a:buNone/>
            </a:pPr>
            <a:r>
              <a:rPr lang="en-US" sz="1200" b="1" dirty="0">
                <a:solidFill>
                  <a:srgbClr val="141414"/>
                </a:solidFill>
                <a:latin typeface="Courier New" pitchFamily="34" charset="0"/>
                <a:cs typeface="Courier New" pitchFamily="34" charset="-120"/>
              </a:rPr>
              <a:t>“In-flight” CLI based – see next slide</a:t>
            </a:r>
            <a:endParaRPr lang="en-US" sz="1200" dirty="0"/>
          </a:p>
        </p:txBody>
      </p:sp>
    </p:spTree>
    <p:extLst>
      <p:ext uri="{BB962C8B-B14F-4D97-AF65-F5344CB8AC3E}">
        <p14:creationId xmlns:p14="http://schemas.microsoft.com/office/powerpoint/2010/main" val="26960099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FC3C5E4-40F5-7EE5-E307-41127D1D528D}"/>
              </a:ext>
            </a:extLst>
          </p:cNvPr>
          <p:cNvSpPr/>
          <p:nvPr/>
        </p:nvSpPr>
        <p:spPr>
          <a:xfrm>
            <a:off x="457200" y="274320"/>
            <a:ext cx="11247120" cy="457200"/>
          </a:xfrm>
          <a:prstGeom prst="rect">
            <a:avLst/>
          </a:prstGeom>
          <a:noFill/>
          <a:ln/>
        </p:spPr>
        <p:txBody>
          <a:bodyPr wrap="square" lIns="0" tIns="0" rIns="0" bIns="0" rtlCol="0" anchor="ctr"/>
          <a:lstStyle/>
          <a:p>
            <a:pPr marL="0" indent="0">
              <a:buNone/>
            </a:pPr>
            <a:r>
              <a:rPr lang="en-US" sz="3000" b="1" dirty="0">
                <a:solidFill>
                  <a:srgbClr val="141414"/>
                </a:solidFill>
                <a:latin typeface="Cambria" pitchFamily="34" charset="0"/>
                <a:ea typeface="Cambria" pitchFamily="34" charset="-122"/>
                <a:cs typeface="Cambria" pitchFamily="34" charset="-120"/>
              </a:rPr>
              <a:t>CLI-Defined Subagents</a:t>
            </a:r>
            <a:endParaRPr lang="en-US" sz="3000" dirty="0"/>
          </a:p>
        </p:txBody>
      </p:sp>
      <p:sp>
        <p:nvSpPr>
          <p:cNvPr id="3" name="Text 1">
            <a:extLst>
              <a:ext uri="{FF2B5EF4-FFF2-40B4-BE49-F238E27FC236}">
                <a16:creationId xmlns:a16="http://schemas.microsoft.com/office/drawing/2014/main" id="{C5DFFEB3-DFA5-49CE-8E99-4B9BDA4FEA74}"/>
              </a:ext>
            </a:extLst>
          </p:cNvPr>
          <p:cNvSpPr/>
          <p:nvPr/>
        </p:nvSpPr>
        <p:spPr>
          <a:xfrm>
            <a:off x="457200" y="731520"/>
            <a:ext cx="11247120" cy="457200"/>
          </a:xfrm>
          <a:prstGeom prst="rect">
            <a:avLst/>
          </a:prstGeom>
          <a:noFill/>
          <a:ln/>
        </p:spPr>
        <p:txBody>
          <a:bodyPr wrap="square" lIns="0" tIns="0" rIns="0" bIns="0" rtlCol="0" anchor="ctr"/>
          <a:lstStyle/>
          <a:p>
            <a:r>
              <a:rPr lang="en-US" sz="1400" dirty="0"/>
              <a:t>A fifth scope, separate from the four file-based ones: define a subagent 'in flight' — typed directly into the command line instead of saved as a file. It's configured with the exact same fields as a file-based subagent, just gone once the session ends</a:t>
            </a:r>
            <a:r>
              <a:rPr lang="en-US" sz="1250" dirty="0">
                <a:solidFill>
                  <a:srgbClr val="6B6B6B"/>
                </a:solidFill>
                <a:latin typeface="Calibri" pitchFamily="34" charset="0"/>
                <a:ea typeface="Calibri" pitchFamily="34" charset="-122"/>
                <a:cs typeface="Calibri" pitchFamily="34" charset="-120"/>
              </a:rPr>
              <a:t>.</a:t>
            </a:r>
            <a:endParaRPr lang="en-US" sz="1250" dirty="0"/>
          </a:p>
        </p:txBody>
      </p:sp>
      <p:sp>
        <p:nvSpPr>
          <p:cNvPr id="4" name="Shape 2">
            <a:extLst>
              <a:ext uri="{FF2B5EF4-FFF2-40B4-BE49-F238E27FC236}">
                <a16:creationId xmlns:a16="http://schemas.microsoft.com/office/drawing/2014/main" id="{02D9CAD3-12F5-CDF9-0941-3E33EC74475A}"/>
              </a:ext>
            </a:extLst>
          </p:cNvPr>
          <p:cNvSpPr/>
          <p:nvPr/>
        </p:nvSpPr>
        <p:spPr>
          <a:xfrm>
            <a:off x="457200" y="1371600"/>
            <a:ext cx="5120640" cy="4160520"/>
          </a:xfrm>
          <a:prstGeom prst="roundRect">
            <a:avLst>
              <a:gd name="adj" fmla="val 1319"/>
            </a:avLst>
          </a:prstGeom>
          <a:solidFill>
            <a:srgbClr val="FFFFFF"/>
          </a:solidFill>
          <a:ln w="12700">
            <a:solidFill>
              <a:srgbClr val="E3E0D8"/>
            </a:solidFill>
            <a:prstDash val="solid"/>
          </a:ln>
          <a:effectLst>
            <a:outerShdw blurRad="101600" dist="25400" dir="5400000" algn="bl" rotWithShape="0">
              <a:srgbClr val="000000">
                <a:alpha val="8000"/>
              </a:srgbClr>
            </a:outerShdw>
          </a:effectLst>
        </p:spPr>
        <p:txBody>
          <a:bodyPr/>
          <a:lstStyle/>
          <a:p>
            <a:endParaRPr lang="en-US"/>
          </a:p>
        </p:txBody>
      </p:sp>
      <p:sp>
        <p:nvSpPr>
          <p:cNvPr id="5" name="Text 3">
            <a:extLst>
              <a:ext uri="{FF2B5EF4-FFF2-40B4-BE49-F238E27FC236}">
                <a16:creationId xmlns:a16="http://schemas.microsoft.com/office/drawing/2014/main" id="{527A378D-CEE3-BC2F-E0C2-62571D96E032}"/>
              </a:ext>
            </a:extLst>
          </p:cNvPr>
          <p:cNvSpPr/>
          <p:nvPr/>
        </p:nvSpPr>
        <p:spPr>
          <a:xfrm>
            <a:off x="731520" y="1554480"/>
            <a:ext cx="4572000" cy="320040"/>
          </a:xfrm>
          <a:prstGeom prst="rect">
            <a:avLst/>
          </a:prstGeom>
          <a:noFill/>
          <a:ln/>
        </p:spPr>
        <p:txBody>
          <a:bodyPr wrap="square" lIns="0" tIns="0" rIns="0" bIns="0" rtlCol="0" anchor="ctr"/>
          <a:lstStyle/>
          <a:p>
            <a:pPr marL="0" indent="0">
              <a:buNone/>
            </a:pPr>
            <a:r>
              <a:rPr lang="en-US" sz="1500" b="1" dirty="0">
                <a:solidFill>
                  <a:srgbClr val="C9704F"/>
                </a:solidFill>
                <a:latin typeface="Calibri" pitchFamily="34" charset="0"/>
                <a:ea typeface="Calibri" pitchFamily="34" charset="-122"/>
                <a:cs typeface="Calibri" pitchFamily="34" charset="-120"/>
              </a:rPr>
              <a:t>What makes this scope different</a:t>
            </a:r>
            <a:endParaRPr lang="en-US" sz="1500" dirty="0"/>
          </a:p>
        </p:txBody>
      </p:sp>
      <p:sp>
        <p:nvSpPr>
          <p:cNvPr id="6" name="Text 4">
            <a:extLst>
              <a:ext uri="{FF2B5EF4-FFF2-40B4-BE49-F238E27FC236}">
                <a16:creationId xmlns:a16="http://schemas.microsoft.com/office/drawing/2014/main" id="{54553156-AB2B-E047-4D9D-5B411CFAB48C}"/>
              </a:ext>
            </a:extLst>
          </p:cNvPr>
          <p:cNvSpPr/>
          <p:nvPr/>
        </p:nvSpPr>
        <p:spPr>
          <a:xfrm>
            <a:off x="731520" y="1965960"/>
            <a:ext cx="4572000" cy="256032"/>
          </a:xfrm>
          <a:prstGeom prst="rect">
            <a:avLst/>
          </a:prstGeom>
          <a:noFill/>
          <a:ln/>
        </p:spPr>
        <p:txBody>
          <a:bodyPr wrap="square" lIns="0" tIns="0" rIns="0" bIns="0" rtlCol="0" anchor="ctr"/>
          <a:lstStyle/>
          <a:p>
            <a:pPr marL="0" indent="0">
              <a:buNone/>
            </a:pPr>
            <a:r>
              <a:rPr lang="en-US" sz="1150" b="1" dirty="0">
                <a:solidFill>
                  <a:srgbClr val="141414"/>
                </a:solidFill>
                <a:latin typeface="Calibri" pitchFamily="34" charset="0"/>
                <a:ea typeface="Calibri" pitchFamily="34" charset="-122"/>
                <a:cs typeface="Calibri" pitchFamily="34" charset="-120"/>
              </a:rPr>
              <a:t>Session-only:</a:t>
            </a:r>
            <a:endParaRPr lang="en-US" sz="1150" dirty="0"/>
          </a:p>
        </p:txBody>
      </p:sp>
      <p:sp>
        <p:nvSpPr>
          <p:cNvPr id="7" name="Text 5">
            <a:extLst>
              <a:ext uri="{FF2B5EF4-FFF2-40B4-BE49-F238E27FC236}">
                <a16:creationId xmlns:a16="http://schemas.microsoft.com/office/drawing/2014/main" id="{6C8A0ECC-E8E5-981F-5D31-50AA287510A3}"/>
              </a:ext>
            </a:extLst>
          </p:cNvPr>
          <p:cNvSpPr/>
          <p:nvPr/>
        </p:nvSpPr>
        <p:spPr>
          <a:xfrm>
            <a:off x="731520" y="2240280"/>
            <a:ext cx="4572000" cy="411480"/>
          </a:xfrm>
          <a:prstGeom prst="rect">
            <a:avLst/>
          </a:prstGeom>
          <a:noFill/>
          <a:ln/>
        </p:spPr>
        <p:txBody>
          <a:bodyPr wrap="square" lIns="0" tIns="0" rIns="0" bIns="0" rtlCol="0" anchor="ctr"/>
          <a:lstStyle/>
          <a:p>
            <a:pPr marL="0" indent="0">
              <a:buNone/>
            </a:pPr>
            <a:r>
              <a:rPr lang="en-US" sz="1000" dirty="0">
                <a:solidFill>
                  <a:srgbClr val="2B2B2B"/>
                </a:solidFill>
                <a:latin typeface="Calibri" pitchFamily="34" charset="0"/>
                <a:ea typeface="Calibri" pitchFamily="34" charset="-122"/>
                <a:cs typeface="Calibri" pitchFamily="34" charset="-120"/>
              </a:rPr>
              <a:t>Exists only for that one claude invocation. Nothing is written to disk.</a:t>
            </a:r>
            <a:endParaRPr lang="en-US" sz="1000" dirty="0"/>
          </a:p>
        </p:txBody>
      </p:sp>
      <p:sp>
        <p:nvSpPr>
          <p:cNvPr id="8" name="Text 6">
            <a:extLst>
              <a:ext uri="{FF2B5EF4-FFF2-40B4-BE49-F238E27FC236}">
                <a16:creationId xmlns:a16="http://schemas.microsoft.com/office/drawing/2014/main" id="{1B8B98F9-83AD-C8A0-A621-58A9EF541EAC}"/>
              </a:ext>
            </a:extLst>
          </p:cNvPr>
          <p:cNvSpPr/>
          <p:nvPr/>
        </p:nvSpPr>
        <p:spPr>
          <a:xfrm>
            <a:off x="731520" y="2715768"/>
            <a:ext cx="4572000" cy="256032"/>
          </a:xfrm>
          <a:prstGeom prst="rect">
            <a:avLst/>
          </a:prstGeom>
          <a:noFill/>
          <a:ln/>
        </p:spPr>
        <p:txBody>
          <a:bodyPr wrap="square" lIns="0" tIns="0" rIns="0" bIns="0" rtlCol="0" anchor="ctr"/>
          <a:lstStyle/>
          <a:p>
            <a:pPr marL="0" indent="0">
              <a:buNone/>
            </a:pPr>
            <a:r>
              <a:rPr lang="en-US" sz="1150" b="1" dirty="0">
                <a:solidFill>
                  <a:srgbClr val="141414"/>
                </a:solidFill>
                <a:latin typeface="Calibri" pitchFamily="34" charset="0"/>
                <a:ea typeface="Calibri" pitchFamily="34" charset="-122"/>
                <a:cs typeface="Calibri" pitchFamily="34" charset="-120"/>
              </a:rPr>
              <a:t>No file to maintain:</a:t>
            </a:r>
            <a:endParaRPr lang="en-US" sz="1150" dirty="0"/>
          </a:p>
        </p:txBody>
      </p:sp>
      <p:sp>
        <p:nvSpPr>
          <p:cNvPr id="9" name="Text 7">
            <a:extLst>
              <a:ext uri="{FF2B5EF4-FFF2-40B4-BE49-F238E27FC236}">
                <a16:creationId xmlns:a16="http://schemas.microsoft.com/office/drawing/2014/main" id="{11840410-4EF4-297D-94E8-1E23D18239A5}"/>
              </a:ext>
            </a:extLst>
          </p:cNvPr>
          <p:cNvSpPr/>
          <p:nvPr/>
        </p:nvSpPr>
        <p:spPr>
          <a:xfrm>
            <a:off x="731520" y="2990088"/>
            <a:ext cx="4572000" cy="411480"/>
          </a:xfrm>
          <a:prstGeom prst="rect">
            <a:avLst/>
          </a:prstGeom>
          <a:noFill/>
          <a:ln/>
        </p:spPr>
        <p:txBody>
          <a:bodyPr wrap="square" lIns="0" tIns="0" rIns="0" bIns="0" rtlCol="0" anchor="ctr"/>
          <a:lstStyle/>
          <a:p>
            <a:pPr marL="0" indent="0">
              <a:buNone/>
            </a:pPr>
            <a:r>
              <a:rPr lang="en-US" sz="1000" dirty="0">
                <a:solidFill>
                  <a:srgbClr val="2B2B2B"/>
                </a:solidFill>
                <a:latin typeface="Calibri" pitchFamily="34" charset="0"/>
                <a:ea typeface="Calibri" pitchFamily="34" charset="-122"/>
                <a:cs typeface="Calibri" pitchFamily="34" charset="-120"/>
              </a:rPr>
              <a:t>Useful for quick testing, or generating a subagent on the fly from a script.</a:t>
            </a:r>
            <a:endParaRPr lang="en-US" sz="1000" dirty="0"/>
          </a:p>
        </p:txBody>
      </p:sp>
      <p:sp>
        <p:nvSpPr>
          <p:cNvPr id="10" name="Text 8">
            <a:extLst>
              <a:ext uri="{FF2B5EF4-FFF2-40B4-BE49-F238E27FC236}">
                <a16:creationId xmlns:a16="http://schemas.microsoft.com/office/drawing/2014/main" id="{1668C713-534D-9C8F-399B-B672BE408566}"/>
              </a:ext>
            </a:extLst>
          </p:cNvPr>
          <p:cNvSpPr/>
          <p:nvPr/>
        </p:nvSpPr>
        <p:spPr>
          <a:xfrm>
            <a:off x="731520" y="3465576"/>
            <a:ext cx="4572000" cy="256032"/>
          </a:xfrm>
          <a:prstGeom prst="rect">
            <a:avLst/>
          </a:prstGeom>
          <a:noFill/>
          <a:ln/>
        </p:spPr>
        <p:txBody>
          <a:bodyPr wrap="square" lIns="0" tIns="0" rIns="0" bIns="0" rtlCol="0" anchor="ctr"/>
          <a:lstStyle/>
          <a:p>
            <a:pPr marL="0" indent="0">
              <a:buNone/>
            </a:pPr>
            <a:r>
              <a:rPr lang="en-US" sz="1150" b="1" dirty="0">
                <a:solidFill>
                  <a:srgbClr val="141414"/>
                </a:solidFill>
                <a:latin typeface="Calibri" pitchFamily="34" charset="0"/>
                <a:ea typeface="Calibri" pitchFamily="34" charset="-122"/>
                <a:cs typeface="Calibri" pitchFamily="34" charset="-120"/>
              </a:rPr>
              <a:t>System prompt:</a:t>
            </a:r>
            <a:endParaRPr lang="en-US" sz="1150" dirty="0"/>
          </a:p>
        </p:txBody>
      </p:sp>
      <p:sp>
        <p:nvSpPr>
          <p:cNvPr id="11" name="Text 9">
            <a:extLst>
              <a:ext uri="{FF2B5EF4-FFF2-40B4-BE49-F238E27FC236}">
                <a16:creationId xmlns:a16="http://schemas.microsoft.com/office/drawing/2014/main" id="{B5774A52-B6F0-782E-D03A-C633EC33BEB1}"/>
              </a:ext>
            </a:extLst>
          </p:cNvPr>
          <p:cNvSpPr/>
          <p:nvPr/>
        </p:nvSpPr>
        <p:spPr>
          <a:xfrm>
            <a:off x="731520" y="3739896"/>
            <a:ext cx="4572000" cy="411480"/>
          </a:xfrm>
          <a:prstGeom prst="rect">
            <a:avLst/>
          </a:prstGeom>
          <a:noFill/>
          <a:ln/>
        </p:spPr>
        <p:txBody>
          <a:bodyPr wrap="square" lIns="0" tIns="0" rIns="0" bIns="0" rtlCol="0" anchor="ctr"/>
          <a:lstStyle/>
          <a:p>
            <a:r>
              <a:rPr lang="en-US" sz="1000" dirty="0"/>
              <a:t>Use </a:t>
            </a:r>
            <a:r>
              <a:rPr lang="en-US" dirty="0"/>
              <a:t>prompt</a:t>
            </a:r>
            <a:r>
              <a:rPr lang="en-US" sz="1000" dirty="0"/>
              <a:t> for the system prompt, equivalent to the markdown body in file-based subagents.</a:t>
            </a:r>
            <a:r>
              <a:rPr lang="en-US" sz="1000" dirty="0">
                <a:solidFill>
                  <a:srgbClr val="2B2B2B"/>
                </a:solidFill>
                <a:latin typeface="Calibri" pitchFamily="34" charset="0"/>
                <a:ea typeface="Calibri" pitchFamily="34" charset="-122"/>
                <a:cs typeface="Calibri" pitchFamily="34" charset="-120"/>
              </a:rPr>
              <a:t>.</a:t>
            </a:r>
            <a:endParaRPr lang="en-US" sz="1000" dirty="0"/>
          </a:p>
        </p:txBody>
      </p:sp>
      <p:sp>
        <p:nvSpPr>
          <p:cNvPr id="12" name="Text 10">
            <a:extLst>
              <a:ext uri="{FF2B5EF4-FFF2-40B4-BE49-F238E27FC236}">
                <a16:creationId xmlns:a16="http://schemas.microsoft.com/office/drawing/2014/main" id="{099CC176-9B4C-D90D-3D54-F1E4963AFD85}"/>
              </a:ext>
            </a:extLst>
          </p:cNvPr>
          <p:cNvSpPr/>
          <p:nvPr/>
        </p:nvSpPr>
        <p:spPr>
          <a:xfrm>
            <a:off x="731520" y="4306824"/>
            <a:ext cx="4572000" cy="548640"/>
          </a:xfrm>
          <a:prstGeom prst="rect">
            <a:avLst/>
          </a:prstGeom>
          <a:noFill/>
          <a:ln/>
        </p:spPr>
        <p:txBody>
          <a:bodyPr wrap="square" lIns="0" tIns="0" rIns="0" bIns="0"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Best for: CI pipelines, automation scripts, or quickly trying out a subagent definition before committing it to a file.</a:t>
            </a:r>
            <a:endParaRPr lang="en-US" sz="1000" dirty="0"/>
          </a:p>
        </p:txBody>
      </p:sp>
      <p:sp>
        <p:nvSpPr>
          <p:cNvPr id="13" name="Shape 11">
            <a:extLst>
              <a:ext uri="{FF2B5EF4-FFF2-40B4-BE49-F238E27FC236}">
                <a16:creationId xmlns:a16="http://schemas.microsoft.com/office/drawing/2014/main" id="{CCE145D8-5568-CAAD-9935-EA696C81AD39}"/>
              </a:ext>
            </a:extLst>
          </p:cNvPr>
          <p:cNvSpPr/>
          <p:nvPr/>
        </p:nvSpPr>
        <p:spPr>
          <a:xfrm>
            <a:off x="5806440" y="1371600"/>
            <a:ext cx="5897880" cy="4160520"/>
          </a:xfrm>
          <a:prstGeom prst="roundRect">
            <a:avLst>
              <a:gd name="adj" fmla="val 1319"/>
            </a:avLst>
          </a:prstGeom>
          <a:solidFill>
            <a:srgbClr val="FFFFFF"/>
          </a:solidFill>
          <a:ln w="12700">
            <a:solidFill>
              <a:srgbClr val="E3E0D8"/>
            </a:solidFill>
            <a:prstDash val="solid"/>
          </a:ln>
          <a:effectLst>
            <a:outerShdw blurRad="101600" dist="25400" dir="5400000" algn="bl" rotWithShape="0">
              <a:srgbClr val="000000">
                <a:alpha val="8000"/>
              </a:srgbClr>
            </a:outerShdw>
          </a:effectLst>
        </p:spPr>
        <p:txBody>
          <a:bodyPr/>
          <a:lstStyle/>
          <a:p>
            <a:endParaRPr lang="en-US"/>
          </a:p>
        </p:txBody>
      </p:sp>
      <p:sp>
        <p:nvSpPr>
          <p:cNvPr id="14" name="Text 12">
            <a:extLst>
              <a:ext uri="{FF2B5EF4-FFF2-40B4-BE49-F238E27FC236}">
                <a16:creationId xmlns:a16="http://schemas.microsoft.com/office/drawing/2014/main" id="{423C84B5-96A5-82BD-C38E-2D6B2F7405FD}"/>
              </a:ext>
            </a:extLst>
          </p:cNvPr>
          <p:cNvSpPr/>
          <p:nvPr/>
        </p:nvSpPr>
        <p:spPr>
          <a:xfrm>
            <a:off x="6080760" y="1554480"/>
            <a:ext cx="5349240" cy="320040"/>
          </a:xfrm>
          <a:prstGeom prst="rect">
            <a:avLst/>
          </a:prstGeom>
          <a:noFill/>
          <a:ln/>
        </p:spPr>
        <p:txBody>
          <a:bodyPr wrap="square" lIns="0" tIns="0" rIns="0" bIns="0" rtlCol="0" anchor="ctr"/>
          <a:lstStyle/>
          <a:p>
            <a:pPr marL="0" indent="0">
              <a:buNone/>
            </a:pPr>
            <a:r>
              <a:rPr lang="en-US" sz="1500" b="1" dirty="0">
                <a:solidFill>
                  <a:srgbClr val="141414"/>
                </a:solidFill>
                <a:latin typeface="Calibri" pitchFamily="34" charset="0"/>
                <a:ea typeface="Calibri" pitchFamily="34" charset="-122"/>
                <a:cs typeface="Calibri" pitchFamily="34" charset="-120"/>
              </a:rPr>
              <a:t>Passing JSON via --agents</a:t>
            </a:r>
            <a:endParaRPr lang="en-US" sz="1500" dirty="0"/>
          </a:p>
        </p:txBody>
      </p:sp>
      <p:sp>
        <p:nvSpPr>
          <p:cNvPr id="15" name="Text 13">
            <a:extLst>
              <a:ext uri="{FF2B5EF4-FFF2-40B4-BE49-F238E27FC236}">
                <a16:creationId xmlns:a16="http://schemas.microsoft.com/office/drawing/2014/main" id="{FAE77651-8AE0-B28D-788D-9ABB0B764B74}"/>
              </a:ext>
            </a:extLst>
          </p:cNvPr>
          <p:cNvSpPr/>
          <p:nvPr/>
        </p:nvSpPr>
        <p:spPr>
          <a:xfrm>
            <a:off x="6080760" y="1883664"/>
            <a:ext cx="5349240" cy="274320"/>
          </a:xfrm>
          <a:prstGeom prst="rect">
            <a:avLst/>
          </a:prstGeom>
          <a:noFill/>
          <a:ln/>
        </p:spPr>
        <p:txBody>
          <a:bodyPr wrap="square" lIns="0" tIns="0" rIns="0" bIns="0"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Define multiple subagents in one call — same fields as a file's frontmatter, just as JSON.</a:t>
            </a:r>
            <a:endParaRPr lang="en-US" sz="1000" dirty="0"/>
          </a:p>
        </p:txBody>
      </p:sp>
      <p:sp>
        <p:nvSpPr>
          <p:cNvPr id="16" name="Shape 14">
            <a:extLst>
              <a:ext uri="{FF2B5EF4-FFF2-40B4-BE49-F238E27FC236}">
                <a16:creationId xmlns:a16="http://schemas.microsoft.com/office/drawing/2014/main" id="{966BFCBC-8E2F-493E-0232-2B2ED0C8AE43}"/>
              </a:ext>
            </a:extLst>
          </p:cNvPr>
          <p:cNvSpPr/>
          <p:nvPr/>
        </p:nvSpPr>
        <p:spPr>
          <a:xfrm>
            <a:off x="6080760" y="2267712"/>
            <a:ext cx="5349240" cy="2148840"/>
          </a:xfrm>
          <a:prstGeom prst="rect">
            <a:avLst/>
          </a:prstGeom>
          <a:solidFill>
            <a:srgbClr val="1E1E1E"/>
          </a:solidFill>
          <a:ln w="12700">
            <a:solidFill>
              <a:srgbClr val="1E1E1E"/>
            </a:solidFill>
            <a:prstDash val="solid"/>
          </a:ln>
        </p:spPr>
        <p:txBody>
          <a:bodyPr/>
          <a:lstStyle/>
          <a:p>
            <a:endParaRPr lang="en-US"/>
          </a:p>
        </p:txBody>
      </p:sp>
      <p:sp>
        <p:nvSpPr>
          <p:cNvPr id="17" name="Text 15">
            <a:extLst>
              <a:ext uri="{FF2B5EF4-FFF2-40B4-BE49-F238E27FC236}">
                <a16:creationId xmlns:a16="http://schemas.microsoft.com/office/drawing/2014/main" id="{AFABF4A5-E819-C469-F23B-DD5AC3927738}"/>
              </a:ext>
            </a:extLst>
          </p:cNvPr>
          <p:cNvSpPr/>
          <p:nvPr/>
        </p:nvSpPr>
        <p:spPr>
          <a:xfrm>
            <a:off x="6217920" y="2359152"/>
            <a:ext cx="5074920" cy="1965960"/>
          </a:xfrm>
          <a:prstGeom prst="rect">
            <a:avLst/>
          </a:prstGeom>
          <a:noFill/>
          <a:ln/>
        </p:spPr>
        <p:txBody>
          <a:bodyPr wrap="square" lIns="0" tIns="0" rIns="0" bIns="0" rtlCol="0" anchor="t"/>
          <a:lstStyle/>
          <a:p>
            <a:pPr marL="0" indent="0">
              <a:lnSpc>
                <a:spcPts val="1200"/>
              </a:lnSpc>
              <a:buNone/>
            </a:pPr>
            <a:r>
              <a:rPr lang="en-US" sz="900" b="1" dirty="0">
                <a:solidFill>
                  <a:srgbClr val="9CDCFE"/>
                </a:solidFill>
                <a:latin typeface="Courier New" pitchFamily="34" charset="0"/>
                <a:ea typeface="Courier New" pitchFamily="34" charset="-122"/>
                <a:cs typeface="Courier New" pitchFamily="34" charset="-120"/>
              </a:rPr>
              <a:t>claude --agents </a:t>
            </a:r>
            <a:r>
              <a:rPr lang="en-US" sz="900" dirty="0">
                <a:solidFill>
                  <a:srgbClr val="D4D4D4"/>
                </a:solidFill>
                <a:latin typeface="Courier New" pitchFamily="34" charset="0"/>
                <a:ea typeface="Courier New" pitchFamily="34" charset="-122"/>
                <a:cs typeface="Courier New" pitchFamily="34" charset="-120"/>
              </a:rPr>
              <a:t>'{
</a:t>
            </a:r>
            <a:r>
              <a:rPr lang="en-US" sz="900" b="1" dirty="0">
                <a:solidFill>
                  <a:srgbClr val="CE9178"/>
                </a:solidFill>
                <a:latin typeface="Courier New" pitchFamily="34" charset="0"/>
                <a:ea typeface="Courier New" pitchFamily="34" charset="-122"/>
                <a:cs typeface="Courier New" pitchFamily="34" charset="-120"/>
              </a:rPr>
              <a:t>  "code-reviewer": {
</a:t>
            </a:r>
            <a:r>
              <a:rPr lang="en-US" sz="900" dirty="0">
                <a:solidFill>
                  <a:srgbClr val="D4D4D4"/>
                </a:solidFill>
                <a:latin typeface="Courier New" pitchFamily="34" charset="0"/>
                <a:ea typeface="Courier New" pitchFamily="34" charset="-122"/>
                <a:cs typeface="Courier New" pitchFamily="34" charset="-120"/>
              </a:rPr>
              <a:t>    "description": "Expert reviewer.
      Use proactively after changes.",
    "prompt": "You are a senior
      code reviewer...",
</a:t>
            </a:r>
            <a:r>
              <a:rPr lang="en-US" sz="900" dirty="0">
                <a:solidFill>
                  <a:srgbClr val="6A9955"/>
                </a:solidFill>
                <a:latin typeface="Courier New" pitchFamily="34" charset="0"/>
                <a:ea typeface="Courier New" pitchFamily="34" charset="-122"/>
                <a:cs typeface="Courier New" pitchFamily="34" charset="-120"/>
              </a:rPr>
              <a:t>    "tools": ["Read","Grep","Bash"],
    "model": "sonnet"
</a:t>
            </a:r>
            <a:r>
              <a:rPr lang="en-US" sz="900" dirty="0">
                <a:solidFill>
                  <a:srgbClr val="D4D4D4"/>
                </a:solidFill>
                <a:latin typeface="Courier New" pitchFamily="34" charset="0"/>
                <a:ea typeface="Courier New" pitchFamily="34" charset="-122"/>
                <a:cs typeface="Courier New" pitchFamily="34" charset="-120"/>
              </a:rPr>
              <a:t>  }</a:t>
            </a:r>
            <a:endParaRPr lang="en-US" sz="900" dirty="0"/>
          </a:p>
          <a:p>
            <a:pPr marL="0" indent="0">
              <a:lnSpc>
                <a:spcPts val="1200"/>
              </a:lnSpc>
              <a:buNone/>
            </a:pPr>
            <a:r>
              <a:rPr lang="en-US" sz="900" dirty="0">
                <a:solidFill>
                  <a:srgbClr val="D4D4D4"/>
                </a:solidFill>
                <a:latin typeface="Courier New" pitchFamily="34" charset="0"/>
                <a:ea typeface="Courier New" pitchFamily="34" charset="-122"/>
                <a:cs typeface="Courier New" pitchFamily="34" charset="-120"/>
              </a:rPr>
              <a:t>}'</a:t>
            </a:r>
            <a:endParaRPr lang="en-US" sz="900" dirty="0"/>
          </a:p>
        </p:txBody>
      </p:sp>
      <p:sp>
        <p:nvSpPr>
          <p:cNvPr id="18" name="Text 16">
            <a:extLst>
              <a:ext uri="{FF2B5EF4-FFF2-40B4-BE49-F238E27FC236}">
                <a16:creationId xmlns:a16="http://schemas.microsoft.com/office/drawing/2014/main" id="{C05453BA-9C4E-F4AB-32A1-D35B2DDAD028}"/>
              </a:ext>
            </a:extLst>
          </p:cNvPr>
          <p:cNvSpPr/>
          <p:nvPr/>
        </p:nvSpPr>
        <p:spPr>
          <a:xfrm>
            <a:off x="6080760" y="4553712"/>
            <a:ext cx="5349240" cy="457200"/>
          </a:xfrm>
          <a:prstGeom prst="rect">
            <a:avLst/>
          </a:prstGeom>
          <a:noFill/>
          <a:ln/>
        </p:spPr>
        <p:txBody>
          <a:bodyPr wrap="square" lIns="0" tIns="0" rIns="0" bIns="0" rtlCol="0" anchor="ctr"/>
          <a:lstStyle/>
          <a:p>
            <a:pPr marL="0" indent="0">
              <a:buNone/>
            </a:pPr>
            <a:r>
              <a:rPr lang="en-US" sz="1000" b="1" dirty="0">
                <a:solidFill>
                  <a:srgbClr val="6B5B95"/>
                </a:solidFill>
                <a:latin typeface="Courier New" pitchFamily="34" charset="0"/>
                <a:ea typeface="Courier New" pitchFamily="34" charset="-122"/>
                <a:cs typeface="Courier New" pitchFamily="34" charset="-120"/>
              </a:rPr>
              <a:t>prompt</a:t>
            </a:r>
            <a:r>
              <a:rPr lang="en-US" sz="1000" dirty="0">
                <a:solidFill>
                  <a:srgbClr val="2B2B2B"/>
                </a:solidFill>
                <a:latin typeface="Calibri" pitchFamily="34" charset="0"/>
                <a:ea typeface="Calibri" pitchFamily="34" charset="-122"/>
                <a:cs typeface="Calibri" pitchFamily="34" charset="-120"/>
              </a:rPr>
              <a:t> here = the </a:t>
            </a:r>
            <a:r>
              <a:rPr lang="en-US" sz="1000" b="1" dirty="0">
                <a:solidFill>
                  <a:srgbClr val="2B2B2B"/>
                </a:solidFill>
                <a:latin typeface="Calibri" pitchFamily="34" charset="0"/>
                <a:ea typeface="Calibri" pitchFamily="34" charset="-122"/>
                <a:cs typeface="Calibri" pitchFamily="34" charset="-120"/>
              </a:rPr>
              <a:t>markdown body</a:t>
            </a:r>
            <a:r>
              <a:rPr lang="en-US" sz="1000" dirty="0">
                <a:solidFill>
                  <a:srgbClr val="2B2B2B"/>
                </a:solidFill>
                <a:latin typeface="Calibri" pitchFamily="34" charset="0"/>
                <a:ea typeface="Calibri" pitchFamily="34" charset="-122"/>
                <a:cs typeface="Calibri" pitchFamily="34" charset="-120"/>
              </a:rPr>
              <a:t> in a file-based subagent — it's the system prompt either way.</a:t>
            </a:r>
            <a:endParaRPr lang="en-US" sz="1000" dirty="0"/>
          </a:p>
        </p:txBody>
      </p:sp>
      <p:sp>
        <p:nvSpPr>
          <p:cNvPr id="19" name="Shape 17">
            <a:extLst>
              <a:ext uri="{FF2B5EF4-FFF2-40B4-BE49-F238E27FC236}">
                <a16:creationId xmlns:a16="http://schemas.microsoft.com/office/drawing/2014/main" id="{9AD6B888-1E4B-4D0C-8B25-9C0B608621E4}"/>
              </a:ext>
            </a:extLst>
          </p:cNvPr>
          <p:cNvSpPr/>
          <p:nvPr/>
        </p:nvSpPr>
        <p:spPr>
          <a:xfrm>
            <a:off x="457200" y="5669280"/>
            <a:ext cx="11247120" cy="502920"/>
          </a:xfrm>
          <a:prstGeom prst="rect">
            <a:avLst/>
          </a:prstGeom>
          <a:solidFill>
            <a:srgbClr val="F7F5F0"/>
          </a:solidFill>
          <a:ln w="9525">
            <a:solidFill>
              <a:srgbClr val="E3E0D8"/>
            </a:solidFill>
            <a:prstDash val="solid"/>
          </a:ln>
        </p:spPr>
        <p:txBody>
          <a:bodyPr/>
          <a:lstStyle/>
          <a:p>
            <a:endParaRPr lang="en-US"/>
          </a:p>
        </p:txBody>
      </p:sp>
      <p:sp>
        <p:nvSpPr>
          <p:cNvPr id="20" name="Text 18">
            <a:extLst>
              <a:ext uri="{FF2B5EF4-FFF2-40B4-BE49-F238E27FC236}">
                <a16:creationId xmlns:a16="http://schemas.microsoft.com/office/drawing/2014/main" id="{0AB0EC34-7AE5-9905-5DE5-533E9AC3A55D}"/>
              </a:ext>
            </a:extLst>
          </p:cNvPr>
          <p:cNvSpPr/>
          <p:nvPr/>
        </p:nvSpPr>
        <p:spPr>
          <a:xfrm>
            <a:off x="777240" y="5669280"/>
            <a:ext cx="10607040" cy="502920"/>
          </a:xfrm>
          <a:prstGeom prst="rect">
            <a:avLst/>
          </a:prstGeom>
          <a:noFill/>
          <a:ln/>
        </p:spPr>
        <p:txBody>
          <a:bodyPr wrap="square" lIns="0" tIns="0" rIns="0" bIns="0" rtlCol="0" anchor="ctr"/>
          <a:lstStyle/>
          <a:p>
            <a:pPr marL="0" indent="0">
              <a:buNone/>
            </a:pPr>
            <a:r>
              <a:rPr lang="en-US" sz="1200" b="1" dirty="0">
                <a:solidFill>
                  <a:srgbClr val="C9704F"/>
                </a:solidFill>
                <a:latin typeface="Calibri" pitchFamily="34" charset="0"/>
                <a:ea typeface="Calibri" pitchFamily="34" charset="-122"/>
                <a:cs typeface="Calibri" pitchFamily="34" charset="-120"/>
              </a:rPr>
              <a:t>Same fields, different format:  </a:t>
            </a:r>
            <a:r>
              <a:rPr lang="en-US" sz="1200" dirty="0">
                <a:solidFill>
                  <a:srgbClr val="2B2B2B"/>
                </a:solidFill>
                <a:latin typeface="Calibri" pitchFamily="34" charset="0"/>
                <a:ea typeface="Calibri" pitchFamily="34" charset="-122"/>
                <a:cs typeface="Calibri" pitchFamily="34" charset="-120"/>
              </a:rPr>
              <a:t>everything from the previous slide's frontmatter table works here too — just written as JSON keys instead of YAML.</a:t>
            </a:r>
            <a:endParaRPr lang="en-US" sz="1200" dirty="0"/>
          </a:p>
        </p:txBody>
      </p:sp>
    </p:spTree>
    <p:extLst>
      <p:ext uri="{BB962C8B-B14F-4D97-AF65-F5344CB8AC3E}">
        <p14:creationId xmlns:p14="http://schemas.microsoft.com/office/powerpoint/2010/main" val="29656123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36CA936-7D2D-22C6-E209-BDA3140FC799}"/>
              </a:ext>
            </a:extLst>
          </p:cNvPr>
          <p:cNvSpPr/>
          <p:nvPr/>
        </p:nvSpPr>
        <p:spPr>
          <a:xfrm>
            <a:off x="457200" y="274320"/>
            <a:ext cx="11247120" cy="502920"/>
          </a:xfrm>
          <a:prstGeom prst="rect">
            <a:avLst/>
          </a:prstGeom>
          <a:noFill/>
          <a:ln/>
        </p:spPr>
        <p:txBody>
          <a:bodyPr wrap="square" lIns="0" tIns="0" rIns="0" bIns="0" rtlCol="0" anchor="ctr"/>
          <a:lstStyle/>
          <a:p>
            <a:pPr marL="0" indent="0">
              <a:buNone/>
            </a:pPr>
            <a:r>
              <a:rPr lang="en-US" sz="3000" b="1" dirty="0">
                <a:solidFill>
                  <a:srgbClr val="141414"/>
                </a:solidFill>
                <a:latin typeface="Cambria" pitchFamily="34" charset="0"/>
                <a:ea typeface="Cambria" pitchFamily="34" charset="-122"/>
                <a:cs typeface="Cambria" pitchFamily="34" charset="-120"/>
              </a:rPr>
              <a:t>Controlling What a Subagent Can Do</a:t>
            </a:r>
            <a:endParaRPr lang="en-US" sz="3000" dirty="0"/>
          </a:p>
        </p:txBody>
      </p:sp>
      <p:sp>
        <p:nvSpPr>
          <p:cNvPr id="3" name="Text 1">
            <a:extLst>
              <a:ext uri="{FF2B5EF4-FFF2-40B4-BE49-F238E27FC236}">
                <a16:creationId xmlns:a16="http://schemas.microsoft.com/office/drawing/2014/main" id="{FB954D52-C804-2920-FBFE-076031B2E1CE}"/>
              </a:ext>
            </a:extLst>
          </p:cNvPr>
          <p:cNvSpPr/>
          <p:nvPr/>
        </p:nvSpPr>
        <p:spPr>
          <a:xfrm>
            <a:off x="457200" y="731520"/>
            <a:ext cx="11247120" cy="457200"/>
          </a:xfrm>
          <a:prstGeom prst="rect">
            <a:avLst/>
          </a:prstGeom>
          <a:noFill/>
          <a:ln/>
        </p:spPr>
        <p:txBody>
          <a:bodyPr wrap="square" lIns="0" tIns="0" rIns="0" bIns="0" rtlCol="0" anchor="ctr"/>
          <a:lstStyle/>
          <a:p>
            <a:pPr marL="0" indent="0">
              <a:buNone/>
            </a:pPr>
            <a:r>
              <a:rPr lang="en-US" sz="1250" dirty="0">
                <a:solidFill>
                  <a:srgbClr val="6B6B6B"/>
                </a:solidFill>
                <a:latin typeface="Calibri" pitchFamily="34" charset="0"/>
                <a:ea typeface="Calibri" pitchFamily="34" charset="-122"/>
                <a:cs typeface="Calibri" pitchFamily="34" charset="-120"/>
              </a:rPr>
              <a:t>By default a subagent inherits every tool the main conversation has. Use these two fields to narrow that down — for example, so a reviewer subagent can look at code but never edit it.</a:t>
            </a:r>
            <a:endParaRPr lang="en-US" sz="1250" dirty="0"/>
          </a:p>
        </p:txBody>
      </p:sp>
      <p:sp>
        <p:nvSpPr>
          <p:cNvPr id="4" name="Shape 2">
            <a:extLst>
              <a:ext uri="{FF2B5EF4-FFF2-40B4-BE49-F238E27FC236}">
                <a16:creationId xmlns:a16="http://schemas.microsoft.com/office/drawing/2014/main" id="{52FAEC09-ED8E-184D-03FF-A5D44784C6E8}"/>
              </a:ext>
            </a:extLst>
          </p:cNvPr>
          <p:cNvSpPr/>
          <p:nvPr/>
        </p:nvSpPr>
        <p:spPr>
          <a:xfrm>
            <a:off x="457200" y="1417320"/>
            <a:ext cx="5394960" cy="4114800"/>
          </a:xfrm>
          <a:prstGeom prst="roundRect">
            <a:avLst>
              <a:gd name="adj" fmla="val 1333"/>
            </a:avLst>
          </a:prstGeom>
          <a:solidFill>
            <a:srgbClr val="FFFFFF"/>
          </a:solidFill>
          <a:ln w="12700">
            <a:solidFill>
              <a:srgbClr val="E3E0D8"/>
            </a:solidFill>
            <a:prstDash val="solid"/>
          </a:ln>
          <a:effectLst>
            <a:outerShdw blurRad="101600" dist="25400" dir="5400000" algn="bl" rotWithShape="0">
              <a:srgbClr val="000000">
                <a:alpha val="8000"/>
              </a:srgbClr>
            </a:outerShdw>
          </a:effectLst>
        </p:spPr>
        <p:txBody>
          <a:bodyPr/>
          <a:lstStyle/>
          <a:p>
            <a:endParaRPr lang="en-US"/>
          </a:p>
        </p:txBody>
      </p:sp>
      <p:sp>
        <p:nvSpPr>
          <p:cNvPr id="5" name="Text 3">
            <a:extLst>
              <a:ext uri="{FF2B5EF4-FFF2-40B4-BE49-F238E27FC236}">
                <a16:creationId xmlns:a16="http://schemas.microsoft.com/office/drawing/2014/main" id="{41928A0D-1FC6-3588-0314-C4E5DADB7496}"/>
              </a:ext>
            </a:extLst>
          </p:cNvPr>
          <p:cNvSpPr/>
          <p:nvPr/>
        </p:nvSpPr>
        <p:spPr>
          <a:xfrm>
            <a:off x="731520" y="1618488"/>
            <a:ext cx="4846320" cy="320040"/>
          </a:xfrm>
          <a:prstGeom prst="rect">
            <a:avLst/>
          </a:prstGeom>
          <a:noFill/>
          <a:ln/>
        </p:spPr>
        <p:txBody>
          <a:bodyPr wrap="square" lIns="0" tIns="0" rIns="0" bIns="0" rtlCol="0" anchor="ctr"/>
          <a:lstStyle/>
          <a:p>
            <a:pPr marL="0" indent="0">
              <a:buNone/>
            </a:pPr>
            <a:r>
              <a:rPr lang="en-US" sz="1600" b="1" dirty="0">
                <a:solidFill>
                  <a:srgbClr val="C9704F"/>
                </a:solidFill>
                <a:latin typeface="Calibri" pitchFamily="34" charset="0"/>
                <a:ea typeface="Calibri" pitchFamily="34" charset="-122"/>
                <a:cs typeface="Calibri" pitchFamily="34" charset="-120"/>
              </a:rPr>
              <a:t>Allowlist vs. denylist</a:t>
            </a:r>
            <a:endParaRPr lang="en-US" sz="1600" dirty="0"/>
          </a:p>
        </p:txBody>
      </p:sp>
      <p:sp>
        <p:nvSpPr>
          <p:cNvPr id="6" name="Text 4">
            <a:extLst>
              <a:ext uri="{FF2B5EF4-FFF2-40B4-BE49-F238E27FC236}">
                <a16:creationId xmlns:a16="http://schemas.microsoft.com/office/drawing/2014/main" id="{9C95A848-1ED4-5C08-53B8-024FC9024F4F}"/>
              </a:ext>
            </a:extLst>
          </p:cNvPr>
          <p:cNvSpPr/>
          <p:nvPr/>
        </p:nvSpPr>
        <p:spPr>
          <a:xfrm>
            <a:off x="731520" y="2011680"/>
            <a:ext cx="4846320" cy="274320"/>
          </a:xfrm>
          <a:prstGeom prst="rect">
            <a:avLst/>
          </a:prstGeom>
          <a:noFill/>
          <a:ln/>
        </p:spPr>
        <p:txBody>
          <a:bodyPr wrap="square" lIns="0" tIns="0" rIns="0" bIns="0" rtlCol="0" anchor="ctr"/>
          <a:lstStyle/>
          <a:p>
            <a:pPr marL="0" indent="0">
              <a:buNone/>
            </a:pPr>
            <a:r>
              <a:rPr lang="en-US" sz="1100" b="1" dirty="0">
                <a:solidFill>
                  <a:srgbClr val="3B7A75"/>
                </a:solidFill>
                <a:latin typeface="Courier New" pitchFamily="34" charset="0"/>
                <a:ea typeface="Courier New" pitchFamily="34" charset="-122"/>
                <a:cs typeface="Courier New" pitchFamily="34" charset="-120"/>
              </a:rPr>
              <a:t>tools</a:t>
            </a:r>
            <a:r>
              <a:rPr lang="en-US" sz="1100" dirty="0">
                <a:solidFill>
                  <a:srgbClr val="2B2B2B"/>
                </a:solidFill>
                <a:latin typeface="Calibri" pitchFamily="34" charset="0"/>
                <a:ea typeface="Calibri" pitchFamily="34" charset="-122"/>
                <a:cs typeface="Calibri" pitchFamily="34" charset="-120"/>
              </a:rPr>
              <a:t>  — allowlist. Only these tools exist for the subagent.</a:t>
            </a:r>
            <a:endParaRPr lang="en-US" sz="1100" dirty="0"/>
          </a:p>
        </p:txBody>
      </p:sp>
      <p:sp>
        <p:nvSpPr>
          <p:cNvPr id="7" name="Shape 5">
            <a:extLst>
              <a:ext uri="{FF2B5EF4-FFF2-40B4-BE49-F238E27FC236}">
                <a16:creationId xmlns:a16="http://schemas.microsoft.com/office/drawing/2014/main" id="{7BE8E8B6-8023-4ECA-8DA2-FF3500E1EF22}"/>
              </a:ext>
            </a:extLst>
          </p:cNvPr>
          <p:cNvSpPr/>
          <p:nvPr/>
        </p:nvSpPr>
        <p:spPr>
          <a:xfrm>
            <a:off x="731520" y="2313432"/>
            <a:ext cx="4846320" cy="594360"/>
          </a:xfrm>
          <a:prstGeom prst="rect">
            <a:avLst/>
          </a:prstGeom>
          <a:solidFill>
            <a:srgbClr val="1E1E1E"/>
          </a:solidFill>
          <a:ln w="12700">
            <a:solidFill>
              <a:srgbClr val="1E1E1E"/>
            </a:solidFill>
            <a:prstDash val="solid"/>
          </a:ln>
        </p:spPr>
        <p:txBody>
          <a:bodyPr/>
          <a:lstStyle/>
          <a:p>
            <a:endParaRPr lang="en-US"/>
          </a:p>
        </p:txBody>
      </p:sp>
      <p:sp>
        <p:nvSpPr>
          <p:cNvPr id="8" name="Text 6">
            <a:extLst>
              <a:ext uri="{FF2B5EF4-FFF2-40B4-BE49-F238E27FC236}">
                <a16:creationId xmlns:a16="http://schemas.microsoft.com/office/drawing/2014/main" id="{7F7E3FFD-4C25-156C-612D-A40277A67B05}"/>
              </a:ext>
            </a:extLst>
          </p:cNvPr>
          <p:cNvSpPr/>
          <p:nvPr/>
        </p:nvSpPr>
        <p:spPr>
          <a:xfrm>
            <a:off x="868680" y="2404872"/>
            <a:ext cx="4572000" cy="457200"/>
          </a:xfrm>
          <a:prstGeom prst="rect">
            <a:avLst/>
          </a:prstGeom>
          <a:noFill/>
          <a:ln/>
        </p:spPr>
        <p:txBody>
          <a:bodyPr wrap="square" lIns="0" tIns="0" rIns="0" bIns="0" rtlCol="0" anchor="t"/>
          <a:lstStyle/>
          <a:p>
            <a:pPr marL="0" indent="0">
              <a:lnSpc>
                <a:spcPts val="1200"/>
              </a:lnSpc>
              <a:buNone/>
            </a:pPr>
            <a:r>
              <a:rPr lang="en-US" sz="950" dirty="0">
                <a:solidFill>
                  <a:srgbClr val="9CDCFE"/>
                </a:solidFill>
                <a:latin typeface="Courier New" pitchFamily="34" charset="0"/>
                <a:ea typeface="Courier New" pitchFamily="34" charset="-122"/>
                <a:cs typeface="Courier New" pitchFamily="34" charset="-120"/>
              </a:rPr>
              <a:t>name</a:t>
            </a:r>
            <a:r>
              <a:rPr lang="en-US" sz="950" dirty="0">
                <a:solidFill>
                  <a:srgbClr val="D4D4D4"/>
                </a:solidFill>
                <a:latin typeface="Courier New" pitchFamily="34" charset="0"/>
                <a:ea typeface="Courier New" pitchFamily="34" charset="-122"/>
                <a:cs typeface="Courier New" pitchFamily="34" charset="-120"/>
              </a:rPr>
              <a:t>: safe-researcher
</a:t>
            </a:r>
            <a:r>
              <a:rPr lang="en-US" sz="950" b="1" dirty="0">
                <a:solidFill>
                  <a:srgbClr val="3B7A75"/>
                </a:solidFill>
                <a:latin typeface="Courier New" pitchFamily="34" charset="0"/>
                <a:ea typeface="Courier New" pitchFamily="34" charset="-122"/>
                <a:cs typeface="Courier New" pitchFamily="34" charset="-120"/>
              </a:rPr>
              <a:t>tools</a:t>
            </a:r>
            <a:r>
              <a:rPr lang="en-US" sz="950" dirty="0">
                <a:solidFill>
                  <a:srgbClr val="D4D4D4"/>
                </a:solidFill>
                <a:latin typeface="Courier New" pitchFamily="34" charset="0"/>
                <a:ea typeface="Courier New" pitchFamily="34" charset="-122"/>
                <a:cs typeface="Courier New" pitchFamily="34" charset="-120"/>
              </a:rPr>
              <a:t>: Read, Grep, Glob, Bash</a:t>
            </a:r>
            <a:endParaRPr lang="en-US" sz="950" dirty="0"/>
          </a:p>
        </p:txBody>
      </p:sp>
      <p:sp>
        <p:nvSpPr>
          <p:cNvPr id="9" name="Text 7">
            <a:extLst>
              <a:ext uri="{FF2B5EF4-FFF2-40B4-BE49-F238E27FC236}">
                <a16:creationId xmlns:a16="http://schemas.microsoft.com/office/drawing/2014/main" id="{4CED171F-C689-3DE8-466D-CF408E1D365B}"/>
              </a:ext>
            </a:extLst>
          </p:cNvPr>
          <p:cNvSpPr/>
          <p:nvPr/>
        </p:nvSpPr>
        <p:spPr>
          <a:xfrm>
            <a:off x="731520" y="2953512"/>
            <a:ext cx="4846320" cy="274320"/>
          </a:xfrm>
          <a:prstGeom prst="rect">
            <a:avLst/>
          </a:prstGeom>
          <a:noFill/>
          <a:ln/>
        </p:spPr>
        <p:txBody>
          <a:bodyPr wrap="square" lIns="0" tIns="0" rIns="0" bIns="0" rtlCol="0" anchor="ctr"/>
          <a:lstStyle/>
          <a:p>
            <a:pPr marL="0" indent="0">
              <a:buNone/>
            </a:pPr>
            <a:r>
              <a:rPr lang="en-US" sz="950" i="1" dirty="0">
                <a:solidFill>
                  <a:srgbClr val="6B6B6B"/>
                </a:solidFill>
                <a:latin typeface="Calibri" pitchFamily="34" charset="0"/>
                <a:ea typeface="Calibri" pitchFamily="34" charset="-122"/>
                <a:cs typeface="Calibri" pitchFamily="34" charset="-120"/>
              </a:rPr>
              <a:t>Can't edit, write, or use any MCP tool — not listed, so not available.</a:t>
            </a:r>
            <a:endParaRPr lang="en-US" sz="950" dirty="0"/>
          </a:p>
        </p:txBody>
      </p:sp>
      <p:sp>
        <p:nvSpPr>
          <p:cNvPr id="10" name="Text 8">
            <a:extLst>
              <a:ext uri="{FF2B5EF4-FFF2-40B4-BE49-F238E27FC236}">
                <a16:creationId xmlns:a16="http://schemas.microsoft.com/office/drawing/2014/main" id="{5F2F4C27-3417-F5BC-A59C-0B04540FD332}"/>
              </a:ext>
            </a:extLst>
          </p:cNvPr>
          <p:cNvSpPr/>
          <p:nvPr/>
        </p:nvSpPr>
        <p:spPr>
          <a:xfrm>
            <a:off x="731520" y="3319272"/>
            <a:ext cx="4846320" cy="274320"/>
          </a:xfrm>
          <a:prstGeom prst="rect">
            <a:avLst/>
          </a:prstGeom>
          <a:noFill/>
          <a:ln/>
        </p:spPr>
        <p:txBody>
          <a:bodyPr wrap="square" lIns="0" tIns="0" rIns="0" bIns="0" rtlCol="0" anchor="ctr"/>
          <a:lstStyle/>
          <a:p>
            <a:pPr marL="0" indent="0">
              <a:buNone/>
            </a:pPr>
            <a:r>
              <a:rPr lang="en-US" sz="1100" b="1" dirty="0">
                <a:solidFill>
                  <a:srgbClr val="B04A3B"/>
                </a:solidFill>
                <a:latin typeface="Courier New" pitchFamily="34" charset="0"/>
                <a:ea typeface="Courier New" pitchFamily="34" charset="-122"/>
                <a:cs typeface="Courier New" pitchFamily="34" charset="-120"/>
              </a:rPr>
              <a:t>disallowedTools</a:t>
            </a:r>
            <a:r>
              <a:rPr lang="en-US" sz="1100" dirty="0">
                <a:solidFill>
                  <a:srgbClr val="2B2B2B"/>
                </a:solidFill>
                <a:latin typeface="Calibri" pitchFamily="34" charset="0"/>
                <a:ea typeface="Calibri" pitchFamily="34" charset="-122"/>
                <a:cs typeface="Calibri" pitchFamily="34" charset="-120"/>
              </a:rPr>
              <a:t>  — denylist. Inherits everything except these.</a:t>
            </a:r>
            <a:endParaRPr lang="en-US" sz="1100" dirty="0"/>
          </a:p>
        </p:txBody>
      </p:sp>
      <p:sp>
        <p:nvSpPr>
          <p:cNvPr id="11" name="Shape 9">
            <a:extLst>
              <a:ext uri="{FF2B5EF4-FFF2-40B4-BE49-F238E27FC236}">
                <a16:creationId xmlns:a16="http://schemas.microsoft.com/office/drawing/2014/main" id="{15372D55-F1B5-656A-8B60-26C5636270BA}"/>
              </a:ext>
            </a:extLst>
          </p:cNvPr>
          <p:cNvSpPr/>
          <p:nvPr/>
        </p:nvSpPr>
        <p:spPr>
          <a:xfrm>
            <a:off x="731520" y="3621024"/>
            <a:ext cx="4846320" cy="594360"/>
          </a:xfrm>
          <a:prstGeom prst="rect">
            <a:avLst/>
          </a:prstGeom>
          <a:solidFill>
            <a:srgbClr val="1E1E1E"/>
          </a:solidFill>
          <a:ln w="12700">
            <a:solidFill>
              <a:srgbClr val="1E1E1E"/>
            </a:solidFill>
            <a:prstDash val="solid"/>
          </a:ln>
        </p:spPr>
        <p:txBody>
          <a:bodyPr/>
          <a:lstStyle/>
          <a:p>
            <a:endParaRPr lang="en-US"/>
          </a:p>
        </p:txBody>
      </p:sp>
      <p:sp>
        <p:nvSpPr>
          <p:cNvPr id="12" name="Text 10">
            <a:extLst>
              <a:ext uri="{FF2B5EF4-FFF2-40B4-BE49-F238E27FC236}">
                <a16:creationId xmlns:a16="http://schemas.microsoft.com/office/drawing/2014/main" id="{6EA8C6A4-1D55-FF76-9F2E-4BD6801BD537}"/>
              </a:ext>
            </a:extLst>
          </p:cNvPr>
          <p:cNvSpPr/>
          <p:nvPr/>
        </p:nvSpPr>
        <p:spPr>
          <a:xfrm>
            <a:off x="868680" y="3712464"/>
            <a:ext cx="4572000" cy="457200"/>
          </a:xfrm>
          <a:prstGeom prst="rect">
            <a:avLst/>
          </a:prstGeom>
          <a:noFill/>
          <a:ln/>
        </p:spPr>
        <p:txBody>
          <a:bodyPr wrap="square" lIns="0" tIns="0" rIns="0" bIns="0" rtlCol="0" anchor="t"/>
          <a:lstStyle/>
          <a:p>
            <a:pPr marL="0" indent="0">
              <a:lnSpc>
                <a:spcPts val="1200"/>
              </a:lnSpc>
              <a:buNone/>
            </a:pPr>
            <a:r>
              <a:rPr lang="en-US" sz="950" dirty="0">
                <a:solidFill>
                  <a:srgbClr val="9CDCFE"/>
                </a:solidFill>
                <a:latin typeface="Courier New" pitchFamily="34" charset="0"/>
                <a:ea typeface="Courier New" pitchFamily="34" charset="-122"/>
                <a:cs typeface="Courier New" pitchFamily="34" charset="-120"/>
              </a:rPr>
              <a:t>name</a:t>
            </a:r>
            <a:r>
              <a:rPr lang="en-US" sz="950" dirty="0">
                <a:solidFill>
                  <a:srgbClr val="D4D4D4"/>
                </a:solidFill>
                <a:latin typeface="Courier New" pitchFamily="34" charset="0"/>
                <a:ea typeface="Courier New" pitchFamily="34" charset="-122"/>
                <a:cs typeface="Courier New" pitchFamily="34" charset="-120"/>
              </a:rPr>
              <a:t>: no-writes
</a:t>
            </a:r>
            <a:r>
              <a:rPr lang="en-US" sz="950" b="1" dirty="0">
                <a:solidFill>
                  <a:srgbClr val="B04A3B"/>
                </a:solidFill>
                <a:latin typeface="Courier New" pitchFamily="34" charset="0"/>
                <a:ea typeface="Courier New" pitchFamily="34" charset="-122"/>
                <a:cs typeface="Courier New" pitchFamily="34" charset="-120"/>
              </a:rPr>
              <a:t>disallowedTools</a:t>
            </a:r>
            <a:r>
              <a:rPr lang="en-US" sz="950" dirty="0">
                <a:solidFill>
                  <a:srgbClr val="D4D4D4"/>
                </a:solidFill>
                <a:latin typeface="Courier New" pitchFamily="34" charset="0"/>
                <a:ea typeface="Courier New" pitchFamily="34" charset="-122"/>
                <a:cs typeface="Courier New" pitchFamily="34" charset="-120"/>
              </a:rPr>
              <a:t>: Write, Edit</a:t>
            </a:r>
            <a:endParaRPr lang="en-US" sz="950" dirty="0"/>
          </a:p>
        </p:txBody>
      </p:sp>
      <p:sp>
        <p:nvSpPr>
          <p:cNvPr id="13" name="Text 11">
            <a:extLst>
              <a:ext uri="{FF2B5EF4-FFF2-40B4-BE49-F238E27FC236}">
                <a16:creationId xmlns:a16="http://schemas.microsoft.com/office/drawing/2014/main" id="{54FAF37E-BD64-348A-B7F4-6AFBC73D9F68}"/>
              </a:ext>
            </a:extLst>
          </p:cNvPr>
          <p:cNvSpPr/>
          <p:nvPr/>
        </p:nvSpPr>
        <p:spPr>
          <a:xfrm>
            <a:off x="731520" y="4261104"/>
            <a:ext cx="4846320" cy="457200"/>
          </a:xfrm>
          <a:prstGeom prst="rect">
            <a:avLst/>
          </a:prstGeom>
          <a:noFill/>
          <a:ln/>
        </p:spPr>
        <p:txBody>
          <a:bodyPr wrap="square" lIns="0" tIns="0" rIns="0" bIns="0" rtlCol="0" anchor="ctr"/>
          <a:lstStyle/>
          <a:p>
            <a:pPr marL="0" indent="0">
              <a:buNone/>
            </a:pPr>
            <a:r>
              <a:rPr lang="en-US" sz="950" i="1" dirty="0">
                <a:solidFill>
                  <a:srgbClr val="6B6B6B"/>
                </a:solidFill>
                <a:latin typeface="Calibri" pitchFamily="34" charset="0"/>
                <a:ea typeface="Calibri" pitchFamily="34" charset="-122"/>
                <a:cs typeface="Calibri" pitchFamily="34" charset="-120"/>
              </a:rPr>
              <a:t>Keeps Bash, MCP tools, everything else. If both fields list the same tool, it's removed.</a:t>
            </a:r>
            <a:endParaRPr lang="en-US" sz="950" dirty="0"/>
          </a:p>
        </p:txBody>
      </p:sp>
      <p:sp>
        <p:nvSpPr>
          <p:cNvPr id="14" name="Text 12">
            <a:extLst>
              <a:ext uri="{FF2B5EF4-FFF2-40B4-BE49-F238E27FC236}">
                <a16:creationId xmlns:a16="http://schemas.microsoft.com/office/drawing/2014/main" id="{8C9C894F-C446-92F7-104D-89CC702B3F41}"/>
              </a:ext>
            </a:extLst>
          </p:cNvPr>
          <p:cNvSpPr/>
          <p:nvPr/>
        </p:nvSpPr>
        <p:spPr>
          <a:xfrm>
            <a:off x="731520" y="4718304"/>
            <a:ext cx="4846320" cy="548640"/>
          </a:xfrm>
          <a:prstGeom prst="rect">
            <a:avLst/>
          </a:prstGeom>
          <a:noFill/>
          <a:ln/>
        </p:spPr>
        <p:txBody>
          <a:bodyPr wrap="square" lIns="0" tIns="0" rIns="0" bIns="0" rtlCol="0" anchor="ctr"/>
          <a:lstStyle/>
          <a:p>
            <a:pPr marL="0" indent="0">
              <a:buNone/>
            </a:pPr>
            <a:r>
              <a:rPr lang="en-US" sz="1000" b="1" dirty="0">
                <a:solidFill>
                  <a:srgbClr val="141414"/>
                </a:solidFill>
                <a:latin typeface="Calibri" pitchFamily="34" charset="0"/>
                <a:ea typeface="Calibri" pitchFamily="34" charset="-122"/>
                <a:cs typeface="Calibri" pitchFamily="34" charset="-120"/>
              </a:rPr>
              <a:t>Restricting nested spawns:  </a:t>
            </a:r>
            <a:r>
              <a:rPr lang="en-US" sz="1000" b="1" dirty="0">
                <a:solidFill>
                  <a:srgbClr val="6B5B95"/>
                </a:solidFill>
                <a:latin typeface="Courier New" pitchFamily="34" charset="0"/>
                <a:ea typeface="Courier New" pitchFamily="34" charset="-122"/>
                <a:cs typeface="Courier New" pitchFamily="34" charset="-120"/>
              </a:rPr>
              <a:t>tools: Agent(worker, researcher)</a:t>
            </a:r>
            <a:r>
              <a:rPr lang="en-US" sz="1000" dirty="0">
                <a:solidFill>
                  <a:srgbClr val="2B2B2B"/>
                </a:solidFill>
                <a:latin typeface="Calibri" pitchFamily="34" charset="0"/>
                <a:ea typeface="Calibri" pitchFamily="34" charset="-122"/>
                <a:cs typeface="Calibri" pitchFamily="34" charset="-120"/>
              </a:rPr>
              <a:t> allows only those two subagent types to be spawned.</a:t>
            </a:r>
            <a:endParaRPr lang="en-US" sz="1000" dirty="0"/>
          </a:p>
        </p:txBody>
      </p:sp>
      <p:sp>
        <p:nvSpPr>
          <p:cNvPr id="15" name="Shape 13">
            <a:extLst>
              <a:ext uri="{FF2B5EF4-FFF2-40B4-BE49-F238E27FC236}">
                <a16:creationId xmlns:a16="http://schemas.microsoft.com/office/drawing/2014/main" id="{44DF1B4A-36B4-D96A-16D8-EEDD645154F6}"/>
              </a:ext>
            </a:extLst>
          </p:cNvPr>
          <p:cNvSpPr/>
          <p:nvPr/>
        </p:nvSpPr>
        <p:spPr>
          <a:xfrm>
            <a:off x="6080760" y="1417320"/>
            <a:ext cx="5623560" cy="4114800"/>
          </a:xfrm>
          <a:prstGeom prst="roundRect">
            <a:avLst>
              <a:gd name="adj" fmla="val 1333"/>
            </a:avLst>
          </a:prstGeom>
          <a:solidFill>
            <a:srgbClr val="FFFFFF"/>
          </a:solidFill>
          <a:ln w="12700">
            <a:solidFill>
              <a:srgbClr val="E3E0D8"/>
            </a:solidFill>
            <a:prstDash val="solid"/>
          </a:ln>
          <a:effectLst>
            <a:outerShdw blurRad="101600" dist="25400" dir="5400000" algn="bl" rotWithShape="0">
              <a:srgbClr val="000000">
                <a:alpha val="8000"/>
              </a:srgbClr>
            </a:outerShdw>
          </a:effectLst>
        </p:spPr>
        <p:txBody>
          <a:bodyPr/>
          <a:lstStyle/>
          <a:p>
            <a:endParaRPr lang="en-US"/>
          </a:p>
        </p:txBody>
      </p:sp>
      <p:sp>
        <p:nvSpPr>
          <p:cNvPr id="16" name="Text 14">
            <a:extLst>
              <a:ext uri="{FF2B5EF4-FFF2-40B4-BE49-F238E27FC236}">
                <a16:creationId xmlns:a16="http://schemas.microsoft.com/office/drawing/2014/main" id="{9F92A3B6-5481-3A8E-A55E-2005A87305E7}"/>
              </a:ext>
            </a:extLst>
          </p:cNvPr>
          <p:cNvSpPr/>
          <p:nvPr/>
        </p:nvSpPr>
        <p:spPr>
          <a:xfrm>
            <a:off x="6355080" y="1618488"/>
            <a:ext cx="5074920" cy="320040"/>
          </a:xfrm>
          <a:prstGeom prst="rect">
            <a:avLst/>
          </a:prstGeom>
          <a:noFill/>
          <a:ln/>
        </p:spPr>
        <p:txBody>
          <a:bodyPr wrap="square" lIns="0" tIns="0" rIns="0" bIns="0" rtlCol="0" anchor="ctr"/>
          <a:lstStyle/>
          <a:p>
            <a:pPr marL="0" indent="0">
              <a:buNone/>
            </a:pPr>
            <a:r>
              <a:rPr lang="en-US" sz="1600" b="1" dirty="0">
                <a:solidFill>
                  <a:srgbClr val="141414"/>
                </a:solidFill>
                <a:latin typeface="Calibri" pitchFamily="34" charset="0"/>
                <a:ea typeface="Calibri" pitchFamily="34" charset="-122"/>
                <a:cs typeface="Calibri" pitchFamily="34" charset="-120"/>
              </a:rPr>
              <a:t>permissionMode options</a:t>
            </a:r>
            <a:endParaRPr lang="en-US" sz="1600" dirty="0"/>
          </a:p>
        </p:txBody>
      </p:sp>
      <p:sp>
        <p:nvSpPr>
          <p:cNvPr id="17" name="Text 15">
            <a:extLst>
              <a:ext uri="{FF2B5EF4-FFF2-40B4-BE49-F238E27FC236}">
                <a16:creationId xmlns:a16="http://schemas.microsoft.com/office/drawing/2014/main" id="{710C79E9-8BF5-4957-4012-E7521F7DBD05}"/>
              </a:ext>
            </a:extLst>
          </p:cNvPr>
          <p:cNvSpPr/>
          <p:nvPr/>
        </p:nvSpPr>
        <p:spPr>
          <a:xfrm>
            <a:off x="6355080" y="2011680"/>
            <a:ext cx="1920240" cy="274320"/>
          </a:xfrm>
          <a:prstGeom prst="rect">
            <a:avLst/>
          </a:prstGeom>
          <a:noFill/>
          <a:ln/>
        </p:spPr>
        <p:txBody>
          <a:bodyPr wrap="square" lIns="0" tIns="0" rIns="0" bIns="0" rtlCol="0" anchor="ctr"/>
          <a:lstStyle/>
          <a:p>
            <a:pPr marL="0" indent="0">
              <a:buNone/>
            </a:pPr>
            <a:r>
              <a:rPr lang="en-US" sz="1100" b="1" dirty="0">
                <a:solidFill>
                  <a:srgbClr val="3B7A75"/>
                </a:solidFill>
                <a:latin typeface="Courier New" pitchFamily="34" charset="0"/>
                <a:ea typeface="Courier New" pitchFamily="34" charset="-122"/>
                <a:cs typeface="Courier New" pitchFamily="34" charset="-120"/>
              </a:rPr>
              <a:t>default</a:t>
            </a:r>
            <a:endParaRPr lang="en-US" sz="1100" dirty="0"/>
          </a:p>
        </p:txBody>
      </p:sp>
      <p:sp>
        <p:nvSpPr>
          <p:cNvPr id="18" name="Text 16">
            <a:extLst>
              <a:ext uri="{FF2B5EF4-FFF2-40B4-BE49-F238E27FC236}">
                <a16:creationId xmlns:a16="http://schemas.microsoft.com/office/drawing/2014/main" id="{69664B7D-578C-5F69-4BFD-26E7E090F13B}"/>
              </a:ext>
            </a:extLst>
          </p:cNvPr>
          <p:cNvSpPr/>
          <p:nvPr/>
        </p:nvSpPr>
        <p:spPr>
          <a:xfrm>
            <a:off x="8275320" y="2011680"/>
            <a:ext cx="3154680" cy="365760"/>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Standard permission checking with prompts</a:t>
            </a:r>
            <a:endParaRPr lang="en-US" sz="950" dirty="0"/>
          </a:p>
        </p:txBody>
      </p:sp>
      <p:sp>
        <p:nvSpPr>
          <p:cNvPr id="19" name="Text 17">
            <a:extLst>
              <a:ext uri="{FF2B5EF4-FFF2-40B4-BE49-F238E27FC236}">
                <a16:creationId xmlns:a16="http://schemas.microsoft.com/office/drawing/2014/main" id="{D05F2DF1-B530-66EC-44E2-3C934513B6D8}"/>
              </a:ext>
            </a:extLst>
          </p:cNvPr>
          <p:cNvSpPr/>
          <p:nvPr/>
        </p:nvSpPr>
        <p:spPr>
          <a:xfrm>
            <a:off x="6355080" y="2450592"/>
            <a:ext cx="1920240" cy="274320"/>
          </a:xfrm>
          <a:prstGeom prst="rect">
            <a:avLst/>
          </a:prstGeom>
          <a:noFill/>
          <a:ln/>
        </p:spPr>
        <p:txBody>
          <a:bodyPr wrap="square" lIns="0" tIns="0" rIns="0" bIns="0" rtlCol="0" anchor="ctr"/>
          <a:lstStyle/>
          <a:p>
            <a:pPr marL="0" indent="0">
              <a:buNone/>
            </a:pPr>
            <a:r>
              <a:rPr lang="en-US" sz="1100" b="1" dirty="0">
                <a:solidFill>
                  <a:srgbClr val="3B7A75"/>
                </a:solidFill>
                <a:latin typeface="Courier New" pitchFamily="34" charset="0"/>
                <a:ea typeface="Courier New" pitchFamily="34" charset="-122"/>
                <a:cs typeface="Courier New" pitchFamily="34" charset="-120"/>
              </a:rPr>
              <a:t>acceptEdits</a:t>
            </a:r>
            <a:endParaRPr lang="en-US" sz="1100" dirty="0"/>
          </a:p>
        </p:txBody>
      </p:sp>
      <p:sp>
        <p:nvSpPr>
          <p:cNvPr id="20" name="Text 18">
            <a:extLst>
              <a:ext uri="{FF2B5EF4-FFF2-40B4-BE49-F238E27FC236}">
                <a16:creationId xmlns:a16="http://schemas.microsoft.com/office/drawing/2014/main" id="{8560939E-93D2-7E55-0FDB-FCFA71E70D1C}"/>
              </a:ext>
            </a:extLst>
          </p:cNvPr>
          <p:cNvSpPr/>
          <p:nvPr/>
        </p:nvSpPr>
        <p:spPr>
          <a:xfrm>
            <a:off x="8275320" y="2450592"/>
            <a:ext cx="3154680" cy="365760"/>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Auto-accept file edits within the working directory</a:t>
            </a:r>
            <a:endParaRPr lang="en-US" sz="950" dirty="0"/>
          </a:p>
        </p:txBody>
      </p:sp>
      <p:sp>
        <p:nvSpPr>
          <p:cNvPr id="21" name="Text 19">
            <a:extLst>
              <a:ext uri="{FF2B5EF4-FFF2-40B4-BE49-F238E27FC236}">
                <a16:creationId xmlns:a16="http://schemas.microsoft.com/office/drawing/2014/main" id="{5260A92A-CBBC-A8F4-87B7-AB98D7B353D0}"/>
              </a:ext>
            </a:extLst>
          </p:cNvPr>
          <p:cNvSpPr/>
          <p:nvPr/>
        </p:nvSpPr>
        <p:spPr>
          <a:xfrm>
            <a:off x="6355080" y="2889504"/>
            <a:ext cx="1920240" cy="274320"/>
          </a:xfrm>
          <a:prstGeom prst="rect">
            <a:avLst/>
          </a:prstGeom>
          <a:noFill/>
          <a:ln/>
        </p:spPr>
        <p:txBody>
          <a:bodyPr wrap="square" lIns="0" tIns="0" rIns="0" bIns="0" rtlCol="0" anchor="ctr"/>
          <a:lstStyle/>
          <a:p>
            <a:pPr marL="0" indent="0">
              <a:buNone/>
            </a:pPr>
            <a:r>
              <a:rPr lang="en-US" sz="1100" b="1" dirty="0">
                <a:solidFill>
                  <a:srgbClr val="6B5B95"/>
                </a:solidFill>
                <a:latin typeface="Courier New" pitchFamily="34" charset="0"/>
                <a:ea typeface="Courier New" pitchFamily="34" charset="-122"/>
                <a:cs typeface="Courier New" pitchFamily="34" charset="-120"/>
              </a:rPr>
              <a:t>auto</a:t>
            </a:r>
            <a:endParaRPr lang="en-US" sz="1100" dirty="0"/>
          </a:p>
        </p:txBody>
      </p:sp>
      <p:sp>
        <p:nvSpPr>
          <p:cNvPr id="22" name="Text 20">
            <a:extLst>
              <a:ext uri="{FF2B5EF4-FFF2-40B4-BE49-F238E27FC236}">
                <a16:creationId xmlns:a16="http://schemas.microsoft.com/office/drawing/2014/main" id="{38BCD4C4-89C0-CDF7-FEA2-B79BFDC43683}"/>
              </a:ext>
            </a:extLst>
          </p:cNvPr>
          <p:cNvSpPr/>
          <p:nvPr/>
        </p:nvSpPr>
        <p:spPr>
          <a:xfrm>
            <a:off x="8275320" y="2889504"/>
            <a:ext cx="3154680" cy="365760"/>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Background classifier reviews commands automatically</a:t>
            </a:r>
            <a:endParaRPr lang="en-US" sz="950" dirty="0"/>
          </a:p>
        </p:txBody>
      </p:sp>
      <p:sp>
        <p:nvSpPr>
          <p:cNvPr id="23" name="Text 21">
            <a:extLst>
              <a:ext uri="{FF2B5EF4-FFF2-40B4-BE49-F238E27FC236}">
                <a16:creationId xmlns:a16="http://schemas.microsoft.com/office/drawing/2014/main" id="{6472343F-47C5-DBE8-B47D-A6286B1D904D}"/>
              </a:ext>
            </a:extLst>
          </p:cNvPr>
          <p:cNvSpPr/>
          <p:nvPr/>
        </p:nvSpPr>
        <p:spPr>
          <a:xfrm>
            <a:off x="6355080" y="3328416"/>
            <a:ext cx="1920240" cy="274320"/>
          </a:xfrm>
          <a:prstGeom prst="rect">
            <a:avLst/>
          </a:prstGeom>
          <a:noFill/>
          <a:ln/>
        </p:spPr>
        <p:txBody>
          <a:bodyPr wrap="square" lIns="0" tIns="0" rIns="0" bIns="0" rtlCol="0" anchor="ctr"/>
          <a:lstStyle/>
          <a:p>
            <a:pPr marL="0" indent="0">
              <a:buNone/>
            </a:pPr>
            <a:r>
              <a:rPr lang="en-US" sz="1100" b="1" dirty="0">
                <a:solidFill>
                  <a:srgbClr val="6B5B95"/>
                </a:solidFill>
                <a:latin typeface="Courier New" pitchFamily="34" charset="0"/>
                <a:ea typeface="Courier New" pitchFamily="34" charset="-122"/>
                <a:cs typeface="Courier New" pitchFamily="34" charset="-120"/>
              </a:rPr>
              <a:t>dontAsk</a:t>
            </a:r>
            <a:endParaRPr lang="en-US" sz="1100" dirty="0"/>
          </a:p>
        </p:txBody>
      </p:sp>
      <p:sp>
        <p:nvSpPr>
          <p:cNvPr id="24" name="Text 22">
            <a:extLst>
              <a:ext uri="{FF2B5EF4-FFF2-40B4-BE49-F238E27FC236}">
                <a16:creationId xmlns:a16="http://schemas.microsoft.com/office/drawing/2014/main" id="{416D7D84-BBD7-4A8E-4ABD-D40F38816E7A}"/>
              </a:ext>
            </a:extLst>
          </p:cNvPr>
          <p:cNvSpPr/>
          <p:nvPr/>
        </p:nvSpPr>
        <p:spPr>
          <a:xfrm>
            <a:off x="8275320" y="3328416"/>
            <a:ext cx="3154680" cy="365760"/>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Auto-deny prompts (explicitly allowed tools still work)</a:t>
            </a:r>
            <a:endParaRPr lang="en-US" sz="950" dirty="0"/>
          </a:p>
        </p:txBody>
      </p:sp>
      <p:sp>
        <p:nvSpPr>
          <p:cNvPr id="25" name="Text 23">
            <a:extLst>
              <a:ext uri="{FF2B5EF4-FFF2-40B4-BE49-F238E27FC236}">
                <a16:creationId xmlns:a16="http://schemas.microsoft.com/office/drawing/2014/main" id="{EC9FE548-1A20-B50C-9EAD-F253ADDA82EB}"/>
              </a:ext>
            </a:extLst>
          </p:cNvPr>
          <p:cNvSpPr/>
          <p:nvPr/>
        </p:nvSpPr>
        <p:spPr>
          <a:xfrm>
            <a:off x="6355080" y="3767328"/>
            <a:ext cx="1920240" cy="274320"/>
          </a:xfrm>
          <a:prstGeom prst="rect">
            <a:avLst/>
          </a:prstGeom>
          <a:noFill/>
          <a:ln/>
        </p:spPr>
        <p:txBody>
          <a:bodyPr wrap="square" lIns="0" tIns="0" rIns="0" bIns="0" rtlCol="0" anchor="ctr"/>
          <a:lstStyle/>
          <a:p>
            <a:pPr marL="0" indent="0">
              <a:buNone/>
            </a:pPr>
            <a:r>
              <a:rPr lang="en-US" sz="1100" b="1" dirty="0">
                <a:solidFill>
                  <a:srgbClr val="B04A3B"/>
                </a:solidFill>
                <a:latin typeface="Courier New" pitchFamily="34" charset="0"/>
                <a:ea typeface="Courier New" pitchFamily="34" charset="-122"/>
                <a:cs typeface="Courier New" pitchFamily="34" charset="-120"/>
              </a:rPr>
              <a:t>bypassPermissions</a:t>
            </a:r>
            <a:endParaRPr lang="en-US" sz="1100" dirty="0"/>
          </a:p>
        </p:txBody>
      </p:sp>
      <p:sp>
        <p:nvSpPr>
          <p:cNvPr id="26" name="Text 24">
            <a:extLst>
              <a:ext uri="{FF2B5EF4-FFF2-40B4-BE49-F238E27FC236}">
                <a16:creationId xmlns:a16="http://schemas.microsoft.com/office/drawing/2014/main" id="{2EEDDF25-6D21-E450-A9C1-BA572CDF252D}"/>
              </a:ext>
            </a:extLst>
          </p:cNvPr>
          <p:cNvSpPr/>
          <p:nvPr/>
        </p:nvSpPr>
        <p:spPr>
          <a:xfrm>
            <a:off x="8275320" y="3767328"/>
            <a:ext cx="3154680" cy="365760"/>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Skips prompts entirely — use with caution</a:t>
            </a:r>
            <a:endParaRPr lang="en-US" sz="950" dirty="0"/>
          </a:p>
        </p:txBody>
      </p:sp>
      <p:sp>
        <p:nvSpPr>
          <p:cNvPr id="27" name="Text 25">
            <a:extLst>
              <a:ext uri="{FF2B5EF4-FFF2-40B4-BE49-F238E27FC236}">
                <a16:creationId xmlns:a16="http://schemas.microsoft.com/office/drawing/2014/main" id="{25DCE3AF-B7B5-403E-CE0C-F76FCB2DB769}"/>
              </a:ext>
            </a:extLst>
          </p:cNvPr>
          <p:cNvSpPr/>
          <p:nvPr/>
        </p:nvSpPr>
        <p:spPr>
          <a:xfrm>
            <a:off x="6355080" y="4206240"/>
            <a:ext cx="1920240" cy="274320"/>
          </a:xfrm>
          <a:prstGeom prst="rect">
            <a:avLst/>
          </a:prstGeom>
          <a:noFill/>
          <a:ln/>
        </p:spPr>
        <p:txBody>
          <a:bodyPr wrap="square" lIns="0" tIns="0" rIns="0" bIns="0" rtlCol="0" anchor="ctr"/>
          <a:lstStyle/>
          <a:p>
            <a:pPr marL="0" indent="0">
              <a:buNone/>
            </a:pPr>
            <a:r>
              <a:rPr lang="en-US" sz="1100" b="1" dirty="0">
                <a:solidFill>
                  <a:srgbClr val="3B7A75"/>
                </a:solidFill>
                <a:latin typeface="Courier New" pitchFamily="34" charset="0"/>
                <a:ea typeface="Courier New" pitchFamily="34" charset="-122"/>
                <a:cs typeface="Courier New" pitchFamily="34" charset="-120"/>
              </a:rPr>
              <a:t>plan</a:t>
            </a:r>
            <a:endParaRPr lang="en-US" sz="1100" dirty="0"/>
          </a:p>
        </p:txBody>
      </p:sp>
      <p:sp>
        <p:nvSpPr>
          <p:cNvPr id="28" name="Text 26">
            <a:extLst>
              <a:ext uri="{FF2B5EF4-FFF2-40B4-BE49-F238E27FC236}">
                <a16:creationId xmlns:a16="http://schemas.microsoft.com/office/drawing/2014/main" id="{13F63A87-A274-2C6A-D26B-13706F2F274A}"/>
              </a:ext>
            </a:extLst>
          </p:cNvPr>
          <p:cNvSpPr/>
          <p:nvPr/>
        </p:nvSpPr>
        <p:spPr>
          <a:xfrm>
            <a:off x="8275320" y="4206240"/>
            <a:ext cx="3154680" cy="365760"/>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Plan mode: read-only exploration</a:t>
            </a:r>
            <a:endParaRPr lang="en-US" sz="950" dirty="0"/>
          </a:p>
        </p:txBody>
      </p:sp>
      <p:sp>
        <p:nvSpPr>
          <p:cNvPr id="29" name="Shape 27">
            <a:extLst>
              <a:ext uri="{FF2B5EF4-FFF2-40B4-BE49-F238E27FC236}">
                <a16:creationId xmlns:a16="http://schemas.microsoft.com/office/drawing/2014/main" id="{9CC8DC66-82FF-0475-5389-B1E7E91B7191}"/>
              </a:ext>
            </a:extLst>
          </p:cNvPr>
          <p:cNvSpPr/>
          <p:nvPr/>
        </p:nvSpPr>
        <p:spPr>
          <a:xfrm>
            <a:off x="6355080" y="4690872"/>
            <a:ext cx="5074920" cy="777240"/>
          </a:xfrm>
          <a:prstGeom prst="rect">
            <a:avLst/>
          </a:prstGeom>
          <a:solidFill>
            <a:srgbClr val="FBEFE9"/>
          </a:solidFill>
          <a:ln w="12700">
            <a:solidFill>
              <a:srgbClr val="B04A3B"/>
            </a:solidFill>
            <a:prstDash val="solid"/>
          </a:ln>
        </p:spPr>
        <p:txBody>
          <a:bodyPr/>
          <a:lstStyle/>
          <a:p>
            <a:endParaRPr lang="en-US"/>
          </a:p>
        </p:txBody>
      </p:sp>
      <p:sp>
        <p:nvSpPr>
          <p:cNvPr id="30" name="Text 28">
            <a:extLst>
              <a:ext uri="{FF2B5EF4-FFF2-40B4-BE49-F238E27FC236}">
                <a16:creationId xmlns:a16="http://schemas.microsoft.com/office/drawing/2014/main" id="{A49EC0B1-BABE-8A37-6C9C-E74C925F1702}"/>
              </a:ext>
            </a:extLst>
          </p:cNvPr>
          <p:cNvSpPr/>
          <p:nvPr/>
        </p:nvSpPr>
        <p:spPr>
          <a:xfrm>
            <a:off x="6492240" y="4690872"/>
            <a:ext cx="4800600" cy="777240"/>
          </a:xfrm>
          <a:prstGeom prst="rect">
            <a:avLst/>
          </a:prstGeom>
          <a:noFill/>
          <a:ln/>
        </p:spPr>
        <p:txBody>
          <a:bodyPr wrap="square" lIns="0" tIns="0" rIns="0" bIns="0" rtlCol="0" anchor="ctr"/>
          <a:lstStyle/>
          <a:p>
            <a:pPr marL="0" indent="0">
              <a:buNone/>
            </a:pPr>
            <a:r>
              <a:rPr lang="en-US" sz="1000" i="1" dirty="0">
                <a:solidFill>
                  <a:srgbClr val="141414"/>
                </a:solidFill>
                <a:latin typeface="Calibri" pitchFamily="34" charset="0"/>
                <a:ea typeface="Calibri" pitchFamily="34" charset="-122"/>
                <a:cs typeface="Calibri" pitchFamily="34" charset="-120"/>
              </a:rPr>
              <a:t>⚠ If the parent uses bypassPermissions or acceptEdits, that takes precedence — the subagent's own permissionMode can't override it.</a:t>
            </a:r>
            <a:endParaRPr lang="en-US" sz="1000" dirty="0"/>
          </a:p>
        </p:txBody>
      </p:sp>
      <p:sp>
        <p:nvSpPr>
          <p:cNvPr id="31" name="Shape 29">
            <a:extLst>
              <a:ext uri="{FF2B5EF4-FFF2-40B4-BE49-F238E27FC236}">
                <a16:creationId xmlns:a16="http://schemas.microsoft.com/office/drawing/2014/main" id="{A8780C1E-4277-F278-8774-3CD006E77362}"/>
              </a:ext>
            </a:extLst>
          </p:cNvPr>
          <p:cNvSpPr/>
          <p:nvPr/>
        </p:nvSpPr>
        <p:spPr>
          <a:xfrm>
            <a:off x="457200" y="5715000"/>
            <a:ext cx="11247120" cy="502920"/>
          </a:xfrm>
          <a:prstGeom prst="rect">
            <a:avLst/>
          </a:prstGeom>
          <a:solidFill>
            <a:srgbClr val="F7F5F0"/>
          </a:solidFill>
          <a:ln w="9525">
            <a:solidFill>
              <a:srgbClr val="E3E0D8"/>
            </a:solidFill>
            <a:prstDash val="solid"/>
          </a:ln>
        </p:spPr>
        <p:txBody>
          <a:bodyPr/>
          <a:lstStyle/>
          <a:p>
            <a:endParaRPr lang="en-US"/>
          </a:p>
        </p:txBody>
      </p:sp>
      <p:sp>
        <p:nvSpPr>
          <p:cNvPr id="32" name="Text 30">
            <a:extLst>
              <a:ext uri="{FF2B5EF4-FFF2-40B4-BE49-F238E27FC236}">
                <a16:creationId xmlns:a16="http://schemas.microsoft.com/office/drawing/2014/main" id="{375713BA-2541-119F-2ABE-D89C2132406C}"/>
              </a:ext>
            </a:extLst>
          </p:cNvPr>
          <p:cNvSpPr/>
          <p:nvPr/>
        </p:nvSpPr>
        <p:spPr>
          <a:xfrm>
            <a:off x="777240" y="5715000"/>
            <a:ext cx="10607040" cy="502920"/>
          </a:xfrm>
          <a:prstGeom prst="rect">
            <a:avLst/>
          </a:prstGeom>
          <a:noFill/>
          <a:ln/>
        </p:spPr>
        <p:txBody>
          <a:bodyPr wrap="square" lIns="0" tIns="0" rIns="0" bIns="0" rtlCol="0" anchor="ctr"/>
          <a:lstStyle/>
          <a:p>
            <a:pPr marL="0" indent="0">
              <a:buNone/>
            </a:pPr>
            <a:r>
              <a:rPr lang="en-US" sz="1200" b="1" dirty="0">
                <a:solidFill>
                  <a:srgbClr val="C9704F"/>
                </a:solidFill>
                <a:latin typeface="Calibri" pitchFamily="34" charset="0"/>
                <a:ea typeface="Calibri" pitchFamily="34" charset="-122"/>
                <a:cs typeface="Calibri" pitchFamily="34" charset="-120"/>
              </a:rPr>
              <a:t>Order of operations:  </a:t>
            </a:r>
            <a:r>
              <a:rPr lang="en-US" sz="1200" dirty="0">
                <a:solidFill>
                  <a:srgbClr val="2B2B2B"/>
                </a:solidFill>
                <a:latin typeface="Calibri" pitchFamily="34" charset="0"/>
                <a:ea typeface="Calibri" pitchFamily="34" charset="-122"/>
                <a:cs typeface="Calibri" pitchFamily="34" charset="-120"/>
              </a:rPr>
              <a:t>disallowedTools is applied first, then tools is resolved against what's left. Both accept MCP patterns like mcp__github to grant or remove a whole server at once.</a:t>
            </a:r>
            <a:endParaRPr lang="en-US" sz="1200" dirty="0"/>
          </a:p>
        </p:txBody>
      </p:sp>
    </p:spTree>
    <p:extLst>
      <p:ext uri="{BB962C8B-B14F-4D97-AF65-F5344CB8AC3E}">
        <p14:creationId xmlns:p14="http://schemas.microsoft.com/office/powerpoint/2010/main" val="31373335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E3C0CA5-D53C-F2BE-ABD5-068B1C521691}"/>
              </a:ext>
            </a:extLst>
          </p:cNvPr>
          <p:cNvSpPr/>
          <p:nvPr/>
        </p:nvSpPr>
        <p:spPr>
          <a:xfrm>
            <a:off x="457200" y="274320"/>
            <a:ext cx="11247120" cy="457200"/>
          </a:xfrm>
          <a:prstGeom prst="rect">
            <a:avLst/>
          </a:prstGeom>
          <a:noFill/>
          <a:ln/>
        </p:spPr>
        <p:txBody>
          <a:bodyPr wrap="square" lIns="0" tIns="0" rIns="0" bIns="0" rtlCol="0" anchor="ctr"/>
          <a:lstStyle/>
          <a:p>
            <a:pPr marL="0" indent="0">
              <a:buNone/>
            </a:pPr>
            <a:r>
              <a:rPr lang="en-US" sz="3000" b="1" dirty="0">
                <a:solidFill>
                  <a:srgbClr val="141414"/>
                </a:solidFill>
                <a:latin typeface="Cambria" pitchFamily="34" charset="0"/>
                <a:ea typeface="Cambria" pitchFamily="34" charset="-122"/>
                <a:cs typeface="Cambria" pitchFamily="34" charset="-120"/>
              </a:rPr>
              <a:t>What a Subagent Inherits</a:t>
            </a:r>
            <a:endParaRPr lang="en-US" sz="3000" dirty="0"/>
          </a:p>
        </p:txBody>
      </p:sp>
      <p:sp>
        <p:nvSpPr>
          <p:cNvPr id="3" name="Text 1">
            <a:extLst>
              <a:ext uri="{FF2B5EF4-FFF2-40B4-BE49-F238E27FC236}">
                <a16:creationId xmlns:a16="http://schemas.microsoft.com/office/drawing/2014/main" id="{B92E2A4A-3267-10BC-95C8-E6B4A3EEF992}"/>
              </a:ext>
            </a:extLst>
          </p:cNvPr>
          <p:cNvSpPr/>
          <p:nvPr/>
        </p:nvSpPr>
        <p:spPr>
          <a:xfrm>
            <a:off x="457200" y="731520"/>
            <a:ext cx="11247120" cy="411480"/>
          </a:xfrm>
          <a:prstGeom prst="rect">
            <a:avLst/>
          </a:prstGeom>
          <a:noFill/>
          <a:ln/>
        </p:spPr>
        <p:txBody>
          <a:bodyPr wrap="square" lIns="0" tIns="0" rIns="0" bIns="0" rtlCol="0" anchor="ctr"/>
          <a:lstStyle/>
          <a:p>
            <a:pPr marL="0" indent="0">
              <a:buNone/>
            </a:pPr>
            <a:r>
              <a:rPr lang="en-US" sz="1250" dirty="0">
                <a:solidFill>
                  <a:srgbClr val="6B6B6B"/>
                </a:solidFill>
                <a:latin typeface="Calibri" pitchFamily="34" charset="0"/>
                <a:ea typeface="Calibri" pitchFamily="34" charset="-122"/>
                <a:cs typeface="Calibri" pitchFamily="34" charset="-120"/>
              </a:rPr>
              <a:t>A subagent starts fresh, not with a copy of your conversation. Some things carry over automatically; tools, memory, and skills only do if you explicitly say so.</a:t>
            </a:r>
            <a:endParaRPr lang="en-US" sz="1250" dirty="0"/>
          </a:p>
        </p:txBody>
      </p:sp>
      <p:sp>
        <p:nvSpPr>
          <p:cNvPr id="4" name="Shape 2">
            <a:extLst>
              <a:ext uri="{FF2B5EF4-FFF2-40B4-BE49-F238E27FC236}">
                <a16:creationId xmlns:a16="http://schemas.microsoft.com/office/drawing/2014/main" id="{F930A492-DCFA-E2A5-D521-9604D28223AE}"/>
              </a:ext>
            </a:extLst>
          </p:cNvPr>
          <p:cNvSpPr/>
          <p:nvPr/>
        </p:nvSpPr>
        <p:spPr>
          <a:xfrm>
            <a:off x="394996" y="1140199"/>
            <a:ext cx="6492240" cy="4297680"/>
          </a:xfrm>
          <a:prstGeom prst="roundRect">
            <a:avLst>
              <a:gd name="adj" fmla="val 1277"/>
            </a:avLst>
          </a:prstGeom>
          <a:solidFill>
            <a:srgbClr val="FFFFFF"/>
          </a:solidFill>
          <a:ln w="12700">
            <a:solidFill>
              <a:srgbClr val="E3E0D8"/>
            </a:solidFill>
            <a:prstDash val="solid"/>
          </a:ln>
          <a:effectLst>
            <a:outerShdw blurRad="101600" dist="25400" dir="5400000" algn="bl" rotWithShape="0">
              <a:srgbClr val="000000">
                <a:alpha val="8000"/>
              </a:srgbClr>
            </a:outerShdw>
          </a:effectLst>
        </p:spPr>
        <p:txBody>
          <a:bodyPr/>
          <a:lstStyle/>
          <a:p>
            <a:endParaRPr lang="en-US"/>
          </a:p>
        </p:txBody>
      </p:sp>
      <p:sp>
        <p:nvSpPr>
          <p:cNvPr id="5" name="Text 3">
            <a:extLst>
              <a:ext uri="{FF2B5EF4-FFF2-40B4-BE49-F238E27FC236}">
                <a16:creationId xmlns:a16="http://schemas.microsoft.com/office/drawing/2014/main" id="{964048B1-1350-6CEC-629B-915FB2CB3334}"/>
              </a:ext>
            </a:extLst>
          </p:cNvPr>
          <p:cNvSpPr/>
          <p:nvPr/>
        </p:nvSpPr>
        <p:spPr>
          <a:xfrm>
            <a:off x="731520" y="1323079"/>
            <a:ext cx="5943600" cy="320040"/>
          </a:xfrm>
          <a:prstGeom prst="rect">
            <a:avLst/>
          </a:prstGeom>
          <a:noFill/>
          <a:ln/>
        </p:spPr>
        <p:txBody>
          <a:bodyPr wrap="square" lIns="0" tIns="0" rIns="0" bIns="0" rtlCol="0" anchor="ctr"/>
          <a:lstStyle/>
          <a:p>
            <a:pPr marL="0" indent="0">
              <a:buNone/>
            </a:pPr>
            <a:r>
              <a:rPr lang="en-US" sz="1600" b="1" dirty="0">
                <a:solidFill>
                  <a:srgbClr val="C9704F"/>
                </a:solidFill>
                <a:latin typeface="Calibri" pitchFamily="34" charset="0"/>
                <a:ea typeface="Calibri" pitchFamily="34" charset="-122"/>
                <a:cs typeface="Calibri" pitchFamily="34" charset="-120"/>
              </a:rPr>
              <a:t>Inherited by default vs. not</a:t>
            </a:r>
            <a:endParaRPr lang="en-US" sz="1600" dirty="0"/>
          </a:p>
        </p:txBody>
      </p:sp>
      <p:sp>
        <p:nvSpPr>
          <p:cNvPr id="6" name="Shape 4">
            <a:extLst>
              <a:ext uri="{FF2B5EF4-FFF2-40B4-BE49-F238E27FC236}">
                <a16:creationId xmlns:a16="http://schemas.microsoft.com/office/drawing/2014/main" id="{31437848-B4AA-96FB-6060-234DACA66AC3}"/>
              </a:ext>
            </a:extLst>
          </p:cNvPr>
          <p:cNvSpPr/>
          <p:nvPr/>
        </p:nvSpPr>
        <p:spPr>
          <a:xfrm>
            <a:off x="731520" y="1734559"/>
            <a:ext cx="2834640" cy="365760"/>
          </a:xfrm>
          <a:prstGeom prst="rect">
            <a:avLst/>
          </a:prstGeom>
          <a:solidFill>
            <a:srgbClr val="3B7A75"/>
          </a:solidFill>
          <a:ln w="12700">
            <a:solidFill>
              <a:srgbClr val="3B7A75"/>
            </a:solidFill>
            <a:prstDash val="solid"/>
          </a:ln>
        </p:spPr>
        <p:txBody>
          <a:bodyPr/>
          <a:lstStyle/>
          <a:p>
            <a:endParaRPr lang="en-US"/>
          </a:p>
        </p:txBody>
      </p:sp>
      <p:sp>
        <p:nvSpPr>
          <p:cNvPr id="7" name="Text 5">
            <a:extLst>
              <a:ext uri="{FF2B5EF4-FFF2-40B4-BE49-F238E27FC236}">
                <a16:creationId xmlns:a16="http://schemas.microsoft.com/office/drawing/2014/main" id="{B653CA2A-C928-921F-F3AB-61742E415BC3}"/>
              </a:ext>
            </a:extLst>
          </p:cNvPr>
          <p:cNvSpPr/>
          <p:nvPr/>
        </p:nvSpPr>
        <p:spPr>
          <a:xfrm>
            <a:off x="731520" y="1734559"/>
            <a:ext cx="283464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Inherited automatically</a:t>
            </a:r>
            <a:endParaRPr lang="en-US" sz="1200" dirty="0"/>
          </a:p>
        </p:txBody>
      </p:sp>
      <p:sp>
        <p:nvSpPr>
          <p:cNvPr id="8" name="Text 6">
            <a:extLst>
              <a:ext uri="{FF2B5EF4-FFF2-40B4-BE49-F238E27FC236}">
                <a16:creationId xmlns:a16="http://schemas.microsoft.com/office/drawing/2014/main" id="{FF993B58-4B9F-36E1-6FFE-C53971E1732E}"/>
              </a:ext>
            </a:extLst>
          </p:cNvPr>
          <p:cNvSpPr/>
          <p:nvPr/>
        </p:nvSpPr>
        <p:spPr>
          <a:xfrm>
            <a:off x="731520" y="2191759"/>
            <a:ext cx="2834640" cy="237744"/>
          </a:xfrm>
          <a:prstGeom prst="rect">
            <a:avLst/>
          </a:prstGeom>
          <a:noFill/>
          <a:ln/>
        </p:spPr>
        <p:txBody>
          <a:bodyPr wrap="square" lIns="0" tIns="0" rIns="0" bIns="0" rtlCol="0" anchor="ctr"/>
          <a:lstStyle/>
          <a:p>
            <a:pPr marL="0" indent="0">
              <a:buNone/>
            </a:pPr>
            <a:r>
              <a:rPr lang="en-US" sz="1050" b="1" dirty="0">
                <a:solidFill>
                  <a:srgbClr val="141414"/>
                </a:solidFill>
                <a:latin typeface="Calibri" pitchFamily="34" charset="0"/>
                <a:ea typeface="Calibri" pitchFamily="34" charset="-122"/>
                <a:cs typeface="Calibri" pitchFamily="34" charset="-120"/>
              </a:rPr>
              <a:t>Tools:</a:t>
            </a:r>
            <a:endParaRPr lang="en-US" sz="1050" dirty="0"/>
          </a:p>
        </p:txBody>
      </p:sp>
      <p:sp>
        <p:nvSpPr>
          <p:cNvPr id="9" name="Text 7">
            <a:extLst>
              <a:ext uri="{FF2B5EF4-FFF2-40B4-BE49-F238E27FC236}">
                <a16:creationId xmlns:a16="http://schemas.microsoft.com/office/drawing/2014/main" id="{95702EAE-93D3-50B6-3DB5-542189966ED2}"/>
              </a:ext>
            </a:extLst>
          </p:cNvPr>
          <p:cNvSpPr/>
          <p:nvPr/>
        </p:nvSpPr>
        <p:spPr>
          <a:xfrm>
            <a:off x="731520" y="2438647"/>
            <a:ext cx="2834640" cy="502920"/>
          </a:xfrm>
          <a:prstGeom prst="rect">
            <a:avLst/>
          </a:prstGeom>
          <a:noFill/>
          <a:ln/>
        </p:spPr>
        <p:txBody>
          <a:bodyPr wrap="square" lIns="0" tIns="0" rIns="0" bIns="0" rtlCol="0" anchor="ctr"/>
          <a:lstStyle/>
          <a:p>
            <a:pPr marL="0" indent="0">
              <a:buNone/>
            </a:pPr>
            <a:r>
              <a:rPr lang="en-US" sz="900" dirty="0">
                <a:solidFill>
                  <a:srgbClr val="2B2B2B"/>
                </a:solidFill>
                <a:latin typeface="Calibri" pitchFamily="34" charset="0"/>
                <a:ea typeface="Calibri" pitchFamily="34" charset="-122"/>
                <a:cs typeface="Calibri" pitchFamily="34" charset="-120"/>
              </a:rPr>
              <a:t>Every tool the main conversation has — unless restricted with tools / disallowedTools</a:t>
            </a:r>
            <a:endParaRPr lang="en-US" sz="900" dirty="0"/>
          </a:p>
        </p:txBody>
      </p:sp>
      <p:sp>
        <p:nvSpPr>
          <p:cNvPr id="10" name="Text 8">
            <a:extLst>
              <a:ext uri="{FF2B5EF4-FFF2-40B4-BE49-F238E27FC236}">
                <a16:creationId xmlns:a16="http://schemas.microsoft.com/office/drawing/2014/main" id="{B1531D05-AEF6-ACFA-19D6-E3A0ADE3DC23}"/>
              </a:ext>
            </a:extLst>
          </p:cNvPr>
          <p:cNvSpPr/>
          <p:nvPr/>
        </p:nvSpPr>
        <p:spPr>
          <a:xfrm>
            <a:off x="731520" y="3014719"/>
            <a:ext cx="2834640" cy="237744"/>
          </a:xfrm>
          <a:prstGeom prst="rect">
            <a:avLst/>
          </a:prstGeom>
          <a:noFill/>
          <a:ln/>
        </p:spPr>
        <p:txBody>
          <a:bodyPr wrap="square" lIns="0" tIns="0" rIns="0" bIns="0" rtlCol="0" anchor="ctr"/>
          <a:lstStyle/>
          <a:p>
            <a:pPr marL="0" indent="0">
              <a:buNone/>
            </a:pPr>
            <a:r>
              <a:rPr lang="en-US" sz="1050" b="1" dirty="0">
                <a:solidFill>
                  <a:srgbClr val="141414"/>
                </a:solidFill>
                <a:latin typeface="Calibri" pitchFamily="34" charset="0"/>
                <a:ea typeface="Calibri" pitchFamily="34" charset="-122"/>
                <a:cs typeface="Calibri" pitchFamily="34" charset="-120"/>
              </a:rPr>
              <a:t>CLAUDE.md &amp; memory:</a:t>
            </a:r>
            <a:endParaRPr lang="en-US" sz="1050" dirty="0"/>
          </a:p>
        </p:txBody>
      </p:sp>
      <p:sp>
        <p:nvSpPr>
          <p:cNvPr id="11" name="Text 9">
            <a:extLst>
              <a:ext uri="{FF2B5EF4-FFF2-40B4-BE49-F238E27FC236}">
                <a16:creationId xmlns:a16="http://schemas.microsoft.com/office/drawing/2014/main" id="{70765BC4-C996-8445-2EB1-2EE5CFDA73B0}"/>
              </a:ext>
            </a:extLst>
          </p:cNvPr>
          <p:cNvSpPr/>
          <p:nvPr/>
        </p:nvSpPr>
        <p:spPr>
          <a:xfrm>
            <a:off x="731520" y="3261607"/>
            <a:ext cx="2834640" cy="502920"/>
          </a:xfrm>
          <a:prstGeom prst="rect">
            <a:avLst/>
          </a:prstGeom>
          <a:noFill/>
          <a:ln/>
        </p:spPr>
        <p:txBody>
          <a:bodyPr wrap="square" lIns="0" tIns="0" rIns="0" bIns="0" rtlCol="0" anchor="ctr"/>
          <a:lstStyle/>
          <a:p>
            <a:pPr marL="0" indent="0">
              <a:buNone/>
            </a:pPr>
            <a:r>
              <a:rPr lang="en-US" sz="900" dirty="0">
                <a:solidFill>
                  <a:srgbClr val="2B2B2B"/>
                </a:solidFill>
                <a:latin typeface="Calibri" pitchFamily="34" charset="0"/>
                <a:ea typeface="Calibri" pitchFamily="34" charset="-122"/>
                <a:cs typeface="Calibri" pitchFamily="34" charset="-120"/>
              </a:rPr>
              <a:t>Every level of the memory hierarchy</a:t>
            </a:r>
            <a:endParaRPr lang="en-US" sz="900" dirty="0"/>
          </a:p>
        </p:txBody>
      </p:sp>
      <p:sp>
        <p:nvSpPr>
          <p:cNvPr id="12" name="Text 10">
            <a:extLst>
              <a:ext uri="{FF2B5EF4-FFF2-40B4-BE49-F238E27FC236}">
                <a16:creationId xmlns:a16="http://schemas.microsoft.com/office/drawing/2014/main" id="{2154E09C-31D9-D42E-DB4D-73B1C700A05F}"/>
              </a:ext>
            </a:extLst>
          </p:cNvPr>
          <p:cNvSpPr/>
          <p:nvPr/>
        </p:nvSpPr>
        <p:spPr>
          <a:xfrm>
            <a:off x="731520" y="3837679"/>
            <a:ext cx="2834640" cy="237744"/>
          </a:xfrm>
          <a:prstGeom prst="rect">
            <a:avLst/>
          </a:prstGeom>
          <a:noFill/>
          <a:ln/>
        </p:spPr>
        <p:txBody>
          <a:bodyPr wrap="square" lIns="0" tIns="0" rIns="0" bIns="0" rtlCol="0" anchor="ctr"/>
          <a:lstStyle/>
          <a:p>
            <a:pPr marL="0" indent="0">
              <a:buNone/>
            </a:pPr>
            <a:r>
              <a:rPr lang="en-US" sz="1050" b="1" dirty="0">
                <a:solidFill>
                  <a:srgbClr val="141414"/>
                </a:solidFill>
                <a:latin typeface="Calibri" pitchFamily="34" charset="0"/>
                <a:ea typeface="Calibri" pitchFamily="34" charset="-122"/>
                <a:cs typeface="Calibri" pitchFamily="34" charset="-120"/>
              </a:rPr>
              <a:t>Git status:</a:t>
            </a:r>
            <a:endParaRPr lang="en-US" sz="1050" dirty="0"/>
          </a:p>
        </p:txBody>
      </p:sp>
      <p:sp>
        <p:nvSpPr>
          <p:cNvPr id="13" name="Text 11">
            <a:extLst>
              <a:ext uri="{FF2B5EF4-FFF2-40B4-BE49-F238E27FC236}">
                <a16:creationId xmlns:a16="http://schemas.microsoft.com/office/drawing/2014/main" id="{4B46B06D-E2EF-4ADE-3544-1634F8017B39}"/>
              </a:ext>
            </a:extLst>
          </p:cNvPr>
          <p:cNvSpPr/>
          <p:nvPr/>
        </p:nvSpPr>
        <p:spPr>
          <a:xfrm>
            <a:off x="731520" y="4084567"/>
            <a:ext cx="2834640" cy="502920"/>
          </a:xfrm>
          <a:prstGeom prst="rect">
            <a:avLst/>
          </a:prstGeom>
          <a:noFill/>
          <a:ln/>
        </p:spPr>
        <p:txBody>
          <a:bodyPr wrap="square" lIns="0" tIns="0" rIns="0" bIns="0" rtlCol="0" anchor="ctr"/>
          <a:lstStyle/>
          <a:p>
            <a:pPr marL="0" indent="0">
              <a:buNone/>
            </a:pPr>
            <a:r>
              <a:rPr lang="en-US" sz="900" dirty="0">
                <a:solidFill>
                  <a:srgbClr val="2B2B2B"/>
                </a:solidFill>
                <a:latin typeface="Calibri" pitchFamily="34" charset="0"/>
                <a:ea typeface="Calibri" pitchFamily="34" charset="-122"/>
                <a:cs typeface="Calibri" pitchFamily="34" charset="-120"/>
              </a:rPr>
              <a:t>Snapshot from parent session start</a:t>
            </a:r>
            <a:endParaRPr lang="en-US" sz="900" dirty="0"/>
          </a:p>
        </p:txBody>
      </p:sp>
      <p:sp>
        <p:nvSpPr>
          <p:cNvPr id="14" name="Text 12">
            <a:extLst>
              <a:ext uri="{FF2B5EF4-FFF2-40B4-BE49-F238E27FC236}">
                <a16:creationId xmlns:a16="http://schemas.microsoft.com/office/drawing/2014/main" id="{38A963FD-FD1C-99FD-88CD-59C21C5C80CF}"/>
              </a:ext>
            </a:extLst>
          </p:cNvPr>
          <p:cNvSpPr/>
          <p:nvPr/>
        </p:nvSpPr>
        <p:spPr>
          <a:xfrm>
            <a:off x="731520" y="4678927"/>
            <a:ext cx="2834640" cy="457200"/>
          </a:xfrm>
          <a:prstGeom prst="rect">
            <a:avLst/>
          </a:prstGeom>
          <a:noFill/>
          <a:ln/>
        </p:spPr>
        <p:txBody>
          <a:bodyPr wrap="square" lIns="0" tIns="0" rIns="0" bIns="0" rtlCol="0" anchor="ctr"/>
          <a:lstStyle/>
          <a:p>
            <a:pPr marL="0" indent="0">
              <a:buNone/>
            </a:pPr>
            <a:r>
              <a:rPr lang="en-US" sz="850" i="1" dirty="0">
                <a:solidFill>
                  <a:srgbClr val="6B6B6B"/>
                </a:solidFill>
                <a:latin typeface="Calibri" pitchFamily="34" charset="0"/>
                <a:ea typeface="Calibri" pitchFamily="34" charset="-122"/>
                <a:cs typeface="Calibri" pitchFamily="34" charset="-120"/>
              </a:rPr>
              <a:t>Explore &amp; Plan skip CLAUDE.md and git status — stays fast and cheap.</a:t>
            </a:r>
            <a:endParaRPr lang="en-US" sz="850" dirty="0"/>
          </a:p>
        </p:txBody>
      </p:sp>
      <p:sp>
        <p:nvSpPr>
          <p:cNvPr id="15" name="Shape 13">
            <a:extLst>
              <a:ext uri="{FF2B5EF4-FFF2-40B4-BE49-F238E27FC236}">
                <a16:creationId xmlns:a16="http://schemas.microsoft.com/office/drawing/2014/main" id="{9C1982FA-59CC-33C7-D30A-BA918E6593E9}"/>
              </a:ext>
            </a:extLst>
          </p:cNvPr>
          <p:cNvSpPr/>
          <p:nvPr/>
        </p:nvSpPr>
        <p:spPr>
          <a:xfrm>
            <a:off x="3840480" y="1734559"/>
            <a:ext cx="2834640" cy="365760"/>
          </a:xfrm>
          <a:prstGeom prst="rect">
            <a:avLst/>
          </a:prstGeom>
          <a:solidFill>
            <a:srgbClr val="B04A3B"/>
          </a:solidFill>
          <a:ln w="12700">
            <a:solidFill>
              <a:srgbClr val="B04A3B"/>
            </a:solidFill>
            <a:prstDash val="solid"/>
          </a:ln>
        </p:spPr>
        <p:txBody>
          <a:bodyPr/>
          <a:lstStyle/>
          <a:p>
            <a:endParaRPr lang="en-US"/>
          </a:p>
        </p:txBody>
      </p:sp>
      <p:sp>
        <p:nvSpPr>
          <p:cNvPr id="16" name="Text 14">
            <a:extLst>
              <a:ext uri="{FF2B5EF4-FFF2-40B4-BE49-F238E27FC236}">
                <a16:creationId xmlns:a16="http://schemas.microsoft.com/office/drawing/2014/main" id="{AC7AC177-E163-BC05-F682-93D6415BAF59}"/>
              </a:ext>
            </a:extLst>
          </p:cNvPr>
          <p:cNvSpPr/>
          <p:nvPr/>
        </p:nvSpPr>
        <p:spPr>
          <a:xfrm>
            <a:off x="3840480" y="1734559"/>
            <a:ext cx="283464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Never inherited</a:t>
            </a:r>
            <a:endParaRPr lang="en-US" sz="1200" dirty="0"/>
          </a:p>
        </p:txBody>
      </p:sp>
      <p:sp>
        <p:nvSpPr>
          <p:cNvPr id="17" name="Text 15">
            <a:extLst>
              <a:ext uri="{FF2B5EF4-FFF2-40B4-BE49-F238E27FC236}">
                <a16:creationId xmlns:a16="http://schemas.microsoft.com/office/drawing/2014/main" id="{E727F9A3-1B58-CBE9-7491-A64555AA09F0}"/>
              </a:ext>
            </a:extLst>
          </p:cNvPr>
          <p:cNvSpPr/>
          <p:nvPr/>
        </p:nvSpPr>
        <p:spPr>
          <a:xfrm>
            <a:off x="3840480" y="2191759"/>
            <a:ext cx="2834640" cy="237744"/>
          </a:xfrm>
          <a:prstGeom prst="rect">
            <a:avLst/>
          </a:prstGeom>
          <a:noFill/>
          <a:ln/>
        </p:spPr>
        <p:txBody>
          <a:bodyPr wrap="square" lIns="0" tIns="0" rIns="0" bIns="0" rtlCol="0" anchor="ctr"/>
          <a:lstStyle/>
          <a:p>
            <a:pPr marL="0" indent="0">
              <a:buNone/>
            </a:pPr>
            <a:r>
              <a:rPr lang="en-US" sz="1050" b="1" dirty="0">
                <a:solidFill>
                  <a:srgbClr val="141414"/>
                </a:solidFill>
                <a:latin typeface="Calibri" pitchFamily="34" charset="0"/>
                <a:ea typeface="Calibri" pitchFamily="34" charset="-122"/>
                <a:cs typeface="Calibri" pitchFamily="34" charset="-120"/>
              </a:rPr>
              <a:t>Conversation history:</a:t>
            </a:r>
            <a:endParaRPr lang="en-US" sz="1050" dirty="0"/>
          </a:p>
        </p:txBody>
      </p:sp>
      <p:sp>
        <p:nvSpPr>
          <p:cNvPr id="18" name="Text 16">
            <a:extLst>
              <a:ext uri="{FF2B5EF4-FFF2-40B4-BE49-F238E27FC236}">
                <a16:creationId xmlns:a16="http://schemas.microsoft.com/office/drawing/2014/main" id="{88119C32-7625-7887-539F-60AA699C8290}"/>
              </a:ext>
            </a:extLst>
          </p:cNvPr>
          <p:cNvSpPr/>
          <p:nvPr/>
        </p:nvSpPr>
        <p:spPr>
          <a:xfrm>
            <a:off x="3840480" y="2438647"/>
            <a:ext cx="2834640" cy="502920"/>
          </a:xfrm>
          <a:prstGeom prst="rect">
            <a:avLst/>
          </a:prstGeom>
          <a:noFill/>
          <a:ln/>
        </p:spPr>
        <p:txBody>
          <a:bodyPr wrap="square" lIns="0" tIns="0" rIns="0" bIns="0" rtlCol="0" anchor="ctr"/>
          <a:lstStyle/>
          <a:p>
            <a:pPr marL="0" indent="0">
              <a:buNone/>
            </a:pPr>
            <a:r>
              <a:rPr lang="en-US" sz="900" dirty="0">
                <a:solidFill>
                  <a:srgbClr val="2B2B2B"/>
                </a:solidFill>
                <a:latin typeface="Calibri" pitchFamily="34" charset="0"/>
                <a:ea typeface="Calibri" pitchFamily="34" charset="-122"/>
                <a:cs typeface="Calibri" pitchFamily="34" charset="-120"/>
              </a:rPr>
              <a:t>Sees only the task message Claude writes when delegating</a:t>
            </a:r>
            <a:endParaRPr lang="en-US" sz="900" dirty="0"/>
          </a:p>
        </p:txBody>
      </p:sp>
      <p:sp>
        <p:nvSpPr>
          <p:cNvPr id="19" name="Text 17">
            <a:extLst>
              <a:ext uri="{FF2B5EF4-FFF2-40B4-BE49-F238E27FC236}">
                <a16:creationId xmlns:a16="http://schemas.microsoft.com/office/drawing/2014/main" id="{FF355450-DCCF-8999-1D96-C80B49902B9A}"/>
              </a:ext>
            </a:extLst>
          </p:cNvPr>
          <p:cNvSpPr/>
          <p:nvPr/>
        </p:nvSpPr>
        <p:spPr>
          <a:xfrm>
            <a:off x="3840480" y="3014719"/>
            <a:ext cx="2834640" cy="237744"/>
          </a:xfrm>
          <a:prstGeom prst="rect">
            <a:avLst/>
          </a:prstGeom>
          <a:noFill/>
          <a:ln/>
        </p:spPr>
        <p:txBody>
          <a:bodyPr wrap="square" lIns="0" tIns="0" rIns="0" bIns="0" rtlCol="0" anchor="ctr"/>
          <a:lstStyle/>
          <a:p>
            <a:pPr marL="0" indent="0">
              <a:buNone/>
            </a:pPr>
            <a:r>
              <a:rPr lang="en-US" sz="1050" b="1" dirty="0">
                <a:solidFill>
                  <a:srgbClr val="141414"/>
                </a:solidFill>
                <a:latin typeface="Calibri" pitchFamily="34" charset="0"/>
                <a:ea typeface="Calibri" pitchFamily="34" charset="-122"/>
                <a:cs typeface="Calibri" pitchFamily="34" charset="-120"/>
              </a:rPr>
              <a:t>Skills already invoked:</a:t>
            </a:r>
            <a:endParaRPr lang="en-US" sz="1050" dirty="0"/>
          </a:p>
        </p:txBody>
      </p:sp>
      <p:sp>
        <p:nvSpPr>
          <p:cNvPr id="20" name="Text 18">
            <a:extLst>
              <a:ext uri="{FF2B5EF4-FFF2-40B4-BE49-F238E27FC236}">
                <a16:creationId xmlns:a16="http://schemas.microsoft.com/office/drawing/2014/main" id="{65374DA0-ABD3-58BE-8264-D12BD0633773}"/>
              </a:ext>
            </a:extLst>
          </p:cNvPr>
          <p:cNvSpPr/>
          <p:nvPr/>
        </p:nvSpPr>
        <p:spPr>
          <a:xfrm>
            <a:off x="3840480" y="3261607"/>
            <a:ext cx="2834640" cy="502920"/>
          </a:xfrm>
          <a:prstGeom prst="rect">
            <a:avLst/>
          </a:prstGeom>
          <a:noFill/>
          <a:ln/>
        </p:spPr>
        <p:txBody>
          <a:bodyPr wrap="square" lIns="0" tIns="0" rIns="0" bIns="0" rtlCol="0" anchor="ctr"/>
          <a:lstStyle/>
          <a:p>
            <a:pPr marL="0" indent="0">
              <a:buNone/>
            </a:pPr>
            <a:r>
              <a:rPr lang="en-US" sz="900" dirty="0">
                <a:solidFill>
                  <a:srgbClr val="2B2B2B"/>
                </a:solidFill>
                <a:latin typeface="Calibri" pitchFamily="34" charset="0"/>
                <a:ea typeface="Calibri" pitchFamily="34" charset="-122"/>
                <a:cs typeface="Calibri" pitchFamily="34" charset="-120"/>
              </a:rPr>
              <a:t>Must re-trigger or be preloaded via the skills field</a:t>
            </a:r>
            <a:endParaRPr lang="en-US" sz="900" dirty="0"/>
          </a:p>
        </p:txBody>
      </p:sp>
      <p:sp>
        <p:nvSpPr>
          <p:cNvPr id="21" name="Text 19">
            <a:extLst>
              <a:ext uri="{FF2B5EF4-FFF2-40B4-BE49-F238E27FC236}">
                <a16:creationId xmlns:a16="http://schemas.microsoft.com/office/drawing/2014/main" id="{0EB6E150-F263-7DE0-C34E-B6D631CCEF1A}"/>
              </a:ext>
            </a:extLst>
          </p:cNvPr>
          <p:cNvSpPr/>
          <p:nvPr/>
        </p:nvSpPr>
        <p:spPr>
          <a:xfrm>
            <a:off x="3840480" y="3837679"/>
            <a:ext cx="2834640" cy="237744"/>
          </a:xfrm>
          <a:prstGeom prst="rect">
            <a:avLst/>
          </a:prstGeom>
          <a:noFill/>
          <a:ln/>
        </p:spPr>
        <p:txBody>
          <a:bodyPr wrap="square" lIns="0" tIns="0" rIns="0" bIns="0" rtlCol="0" anchor="ctr"/>
          <a:lstStyle/>
          <a:p>
            <a:pPr marL="0" indent="0">
              <a:buNone/>
            </a:pPr>
            <a:r>
              <a:rPr lang="en-US" sz="1050" b="1" dirty="0">
                <a:solidFill>
                  <a:srgbClr val="141414"/>
                </a:solidFill>
                <a:latin typeface="Calibri" pitchFamily="34" charset="0"/>
                <a:ea typeface="Calibri" pitchFamily="34" charset="-122"/>
                <a:cs typeface="Calibri" pitchFamily="34" charset="-120"/>
              </a:rPr>
              <a:t>Files already read:</a:t>
            </a:r>
            <a:endParaRPr lang="en-US" sz="1050" dirty="0"/>
          </a:p>
        </p:txBody>
      </p:sp>
      <p:sp>
        <p:nvSpPr>
          <p:cNvPr id="22" name="Text 20">
            <a:extLst>
              <a:ext uri="{FF2B5EF4-FFF2-40B4-BE49-F238E27FC236}">
                <a16:creationId xmlns:a16="http://schemas.microsoft.com/office/drawing/2014/main" id="{D0ED3B49-0D31-4400-24B1-F664E6EB4F97}"/>
              </a:ext>
            </a:extLst>
          </p:cNvPr>
          <p:cNvSpPr/>
          <p:nvPr/>
        </p:nvSpPr>
        <p:spPr>
          <a:xfrm>
            <a:off x="3840480" y="4084567"/>
            <a:ext cx="2834640" cy="502920"/>
          </a:xfrm>
          <a:prstGeom prst="rect">
            <a:avLst/>
          </a:prstGeom>
          <a:noFill/>
          <a:ln/>
        </p:spPr>
        <p:txBody>
          <a:bodyPr wrap="square" lIns="0" tIns="0" rIns="0" bIns="0" rtlCol="0" anchor="ctr"/>
          <a:lstStyle/>
          <a:p>
            <a:pPr marL="0" indent="0">
              <a:buNone/>
            </a:pPr>
            <a:r>
              <a:rPr lang="en-US" sz="900" dirty="0">
                <a:solidFill>
                  <a:srgbClr val="2B2B2B"/>
                </a:solidFill>
                <a:latin typeface="Calibri" pitchFamily="34" charset="0"/>
                <a:ea typeface="Calibri" pitchFamily="34" charset="-122"/>
                <a:cs typeface="Calibri" pitchFamily="34" charset="-120"/>
              </a:rPr>
              <a:t>Starts with zero knowledge of what you've explored</a:t>
            </a:r>
            <a:endParaRPr lang="en-US" sz="900" dirty="0"/>
          </a:p>
        </p:txBody>
      </p:sp>
      <p:sp>
        <p:nvSpPr>
          <p:cNvPr id="23" name="Text 21">
            <a:extLst>
              <a:ext uri="{FF2B5EF4-FFF2-40B4-BE49-F238E27FC236}">
                <a16:creationId xmlns:a16="http://schemas.microsoft.com/office/drawing/2014/main" id="{23809CA9-36C2-A64A-20A0-833AD4BE64EC}"/>
              </a:ext>
            </a:extLst>
          </p:cNvPr>
          <p:cNvSpPr/>
          <p:nvPr/>
        </p:nvSpPr>
        <p:spPr>
          <a:xfrm>
            <a:off x="3840480" y="4678927"/>
            <a:ext cx="2834640" cy="457200"/>
          </a:xfrm>
          <a:prstGeom prst="rect">
            <a:avLst/>
          </a:prstGeom>
          <a:noFill/>
          <a:ln/>
        </p:spPr>
        <p:txBody>
          <a:bodyPr wrap="square" lIns="0" tIns="0" rIns="0" bIns="0" rtlCol="0" anchor="ctr"/>
          <a:lstStyle/>
          <a:p>
            <a:pPr marL="0" indent="0">
              <a:buNone/>
            </a:pPr>
            <a:r>
              <a:rPr lang="en-US" sz="850" i="1" dirty="0">
                <a:solidFill>
                  <a:srgbClr val="6B6B6B"/>
                </a:solidFill>
                <a:latin typeface="Calibri" pitchFamily="34" charset="0"/>
                <a:ea typeface="Calibri" pitchFamily="34" charset="-122"/>
                <a:cs typeface="Calibri" pitchFamily="34" charset="-120"/>
              </a:rPr>
              <a:t>A fork is the exception — it inherits the full conversation instead of starting fresh.</a:t>
            </a:r>
            <a:endParaRPr lang="en-US" sz="850" dirty="0"/>
          </a:p>
        </p:txBody>
      </p:sp>
      <p:sp>
        <p:nvSpPr>
          <p:cNvPr id="24" name="Shape 22">
            <a:extLst>
              <a:ext uri="{FF2B5EF4-FFF2-40B4-BE49-F238E27FC236}">
                <a16:creationId xmlns:a16="http://schemas.microsoft.com/office/drawing/2014/main" id="{3380F780-0D9B-18BD-386F-FDFEC4C94495}"/>
              </a:ext>
            </a:extLst>
          </p:cNvPr>
          <p:cNvSpPr/>
          <p:nvPr/>
        </p:nvSpPr>
        <p:spPr>
          <a:xfrm>
            <a:off x="7223760" y="1140199"/>
            <a:ext cx="4480560" cy="4297680"/>
          </a:xfrm>
          <a:prstGeom prst="roundRect">
            <a:avLst>
              <a:gd name="adj" fmla="val 1277"/>
            </a:avLst>
          </a:prstGeom>
          <a:solidFill>
            <a:srgbClr val="FFFFFF"/>
          </a:solidFill>
          <a:ln w="12700">
            <a:solidFill>
              <a:srgbClr val="E3E0D8"/>
            </a:solidFill>
            <a:prstDash val="solid"/>
          </a:ln>
          <a:effectLst>
            <a:outerShdw blurRad="101600" dist="25400" dir="5400000" algn="bl" rotWithShape="0">
              <a:srgbClr val="000000">
                <a:alpha val="8000"/>
              </a:srgbClr>
            </a:outerShdw>
          </a:effectLst>
        </p:spPr>
        <p:txBody>
          <a:bodyPr/>
          <a:lstStyle/>
          <a:p>
            <a:endParaRPr lang="en-US"/>
          </a:p>
        </p:txBody>
      </p:sp>
      <p:sp>
        <p:nvSpPr>
          <p:cNvPr id="25" name="Text 23">
            <a:extLst>
              <a:ext uri="{FF2B5EF4-FFF2-40B4-BE49-F238E27FC236}">
                <a16:creationId xmlns:a16="http://schemas.microsoft.com/office/drawing/2014/main" id="{CE5E700E-4100-0866-E3C9-0C1E4F9BD83E}"/>
              </a:ext>
            </a:extLst>
          </p:cNvPr>
          <p:cNvSpPr/>
          <p:nvPr/>
        </p:nvSpPr>
        <p:spPr>
          <a:xfrm>
            <a:off x="7498080" y="1323079"/>
            <a:ext cx="3931920" cy="320040"/>
          </a:xfrm>
          <a:prstGeom prst="rect">
            <a:avLst/>
          </a:prstGeom>
          <a:noFill/>
          <a:ln/>
        </p:spPr>
        <p:txBody>
          <a:bodyPr wrap="square" lIns="0" tIns="0" rIns="0" bIns="0" rtlCol="0" anchor="ctr"/>
          <a:lstStyle/>
          <a:p>
            <a:pPr marL="0" indent="0">
              <a:buNone/>
            </a:pPr>
            <a:r>
              <a:rPr lang="en-US" sz="1600" b="1" dirty="0">
                <a:solidFill>
                  <a:srgbClr val="141414"/>
                </a:solidFill>
                <a:latin typeface="Calibri" pitchFamily="34" charset="0"/>
                <a:ea typeface="Calibri" pitchFamily="34" charset="-122"/>
                <a:cs typeface="Calibri" pitchFamily="34" charset="-120"/>
              </a:rPr>
              <a:t>Nested subagents</a:t>
            </a:r>
            <a:endParaRPr lang="en-US" sz="1600" dirty="0"/>
          </a:p>
        </p:txBody>
      </p:sp>
      <p:sp>
        <p:nvSpPr>
          <p:cNvPr id="26" name="Text 24">
            <a:extLst>
              <a:ext uri="{FF2B5EF4-FFF2-40B4-BE49-F238E27FC236}">
                <a16:creationId xmlns:a16="http://schemas.microsoft.com/office/drawing/2014/main" id="{E0EA195B-3A71-77E2-1DD3-BC01A3B34D02}"/>
              </a:ext>
            </a:extLst>
          </p:cNvPr>
          <p:cNvSpPr/>
          <p:nvPr/>
        </p:nvSpPr>
        <p:spPr>
          <a:xfrm>
            <a:off x="7498080" y="1670551"/>
            <a:ext cx="3931920" cy="640080"/>
          </a:xfrm>
          <a:prstGeom prst="rect">
            <a:avLst/>
          </a:prstGeom>
          <a:noFill/>
          <a:ln/>
        </p:spPr>
        <p:txBody>
          <a:bodyPr wrap="square" lIns="0" tIns="0" rIns="0" bIns="0" rtlCol="0" anchor="ctr"/>
          <a:lstStyle/>
          <a:p>
            <a:pPr marL="0" indent="0">
              <a:buNone/>
            </a:pPr>
            <a:r>
              <a:rPr lang="en-US" sz="1000" dirty="0">
                <a:solidFill>
                  <a:srgbClr val="2B2B2B"/>
                </a:solidFill>
                <a:latin typeface="Calibri" pitchFamily="34" charset="0"/>
                <a:ea typeface="Calibri" pitchFamily="34" charset="-122"/>
                <a:cs typeface="Calibri" pitchFamily="34" charset="-120"/>
              </a:rPr>
              <a:t>A subagent can spawn its own subagents — e.g. a reviewer that dispatches a verifier per finding. Only the top-level summary returns to you.</a:t>
            </a:r>
            <a:endParaRPr lang="en-US" sz="1000" dirty="0"/>
          </a:p>
        </p:txBody>
      </p:sp>
      <p:sp>
        <p:nvSpPr>
          <p:cNvPr id="27" name="Shape 25">
            <a:extLst>
              <a:ext uri="{FF2B5EF4-FFF2-40B4-BE49-F238E27FC236}">
                <a16:creationId xmlns:a16="http://schemas.microsoft.com/office/drawing/2014/main" id="{9A2938BA-5F9E-0B7B-CE06-374EEE19C788}"/>
              </a:ext>
            </a:extLst>
          </p:cNvPr>
          <p:cNvSpPr/>
          <p:nvPr/>
        </p:nvSpPr>
        <p:spPr>
          <a:xfrm>
            <a:off x="7670292" y="2511799"/>
            <a:ext cx="310896" cy="310896"/>
          </a:xfrm>
          <a:prstGeom prst="ellipse">
            <a:avLst/>
          </a:prstGeom>
          <a:solidFill>
            <a:srgbClr val="141414"/>
          </a:solidFill>
          <a:ln w="12700">
            <a:solidFill>
              <a:srgbClr val="141414"/>
            </a:solidFill>
            <a:prstDash val="solid"/>
          </a:ln>
        </p:spPr>
        <p:txBody>
          <a:bodyPr/>
          <a:lstStyle/>
          <a:p>
            <a:endParaRPr lang="en-US"/>
          </a:p>
        </p:txBody>
      </p:sp>
      <p:sp>
        <p:nvSpPr>
          <p:cNvPr id="28" name="Text 26">
            <a:extLst>
              <a:ext uri="{FF2B5EF4-FFF2-40B4-BE49-F238E27FC236}">
                <a16:creationId xmlns:a16="http://schemas.microsoft.com/office/drawing/2014/main" id="{212A7F30-C862-607B-F1A3-DC3285087F9B}"/>
              </a:ext>
            </a:extLst>
          </p:cNvPr>
          <p:cNvSpPr/>
          <p:nvPr/>
        </p:nvSpPr>
        <p:spPr>
          <a:xfrm>
            <a:off x="7498080" y="2511799"/>
            <a:ext cx="655320"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main</a:t>
            </a:r>
            <a:endParaRPr lang="en-US" sz="850" dirty="0"/>
          </a:p>
        </p:txBody>
      </p:sp>
      <p:sp>
        <p:nvSpPr>
          <p:cNvPr id="29" name="Text 27">
            <a:extLst>
              <a:ext uri="{FF2B5EF4-FFF2-40B4-BE49-F238E27FC236}">
                <a16:creationId xmlns:a16="http://schemas.microsoft.com/office/drawing/2014/main" id="{83DC7B93-2EFC-FC3F-EAB3-AFBFCFA04491}"/>
              </a:ext>
            </a:extLst>
          </p:cNvPr>
          <p:cNvSpPr/>
          <p:nvPr/>
        </p:nvSpPr>
        <p:spPr>
          <a:xfrm>
            <a:off x="8025384" y="2530087"/>
            <a:ext cx="256032" cy="274320"/>
          </a:xfrm>
          <a:prstGeom prst="rect">
            <a:avLst/>
          </a:prstGeom>
          <a:noFill/>
          <a:ln/>
        </p:spPr>
        <p:txBody>
          <a:bodyPr wrap="square" lIns="0" tIns="0" rIns="0" bIns="0" rtlCol="0" anchor="ctr"/>
          <a:lstStyle/>
          <a:p>
            <a:pPr marL="0" indent="0" algn="ctr">
              <a:buNone/>
            </a:pPr>
            <a:r>
              <a:rPr lang="en-US" sz="1000" dirty="0">
                <a:solidFill>
                  <a:srgbClr val="6B6B6B"/>
                </a:solidFill>
                <a:latin typeface="Calibri" pitchFamily="34" charset="0"/>
                <a:ea typeface="Calibri" pitchFamily="34" charset="-122"/>
                <a:cs typeface="Calibri" pitchFamily="34" charset="-120"/>
              </a:rPr>
              <a:t>→</a:t>
            </a:r>
            <a:endParaRPr lang="en-US" sz="1000" dirty="0"/>
          </a:p>
        </p:txBody>
      </p:sp>
      <p:sp>
        <p:nvSpPr>
          <p:cNvPr id="30" name="Shape 28">
            <a:extLst>
              <a:ext uri="{FF2B5EF4-FFF2-40B4-BE49-F238E27FC236}">
                <a16:creationId xmlns:a16="http://schemas.microsoft.com/office/drawing/2014/main" id="{3E9B17C9-4D38-6944-4422-D6191DF6585D}"/>
              </a:ext>
            </a:extLst>
          </p:cNvPr>
          <p:cNvSpPr/>
          <p:nvPr/>
        </p:nvSpPr>
        <p:spPr>
          <a:xfrm>
            <a:off x="8325612" y="2511799"/>
            <a:ext cx="310896" cy="310896"/>
          </a:xfrm>
          <a:prstGeom prst="ellipse">
            <a:avLst/>
          </a:prstGeom>
          <a:solidFill>
            <a:srgbClr val="6B5B95"/>
          </a:solidFill>
          <a:ln w="12700">
            <a:solidFill>
              <a:srgbClr val="6B5B95"/>
            </a:solidFill>
            <a:prstDash val="solid"/>
          </a:ln>
        </p:spPr>
        <p:txBody>
          <a:bodyPr/>
          <a:lstStyle/>
          <a:p>
            <a:endParaRPr lang="en-US"/>
          </a:p>
        </p:txBody>
      </p:sp>
      <p:sp>
        <p:nvSpPr>
          <p:cNvPr id="31" name="Text 29">
            <a:extLst>
              <a:ext uri="{FF2B5EF4-FFF2-40B4-BE49-F238E27FC236}">
                <a16:creationId xmlns:a16="http://schemas.microsoft.com/office/drawing/2014/main" id="{C0A93BCC-A432-ECCF-EF49-CE4968034D4A}"/>
              </a:ext>
            </a:extLst>
          </p:cNvPr>
          <p:cNvSpPr/>
          <p:nvPr/>
        </p:nvSpPr>
        <p:spPr>
          <a:xfrm>
            <a:off x="8153400" y="2511799"/>
            <a:ext cx="655320"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A</a:t>
            </a:r>
            <a:endParaRPr lang="en-US" sz="850" dirty="0"/>
          </a:p>
        </p:txBody>
      </p:sp>
      <p:sp>
        <p:nvSpPr>
          <p:cNvPr id="32" name="Text 30">
            <a:extLst>
              <a:ext uri="{FF2B5EF4-FFF2-40B4-BE49-F238E27FC236}">
                <a16:creationId xmlns:a16="http://schemas.microsoft.com/office/drawing/2014/main" id="{0ECC5424-E77A-3C01-8997-C8772F0D2FD6}"/>
              </a:ext>
            </a:extLst>
          </p:cNvPr>
          <p:cNvSpPr/>
          <p:nvPr/>
        </p:nvSpPr>
        <p:spPr>
          <a:xfrm>
            <a:off x="8680704" y="2530087"/>
            <a:ext cx="256032" cy="274320"/>
          </a:xfrm>
          <a:prstGeom prst="rect">
            <a:avLst/>
          </a:prstGeom>
          <a:noFill/>
          <a:ln/>
        </p:spPr>
        <p:txBody>
          <a:bodyPr wrap="square" lIns="0" tIns="0" rIns="0" bIns="0" rtlCol="0" anchor="ctr"/>
          <a:lstStyle/>
          <a:p>
            <a:pPr marL="0" indent="0" algn="ctr">
              <a:buNone/>
            </a:pPr>
            <a:r>
              <a:rPr lang="en-US" sz="1000" dirty="0">
                <a:solidFill>
                  <a:srgbClr val="6B6B6B"/>
                </a:solidFill>
                <a:latin typeface="Calibri" pitchFamily="34" charset="0"/>
                <a:ea typeface="Calibri" pitchFamily="34" charset="-122"/>
                <a:cs typeface="Calibri" pitchFamily="34" charset="-120"/>
              </a:rPr>
              <a:t>→</a:t>
            </a:r>
            <a:endParaRPr lang="en-US" sz="1000" dirty="0"/>
          </a:p>
        </p:txBody>
      </p:sp>
      <p:sp>
        <p:nvSpPr>
          <p:cNvPr id="33" name="Shape 31">
            <a:extLst>
              <a:ext uri="{FF2B5EF4-FFF2-40B4-BE49-F238E27FC236}">
                <a16:creationId xmlns:a16="http://schemas.microsoft.com/office/drawing/2014/main" id="{40B2A168-33FC-69E7-D0A4-65F879F1B9C3}"/>
              </a:ext>
            </a:extLst>
          </p:cNvPr>
          <p:cNvSpPr/>
          <p:nvPr/>
        </p:nvSpPr>
        <p:spPr>
          <a:xfrm>
            <a:off x="8980932" y="2511799"/>
            <a:ext cx="310896" cy="310896"/>
          </a:xfrm>
          <a:prstGeom prst="ellipse">
            <a:avLst/>
          </a:prstGeom>
          <a:solidFill>
            <a:srgbClr val="6B5B95"/>
          </a:solidFill>
          <a:ln w="12700">
            <a:solidFill>
              <a:srgbClr val="6B5B95"/>
            </a:solidFill>
            <a:prstDash val="solid"/>
          </a:ln>
        </p:spPr>
        <p:txBody>
          <a:bodyPr/>
          <a:lstStyle/>
          <a:p>
            <a:endParaRPr lang="en-US"/>
          </a:p>
        </p:txBody>
      </p:sp>
      <p:sp>
        <p:nvSpPr>
          <p:cNvPr id="34" name="Text 32">
            <a:extLst>
              <a:ext uri="{FF2B5EF4-FFF2-40B4-BE49-F238E27FC236}">
                <a16:creationId xmlns:a16="http://schemas.microsoft.com/office/drawing/2014/main" id="{1998F817-3A23-75C2-C623-DBDFFB0B76AA}"/>
              </a:ext>
            </a:extLst>
          </p:cNvPr>
          <p:cNvSpPr/>
          <p:nvPr/>
        </p:nvSpPr>
        <p:spPr>
          <a:xfrm>
            <a:off x="8808720" y="2511799"/>
            <a:ext cx="655320"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B</a:t>
            </a:r>
            <a:endParaRPr lang="en-US" sz="850" dirty="0"/>
          </a:p>
        </p:txBody>
      </p:sp>
      <p:sp>
        <p:nvSpPr>
          <p:cNvPr id="35" name="Text 33">
            <a:extLst>
              <a:ext uri="{FF2B5EF4-FFF2-40B4-BE49-F238E27FC236}">
                <a16:creationId xmlns:a16="http://schemas.microsoft.com/office/drawing/2014/main" id="{ED7E1E23-AFD7-8D3C-EB2D-BC8C022CB1D8}"/>
              </a:ext>
            </a:extLst>
          </p:cNvPr>
          <p:cNvSpPr/>
          <p:nvPr/>
        </p:nvSpPr>
        <p:spPr>
          <a:xfrm>
            <a:off x="9336024" y="2530087"/>
            <a:ext cx="256032" cy="274320"/>
          </a:xfrm>
          <a:prstGeom prst="rect">
            <a:avLst/>
          </a:prstGeom>
          <a:noFill/>
          <a:ln/>
        </p:spPr>
        <p:txBody>
          <a:bodyPr wrap="square" lIns="0" tIns="0" rIns="0" bIns="0" rtlCol="0" anchor="ctr"/>
          <a:lstStyle/>
          <a:p>
            <a:pPr marL="0" indent="0" algn="ctr">
              <a:buNone/>
            </a:pPr>
            <a:r>
              <a:rPr lang="en-US" sz="1000" dirty="0">
                <a:solidFill>
                  <a:srgbClr val="6B6B6B"/>
                </a:solidFill>
                <a:latin typeface="Calibri" pitchFamily="34" charset="0"/>
                <a:ea typeface="Calibri" pitchFamily="34" charset="-122"/>
                <a:cs typeface="Calibri" pitchFamily="34" charset="-120"/>
              </a:rPr>
              <a:t>→</a:t>
            </a:r>
            <a:endParaRPr lang="en-US" sz="1000" dirty="0"/>
          </a:p>
        </p:txBody>
      </p:sp>
      <p:sp>
        <p:nvSpPr>
          <p:cNvPr id="36" name="Shape 34">
            <a:extLst>
              <a:ext uri="{FF2B5EF4-FFF2-40B4-BE49-F238E27FC236}">
                <a16:creationId xmlns:a16="http://schemas.microsoft.com/office/drawing/2014/main" id="{889EB946-991C-4465-204F-027F004EF83E}"/>
              </a:ext>
            </a:extLst>
          </p:cNvPr>
          <p:cNvSpPr/>
          <p:nvPr/>
        </p:nvSpPr>
        <p:spPr>
          <a:xfrm>
            <a:off x="9636252" y="2511799"/>
            <a:ext cx="310896" cy="310896"/>
          </a:xfrm>
          <a:prstGeom prst="ellipse">
            <a:avLst/>
          </a:prstGeom>
          <a:solidFill>
            <a:srgbClr val="6B5B95"/>
          </a:solidFill>
          <a:ln w="12700">
            <a:solidFill>
              <a:srgbClr val="6B5B95"/>
            </a:solidFill>
            <a:prstDash val="solid"/>
          </a:ln>
        </p:spPr>
        <p:txBody>
          <a:bodyPr/>
          <a:lstStyle/>
          <a:p>
            <a:endParaRPr lang="en-US"/>
          </a:p>
        </p:txBody>
      </p:sp>
      <p:sp>
        <p:nvSpPr>
          <p:cNvPr id="37" name="Text 35">
            <a:extLst>
              <a:ext uri="{FF2B5EF4-FFF2-40B4-BE49-F238E27FC236}">
                <a16:creationId xmlns:a16="http://schemas.microsoft.com/office/drawing/2014/main" id="{D6B6D01C-F623-E9A3-239D-245656DD94A7}"/>
              </a:ext>
            </a:extLst>
          </p:cNvPr>
          <p:cNvSpPr/>
          <p:nvPr/>
        </p:nvSpPr>
        <p:spPr>
          <a:xfrm>
            <a:off x="9464040" y="2511799"/>
            <a:ext cx="655320"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a:t>
            </a:r>
            <a:endParaRPr lang="en-US" sz="850" dirty="0"/>
          </a:p>
        </p:txBody>
      </p:sp>
      <p:sp>
        <p:nvSpPr>
          <p:cNvPr id="38" name="Text 36">
            <a:extLst>
              <a:ext uri="{FF2B5EF4-FFF2-40B4-BE49-F238E27FC236}">
                <a16:creationId xmlns:a16="http://schemas.microsoft.com/office/drawing/2014/main" id="{77CAF93C-F1C6-3472-B0C8-178A2CAC36D8}"/>
              </a:ext>
            </a:extLst>
          </p:cNvPr>
          <p:cNvSpPr/>
          <p:nvPr/>
        </p:nvSpPr>
        <p:spPr>
          <a:xfrm>
            <a:off x="9991344" y="2530087"/>
            <a:ext cx="256032" cy="274320"/>
          </a:xfrm>
          <a:prstGeom prst="rect">
            <a:avLst/>
          </a:prstGeom>
          <a:noFill/>
          <a:ln/>
        </p:spPr>
        <p:txBody>
          <a:bodyPr wrap="square" lIns="0" tIns="0" rIns="0" bIns="0" rtlCol="0" anchor="ctr"/>
          <a:lstStyle/>
          <a:p>
            <a:pPr marL="0" indent="0" algn="ctr">
              <a:buNone/>
            </a:pPr>
            <a:r>
              <a:rPr lang="en-US" sz="1000" dirty="0">
                <a:solidFill>
                  <a:srgbClr val="6B6B6B"/>
                </a:solidFill>
                <a:latin typeface="Calibri" pitchFamily="34" charset="0"/>
                <a:ea typeface="Calibri" pitchFamily="34" charset="-122"/>
                <a:cs typeface="Calibri" pitchFamily="34" charset="-120"/>
              </a:rPr>
              <a:t>→</a:t>
            </a:r>
            <a:endParaRPr lang="en-US" sz="1000" dirty="0"/>
          </a:p>
        </p:txBody>
      </p:sp>
      <p:sp>
        <p:nvSpPr>
          <p:cNvPr id="39" name="Shape 37">
            <a:extLst>
              <a:ext uri="{FF2B5EF4-FFF2-40B4-BE49-F238E27FC236}">
                <a16:creationId xmlns:a16="http://schemas.microsoft.com/office/drawing/2014/main" id="{891BBB4A-7DAE-0EDC-CAD8-6CF9B62120AD}"/>
              </a:ext>
            </a:extLst>
          </p:cNvPr>
          <p:cNvSpPr/>
          <p:nvPr/>
        </p:nvSpPr>
        <p:spPr>
          <a:xfrm>
            <a:off x="10291572" y="2511799"/>
            <a:ext cx="310896" cy="310896"/>
          </a:xfrm>
          <a:prstGeom prst="ellipse">
            <a:avLst/>
          </a:prstGeom>
          <a:solidFill>
            <a:srgbClr val="6B5B95"/>
          </a:solidFill>
          <a:ln w="12700">
            <a:solidFill>
              <a:srgbClr val="6B5B95"/>
            </a:solidFill>
            <a:prstDash val="solid"/>
          </a:ln>
        </p:spPr>
        <p:txBody>
          <a:bodyPr/>
          <a:lstStyle/>
          <a:p>
            <a:endParaRPr lang="en-US"/>
          </a:p>
        </p:txBody>
      </p:sp>
      <p:sp>
        <p:nvSpPr>
          <p:cNvPr id="40" name="Text 38">
            <a:extLst>
              <a:ext uri="{FF2B5EF4-FFF2-40B4-BE49-F238E27FC236}">
                <a16:creationId xmlns:a16="http://schemas.microsoft.com/office/drawing/2014/main" id="{F5FEF1A6-C79F-1599-2B85-F450B1186B9F}"/>
              </a:ext>
            </a:extLst>
          </p:cNvPr>
          <p:cNvSpPr/>
          <p:nvPr/>
        </p:nvSpPr>
        <p:spPr>
          <a:xfrm>
            <a:off x="10119360" y="2511799"/>
            <a:ext cx="655320"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D</a:t>
            </a:r>
            <a:endParaRPr lang="en-US" sz="850" dirty="0"/>
          </a:p>
        </p:txBody>
      </p:sp>
      <p:sp>
        <p:nvSpPr>
          <p:cNvPr id="41" name="Text 39">
            <a:extLst>
              <a:ext uri="{FF2B5EF4-FFF2-40B4-BE49-F238E27FC236}">
                <a16:creationId xmlns:a16="http://schemas.microsoft.com/office/drawing/2014/main" id="{480556BC-217D-2F4C-3EA4-C7717712EEAF}"/>
              </a:ext>
            </a:extLst>
          </p:cNvPr>
          <p:cNvSpPr/>
          <p:nvPr/>
        </p:nvSpPr>
        <p:spPr>
          <a:xfrm>
            <a:off x="10646664" y="2530087"/>
            <a:ext cx="256032" cy="274320"/>
          </a:xfrm>
          <a:prstGeom prst="rect">
            <a:avLst/>
          </a:prstGeom>
          <a:noFill/>
          <a:ln/>
        </p:spPr>
        <p:txBody>
          <a:bodyPr wrap="square" lIns="0" tIns="0" rIns="0" bIns="0" rtlCol="0" anchor="ctr"/>
          <a:lstStyle/>
          <a:p>
            <a:pPr marL="0" indent="0" algn="ctr">
              <a:buNone/>
            </a:pPr>
            <a:r>
              <a:rPr lang="en-US" sz="1000" dirty="0">
                <a:solidFill>
                  <a:srgbClr val="6B6B6B"/>
                </a:solidFill>
                <a:latin typeface="Calibri" pitchFamily="34" charset="0"/>
                <a:ea typeface="Calibri" pitchFamily="34" charset="-122"/>
                <a:cs typeface="Calibri" pitchFamily="34" charset="-120"/>
              </a:rPr>
              <a:t>→</a:t>
            </a:r>
            <a:endParaRPr lang="en-US" sz="1000" dirty="0"/>
          </a:p>
        </p:txBody>
      </p:sp>
      <p:sp>
        <p:nvSpPr>
          <p:cNvPr id="42" name="Shape 40">
            <a:extLst>
              <a:ext uri="{FF2B5EF4-FFF2-40B4-BE49-F238E27FC236}">
                <a16:creationId xmlns:a16="http://schemas.microsoft.com/office/drawing/2014/main" id="{5F7AFCB0-54BB-70DA-0704-027093A8BDA3}"/>
              </a:ext>
            </a:extLst>
          </p:cNvPr>
          <p:cNvSpPr/>
          <p:nvPr/>
        </p:nvSpPr>
        <p:spPr>
          <a:xfrm>
            <a:off x="10946892" y="2511799"/>
            <a:ext cx="310896" cy="310896"/>
          </a:xfrm>
          <a:prstGeom prst="ellipse">
            <a:avLst/>
          </a:prstGeom>
          <a:solidFill>
            <a:srgbClr val="B04A3B"/>
          </a:solidFill>
          <a:ln w="12700">
            <a:solidFill>
              <a:srgbClr val="B04A3B"/>
            </a:solidFill>
            <a:prstDash val="solid"/>
          </a:ln>
        </p:spPr>
        <p:txBody>
          <a:bodyPr/>
          <a:lstStyle/>
          <a:p>
            <a:endParaRPr lang="en-US"/>
          </a:p>
        </p:txBody>
      </p:sp>
      <p:sp>
        <p:nvSpPr>
          <p:cNvPr id="43" name="Text 41">
            <a:extLst>
              <a:ext uri="{FF2B5EF4-FFF2-40B4-BE49-F238E27FC236}">
                <a16:creationId xmlns:a16="http://schemas.microsoft.com/office/drawing/2014/main" id="{B72537A6-698C-36BB-E17D-17D01B2C85C1}"/>
              </a:ext>
            </a:extLst>
          </p:cNvPr>
          <p:cNvSpPr/>
          <p:nvPr/>
        </p:nvSpPr>
        <p:spPr>
          <a:xfrm>
            <a:off x="10774680" y="2511799"/>
            <a:ext cx="655320" cy="31089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E</a:t>
            </a:r>
            <a:endParaRPr lang="en-US" sz="850" dirty="0"/>
          </a:p>
        </p:txBody>
      </p:sp>
      <p:sp>
        <p:nvSpPr>
          <p:cNvPr id="44" name="Text 42">
            <a:extLst>
              <a:ext uri="{FF2B5EF4-FFF2-40B4-BE49-F238E27FC236}">
                <a16:creationId xmlns:a16="http://schemas.microsoft.com/office/drawing/2014/main" id="{BCFD84BD-C778-24FD-C42F-A46EE6578EC4}"/>
              </a:ext>
            </a:extLst>
          </p:cNvPr>
          <p:cNvSpPr/>
          <p:nvPr/>
        </p:nvSpPr>
        <p:spPr>
          <a:xfrm>
            <a:off x="7498080" y="2923279"/>
            <a:ext cx="3931920" cy="365760"/>
          </a:xfrm>
          <a:prstGeom prst="rect">
            <a:avLst/>
          </a:prstGeom>
          <a:noFill/>
          <a:ln/>
        </p:spPr>
        <p:txBody>
          <a:bodyPr wrap="square" lIns="0" tIns="0" rIns="0" bIns="0" rtlCol="0" anchor="ctr"/>
          <a:lstStyle/>
          <a:p>
            <a:pPr marL="0" indent="0">
              <a:buNone/>
            </a:pPr>
            <a:r>
              <a:rPr lang="en-US" sz="900" i="1" dirty="0">
                <a:solidFill>
                  <a:srgbClr val="6B6B6B"/>
                </a:solidFill>
                <a:latin typeface="Calibri" pitchFamily="34" charset="0"/>
                <a:ea typeface="Calibri" pitchFamily="34" charset="-122"/>
                <a:cs typeface="Calibri" pitchFamily="34" charset="-120"/>
              </a:rPr>
              <a:t>Depth 5 gets no Agent tool — can't spawn further. Fixed limit, not configurable.</a:t>
            </a:r>
            <a:endParaRPr lang="en-US" sz="900" dirty="0"/>
          </a:p>
        </p:txBody>
      </p:sp>
      <p:sp>
        <p:nvSpPr>
          <p:cNvPr id="45" name="Shape 43">
            <a:extLst>
              <a:ext uri="{FF2B5EF4-FFF2-40B4-BE49-F238E27FC236}">
                <a16:creationId xmlns:a16="http://schemas.microsoft.com/office/drawing/2014/main" id="{69B43212-2D05-CB2D-CB00-D155E30DB503}"/>
              </a:ext>
            </a:extLst>
          </p:cNvPr>
          <p:cNvSpPr/>
          <p:nvPr/>
        </p:nvSpPr>
        <p:spPr>
          <a:xfrm>
            <a:off x="7498080" y="3380479"/>
            <a:ext cx="3931920" cy="0"/>
          </a:xfrm>
          <a:prstGeom prst="line">
            <a:avLst/>
          </a:prstGeom>
          <a:noFill/>
          <a:ln w="12700">
            <a:solidFill>
              <a:srgbClr val="E3E0D8"/>
            </a:solidFill>
            <a:prstDash val="solid"/>
          </a:ln>
        </p:spPr>
        <p:txBody>
          <a:bodyPr/>
          <a:lstStyle/>
          <a:p>
            <a:endParaRPr lang="en-US"/>
          </a:p>
        </p:txBody>
      </p:sp>
      <p:sp>
        <p:nvSpPr>
          <p:cNvPr id="46" name="Text 44">
            <a:extLst>
              <a:ext uri="{FF2B5EF4-FFF2-40B4-BE49-F238E27FC236}">
                <a16:creationId xmlns:a16="http://schemas.microsoft.com/office/drawing/2014/main" id="{FCBFD36F-59C9-AB57-D4B9-4F0FDB3DC9B0}"/>
              </a:ext>
            </a:extLst>
          </p:cNvPr>
          <p:cNvSpPr/>
          <p:nvPr/>
        </p:nvSpPr>
        <p:spPr>
          <a:xfrm>
            <a:off x="7498080" y="3517639"/>
            <a:ext cx="3931920" cy="548640"/>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Each nested level resolves from the same scopes (project, personal, plugin, etc.) as a top-level subagent — nothing special about being nested.</a:t>
            </a:r>
            <a:endParaRPr lang="en-US" sz="950" dirty="0"/>
          </a:p>
        </p:txBody>
      </p:sp>
      <p:sp>
        <p:nvSpPr>
          <p:cNvPr id="47" name="Text 45">
            <a:extLst>
              <a:ext uri="{FF2B5EF4-FFF2-40B4-BE49-F238E27FC236}">
                <a16:creationId xmlns:a16="http://schemas.microsoft.com/office/drawing/2014/main" id="{CB5F2720-69BF-4FE2-F2E4-A68C5E7B5379}"/>
              </a:ext>
            </a:extLst>
          </p:cNvPr>
          <p:cNvSpPr/>
          <p:nvPr/>
        </p:nvSpPr>
        <p:spPr>
          <a:xfrm>
            <a:off x="7498080" y="4111999"/>
            <a:ext cx="3931920" cy="548640"/>
          </a:xfrm>
          <a:prstGeom prst="rect">
            <a:avLst/>
          </a:prstGeom>
          <a:noFill/>
          <a:ln/>
        </p:spPr>
        <p:txBody>
          <a:bodyPr wrap="square" lIns="0" tIns="0" rIns="0" bIns="0" rtlCol="0" anchor="ctr"/>
          <a:lstStyle/>
          <a:p>
            <a:pPr marL="0" indent="0">
              <a:buNone/>
            </a:pPr>
            <a:r>
              <a:rPr lang="en-US" sz="900" i="1" dirty="0">
                <a:solidFill>
                  <a:srgbClr val="6B6B6B"/>
                </a:solidFill>
                <a:latin typeface="Calibri" pitchFamily="34" charset="0"/>
                <a:ea typeface="Calibri" pitchFamily="34" charset="-122"/>
                <a:cs typeface="Calibri" pitchFamily="34" charset="-120"/>
              </a:rPr>
              <a:t>To prevent a subagent from spawning others: omit Agent from its tools list, or add it to disallowedTools.</a:t>
            </a:r>
            <a:endParaRPr lang="en-US" sz="900" dirty="0"/>
          </a:p>
        </p:txBody>
      </p:sp>
      <p:sp>
        <p:nvSpPr>
          <p:cNvPr id="48" name="Shape 46">
            <a:extLst>
              <a:ext uri="{FF2B5EF4-FFF2-40B4-BE49-F238E27FC236}">
                <a16:creationId xmlns:a16="http://schemas.microsoft.com/office/drawing/2014/main" id="{6B920EB6-C656-FB55-9B94-0DF130498080}"/>
              </a:ext>
            </a:extLst>
          </p:cNvPr>
          <p:cNvSpPr/>
          <p:nvPr/>
        </p:nvSpPr>
        <p:spPr>
          <a:xfrm>
            <a:off x="457200" y="5584366"/>
            <a:ext cx="11247120" cy="502920"/>
          </a:xfrm>
          <a:prstGeom prst="rect">
            <a:avLst/>
          </a:prstGeom>
          <a:solidFill>
            <a:srgbClr val="F7F5F0"/>
          </a:solidFill>
          <a:ln w="9525">
            <a:solidFill>
              <a:srgbClr val="E3E0D8"/>
            </a:solidFill>
            <a:prstDash val="solid"/>
          </a:ln>
        </p:spPr>
        <p:txBody>
          <a:bodyPr/>
          <a:lstStyle/>
          <a:p>
            <a:endParaRPr lang="en-US"/>
          </a:p>
        </p:txBody>
      </p:sp>
      <p:sp>
        <p:nvSpPr>
          <p:cNvPr id="49" name="Text 47">
            <a:extLst>
              <a:ext uri="{FF2B5EF4-FFF2-40B4-BE49-F238E27FC236}">
                <a16:creationId xmlns:a16="http://schemas.microsoft.com/office/drawing/2014/main" id="{A8E4151A-95EA-76C7-A58D-E62E296DFCE5}"/>
              </a:ext>
            </a:extLst>
          </p:cNvPr>
          <p:cNvSpPr/>
          <p:nvPr/>
        </p:nvSpPr>
        <p:spPr>
          <a:xfrm>
            <a:off x="777240" y="5584366"/>
            <a:ext cx="10607040" cy="502920"/>
          </a:xfrm>
          <a:prstGeom prst="rect">
            <a:avLst/>
          </a:prstGeom>
          <a:noFill/>
          <a:ln/>
        </p:spPr>
        <p:txBody>
          <a:bodyPr wrap="square" lIns="0" tIns="0" rIns="0" bIns="0" rtlCol="0" anchor="ctr"/>
          <a:lstStyle/>
          <a:p>
            <a:pPr marL="0" indent="0">
              <a:buNone/>
            </a:pPr>
            <a:r>
              <a:rPr lang="en-US" sz="1200" b="1" dirty="0">
                <a:solidFill>
                  <a:srgbClr val="C9704F"/>
                </a:solidFill>
                <a:latin typeface="Calibri" pitchFamily="34" charset="0"/>
                <a:ea typeface="Calibri" pitchFamily="34" charset="-122"/>
                <a:cs typeface="Calibri" pitchFamily="34" charset="-120"/>
              </a:rPr>
              <a:t>The practical rule:  </a:t>
            </a:r>
            <a:r>
              <a:rPr lang="en-US" sz="1200" dirty="0">
                <a:solidFill>
                  <a:srgbClr val="2B2B2B"/>
                </a:solidFill>
                <a:latin typeface="Calibri" pitchFamily="34" charset="0"/>
                <a:ea typeface="Calibri" pitchFamily="34" charset="-122"/>
                <a:cs typeface="Calibri" pitchFamily="34" charset="-120"/>
              </a:rPr>
              <a:t>if a rule must reach a subagent that skips CLAUDE.md (Explore, Plan), restate it directly in the delegation prompt — don't assume it already knows.</a:t>
            </a:r>
            <a:endParaRPr lang="en-US" sz="1200" dirty="0"/>
          </a:p>
        </p:txBody>
      </p:sp>
      <p:sp>
        <p:nvSpPr>
          <p:cNvPr id="50" name="Shape 46">
            <a:extLst>
              <a:ext uri="{FF2B5EF4-FFF2-40B4-BE49-F238E27FC236}">
                <a16:creationId xmlns:a16="http://schemas.microsoft.com/office/drawing/2014/main" id="{3D2D279B-EE8F-87D9-AAF9-312F3AAB1B0C}"/>
              </a:ext>
            </a:extLst>
          </p:cNvPr>
          <p:cNvSpPr/>
          <p:nvPr/>
        </p:nvSpPr>
        <p:spPr>
          <a:xfrm>
            <a:off x="457200" y="6126480"/>
            <a:ext cx="11247120" cy="685800"/>
          </a:xfrm>
          <a:prstGeom prst="rect">
            <a:avLst/>
          </a:prstGeom>
          <a:solidFill>
            <a:srgbClr val="F7F5F0"/>
          </a:solidFill>
          <a:ln w="9525">
            <a:solidFill>
              <a:srgbClr val="E3E0D8"/>
            </a:solidFill>
            <a:prstDash val="solid"/>
          </a:ln>
        </p:spPr>
        <p:txBody>
          <a:bodyPr/>
          <a:lstStyle/>
          <a:p>
            <a:endParaRPr lang="en-US"/>
          </a:p>
        </p:txBody>
      </p:sp>
      <p:sp>
        <p:nvSpPr>
          <p:cNvPr id="51" name="Text 47">
            <a:extLst>
              <a:ext uri="{FF2B5EF4-FFF2-40B4-BE49-F238E27FC236}">
                <a16:creationId xmlns:a16="http://schemas.microsoft.com/office/drawing/2014/main" id="{E4C3CCBF-6667-F11A-4ABF-13CDBDC5CB2B}"/>
              </a:ext>
            </a:extLst>
          </p:cNvPr>
          <p:cNvSpPr/>
          <p:nvPr/>
        </p:nvSpPr>
        <p:spPr>
          <a:xfrm>
            <a:off x="777240" y="6126480"/>
            <a:ext cx="10839372" cy="685800"/>
          </a:xfrm>
          <a:prstGeom prst="rect">
            <a:avLst/>
          </a:prstGeom>
          <a:noFill/>
          <a:ln/>
        </p:spPr>
        <p:txBody>
          <a:bodyPr wrap="square" lIns="0" tIns="0" rIns="0" bIns="0" rtlCol="0" anchor="ctr"/>
          <a:lstStyle/>
          <a:p>
            <a:r>
              <a:rPr lang="en-US" sz="1200" b="1" dirty="0">
                <a:solidFill>
                  <a:srgbClr val="C9704F"/>
                </a:solidFill>
                <a:latin typeface="Calibri" pitchFamily="34" charset="0"/>
                <a:ea typeface="Calibri" pitchFamily="34" charset="-122"/>
                <a:cs typeface="Calibri" pitchFamily="34" charset="-120"/>
              </a:rPr>
              <a:t>Docs note:  </a:t>
            </a:r>
            <a:r>
              <a:rPr lang="en-US" sz="1200" dirty="0"/>
              <a:t>The full content of each listed skill (in “skills” field) is injected into the subagent’s context at startup. This field controls which skills are preloaded, not which skills the subagent can access: without it, the subagent can still discover and invoke project, user, and plugin skills through the Skill tool during execution. </a:t>
            </a:r>
          </a:p>
          <a:p>
            <a:r>
              <a:rPr lang="en-US" sz="1200" dirty="0"/>
              <a:t>To prevent a subagent from invoking skills entirely, omit </a:t>
            </a:r>
            <a:r>
              <a:rPr lang="en-US" dirty="0"/>
              <a:t>Skill</a:t>
            </a:r>
            <a:r>
              <a:rPr lang="en-US" sz="1200" dirty="0"/>
              <a:t> from the </a:t>
            </a:r>
            <a:r>
              <a:rPr lang="en-US" dirty="0">
                <a:hlinkClick r:id="rId2"/>
              </a:rPr>
              <a:t>tools</a:t>
            </a:r>
            <a:r>
              <a:rPr lang="en-US" sz="1200" dirty="0"/>
              <a:t> list or add it to </a:t>
            </a:r>
            <a:r>
              <a:rPr lang="en-US" dirty="0" err="1"/>
              <a:t>disallowedTools</a:t>
            </a:r>
            <a:r>
              <a:rPr lang="en-US" sz="1200" dirty="0"/>
              <a:t>.</a:t>
            </a:r>
          </a:p>
        </p:txBody>
      </p:sp>
    </p:spTree>
    <p:extLst>
      <p:ext uri="{BB962C8B-B14F-4D97-AF65-F5344CB8AC3E}">
        <p14:creationId xmlns:p14="http://schemas.microsoft.com/office/powerpoint/2010/main" val="8835179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0E80916-D67B-838A-BACE-06E5C2F26D62}"/>
              </a:ext>
            </a:extLst>
          </p:cNvPr>
          <p:cNvSpPr/>
          <p:nvPr/>
        </p:nvSpPr>
        <p:spPr>
          <a:xfrm>
            <a:off x="457200" y="274320"/>
            <a:ext cx="11247120" cy="502920"/>
          </a:xfrm>
          <a:prstGeom prst="rect">
            <a:avLst/>
          </a:prstGeom>
          <a:noFill/>
          <a:ln/>
        </p:spPr>
        <p:txBody>
          <a:bodyPr wrap="square" lIns="0" tIns="0" rIns="0" bIns="0" rtlCol="0" anchor="ctr"/>
          <a:lstStyle/>
          <a:p>
            <a:pPr marL="0" indent="0">
              <a:buNone/>
            </a:pPr>
            <a:r>
              <a:rPr lang="en-US" sz="3200" b="1" dirty="0">
                <a:solidFill>
                  <a:srgbClr val="141414"/>
                </a:solidFill>
                <a:latin typeface="Cambria" pitchFamily="34" charset="0"/>
                <a:ea typeface="Cambria" pitchFamily="34" charset="-122"/>
                <a:cs typeface="Cambria" pitchFamily="34" charset="-120"/>
              </a:rPr>
              <a:t>Invoking Subagents</a:t>
            </a:r>
            <a:endParaRPr lang="en-US" sz="3200" dirty="0"/>
          </a:p>
        </p:txBody>
      </p:sp>
      <p:sp>
        <p:nvSpPr>
          <p:cNvPr id="3" name="Text 1">
            <a:extLst>
              <a:ext uri="{FF2B5EF4-FFF2-40B4-BE49-F238E27FC236}">
                <a16:creationId xmlns:a16="http://schemas.microsoft.com/office/drawing/2014/main" id="{504BF4DF-3F75-CCD9-97E6-CDC24BEEAA98}"/>
              </a:ext>
            </a:extLst>
          </p:cNvPr>
          <p:cNvSpPr/>
          <p:nvPr/>
        </p:nvSpPr>
        <p:spPr>
          <a:xfrm>
            <a:off x="457200" y="731520"/>
            <a:ext cx="11247120" cy="457200"/>
          </a:xfrm>
          <a:prstGeom prst="rect">
            <a:avLst/>
          </a:prstGeom>
          <a:noFill/>
          <a:ln/>
        </p:spPr>
        <p:txBody>
          <a:bodyPr wrap="square" lIns="0" tIns="0" rIns="0" bIns="0" rtlCol="0" anchor="ctr"/>
          <a:lstStyle/>
          <a:p>
            <a:pPr marL="0" indent="0">
              <a:buNone/>
            </a:pPr>
            <a:r>
              <a:rPr lang="en-US" sz="1250" dirty="0">
                <a:solidFill>
                  <a:srgbClr val="6B6B6B"/>
                </a:solidFill>
                <a:latin typeface="Calibri" pitchFamily="34" charset="0"/>
                <a:ea typeface="Calibri" pitchFamily="34" charset="-122"/>
                <a:cs typeface="Calibri" pitchFamily="34" charset="-120"/>
              </a:rPr>
              <a:t>Sometimes Claude delegates on its own; sometimes you want to force a specific subagent, or make it the default for an entire session. These three patterns cover that range, from a loose suggestion to a hard requirement.</a:t>
            </a:r>
            <a:endParaRPr lang="en-US" sz="1250" dirty="0"/>
          </a:p>
        </p:txBody>
      </p:sp>
      <p:sp>
        <p:nvSpPr>
          <p:cNvPr id="4" name="Shape 2">
            <a:extLst>
              <a:ext uri="{FF2B5EF4-FFF2-40B4-BE49-F238E27FC236}">
                <a16:creationId xmlns:a16="http://schemas.microsoft.com/office/drawing/2014/main" id="{8A8D7A7B-46C2-3061-78F5-7707375A4BCB}"/>
              </a:ext>
            </a:extLst>
          </p:cNvPr>
          <p:cNvSpPr/>
          <p:nvPr/>
        </p:nvSpPr>
        <p:spPr>
          <a:xfrm>
            <a:off x="457200" y="1417320"/>
            <a:ext cx="6309360" cy="4114800"/>
          </a:xfrm>
          <a:prstGeom prst="roundRect">
            <a:avLst>
              <a:gd name="adj" fmla="val 1333"/>
            </a:avLst>
          </a:prstGeom>
          <a:solidFill>
            <a:srgbClr val="FFFFFF"/>
          </a:solidFill>
          <a:ln w="12700">
            <a:solidFill>
              <a:srgbClr val="E3E0D8"/>
            </a:solidFill>
            <a:prstDash val="solid"/>
          </a:ln>
          <a:effectLst>
            <a:outerShdw blurRad="101600" dist="25400" dir="5400000" algn="bl" rotWithShape="0">
              <a:srgbClr val="000000">
                <a:alpha val="8000"/>
              </a:srgbClr>
            </a:outerShdw>
          </a:effectLst>
        </p:spPr>
        <p:txBody>
          <a:bodyPr/>
          <a:lstStyle/>
          <a:p>
            <a:endParaRPr lang="en-US"/>
          </a:p>
        </p:txBody>
      </p:sp>
      <p:sp>
        <p:nvSpPr>
          <p:cNvPr id="5" name="Text 3">
            <a:extLst>
              <a:ext uri="{FF2B5EF4-FFF2-40B4-BE49-F238E27FC236}">
                <a16:creationId xmlns:a16="http://schemas.microsoft.com/office/drawing/2014/main" id="{7ED1300B-D413-278B-8CC6-9F304E8605FB}"/>
              </a:ext>
            </a:extLst>
          </p:cNvPr>
          <p:cNvSpPr/>
          <p:nvPr/>
        </p:nvSpPr>
        <p:spPr>
          <a:xfrm>
            <a:off x="731520" y="1618488"/>
            <a:ext cx="5760720" cy="320040"/>
          </a:xfrm>
          <a:prstGeom prst="rect">
            <a:avLst/>
          </a:prstGeom>
          <a:noFill/>
          <a:ln/>
        </p:spPr>
        <p:txBody>
          <a:bodyPr wrap="square" lIns="0" tIns="0" rIns="0" bIns="0" rtlCol="0" anchor="ctr"/>
          <a:lstStyle/>
          <a:p>
            <a:pPr marL="0" indent="0">
              <a:buNone/>
            </a:pPr>
            <a:r>
              <a:rPr lang="en-US" sz="1600" b="1" dirty="0">
                <a:solidFill>
                  <a:srgbClr val="C9704F"/>
                </a:solidFill>
                <a:latin typeface="Calibri" pitchFamily="34" charset="0"/>
                <a:ea typeface="Calibri" pitchFamily="34" charset="-122"/>
                <a:cs typeface="Calibri" pitchFamily="34" charset="-120"/>
              </a:rPr>
              <a:t>Three patterns — increasing certainty</a:t>
            </a:r>
            <a:endParaRPr lang="en-US" sz="1600" dirty="0"/>
          </a:p>
        </p:txBody>
      </p:sp>
      <p:sp>
        <p:nvSpPr>
          <p:cNvPr id="6" name="Shape 4">
            <a:extLst>
              <a:ext uri="{FF2B5EF4-FFF2-40B4-BE49-F238E27FC236}">
                <a16:creationId xmlns:a16="http://schemas.microsoft.com/office/drawing/2014/main" id="{2EB804B3-D5C8-E941-586A-C53A2FE5761D}"/>
              </a:ext>
            </a:extLst>
          </p:cNvPr>
          <p:cNvSpPr/>
          <p:nvPr/>
        </p:nvSpPr>
        <p:spPr>
          <a:xfrm>
            <a:off x="731520" y="2011680"/>
            <a:ext cx="73152" cy="960120"/>
          </a:xfrm>
          <a:prstGeom prst="rect">
            <a:avLst/>
          </a:prstGeom>
          <a:solidFill>
            <a:srgbClr val="3B7A75"/>
          </a:solidFill>
          <a:ln w="12700">
            <a:solidFill>
              <a:srgbClr val="3B7A75"/>
            </a:solidFill>
            <a:prstDash val="solid"/>
          </a:ln>
        </p:spPr>
        <p:txBody>
          <a:bodyPr/>
          <a:lstStyle/>
          <a:p>
            <a:endParaRPr lang="en-US"/>
          </a:p>
        </p:txBody>
      </p:sp>
      <p:sp>
        <p:nvSpPr>
          <p:cNvPr id="7" name="Text 5">
            <a:extLst>
              <a:ext uri="{FF2B5EF4-FFF2-40B4-BE49-F238E27FC236}">
                <a16:creationId xmlns:a16="http://schemas.microsoft.com/office/drawing/2014/main" id="{2924CD39-9E3C-1618-82AB-8A0BC62D071A}"/>
              </a:ext>
            </a:extLst>
          </p:cNvPr>
          <p:cNvSpPr/>
          <p:nvPr/>
        </p:nvSpPr>
        <p:spPr>
          <a:xfrm>
            <a:off x="914400" y="2011680"/>
            <a:ext cx="5532120" cy="274320"/>
          </a:xfrm>
          <a:prstGeom prst="rect">
            <a:avLst/>
          </a:prstGeom>
          <a:noFill/>
          <a:ln/>
        </p:spPr>
        <p:txBody>
          <a:bodyPr wrap="square" lIns="0" tIns="0" rIns="0" bIns="0" rtlCol="0" anchor="ctr"/>
          <a:lstStyle/>
          <a:p>
            <a:pPr marL="0" indent="0">
              <a:buNone/>
            </a:pPr>
            <a:r>
              <a:rPr lang="en-US" sz="1200" b="1" dirty="0">
                <a:solidFill>
                  <a:srgbClr val="141414"/>
                </a:solidFill>
                <a:latin typeface="Calibri" pitchFamily="34" charset="0"/>
                <a:ea typeface="Calibri" pitchFamily="34" charset="-122"/>
                <a:cs typeface="Calibri" pitchFamily="34" charset="-120"/>
              </a:rPr>
              <a:t>1. Natural language — Claude decides</a:t>
            </a:r>
            <a:endParaRPr lang="en-US" sz="1200" dirty="0"/>
          </a:p>
        </p:txBody>
      </p:sp>
      <p:sp>
        <p:nvSpPr>
          <p:cNvPr id="8" name="Shape 6">
            <a:extLst>
              <a:ext uri="{FF2B5EF4-FFF2-40B4-BE49-F238E27FC236}">
                <a16:creationId xmlns:a16="http://schemas.microsoft.com/office/drawing/2014/main" id="{CDFB04A9-ABEF-4BE4-5DD2-1F32642EF38A}"/>
              </a:ext>
            </a:extLst>
          </p:cNvPr>
          <p:cNvSpPr/>
          <p:nvPr/>
        </p:nvSpPr>
        <p:spPr>
          <a:xfrm>
            <a:off x="914400" y="2313432"/>
            <a:ext cx="5532120" cy="621792"/>
          </a:xfrm>
          <a:prstGeom prst="rect">
            <a:avLst/>
          </a:prstGeom>
          <a:solidFill>
            <a:srgbClr val="1E1E1E"/>
          </a:solidFill>
          <a:ln w="12700">
            <a:solidFill>
              <a:srgbClr val="1E1E1E"/>
            </a:solidFill>
            <a:prstDash val="solid"/>
          </a:ln>
        </p:spPr>
        <p:txBody>
          <a:bodyPr/>
          <a:lstStyle/>
          <a:p>
            <a:endParaRPr lang="en-US"/>
          </a:p>
        </p:txBody>
      </p:sp>
      <p:sp>
        <p:nvSpPr>
          <p:cNvPr id="9" name="Text 7">
            <a:extLst>
              <a:ext uri="{FF2B5EF4-FFF2-40B4-BE49-F238E27FC236}">
                <a16:creationId xmlns:a16="http://schemas.microsoft.com/office/drawing/2014/main" id="{AA2FD1EF-4ABC-BF7F-DEFA-C0F0557B5559}"/>
              </a:ext>
            </a:extLst>
          </p:cNvPr>
          <p:cNvSpPr/>
          <p:nvPr/>
        </p:nvSpPr>
        <p:spPr>
          <a:xfrm>
            <a:off x="1051560" y="2386584"/>
            <a:ext cx="5257800" cy="475488"/>
          </a:xfrm>
          <a:prstGeom prst="rect">
            <a:avLst/>
          </a:prstGeom>
          <a:noFill/>
          <a:ln/>
        </p:spPr>
        <p:txBody>
          <a:bodyPr wrap="square" lIns="0" tIns="0" rIns="0" bIns="0" rtlCol="0" anchor="t"/>
          <a:lstStyle/>
          <a:p>
            <a:pPr marL="0" indent="0">
              <a:lnSpc>
                <a:spcPts val="1200"/>
              </a:lnSpc>
              <a:buNone/>
            </a:pPr>
            <a:r>
              <a:rPr lang="en-US" sz="950" dirty="0">
                <a:solidFill>
                  <a:srgbClr val="CE9178"/>
                </a:solidFill>
                <a:latin typeface="Courier New" pitchFamily="34" charset="0"/>
                <a:ea typeface="Courier New" pitchFamily="34" charset="-122"/>
                <a:cs typeface="Courier New" pitchFamily="34" charset="-120"/>
              </a:rPr>
              <a:t>Use the test-runner subagent to fix
failing tests</a:t>
            </a:r>
            <a:endParaRPr lang="en-US" sz="950" dirty="0"/>
          </a:p>
        </p:txBody>
      </p:sp>
      <p:sp>
        <p:nvSpPr>
          <p:cNvPr id="10" name="Shape 8">
            <a:extLst>
              <a:ext uri="{FF2B5EF4-FFF2-40B4-BE49-F238E27FC236}">
                <a16:creationId xmlns:a16="http://schemas.microsoft.com/office/drawing/2014/main" id="{2C1B534D-2BBC-2D5A-C743-1861C04C7F0E}"/>
              </a:ext>
            </a:extLst>
          </p:cNvPr>
          <p:cNvSpPr/>
          <p:nvPr/>
        </p:nvSpPr>
        <p:spPr>
          <a:xfrm>
            <a:off x="731520" y="3108960"/>
            <a:ext cx="73152" cy="960120"/>
          </a:xfrm>
          <a:prstGeom prst="rect">
            <a:avLst/>
          </a:prstGeom>
          <a:solidFill>
            <a:srgbClr val="6B5B95"/>
          </a:solidFill>
          <a:ln w="12700">
            <a:solidFill>
              <a:srgbClr val="6B5B95"/>
            </a:solidFill>
            <a:prstDash val="solid"/>
          </a:ln>
        </p:spPr>
        <p:txBody>
          <a:bodyPr/>
          <a:lstStyle/>
          <a:p>
            <a:endParaRPr lang="en-US"/>
          </a:p>
        </p:txBody>
      </p:sp>
      <p:sp>
        <p:nvSpPr>
          <p:cNvPr id="11" name="Text 9">
            <a:extLst>
              <a:ext uri="{FF2B5EF4-FFF2-40B4-BE49-F238E27FC236}">
                <a16:creationId xmlns:a16="http://schemas.microsoft.com/office/drawing/2014/main" id="{15000560-8001-DBA8-505A-68F79E856929}"/>
              </a:ext>
            </a:extLst>
          </p:cNvPr>
          <p:cNvSpPr/>
          <p:nvPr/>
        </p:nvSpPr>
        <p:spPr>
          <a:xfrm>
            <a:off x="914400" y="3108960"/>
            <a:ext cx="5532120" cy="274320"/>
          </a:xfrm>
          <a:prstGeom prst="rect">
            <a:avLst/>
          </a:prstGeom>
          <a:noFill/>
          <a:ln/>
        </p:spPr>
        <p:txBody>
          <a:bodyPr wrap="square" lIns="0" tIns="0" rIns="0" bIns="0" rtlCol="0" anchor="ctr"/>
          <a:lstStyle/>
          <a:p>
            <a:pPr marL="0" indent="0">
              <a:buNone/>
            </a:pPr>
            <a:r>
              <a:rPr lang="en-US" sz="1200" b="1" dirty="0">
                <a:solidFill>
                  <a:srgbClr val="141414"/>
                </a:solidFill>
                <a:latin typeface="Calibri" pitchFamily="34" charset="0"/>
                <a:ea typeface="Calibri" pitchFamily="34" charset="-122"/>
                <a:cs typeface="Calibri" pitchFamily="34" charset="-120"/>
              </a:rPr>
              <a:t>2. @-mention — guaranteed to run</a:t>
            </a:r>
            <a:endParaRPr lang="en-US" sz="1200" dirty="0"/>
          </a:p>
        </p:txBody>
      </p:sp>
      <p:sp>
        <p:nvSpPr>
          <p:cNvPr id="12" name="Shape 10">
            <a:extLst>
              <a:ext uri="{FF2B5EF4-FFF2-40B4-BE49-F238E27FC236}">
                <a16:creationId xmlns:a16="http://schemas.microsoft.com/office/drawing/2014/main" id="{AB814AC0-949B-09EA-585E-5E4A02AE88F2}"/>
              </a:ext>
            </a:extLst>
          </p:cNvPr>
          <p:cNvSpPr/>
          <p:nvPr/>
        </p:nvSpPr>
        <p:spPr>
          <a:xfrm>
            <a:off x="914400" y="3410712"/>
            <a:ext cx="5532120" cy="621792"/>
          </a:xfrm>
          <a:prstGeom prst="rect">
            <a:avLst/>
          </a:prstGeom>
          <a:solidFill>
            <a:srgbClr val="1E1E1E"/>
          </a:solidFill>
          <a:ln w="12700">
            <a:solidFill>
              <a:srgbClr val="1E1E1E"/>
            </a:solidFill>
            <a:prstDash val="solid"/>
          </a:ln>
        </p:spPr>
        <p:txBody>
          <a:bodyPr/>
          <a:lstStyle/>
          <a:p>
            <a:endParaRPr lang="en-US"/>
          </a:p>
        </p:txBody>
      </p:sp>
      <p:sp>
        <p:nvSpPr>
          <p:cNvPr id="13" name="Text 11">
            <a:extLst>
              <a:ext uri="{FF2B5EF4-FFF2-40B4-BE49-F238E27FC236}">
                <a16:creationId xmlns:a16="http://schemas.microsoft.com/office/drawing/2014/main" id="{FB6AAF6C-40C1-034F-0B06-F40D3125B29F}"/>
              </a:ext>
            </a:extLst>
          </p:cNvPr>
          <p:cNvSpPr/>
          <p:nvPr/>
        </p:nvSpPr>
        <p:spPr>
          <a:xfrm>
            <a:off x="1051560" y="3483864"/>
            <a:ext cx="5257800" cy="475488"/>
          </a:xfrm>
          <a:prstGeom prst="rect">
            <a:avLst/>
          </a:prstGeom>
          <a:noFill/>
          <a:ln/>
        </p:spPr>
        <p:txBody>
          <a:bodyPr wrap="square" lIns="0" tIns="0" rIns="0" bIns="0" rtlCol="0" anchor="t"/>
          <a:lstStyle/>
          <a:p>
            <a:pPr marL="0" indent="0">
              <a:lnSpc>
                <a:spcPts val="1200"/>
              </a:lnSpc>
              <a:buNone/>
            </a:pPr>
            <a:r>
              <a:rPr lang="en-US" sz="950" b="1" dirty="0">
                <a:solidFill>
                  <a:srgbClr val="6B5B95"/>
                </a:solidFill>
                <a:latin typeface="Courier New" pitchFamily="34" charset="0"/>
                <a:ea typeface="Courier New" pitchFamily="34" charset="-122"/>
                <a:cs typeface="Courier New" pitchFamily="34" charset="-120"/>
              </a:rPr>
              <a:t>@"code-reviewer (agent)" </a:t>
            </a:r>
            <a:r>
              <a:rPr lang="en-US" sz="950" dirty="0">
                <a:solidFill>
                  <a:srgbClr val="CE9178"/>
                </a:solidFill>
                <a:latin typeface="Courier New" pitchFamily="34" charset="0"/>
                <a:ea typeface="Courier New" pitchFamily="34" charset="-122"/>
                <a:cs typeface="Courier New" pitchFamily="34" charset="-120"/>
              </a:rPr>
              <a:t>look at the auth changes</a:t>
            </a:r>
            <a:endParaRPr lang="en-US" sz="950" dirty="0"/>
          </a:p>
        </p:txBody>
      </p:sp>
      <p:sp>
        <p:nvSpPr>
          <p:cNvPr id="14" name="Shape 12">
            <a:extLst>
              <a:ext uri="{FF2B5EF4-FFF2-40B4-BE49-F238E27FC236}">
                <a16:creationId xmlns:a16="http://schemas.microsoft.com/office/drawing/2014/main" id="{03D35593-7719-56C5-17B7-3C54C58B4ABD}"/>
              </a:ext>
            </a:extLst>
          </p:cNvPr>
          <p:cNvSpPr/>
          <p:nvPr/>
        </p:nvSpPr>
        <p:spPr>
          <a:xfrm>
            <a:off x="731520" y="4206240"/>
            <a:ext cx="73152" cy="1234440"/>
          </a:xfrm>
          <a:prstGeom prst="rect">
            <a:avLst/>
          </a:prstGeom>
          <a:solidFill>
            <a:srgbClr val="8A6D3B"/>
          </a:solidFill>
          <a:ln w="12700">
            <a:solidFill>
              <a:srgbClr val="8A6D3B"/>
            </a:solidFill>
            <a:prstDash val="solid"/>
          </a:ln>
        </p:spPr>
        <p:txBody>
          <a:bodyPr/>
          <a:lstStyle/>
          <a:p>
            <a:endParaRPr lang="en-US"/>
          </a:p>
        </p:txBody>
      </p:sp>
      <p:sp>
        <p:nvSpPr>
          <p:cNvPr id="15" name="Text 13">
            <a:extLst>
              <a:ext uri="{FF2B5EF4-FFF2-40B4-BE49-F238E27FC236}">
                <a16:creationId xmlns:a16="http://schemas.microsoft.com/office/drawing/2014/main" id="{F1BD4ACB-ABC3-0DD9-472F-8C4500B2023E}"/>
              </a:ext>
            </a:extLst>
          </p:cNvPr>
          <p:cNvSpPr/>
          <p:nvPr/>
        </p:nvSpPr>
        <p:spPr>
          <a:xfrm>
            <a:off x="914400" y="4206240"/>
            <a:ext cx="5532120" cy="274320"/>
          </a:xfrm>
          <a:prstGeom prst="rect">
            <a:avLst/>
          </a:prstGeom>
          <a:noFill/>
          <a:ln/>
        </p:spPr>
        <p:txBody>
          <a:bodyPr wrap="square" lIns="0" tIns="0" rIns="0" bIns="0" rtlCol="0" anchor="ctr"/>
          <a:lstStyle/>
          <a:p>
            <a:pPr marL="0" indent="0">
              <a:buNone/>
            </a:pPr>
            <a:r>
              <a:rPr lang="en-US" sz="1200" b="1" dirty="0">
                <a:solidFill>
                  <a:srgbClr val="141414"/>
                </a:solidFill>
                <a:latin typeface="Calibri" pitchFamily="34" charset="0"/>
                <a:ea typeface="Calibri" pitchFamily="34" charset="-122"/>
                <a:cs typeface="Calibri" pitchFamily="34" charset="-120"/>
              </a:rPr>
              <a:t>3. Session-wide — the default for everything</a:t>
            </a:r>
            <a:endParaRPr lang="en-US" sz="1200" dirty="0"/>
          </a:p>
        </p:txBody>
      </p:sp>
      <p:sp>
        <p:nvSpPr>
          <p:cNvPr id="16" name="Shape 14">
            <a:extLst>
              <a:ext uri="{FF2B5EF4-FFF2-40B4-BE49-F238E27FC236}">
                <a16:creationId xmlns:a16="http://schemas.microsoft.com/office/drawing/2014/main" id="{34137FFD-F919-A007-404C-310A361BDC6B}"/>
              </a:ext>
            </a:extLst>
          </p:cNvPr>
          <p:cNvSpPr/>
          <p:nvPr/>
        </p:nvSpPr>
        <p:spPr>
          <a:xfrm>
            <a:off x="914400" y="4507992"/>
            <a:ext cx="5532120" cy="868680"/>
          </a:xfrm>
          <a:prstGeom prst="rect">
            <a:avLst/>
          </a:prstGeom>
          <a:solidFill>
            <a:srgbClr val="1E1E1E"/>
          </a:solidFill>
          <a:ln w="12700">
            <a:solidFill>
              <a:srgbClr val="1E1E1E"/>
            </a:solidFill>
            <a:prstDash val="solid"/>
          </a:ln>
        </p:spPr>
        <p:txBody>
          <a:bodyPr/>
          <a:lstStyle/>
          <a:p>
            <a:endParaRPr lang="en-US"/>
          </a:p>
        </p:txBody>
      </p:sp>
      <p:sp>
        <p:nvSpPr>
          <p:cNvPr id="17" name="Text 15">
            <a:extLst>
              <a:ext uri="{FF2B5EF4-FFF2-40B4-BE49-F238E27FC236}">
                <a16:creationId xmlns:a16="http://schemas.microsoft.com/office/drawing/2014/main" id="{D45D9C96-C6FE-D9CD-EB9A-9006FD100C3B}"/>
              </a:ext>
            </a:extLst>
          </p:cNvPr>
          <p:cNvSpPr/>
          <p:nvPr/>
        </p:nvSpPr>
        <p:spPr>
          <a:xfrm>
            <a:off x="1051560" y="4581144"/>
            <a:ext cx="5257800" cy="731520"/>
          </a:xfrm>
          <a:prstGeom prst="rect">
            <a:avLst/>
          </a:prstGeom>
          <a:noFill/>
          <a:ln/>
        </p:spPr>
        <p:txBody>
          <a:bodyPr wrap="square" lIns="0" tIns="0" rIns="0" bIns="0" rtlCol="0" anchor="t"/>
          <a:lstStyle/>
          <a:p>
            <a:pPr marL="0" indent="0">
              <a:lnSpc>
                <a:spcPts val="1200"/>
              </a:lnSpc>
              <a:buNone/>
            </a:pPr>
            <a:r>
              <a:rPr lang="en-US" sz="900" dirty="0">
                <a:solidFill>
                  <a:srgbClr val="6A9955"/>
                </a:solidFill>
                <a:latin typeface="Courier New" pitchFamily="34" charset="0"/>
                <a:ea typeface="Courier New" pitchFamily="34" charset="-122"/>
                <a:cs typeface="Courier New" pitchFamily="34" charset="-120"/>
              </a:rPr>
              <a:t>$ </a:t>
            </a:r>
            <a:r>
              <a:rPr lang="en-US" sz="900" dirty="0">
                <a:solidFill>
                  <a:srgbClr val="D4D4D4"/>
                </a:solidFill>
                <a:latin typeface="Courier New" pitchFamily="34" charset="0"/>
                <a:ea typeface="Courier New" pitchFamily="34" charset="-122"/>
                <a:cs typeface="Courier New" pitchFamily="34" charset="-120"/>
              </a:rPr>
              <a:t>claude --agent code-reviewer
</a:t>
            </a:r>
            <a:r>
              <a:rPr lang="en-US" sz="900" dirty="0">
                <a:solidFill>
                  <a:srgbClr val="6B6B6B"/>
                </a:solidFill>
                <a:latin typeface="Courier New" pitchFamily="34" charset="0"/>
                <a:ea typeface="Courier New" pitchFamily="34" charset="-122"/>
                <a:cs typeface="Courier New" pitchFamily="34" charset="-120"/>
              </a:rPr>
              <a:t>// or in .claude/settings.json:
</a:t>
            </a:r>
            <a:r>
              <a:rPr lang="en-US" sz="900" dirty="0">
                <a:solidFill>
                  <a:srgbClr val="CE9178"/>
                </a:solidFill>
                <a:latin typeface="Courier New" pitchFamily="34" charset="0"/>
                <a:ea typeface="Courier New" pitchFamily="34" charset="-122"/>
                <a:cs typeface="Courier New" pitchFamily="34" charset="-120"/>
              </a:rPr>
              <a:t>{ "agent": "code-reviewer" }</a:t>
            </a:r>
            <a:endParaRPr lang="en-US" sz="900" dirty="0"/>
          </a:p>
        </p:txBody>
      </p:sp>
      <p:sp>
        <p:nvSpPr>
          <p:cNvPr id="18" name="Shape 16">
            <a:extLst>
              <a:ext uri="{FF2B5EF4-FFF2-40B4-BE49-F238E27FC236}">
                <a16:creationId xmlns:a16="http://schemas.microsoft.com/office/drawing/2014/main" id="{BC6E4F88-4F90-BF90-BAF6-0637F6D27850}"/>
              </a:ext>
            </a:extLst>
          </p:cNvPr>
          <p:cNvSpPr/>
          <p:nvPr/>
        </p:nvSpPr>
        <p:spPr>
          <a:xfrm>
            <a:off x="7040880" y="1417320"/>
            <a:ext cx="4663440" cy="4114800"/>
          </a:xfrm>
          <a:prstGeom prst="roundRect">
            <a:avLst>
              <a:gd name="adj" fmla="val 1333"/>
            </a:avLst>
          </a:prstGeom>
          <a:solidFill>
            <a:srgbClr val="FFFFFF"/>
          </a:solidFill>
          <a:ln w="12700">
            <a:solidFill>
              <a:srgbClr val="E3E0D8"/>
            </a:solidFill>
            <a:prstDash val="solid"/>
          </a:ln>
          <a:effectLst>
            <a:outerShdw blurRad="101600" dist="25400" dir="5400000" algn="bl" rotWithShape="0">
              <a:srgbClr val="000000">
                <a:alpha val="8000"/>
              </a:srgbClr>
            </a:outerShdw>
          </a:effectLst>
        </p:spPr>
        <p:txBody>
          <a:bodyPr/>
          <a:lstStyle/>
          <a:p>
            <a:endParaRPr lang="en-US"/>
          </a:p>
        </p:txBody>
      </p:sp>
      <p:sp>
        <p:nvSpPr>
          <p:cNvPr id="19" name="Text 17">
            <a:extLst>
              <a:ext uri="{FF2B5EF4-FFF2-40B4-BE49-F238E27FC236}">
                <a16:creationId xmlns:a16="http://schemas.microsoft.com/office/drawing/2014/main" id="{C6C351BF-CAB6-65B2-E611-FF643F5A218D}"/>
              </a:ext>
            </a:extLst>
          </p:cNvPr>
          <p:cNvSpPr/>
          <p:nvPr/>
        </p:nvSpPr>
        <p:spPr>
          <a:xfrm>
            <a:off x="7315200" y="1618488"/>
            <a:ext cx="4114800" cy="320040"/>
          </a:xfrm>
          <a:prstGeom prst="rect">
            <a:avLst/>
          </a:prstGeom>
          <a:noFill/>
          <a:ln/>
        </p:spPr>
        <p:txBody>
          <a:bodyPr wrap="square" lIns="0" tIns="0" rIns="0" bIns="0" rtlCol="0" anchor="ctr"/>
          <a:lstStyle/>
          <a:p>
            <a:pPr marL="0" indent="0">
              <a:buNone/>
            </a:pPr>
            <a:r>
              <a:rPr lang="en-US" sz="1600" b="1" dirty="0">
                <a:solidFill>
                  <a:srgbClr val="141414"/>
                </a:solidFill>
                <a:latin typeface="Calibri" pitchFamily="34" charset="0"/>
                <a:ea typeface="Calibri" pitchFamily="34" charset="-122"/>
                <a:cs typeface="Calibri" pitchFamily="34" charset="-120"/>
              </a:rPr>
              <a:t>Foreground vs. background</a:t>
            </a:r>
            <a:endParaRPr lang="en-US" sz="1600" dirty="0"/>
          </a:p>
        </p:txBody>
      </p:sp>
      <p:sp>
        <p:nvSpPr>
          <p:cNvPr id="20" name="Shape 18">
            <a:extLst>
              <a:ext uri="{FF2B5EF4-FFF2-40B4-BE49-F238E27FC236}">
                <a16:creationId xmlns:a16="http://schemas.microsoft.com/office/drawing/2014/main" id="{73F5510F-E0AF-3267-A273-DA75B79FC466}"/>
              </a:ext>
            </a:extLst>
          </p:cNvPr>
          <p:cNvSpPr/>
          <p:nvPr/>
        </p:nvSpPr>
        <p:spPr>
          <a:xfrm>
            <a:off x="7315200" y="2011680"/>
            <a:ext cx="4114800" cy="1005840"/>
          </a:xfrm>
          <a:prstGeom prst="rect">
            <a:avLst/>
          </a:prstGeom>
          <a:solidFill>
            <a:srgbClr val="F7F5F0"/>
          </a:solidFill>
          <a:ln w="9525">
            <a:solidFill>
              <a:srgbClr val="E3E0D8"/>
            </a:solidFill>
            <a:prstDash val="solid"/>
          </a:ln>
        </p:spPr>
        <p:txBody>
          <a:bodyPr/>
          <a:lstStyle/>
          <a:p>
            <a:endParaRPr lang="en-US"/>
          </a:p>
        </p:txBody>
      </p:sp>
      <p:sp>
        <p:nvSpPr>
          <p:cNvPr id="21" name="Text 19">
            <a:extLst>
              <a:ext uri="{FF2B5EF4-FFF2-40B4-BE49-F238E27FC236}">
                <a16:creationId xmlns:a16="http://schemas.microsoft.com/office/drawing/2014/main" id="{232D3D03-2306-7B9F-226B-36EC6D0BE2A5}"/>
              </a:ext>
            </a:extLst>
          </p:cNvPr>
          <p:cNvSpPr/>
          <p:nvPr/>
        </p:nvSpPr>
        <p:spPr>
          <a:xfrm>
            <a:off x="7452360" y="2084832"/>
            <a:ext cx="3840480" cy="274320"/>
          </a:xfrm>
          <a:prstGeom prst="rect">
            <a:avLst/>
          </a:prstGeom>
          <a:noFill/>
          <a:ln/>
        </p:spPr>
        <p:txBody>
          <a:bodyPr wrap="square" lIns="0" tIns="0" rIns="0" bIns="0" rtlCol="0" anchor="ctr"/>
          <a:lstStyle/>
          <a:p>
            <a:pPr marL="0" indent="0">
              <a:buNone/>
            </a:pPr>
            <a:r>
              <a:rPr lang="en-US" sz="1200" b="1" dirty="0">
                <a:solidFill>
                  <a:srgbClr val="3B7A75"/>
                </a:solidFill>
                <a:latin typeface="Calibri" pitchFamily="34" charset="0"/>
                <a:ea typeface="Calibri" pitchFamily="34" charset="-122"/>
                <a:cs typeface="Calibri" pitchFamily="34" charset="-120"/>
              </a:rPr>
              <a:t>Foreground</a:t>
            </a:r>
            <a:endParaRPr lang="en-US" sz="1200" dirty="0"/>
          </a:p>
        </p:txBody>
      </p:sp>
      <p:sp>
        <p:nvSpPr>
          <p:cNvPr id="22" name="Text 20">
            <a:extLst>
              <a:ext uri="{FF2B5EF4-FFF2-40B4-BE49-F238E27FC236}">
                <a16:creationId xmlns:a16="http://schemas.microsoft.com/office/drawing/2014/main" id="{0E19DB07-DCD5-2F24-E3B2-40E404437D98}"/>
              </a:ext>
            </a:extLst>
          </p:cNvPr>
          <p:cNvSpPr/>
          <p:nvPr/>
        </p:nvSpPr>
        <p:spPr>
          <a:xfrm>
            <a:off x="7452360" y="2359152"/>
            <a:ext cx="3840480" cy="594360"/>
          </a:xfrm>
          <a:prstGeom prst="rect">
            <a:avLst/>
          </a:prstGeom>
          <a:noFill/>
          <a:ln/>
        </p:spPr>
        <p:txBody>
          <a:bodyPr wrap="square" lIns="0" tIns="0" rIns="0" bIns="0" rtlCol="0" anchor="ctr"/>
          <a:lstStyle/>
          <a:p>
            <a:pPr marL="0" indent="0">
              <a:buNone/>
            </a:pPr>
            <a:r>
              <a:rPr lang="en-US" sz="1000" dirty="0">
                <a:solidFill>
                  <a:srgbClr val="2B2B2B"/>
                </a:solidFill>
                <a:latin typeface="Calibri" pitchFamily="34" charset="0"/>
                <a:ea typeface="Calibri" pitchFamily="34" charset="-122"/>
                <a:cs typeface="Calibri" pitchFamily="34" charset="-120"/>
              </a:rPr>
              <a:t>Blocks the main conversation until complete. Permission prompts pass straight through to you.</a:t>
            </a:r>
            <a:endParaRPr lang="en-US" sz="1000" dirty="0"/>
          </a:p>
        </p:txBody>
      </p:sp>
      <p:sp>
        <p:nvSpPr>
          <p:cNvPr id="23" name="Shape 21">
            <a:extLst>
              <a:ext uri="{FF2B5EF4-FFF2-40B4-BE49-F238E27FC236}">
                <a16:creationId xmlns:a16="http://schemas.microsoft.com/office/drawing/2014/main" id="{790B5438-E647-7924-C5EB-F56BC58D96CE}"/>
              </a:ext>
            </a:extLst>
          </p:cNvPr>
          <p:cNvSpPr/>
          <p:nvPr/>
        </p:nvSpPr>
        <p:spPr>
          <a:xfrm>
            <a:off x="7315200" y="3154680"/>
            <a:ext cx="4114800" cy="1234440"/>
          </a:xfrm>
          <a:prstGeom prst="rect">
            <a:avLst/>
          </a:prstGeom>
          <a:solidFill>
            <a:srgbClr val="F7F5F0"/>
          </a:solidFill>
          <a:ln w="9525">
            <a:solidFill>
              <a:srgbClr val="E3E0D8"/>
            </a:solidFill>
            <a:prstDash val="solid"/>
          </a:ln>
        </p:spPr>
        <p:txBody>
          <a:bodyPr/>
          <a:lstStyle/>
          <a:p>
            <a:endParaRPr lang="en-US"/>
          </a:p>
        </p:txBody>
      </p:sp>
      <p:sp>
        <p:nvSpPr>
          <p:cNvPr id="24" name="Text 22">
            <a:extLst>
              <a:ext uri="{FF2B5EF4-FFF2-40B4-BE49-F238E27FC236}">
                <a16:creationId xmlns:a16="http://schemas.microsoft.com/office/drawing/2014/main" id="{B359BB67-13F3-D9FD-CED1-CBB443647C85}"/>
              </a:ext>
            </a:extLst>
          </p:cNvPr>
          <p:cNvSpPr/>
          <p:nvPr/>
        </p:nvSpPr>
        <p:spPr>
          <a:xfrm>
            <a:off x="7452360" y="3227832"/>
            <a:ext cx="3840480" cy="274320"/>
          </a:xfrm>
          <a:prstGeom prst="rect">
            <a:avLst/>
          </a:prstGeom>
          <a:noFill/>
          <a:ln/>
        </p:spPr>
        <p:txBody>
          <a:bodyPr wrap="square" lIns="0" tIns="0" rIns="0" bIns="0" rtlCol="0" anchor="ctr"/>
          <a:lstStyle/>
          <a:p>
            <a:pPr marL="0" indent="0">
              <a:buNone/>
            </a:pPr>
            <a:r>
              <a:rPr lang="en-US" sz="1200" b="1" dirty="0">
                <a:solidFill>
                  <a:srgbClr val="6B5B95"/>
                </a:solidFill>
                <a:latin typeface="Calibri" pitchFamily="34" charset="0"/>
                <a:ea typeface="Calibri" pitchFamily="34" charset="-122"/>
                <a:cs typeface="Calibri" pitchFamily="34" charset="-120"/>
              </a:rPr>
              <a:t>Background</a:t>
            </a:r>
            <a:endParaRPr lang="en-US" sz="1200" dirty="0"/>
          </a:p>
        </p:txBody>
      </p:sp>
      <p:sp>
        <p:nvSpPr>
          <p:cNvPr id="25" name="Text 23">
            <a:extLst>
              <a:ext uri="{FF2B5EF4-FFF2-40B4-BE49-F238E27FC236}">
                <a16:creationId xmlns:a16="http://schemas.microsoft.com/office/drawing/2014/main" id="{94D4D11C-DDB1-6C25-167F-8C9A588F5B8C}"/>
              </a:ext>
            </a:extLst>
          </p:cNvPr>
          <p:cNvSpPr/>
          <p:nvPr/>
        </p:nvSpPr>
        <p:spPr>
          <a:xfrm>
            <a:off x="7452360" y="3502152"/>
            <a:ext cx="3840480" cy="822960"/>
          </a:xfrm>
          <a:prstGeom prst="rect">
            <a:avLst/>
          </a:prstGeom>
          <a:noFill/>
          <a:ln/>
        </p:spPr>
        <p:txBody>
          <a:bodyPr wrap="square" lIns="0" tIns="0" rIns="0" bIns="0" rtlCol="0" anchor="ctr"/>
          <a:lstStyle/>
          <a:p>
            <a:pPr marL="0" indent="0">
              <a:buNone/>
            </a:pPr>
            <a:r>
              <a:rPr lang="en-US" sz="1000" dirty="0">
                <a:solidFill>
                  <a:srgbClr val="2B2B2B"/>
                </a:solidFill>
                <a:latin typeface="Calibri" pitchFamily="34" charset="0"/>
                <a:ea typeface="Calibri" pitchFamily="34" charset="-122"/>
                <a:cs typeface="Calibri" pitchFamily="34" charset="-120"/>
              </a:rPr>
              <a:t>Runs concurrently while you keep working. Permission prompts surface in your main session, naming the subagent asking.</a:t>
            </a:r>
            <a:endParaRPr lang="en-US" sz="1000" dirty="0"/>
          </a:p>
        </p:txBody>
      </p:sp>
      <p:sp>
        <p:nvSpPr>
          <p:cNvPr id="26" name="Text 24">
            <a:extLst>
              <a:ext uri="{FF2B5EF4-FFF2-40B4-BE49-F238E27FC236}">
                <a16:creationId xmlns:a16="http://schemas.microsoft.com/office/drawing/2014/main" id="{398699CE-F18E-B8D4-B7A2-EA4704CA9C25}"/>
              </a:ext>
            </a:extLst>
          </p:cNvPr>
          <p:cNvSpPr/>
          <p:nvPr/>
        </p:nvSpPr>
        <p:spPr>
          <a:xfrm>
            <a:off x="7315200" y="4480560"/>
            <a:ext cx="4114800" cy="320040"/>
          </a:xfrm>
          <a:prstGeom prst="rect">
            <a:avLst/>
          </a:prstGeom>
          <a:noFill/>
          <a:ln/>
        </p:spPr>
        <p:txBody>
          <a:bodyPr wrap="square" lIns="0" tIns="0" rIns="0" bIns="0" rtlCol="0" anchor="ctr"/>
          <a:lstStyle/>
          <a:p>
            <a:pPr marL="0" indent="0">
              <a:buNone/>
            </a:pPr>
            <a:r>
              <a:rPr lang="en-US" sz="1050" b="1" dirty="0">
                <a:solidFill>
                  <a:srgbClr val="141414"/>
                </a:solidFill>
                <a:latin typeface="Courier New" pitchFamily="34" charset="0"/>
                <a:ea typeface="Courier New" pitchFamily="34" charset="-122"/>
                <a:cs typeface="Courier New" pitchFamily="34" charset="-120"/>
              </a:rPr>
              <a:t>Ctrl+B</a:t>
            </a:r>
            <a:r>
              <a:rPr lang="en-US" sz="1050" dirty="0">
                <a:solidFill>
                  <a:srgbClr val="2B2B2B"/>
                </a:solidFill>
                <a:latin typeface="Calibri" pitchFamily="34" charset="0"/>
                <a:ea typeface="Calibri" pitchFamily="34" charset="-122"/>
                <a:cs typeface="Calibri" pitchFamily="34" charset="-120"/>
              </a:rPr>
              <a:t> sends a running task to the background.</a:t>
            </a:r>
            <a:endParaRPr lang="en-US" sz="1050" dirty="0"/>
          </a:p>
        </p:txBody>
      </p:sp>
      <p:sp>
        <p:nvSpPr>
          <p:cNvPr id="27" name="Text 25">
            <a:extLst>
              <a:ext uri="{FF2B5EF4-FFF2-40B4-BE49-F238E27FC236}">
                <a16:creationId xmlns:a16="http://schemas.microsoft.com/office/drawing/2014/main" id="{355416F7-CDE8-31BD-9D3B-E88D5399CC6D}"/>
              </a:ext>
            </a:extLst>
          </p:cNvPr>
          <p:cNvSpPr/>
          <p:nvPr/>
        </p:nvSpPr>
        <p:spPr>
          <a:xfrm>
            <a:off x="7315200" y="4846320"/>
            <a:ext cx="4114800" cy="548640"/>
          </a:xfrm>
          <a:prstGeom prst="rect">
            <a:avLst/>
          </a:prstGeom>
          <a:noFill/>
          <a:ln/>
        </p:spPr>
        <p:txBody>
          <a:bodyPr wrap="square" lIns="0" tIns="0" rIns="0" bIns="0"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Claude decides foreground vs. background based on the task — or ask directly: “run this in the background.”</a:t>
            </a:r>
            <a:endParaRPr lang="en-US" sz="1000" dirty="0"/>
          </a:p>
        </p:txBody>
      </p:sp>
      <p:sp>
        <p:nvSpPr>
          <p:cNvPr id="28" name="Shape 26">
            <a:extLst>
              <a:ext uri="{FF2B5EF4-FFF2-40B4-BE49-F238E27FC236}">
                <a16:creationId xmlns:a16="http://schemas.microsoft.com/office/drawing/2014/main" id="{394D40DE-1F94-9172-997D-9F0309E486F7}"/>
              </a:ext>
            </a:extLst>
          </p:cNvPr>
          <p:cNvSpPr/>
          <p:nvPr/>
        </p:nvSpPr>
        <p:spPr>
          <a:xfrm>
            <a:off x="457200" y="5715000"/>
            <a:ext cx="11247120" cy="502920"/>
          </a:xfrm>
          <a:prstGeom prst="rect">
            <a:avLst/>
          </a:prstGeom>
          <a:solidFill>
            <a:srgbClr val="F7F5F0"/>
          </a:solidFill>
          <a:ln w="9525">
            <a:solidFill>
              <a:srgbClr val="E3E0D8"/>
            </a:solidFill>
            <a:prstDash val="solid"/>
          </a:ln>
        </p:spPr>
        <p:txBody>
          <a:bodyPr/>
          <a:lstStyle/>
          <a:p>
            <a:endParaRPr lang="en-US"/>
          </a:p>
        </p:txBody>
      </p:sp>
      <p:sp>
        <p:nvSpPr>
          <p:cNvPr id="29" name="Text 27">
            <a:extLst>
              <a:ext uri="{FF2B5EF4-FFF2-40B4-BE49-F238E27FC236}">
                <a16:creationId xmlns:a16="http://schemas.microsoft.com/office/drawing/2014/main" id="{0901D165-FD06-9E67-808D-BA7E11E61200}"/>
              </a:ext>
            </a:extLst>
          </p:cNvPr>
          <p:cNvSpPr/>
          <p:nvPr/>
        </p:nvSpPr>
        <p:spPr>
          <a:xfrm>
            <a:off x="777240" y="5715000"/>
            <a:ext cx="10607040" cy="502920"/>
          </a:xfrm>
          <a:prstGeom prst="rect">
            <a:avLst/>
          </a:prstGeom>
          <a:noFill/>
          <a:ln/>
        </p:spPr>
        <p:txBody>
          <a:bodyPr wrap="square" lIns="0" tIns="0" rIns="0" bIns="0" rtlCol="0" anchor="ctr"/>
          <a:lstStyle/>
          <a:p>
            <a:pPr marL="0" indent="0">
              <a:buNone/>
            </a:pPr>
            <a:r>
              <a:rPr lang="en-US" sz="1200" b="1" dirty="0">
                <a:solidFill>
                  <a:srgbClr val="C9704F"/>
                </a:solidFill>
                <a:latin typeface="Calibri" pitchFamily="34" charset="0"/>
                <a:ea typeface="Calibri" pitchFamily="34" charset="-122"/>
                <a:cs typeface="Calibri" pitchFamily="34" charset="-120"/>
              </a:rPr>
              <a:t>The @-mention controls which subagent runs, not what it's asked:  </a:t>
            </a:r>
            <a:r>
              <a:rPr lang="en-US" sz="1200" dirty="0">
                <a:solidFill>
                  <a:srgbClr val="2B2B2B"/>
                </a:solidFill>
                <a:latin typeface="Calibri" pitchFamily="34" charset="0"/>
                <a:ea typeface="Calibri" pitchFamily="34" charset="-122"/>
                <a:cs typeface="Calibri" pitchFamily="34" charset="-120"/>
              </a:rPr>
              <a:t>your full message still goes to Claude, which writes the actual task prompt.</a:t>
            </a:r>
            <a:endParaRPr lang="en-US" sz="1200" dirty="0"/>
          </a:p>
        </p:txBody>
      </p:sp>
    </p:spTree>
    <p:extLst>
      <p:ext uri="{BB962C8B-B14F-4D97-AF65-F5344CB8AC3E}">
        <p14:creationId xmlns:p14="http://schemas.microsoft.com/office/powerpoint/2010/main" val="20702037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2D88518-8CF6-BE61-E071-DCC9ACDC1239}"/>
              </a:ext>
            </a:extLst>
          </p:cNvPr>
          <p:cNvSpPr/>
          <p:nvPr/>
        </p:nvSpPr>
        <p:spPr>
          <a:xfrm>
            <a:off x="457200" y="274320"/>
            <a:ext cx="11247120" cy="502920"/>
          </a:xfrm>
          <a:prstGeom prst="rect">
            <a:avLst/>
          </a:prstGeom>
          <a:noFill/>
          <a:ln/>
        </p:spPr>
        <p:txBody>
          <a:bodyPr wrap="square" lIns="0" tIns="0" rIns="0" bIns="0" rtlCol="0" anchor="ctr"/>
          <a:lstStyle/>
          <a:p>
            <a:pPr marL="0" indent="0">
              <a:buNone/>
            </a:pPr>
            <a:r>
              <a:rPr lang="en-US" sz="3000" b="1" dirty="0">
                <a:solidFill>
                  <a:srgbClr val="141414"/>
                </a:solidFill>
                <a:latin typeface="Cambria" pitchFamily="34" charset="0"/>
                <a:ea typeface="Cambria" pitchFamily="34" charset="-122"/>
                <a:cs typeface="Cambria" pitchFamily="34" charset="-120"/>
              </a:rPr>
              <a:t>Forks, and Choosing the Right Tool</a:t>
            </a:r>
            <a:endParaRPr lang="en-US" sz="3000" dirty="0"/>
          </a:p>
        </p:txBody>
      </p:sp>
      <p:sp>
        <p:nvSpPr>
          <p:cNvPr id="3" name="Text 1">
            <a:extLst>
              <a:ext uri="{FF2B5EF4-FFF2-40B4-BE49-F238E27FC236}">
                <a16:creationId xmlns:a16="http://schemas.microsoft.com/office/drawing/2014/main" id="{0CD41BBE-34BA-F5CC-8986-B908E725A1F2}"/>
              </a:ext>
            </a:extLst>
          </p:cNvPr>
          <p:cNvSpPr/>
          <p:nvPr/>
        </p:nvSpPr>
        <p:spPr>
          <a:xfrm>
            <a:off x="457200" y="731520"/>
            <a:ext cx="11247120" cy="502920"/>
          </a:xfrm>
          <a:prstGeom prst="rect">
            <a:avLst/>
          </a:prstGeom>
          <a:noFill/>
          <a:ln/>
        </p:spPr>
        <p:txBody>
          <a:bodyPr wrap="square" lIns="0" tIns="0" rIns="0" bIns="0" rtlCol="0" anchor="ctr"/>
          <a:lstStyle/>
          <a:p>
            <a:pPr marL="0" indent="0">
              <a:buNone/>
            </a:pPr>
            <a:r>
              <a:rPr lang="en-US" sz="1200" dirty="0">
                <a:solidFill>
                  <a:srgbClr val="6B6B6B"/>
                </a:solidFill>
                <a:latin typeface="Calibri" pitchFamily="34" charset="0"/>
                <a:ea typeface="Calibri" pitchFamily="34" charset="-122"/>
                <a:cs typeface="Calibri" pitchFamily="34" charset="-120"/>
              </a:rPr>
              <a:t>A fork is a special kind of subagent that keeps the whole conversation instead of starting over — useful when a side task needs too much background to hand off cleanly. And once you understand subagents generally, here's the actual decision: when is delegating even worth it?</a:t>
            </a:r>
            <a:endParaRPr lang="en-US" sz="1200" dirty="0"/>
          </a:p>
        </p:txBody>
      </p:sp>
      <p:sp>
        <p:nvSpPr>
          <p:cNvPr id="4" name="Shape 2">
            <a:extLst>
              <a:ext uri="{FF2B5EF4-FFF2-40B4-BE49-F238E27FC236}">
                <a16:creationId xmlns:a16="http://schemas.microsoft.com/office/drawing/2014/main" id="{A601569D-FD3F-93C5-4EAE-E7117345DA39}"/>
              </a:ext>
            </a:extLst>
          </p:cNvPr>
          <p:cNvSpPr/>
          <p:nvPr/>
        </p:nvSpPr>
        <p:spPr>
          <a:xfrm>
            <a:off x="457200" y="1508760"/>
            <a:ext cx="5852160" cy="4023360"/>
          </a:xfrm>
          <a:prstGeom prst="roundRect">
            <a:avLst>
              <a:gd name="adj" fmla="val 1364"/>
            </a:avLst>
          </a:prstGeom>
          <a:solidFill>
            <a:srgbClr val="FFFFFF"/>
          </a:solidFill>
          <a:ln w="12700">
            <a:solidFill>
              <a:srgbClr val="E3E0D8"/>
            </a:solidFill>
            <a:prstDash val="solid"/>
          </a:ln>
          <a:effectLst>
            <a:outerShdw blurRad="101600" dist="25400" dir="5400000" algn="bl" rotWithShape="0">
              <a:srgbClr val="000000">
                <a:alpha val="8000"/>
              </a:srgbClr>
            </a:outerShdw>
          </a:effectLst>
        </p:spPr>
        <p:txBody>
          <a:bodyPr/>
          <a:lstStyle/>
          <a:p>
            <a:endParaRPr lang="en-US"/>
          </a:p>
        </p:txBody>
      </p:sp>
      <p:sp>
        <p:nvSpPr>
          <p:cNvPr id="5" name="Text 3">
            <a:extLst>
              <a:ext uri="{FF2B5EF4-FFF2-40B4-BE49-F238E27FC236}">
                <a16:creationId xmlns:a16="http://schemas.microsoft.com/office/drawing/2014/main" id="{AD5546C6-DA8F-A65B-E0CB-0475964B13A5}"/>
              </a:ext>
            </a:extLst>
          </p:cNvPr>
          <p:cNvSpPr/>
          <p:nvPr/>
        </p:nvSpPr>
        <p:spPr>
          <a:xfrm>
            <a:off x="731520" y="1709928"/>
            <a:ext cx="5303520" cy="365760"/>
          </a:xfrm>
          <a:prstGeom prst="rect">
            <a:avLst/>
          </a:prstGeom>
          <a:noFill/>
          <a:ln/>
        </p:spPr>
        <p:txBody>
          <a:bodyPr wrap="square" lIns="0" tIns="0" rIns="0" bIns="0" rtlCol="0" anchor="ctr"/>
          <a:lstStyle/>
          <a:p>
            <a:pPr marL="0" indent="0">
              <a:buNone/>
            </a:pPr>
            <a:r>
              <a:rPr lang="en-US" sz="1400" b="1" dirty="0">
                <a:solidFill>
                  <a:srgbClr val="C9704F"/>
                </a:solidFill>
                <a:latin typeface="Calibri" pitchFamily="34" charset="0"/>
                <a:ea typeface="Calibri" pitchFamily="34" charset="-122"/>
                <a:cs typeface="Calibri" pitchFamily="34" charset="-120"/>
              </a:rPr>
              <a:t>A fork inherits everything; a named subagent starts fresh</a:t>
            </a:r>
            <a:endParaRPr lang="en-US" sz="1400" dirty="0"/>
          </a:p>
        </p:txBody>
      </p:sp>
      <p:sp>
        <p:nvSpPr>
          <p:cNvPr id="6" name="Shape 4">
            <a:extLst>
              <a:ext uri="{FF2B5EF4-FFF2-40B4-BE49-F238E27FC236}">
                <a16:creationId xmlns:a16="http://schemas.microsoft.com/office/drawing/2014/main" id="{3CD6D960-DD34-E3FD-670A-AA11AADB2A2F}"/>
              </a:ext>
            </a:extLst>
          </p:cNvPr>
          <p:cNvSpPr/>
          <p:nvPr/>
        </p:nvSpPr>
        <p:spPr>
          <a:xfrm>
            <a:off x="731520" y="2075688"/>
            <a:ext cx="5303520" cy="502920"/>
          </a:xfrm>
          <a:prstGeom prst="rect">
            <a:avLst/>
          </a:prstGeom>
          <a:solidFill>
            <a:srgbClr val="1E1E1E"/>
          </a:solidFill>
          <a:ln w="12700">
            <a:solidFill>
              <a:srgbClr val="1E1E1E"/>
            </a:solidFill>
            <a:prstDash val="solid"/>
          </a:ln>
        </p:spPr>
        <p:txBody>
          <a:bodyPr/>
          <a:lstStyle/>
          <a:p>
            <a:endParaRPr lang="en-US"/>
          </a:p>
        </p:txBody>
      </p:sp>
      <p:sp>
        <p:nvSpPr>
          <p:cNvPr id="7" name="Text 5">
            <a:extLst>
              <a:ext uri="{FF2B5EF4-FFF2-40B4-BE49-F238E27FC236}">
                <a16:creationId xmlns:a16="http://schemas.microsoft.com/office/drawing/2014/main" id="{5C62824B-F34E-9A37-6439-23E65CC0A302}"/>
              </a:ext>
            </a:extLst>
          </p:cNvPr>
          <p:cNvSpPr/>
          <p:nvPr/>
        </p:nvSpPr>
        <p:spPr>
          <a:xfrm>
            <a:off x="868680" y="2075688"/>
            <a:ext cx="5029200" cy="502920"/>
          </a:xfrm>
          <a:prstGeom prst="rect">
            <a:avLst/>
          </a:prstGeom>
          <a:noFill/>
          <a:ln/>
        </p:spPr>
        <p:txBody>
          <a:bodyPr wrap="square" lIns="0" tIns="0" rIns="0" bIns="0" rtlCol="0" anchor="ctr"/>
          <a:lstStyle/>
          <a:p>
            <a:pPr marL="0" indent="0">
              <a:buNone/>
            </a:pPr>
            <a:r>
              <a:rPr lang="en-US" sz="1000" b="1" dirty="0">
                <a:solidFill>
                  <a:srgbClr val="3B7A75"/>
                </a:solidFill>
                <a:latin typeface="Courier New" pitchFamily="34" charset="0"/>
                <a:ea typeface="Courier New" pitchFamily="34" charset="-122"/>
                <a:cs typeface="Courier New" pitchFamily="34" charset="-120"/>
              </a:rPr>
              <a:t>/fork </a:t>
            </a:r>
            <a:r>
              <a:rPr lang="en-US" sz="1000" dirty="0">
                <a:solidFill>
                  <a:srgbClr val="CE9178"/>
                </a:solidFill>
                <a:latin typeface="Courier New" pitchFamily="34" charset="0"/>
                <a:ea typeface="Courier New" pitchFamily="34" charset="-122"/>
                <a:cs typeface="Courier New" pitchFamily="34" charset="-120"/>
              </a:rPr>
              <a:t>draft unit tests for the parser changes</a:t>
            </a:r>
            <a:endParaRPr lang="en-US" sz="1000" dirty="0"/>
          </a:p>
        </p:txBody>
      </p:sp>
      <p:sp>
        <p:nvSpPr>
          <p:cNvPr id="8" name="Text 6">
            <a:extLst>
              <a:ext uri="{FF2B5EF4-FFF2-40B4-BE49-F238E27FC236}">
                <a16:creationId xmlns:a16="http://schemas.microsoft.com/office/drawing/2014/main" id="{431AD2C1-3BB5-19F3-F0D9-83699BA37E96}"/>
              </a:ext>
            </a:extLst>
          </p:cNvPr>
          <p:cNvSpPr/>
          <p:nvPr/>
        </p:nvSpPr>
        <p:spPr>
          <a:xfrm>
            <a:off x="731520" y="2651760"/>
            <a:ext cx="2011680" cy="256032"/>
          </a:xfrm>
          <a:prstGeom prst="rect">
            <a:avLst/>
          </a:prstGeom>
          <a:noFill/>
          <a:ln/>
        </p:spPr>
        <p:txBody>
          <a:bodyPr wrap="square" lIns="0" tIns="0" rIns="0" bIns="0" rtlCol="0" anchor="ctr"/>
          <a:lstStyle/>
          <a:p>
            <a:pPr marL="0" indent="0">
              <a:buNone/>
            </a:pPr>
            <a:endParaRPr lang="en-US" sz="950" dirty="0"/>
          </a:p>
        </p:txBody>
      </p:sp>
      <p:sp>
        <p:nvSpPr>
          <p:cNvPr id="9" name="Text 7">
            <a:extLst>
              <a:ext uri="{FF2B5EF4-FFF2-40B4-BE49-F238E27FC236}">
                <a16:creationId xmlns:a16="http://schemas.microsoft.com/office/drawing/2014/main" id="{09FBADE2-2F63-4EE4-11A8-375C521A3695}"/>
              </a:ext>
            </a:extLst>
          </p:cNvPr>
          <p:cNvSpPr/>
          <p:nvPr/>
        </p:nvSpPr>
        <p:spPr>
          <a:xfrm>
            <a:off x="2788920" y="2651760"/>
            <a:ext cx="1554480" cy="256032"/>
          </a:xfrm>
          <a:prstGeom prst="rect">
            <a:avLst/>
          </a:prstGeom>
          <a:noFill/>
          <a:ln/>
        </p:spPr>
        <p:txBody>
          <a:bodyPr wrap="square" lIns="0" tIns="0" rIns="0" bIns="0" rtlCol="0" anchor="ctr"/>
          <a:lstStyle/>
          <a:p>
            <a:pPr marL="0" indent="0">
              <a:buNone/>
            </a:pPr>
            <a:r>
              <a:rPr lang="en-US" sz="1050" b="1" dirty="0">
                <a:solidFill>
                  <a:srgbClr val="3B7A75"/>
                </a:solidFill>
                <a:latin typeface="Calibri" pitchFamily="34" charset="0"/>
                <a:ea typeface="Calibri" pitchFamily="34" charset="-122"/>
                <a:cs typeface="Calibri" pitchFamily="34" charset="-120"/>
              </a:rPr>
              <a:t>Fork</a:t>
            </a:r>
            <a:endParaRPr lang="en-US" sz="1050" dirty="0"/>
          </a:p>
        </p:txBody>
      </p:sp>
      <p:sp>
        <p:nvSpPr>
          <p:cNvPr id="10" name="Text 8">
            <a:extLst>
              <a:ext uri="{FF2B5EF4-FFF2-40B4-BE49-F238E27FC236}">
                <a16:creationId xmlns:a16="http://schemas.microsoft.com/office/drawing/2014/main" id="{512EBE92-B7DC-B3ED-F864-4AD7A8729B29}"/>
              </a:ext>
            </a:extLst>
          </p:cNvPr>
          <p:cNvSpPr/>
          <p:nvPr/>
        </p:nvSpPr>
        <p:spPr>
          <a:xfrm>
            <a:off x="4389120" y="2651760"/>
            <a:ext cx="1828800" cy="256032"/>
          </a:xfrm>
          <a:prstGeom prst="rect">
            <a:avLst/>
          </a:prstGeom>
          <a:noFill/>
          <a:ln/>
        </p:spPr>
        <p:txBody>
          <a:bodyPr wrap="square" lIns="0" tIns="0" rIns="0" bIns="0" rtlCol="0" anchor="ctr"/>
          <a:lstStyle/>
          <a:p>
            <a:pPr marL="0" indent="0">
              <a:buNone/>
            </a:pPr>
            <a:r>
              <a:rPr lang="en-US" sz="1050" b="1" dirty="0">
                <a:solidFill>
                  <a:srgbClr val="6B5B95"/>
                </a:solidFill>
                <a:latin typeface="Calibri" pitchFamily="34" charset="0"/>
                <a:ea typeface="Calibri" pitchFamily="34" charset="-122"/>
                <a:cs typeface="Calibri" pitchFamily="34" charset="-120"/>
              </a:rPr>
              <a:t>Named subagent</a:t>
            </a:r>
            <a:endParaRPr lang="en-US" sz="1050" dirty="0"/>
          </a:p>
        </p:txBody>
      </p:sp>
      <p:sp>
        <p:nvSpPr>
          <p:cNvPr id="11" name="Shape 9">
            <a:extLst>
              <a:ext uri="{FF2B5EF4-FFF2-40B4-BE49-F238E27FC236}">
                <a16:creationId xmlns:a16="http://schemas.microsoft.com/office/drawing/2014/main" id="{D6C40B09-7EC9-0D1D-673B-172CA88BE8B7}"/>
              </a:ext>
            </a:extLst>
          </p:cNvPr>
          <p:cNvSpPr/>
          <p:nvPr/>
        </p:nvSpPr>
        <p:spPr>
          <a:xfrm>
            <a:off x="731520" y="2944368"/>
            <a:ext cx="5303520" cy="0"/>
          </a:xfrm>
          <a:prstGeom prst="line">
            <a:avLst/>
          </a:prstGeom>
          <a:noFill/>
          <a:ln w="9525">
            <a:solidFill>
              <a:srgbClr val="E3E0D8"/>
            </a:solidFill>
            <a:prstDash val="solid"/>
          </a:ln>
        </p:spPr>
        <p:txBody>
          <a:bodyPr/>
          <a:lstStyle/>
          <a:p>
            <a:endParaRPr lang="en-US"/>
          </a:p>
        </p:txBody>
      </p:sp>
      <p:sp>
        <p:nvSpPr>
          <p:cNvPr id="12" name="Text 10">
            <a:extLst>
              <a:ext uri="{FF2B5EF4-FFF2-40B4-BE49-F238E27FC236}">
                <a16:creationId xmlns:a16="http://schemas.microsoft.com/office/drawing/2014/main" id="{19D0CA2B-F6CE-2212-8599-E93DD12F4C9F}"/>
              </a:ext>
            </a:extLst>
          </p:cNvPr>
          <p:cNvSpPr/>
          <p:nvPr/>
        </p:nvSpPr>
        <p:spPr>
          <a:xfrm>
            <a:off x="731520" y="2980944"/>
            <a:ext cx="2011680" cy="384048"/>
          </a:xfrm>
          <a:prstGeom prst="rect">
            <a:avLst/>
          </a:prstGeom>
          <a:noFill/>
          <a:ln/>
        </p:spPr>
        <p:txBody>
          <a:bodyPr wrap="square" lIns="0" tIns="0" rIns="0" bIns="0" rtlCol="0" anchor="ctr"/>
          <a:lstStyle/>
          <a:p>
            <a:pPr marL="0" indent="0">
              <a:buNone/>
            </a:pPr>
            <a:r>
              <a:rPr lang="en-US" sz="950" b="1" dirty="0">
                <a:solidFill>
                  <a:srgbClr val="141414"/>
                </a:solidFill>
                <a:latin typeface="Calibri" pitchFamily="34" charset="0"/>
                <a:ea typeface="Calibri" pitchFamily="34" charset="-122"/>
                <a:cs typeface="Calibri" pitchFamily="34" charset="-120"/>
              </a:rPr>
              <a:t>Context</a:t>
            </a:r>
            <a:endParaRPr lang="en-US" sz="950" dirty="0"/>
          </a:p>
        </p:txBody>
      </p:sp>
      <p:sp>
        <p:nvSpPr>
          <p:cNvPr id="13" name="Text 11">
            <a:extLst>
              <a:ext uri="{FF2B5EF4-FFF2-40B4-BE49-F238E27FC236}">
                <a16:creationId xmlns:a16="http://schemas.microsoft.com/office/drawing/2014/main" id="{20E778F1-F267-D6C3-33CC-B5FC0300E63D}"/>
              </a:ext>
            </a:extLst>
          </p:cNvPr>
          <p:cNvSpPr/>
          <p:nvPr/>
        </p:nvSpPr>
        <p:spPr>
          <a:xfrm>
            <a:off x="2788920" y="2980944"/>
            <a:ext cx="1554480" cy="384048"/>
          </a:xfrm>
          <a:prstGeom prst="rect">
            <a:avLst/>
          </a:prstGeom>
          <a:noFill/>
          <a:ln/>
        </p:spPr>
        <p:txBody>
          <a:bodyPr wrap="square" lIns="0" tIns="0" rIns="0" bIns="0" rtlCol="0" anchor="ctr"/>
          <a:lstStyle/>
          <a:p>
            <a:pPr marL="0" indent="0">
              <a:buNone/>
            </a:pPr>
            <a:r>
              <a:rPr lang="en-US" sz="900" dirty="0">
                <a:solidFill>
                  <a:srgbClr val="2B2B2B"/>
                </a:solidFill>
                <a:latin typeface="Calibri" pitchFamily="34" charset="0"/>
                <a:ea typeface="Calibri" pitchFamily="34" charset="-122"/>
                <a:cs typeface="Calibri" pitchFamily="34" charset="-120"/>
              </a:rPr>
              <a:t>Full conversation history</a:t>
            </a:r>
            <a:endParaRPr lang="en-US" sz="900" dirty="0"/>
          </a:p>
        </p:txBody>
      </p:sp>
      <p:sp>
        <p:nvSpPr>
          <p:cNvPr id="14" name="Text 12">
            <a:extLst>
              <a:ext uri="{FF2B5EF4-FFF2-40B4-BE49-F238E27FC236}">
                <a16:creationId xmlns:a16="http://schemas.microsoft.com/office/drawing/2014/main" id="{A4147253-FA3F-EEC4-1027-B6F9A17E78A5}"/>
              </a:ext>
            </a:extLst>
          </p:cNvPr>
          <p:cNvSpPr/>
          <p:nvPr/>
        </p:nvSpPr>
        <p:spPr>
          <a:xfrm>
            <a:off x="4389120" y="2980944"/>
            <a:ext cx="1645920" cy="384048"/>
          </a:xfrm>
          <a:prstGeom prst="rect">
            <a:avLst/>
          </a:prstGeom>
          <a:noFill/>
          <a:ln/>
        </p:spPr>
        <p:txBody>
          <a:bodyPr wrap="square" lIns="0" tIns="0" rIns="0" bIns="0" rtlCol="0" anchor="ctr"/>
          <a:lstStyle/>
          <a:p>
            <a:pPr marL="0" indent="0">
              <a:buNone/>
            </a:pPr>
            <a:r>
              <a:rPr lang="en-US" sz="900" dirty="0">
                <a:solidFill>
                  <a:srgbClr val="2B2B2B"/>
                </a:solidFill>
                <a:latin typeface="Calibri" pitchFamily="34" charset="0"/>
                <a:ea typeface="Calibri" pitchFamily="34" charset="-122"/>
                <a:cs typeface="Calibri" pitchFamily="34" charset="-120"/>
              </a:rPr>
              <a:t>Fresh, from the prompt passed</a:t>
            </a:r>
            <a:endParaRPr lang="en-US" sz="900" dirty="0"/>
          </a:p>
        </p:txBody>
      </p:sp>
      <p:sp>
        <p:nvSpPr>
          <p:cNvPr id="15" name="Shape 13">
            <a:extLst>
              <a:ext uri="{FF2B5EF4-FFF2-40B4-BE49-F238E27FC236}">
                <a16:creationId xmlns:a16="http://schemas.microsoft.com/office/drawing/2014/main" id="{D0195288-364D-E3AF-D701-96C8012FDB33}"/>
              </a:ext>
            </a:extLst>
          </p:cNvPr>
          <p:cNvSpPr/>
          <p:nvPr/>
        </p:nvSpPr>
        <p:spPr>
          <a:xfrm>
            <a:off x="731520" y="3401568"/>
            <a:ext cx="5303520" cy="0"/>
          </a:xfrm>
          <a:prstGeom prst="line">
            <a:avLst/>
          </a:prstGeom>
          <a:noFill/>
          <a:ln w="9525">
            <a:solidFill>
              <a:srgbClr val="E3E0D8"/>
            </a:solidFill>
            <a:prstDash val="solid"/>
          </a:ln>
        </p:spPr>
        <p:txBody>
          <a:bodyPr/>
          <a:lstStyle/>
          <a:p>
            <a:endParaRPr lang="en-US"/>
          </a:p>
        </p:txBody>
      </p:sp>
      <p:sp>
        <p:nvSpPr>
          <p:cNvPr id="16" name="Text 14">
            <a:extLst>
              <a:ext uri="{FF2B5EF4-FFF2-40B4-BE49-F238E27FC236}">
                <a16:creationId xmlns:a16="http://schemas.microsoft.com/office/drawing/2014/main" id="{FD570367-A55C-115D-A6F9-4960915F0E70}"/>
              </a:ext>
            </a:extLst>
          </p:cNvPr>
          <p:cNvSpPr/>
          <p:nvPr/>
        </p:nvSpPr>
        <p:spPr>
          <a:xfrm>
            <a:off x="731520" y="3438144"/>
            <a:ext cx="2011680" cy="384048"/>
          </a:xfrm>
          <a:prstGeom prst="rect">
            <a:avLst/>
          </a:prstGeom>
          <a:noFill/>
          <a:ln/>
        </p:spPr>
        <p:txBody>
          <a:bodyPr wrap="square" lIns="0" tIns="0" rIns="0" bIns="0" rtlCol="0" anchor="ctr"/>
          <a:lstStyle/>
          <a:p>
            <a:pPr marL="0" indent="0">
              <a:buNone/>
            </a:pPr>
            <a:r>
              <a:rPr lang="en-US" sz="950" b="1" dirty="0">
                <a:solidFill>
                  <a:srgbClr val="141414"/>
                </a:solidFill>
                <a:latin typeface="Calibri" pitchFamily="34" charset="0"/>
                <a:ea typeface="Calibri" pitchFamily="34" charset="-122"/>
                <a:cs typeface="Calibri" pitchFamily="34" charset="-120"/>
              </a:rPr>
              <a:t>System prompt &amp; tools</a:t>
            </a:r>
            <a:endParaRPr lang="en-US" sz="950" dirty="0"/>
          </a:p>
        </p:txBody>
      </p:sp>
      <p:sp>
        <p:nvSpPr>
          <p:cNvPr id="17" name="Text 15">
            <a:extLst>
              <a:ext uri="{FF2B5EF4-FFF2-40B4-BE49-F238E27FC236}">
                <a16:creationId xmlns:a16="http://schemas.microsoft.com/office/drawing/2014/main" id="{43126145-65C3-60ED-42FC-40B0FC0F21F6}"/>
              </a:ext>
            </a:extLst>
          </p:cNvPr>
          <p:cNvSpPr/>
          <p:nvPr/>
        </p:nvSpPr>
        <p:spPr>
          <a:xfrm>
            <a:off x="2788920" y="3438144"/>
            <a:ext cx="1554480" cy="384048"/>
          </a:xfrm>
          <a:prstGeom prst="rect">
            <a:avLst/>
          </a:prstGeom>
          <a:noFill/>
          <a:ln/>
        </p:spPr>
        <p:txBody>
          <a:bodyPr wrap="square" lIns="0" tIns="0" rIns="0" bIns="0" rtlCol="0" anchor="ctr"/>
          <a:lstStyle/>
          <a:p>
            <a:pPr marL="0" indent="0">
              <a:buNone/>
            </a:pPr>
            <a:r>
              <a:rPr lang="en-US" sz="900" dirty="0">
                <a:solidFill>
                  <a:srgbClr val="2B2B2B"/>
                </a:solidFill>
                <a:latin typeface="Calibri" pitchFamily="34" charset="0"/>
                <a:ea typeface="Calibri" pitchFamily="34" charset="-122"/>
                <a:cs typeface="Calibri" pitchFamily="34" charset="-120"/>
              </a:rPr>
              <a:t>Same as main session</a:t>
            </a:r>
            <a:endParaRPr lang="en-US" sz="900" dirty="0"/>
          </a:p>
        </p:txBody>
      </p:sp>
      <p:sp>
        <p:nvSpPr>
          <p:cNvPr id="18" name="Text 16">
            <a:extLst>
              <a:ext uri="{FF2B5EF4-FFF2-40B4-BE49-F238E27FC236}">
                <a16:creationId xmlns:a16="http://schemas.microsoft.com/office/drawing/2014/main" id="{2619D591-421F-3B19-5E3E-AF0FC5968C28}"/>
              </a:ext>
            </a:extLst>
          </p:cNvPr>
          <p:cNvSpPr/>
          <p:nvPr/>
        </p:nvSpPr>
        <p:spPr>
          <a:xfrm>
            <a:off x="4389120" y="3438144"/>
            <a:ext cx="1645920" cy="384048"/>
          </a:xfrm>
          <a:prstGeom prst="rect">
            <a:avLst/>
          </a:prstGeom>
          <a:noFill/>
          <a:ln/>
        </p:spPr>
        <p:txBody>
          <a:bodyPr wrap="square" lIns="0" tIns="0" rIns="0" bIns="0" rtlCol="0" anchor="ctr"/>
          <a:lstStyle/>
          <a:p>
            <a:pPr marL="0" indent="0">
              <a:buNone/>
            </a:pPr>
            <a:r>
              <a:rPr lang="en-US" sz="900" dirty="0">
                <a:solidFill>
                  <a:srgbClr val="2B2B2B"/>
                </a:solidFill>
                <a:latin typeface="Calibri" pitchFamily="34" charset="0"/>
                <a:ea typeface="Calibri" pitchFamily="34" charset="-122"/>
                <a:cs typeface="Calibri" pitchFamily="34" charset="-120"/>
              </a:rPr>
              <a:t>From the subagent's own definition</a:t>
            </a:r>
            <a:endParaRPr lang="en-US" sz="900" dirty="0"/>
          </a:p>
        </p:txBody>
      </p:sp>
      <p:sp>
        <p:nvSpPr>
          <p:cNvPr id="19" name="Shape 17">
            <a:extLst>
              <a:ext uri="{FF2B5EF4-FFF2-40B4-BE49-F238E27FC236}">
                <a16:creationId xmlns:a16="http://schemas.microsoft.com/office/drawing/2014/main" id="{83750FE8-5D8E-B6CB-1732-A9F42F2CC181}"/>
              </a:ext>
            </a:extLst>
          </p:cNvPr>
          <p:cNvSpPr/>
          <p:nvPr/>
        </p:nvSpPr>
        <p:spPr>
          <a:xfrm>
            <a:off x="731520" y="3858768"/>
            <a:ext cx="5303520" cy="0"/>
          </a:xfrm>
          <a:prstGeom prst="line">
            <a:avLst/>
          </a:prstGeom>
          <a:noFill/>
          <a:ln w="9525">
            <a:solidFill>
              <a:srgbClr val="E3E0D8"/>
            </a:solidFill>
            <a:prstDash val="solid"/>
          </a:ln>
        </p:spPr>
        <p:txBody>
          <a:bodyPr/>
          <a:lstStyle/>
          <a:p>
            <a:endParaRPr lang="en-US"/>
          </a:p>
        </p:txBody>
      </p:sp>
      <p:sp>
        <p:nvSpPr>
          <p:cNvPr id="20" name="Text 18">
            <a:extLst>
              <a:ext uri="{FF2B5EF4-FFF2-40B4-BE49-F238E27FC236}">
                <a16:creationId xmlns:a16="http://schemas.microsoft.com/office/drawing/2014/main" id="{B193F8E0-723F-98C3-ABA9-281EB8A17C54}"/>
              </a:ext>
            </a:extLst>
          </p:cNvPr>
          <p:cNvSpPr/>
          <p:nvPr/>
        </p:nvSpPr>
        <p:spPr>
          <a:xfrm>
            <a:off x="731520" y="3895344"/>
            <a:ext cx="2011680" cy="384048"/>
          </a:xfrm>
          <a:prstGeom prst="rect">
            <a:avLst/>
          </a:prstGeom>
          <a:noFill/>
          <a:ln/>
        </p:spPr>
        <p:txBody>
          <a:bodyPr wrap="square" lIns="0" tIns="0" rIns="0" bIns="0" rtlCol="0" anchor="ctr"/>
          <a:lstStyle/>
          <a:p>
            <a:pPr marL="0" indent="0">
              <a:buNone/>
            </a:pPr>
            <a:r>
              <a:rPr lang="en-US" sz="950" b="1" dirty="0">
                <a:solidFill>
                  <a:srgbClr val="141414"/>
                </a:solidFill>
                <a:latin typeface="Calibri" pitchFamily="34" charset="0"/>
                <a:ea typeface="Calibri" pitchFamily="34" charset="-122"/>
                <a:cs typeface="Calibri" pitchFamily="34" charset="-120"/>
              </a:rPr>
              <a:t>Model</a:t>
            </a:r>
            <a:endParaRPr lang="en-US" sz="950" dirty="0"/>
          </a:p>
        </p:txBody>
      </p:sp>
      <p:sp>
        <p:nvSpPr>
          <p:cNvPr id="21" name="Text 19">
            <a:extLst>
              <a:ext uri="{FF2B5EF4-FFF2-40B4-BE49-F238E27FC236}">
                <a16:creationId xmlns:a16="http://schemas.microsoft.com/office/drawing/2014/main" id="{E3244DC7-04A1-E2F6-9DD6-067A9A58B42E}"/>
              </a:ext>
            </a:extLst>
          </p:cNvPr>
          <p:cNvSpPr/>
          <p:nvPr/>
        </p:nvSpPr>
        <p:spPr>
          <a:xfrm>
            <a:off x="2788920" y="3895344"/>
            <a:ext cx="1554480" cy="384048"/>
          </a:xfrm>
          <a:prstGeom prst="rect">
            <a:avLst/>
          </a:prstGeom>
          <a:noFill/>
          <a:ln/>
        </p:spPr>
        <p:txBody>
          <a:bodyPr wrap="square" lIns="0" tIns="0" rIns="0" bIns="0" rtlCol="0" anchor="ctr"/>
          <a:lstStyle/>
          <a:p>
            <a:pPr marL="0" indent="0">
              <a:buNone/>
            </a:pPr>
            <a:r>
              <a:rPr lang="en-US" sz="900" dirty="0">
                <a:solidFill>
                  <a:srgbClr val="2B2B2B"/>
                </a:solidFill>
                <a:latin typeface="Calibri" pitchFamily="34" charset="0"/>
                <a:ea typeface="Calibri" pitchFamily="34" charset="-122"/>
                <a:cs typeface="Calibri" pitchFamily="34" charset="-120"/>
              </a:rPr>
              <a:t>Same as main session</a:t>
            </a:r>
            <a:endParaRPr lang="en-US" sz="900" dirty="0"/>
          </a:p>
        </p:txBody>
      </p:sp>
      <p:sp>
        <p:nvSpPr>
          <p:cNvPr id="22" name="Text 20">
            <a:extLst>
              <a:ext uri="{FF2B5EF4-FFF2-40B4-BE49-F238E27FC236}">
                <a16:creationId xmlns:a16="http://schemas.microsoft.com/office/drawing/2014/main" id="{31C15C82-4337-78EC-0880-4440EA3BE5D4}"/>
              </a:ext>
            </a:extLst>
          </p:cNvPr>
          <p:cNvSpPr/>
          <p:nvPr/>
        </p:nvSpPr>
        <p:spPr>
          <a:xfrm>
            <a:off x="4389120" y="3895344"/>
            <a:ext cx="1645920" cy="384048"/>
          </a:xfrm>
          <a:prstGeom prst="rect">
            <a:avLst/>
          </a:prstGeom>
          <a:noFill/>
          <a:ln/>
        </p:spPr>
        <p:txBody>
          <a:bodyPr wrap="square" lIns="0" tIns="0" rIns="0" bIns="0" rtlCol="0" anchor="ctr"/>
          <a:lstStyle/>
          <a:p>
            <a:pPr marL="0" indent="0">
              <a:buNone/>
            </a:pPr>
            <a:r>
              <a:rPr lang="en-US" sz="900" dirty="0">
                <a:solidFill>
                  <a:srgbClr val="2B2B2B"/>
                </a:solidFill>
                <a:latin typeface="Calibri" pitchFamily="34" charset="0"/>
                <a:ea typeface="Calibri" pitchFamily="34" charset="-122"/>
                <a:cs typeface="Calibri" pitchFamily="34" charset="-120"/>
              </a:rPr>
              <a:t>From the subagent's model field</a:t>
            </a:r>
            <a:endParaRPr lang="en-US" sz="900" dirty="0"/>
          </a:p>
        </p:txBody>
      </p:sp>
      <p:sp>
        <p:nvSpPr>
          <p:cNvPr id="23" name="Shape 21">
            <a:extLst>
              <a:ext uri="{FF2B5EF4-FFF2-40B4-BE49-F238E27FC236}">
                <a16:creationId xmlns:a16="http://schemas.microsoft.com/office/drawing/2014/main" id="{FFD2245C-3B27-58FB-FD76-674193F78613}"/>
              </a:ext>
            </a:extLst>
          </p:cNvPr>
          <p:cNvSpPr/>
          <p:nvPr/>
        </p:nvSpPr>
        <p:spPr>
          <a:xfrm>
            <a:off x="731520" y="4315968"/>
            <a:ext cx="5303520" cy="0"/>
          </a:xfrm>
          <a:prstGeom prst="line">
            <a:avLst/>
          </a:prstGeom>
          <a:noFill/>
          <a:ln w="9525">
            <a:solidFill>
              <a:srgbClr val="E3E0D8"/>
            </a:solidFill>
            <a:prstDash val="solid"/>
          </a:ln>
        </p:spPr>
        <p:txBody>
          <a:bodyPr/>
          <a:lstStyle/>
          <a:p>
            <a:endParaRPr lang="en-US"/>
          </a:p>
        </p:txBody>
      </p:sp>
      <p:sp>
        <p:nvSpPr>
          <p:cNvPr id="24" name="Text 22">
            <a:extLst>
              <a:ext uri="{FF2B5EF4-FFF2-40B4-BE49-F238E27FC236}">
                <a16:creationId xmlns:a16="http://schemas.microsoft.com/office/drawing/2014/main" id="{BB0B46F2-15A3-BA37-BC4A-132DB96193B9}"/>
              </a:ext>
            </a:extLst>
          </p:cNvPr>
          <p:cNvSpPr/>
          <p:nvPr/>
        </p:nvSpPr>
        <p:spPr>
          <a:xfrm>
            <a:off x="731520" y="4352544"/>
            <a:ext cx="2011680" cy="384048"/>
          </a:xfrm>
          <a:prstGeom prst="rect">
            <a:avLst/>
          </a:prstGeom>
          <a:noFill/>
          <a:ln/>
        </p:spPr>
        <p:txBody>
          <a:bodyPr wrap="square" lIns="0" tIns="0" rIns="0" bIns="0" rtlCol="0" anchor="ctr"/>
          <a:lstStyle/>
          <a:p>
            <a:pPr marL="0" indent="0">
              <a:buNone/>
            </a:pPr>
            <a:r>
              <a:rPr lang="en-US" sz="950" b="1" dirty="0">
                <a:solidFill>
                  <a:srgbClr val="141414"/>
                </a:solidFill>
                <a:latin typeface="Calibri" pitchFamily="34" charset="0"/>
                <a:ea typeface="Calibri" pitchFamily="34" charset="-122"/>
                <a:cs typeface="Calibri" pitchFamily="34" charset="-120"/>
              </a:rPr>
              <a:t>Prompt cache</a:t>
            </a:r>
            <a:endParaRPr lang="en-US" sz="950" dirty="0"/>
          </a:p>
        </p:txBody>
      </p:sp>
      <p:sp>
        <p:nvSpPr>
          <p:cNvPr id="25" name="Text 23">
            <a:extLst>
              <a:ext uri="{FF2B5EF4-FFF2-40B4-BE49-F238E27FC236}">
                <a16:creationId xmlns:a16="http://schemas.microsoft.com/office/drawing/2014/main" id="{192E4399-2614-9D01-9546-C524894C4457}"/>
              </a:ext>
            </a:extLst>
          </p:cNvPr>
          <p:cNvSpPr/>
          <p:nvPr/>
        </p:nvSpPr>
        <p:spPr>
          <a:xfrm>
            <a:off x="2788920" y="4352544"/>
            <a:ext cx="1554480" cy="384048"/>
          </a:xfrm>
          <a:prstGeom prst="rect">
            <a:avLst/>
          </a:prstGeom>
          <a:noFill/>
          <a:ln/>
        </p:spPr>
        <p:txBody>
          <a:bodyPr wrap="square" lIns="0" tIns="0" rIns="0" bIns="0" rtlCol="0" anchor="ctr"/>
          <a:lstStyle/>
          <a:p>
            <a:pPr marL="0" indent="0">
              <a:buNone/>
            </a:pPr>
            <a:r>
              <a:rPr lang="en-US" sz="900" dirty="0">
                <a:solidFill>
                  <a:srgbClr val="2B2B2B"/>
                </a:solidFill>
                <a:latin typeface="Calibri" pitchFamily="34" charset="0"/>
                <a:ea typeface="Calibri" pitchFamily="34" charset="-122"/>
                <a:cs typeface="Calibri" pitchFamily="34" charset="-120"/>
              </a:rPr>
              <a:t>Shared with main session</a:t>
            </a:r>
            <a:endParaRPr lang="en-US" sz="900" dirty="0"/>
          </a:p>
        </p:txBody>
      </p:sp>
      <p:sp>
        <p:nvSpPr>
          <p:cNvPr id="26" name="Text 24">
            <a:extLst>
              <a:ext uri="{FF2B5EF4-FFF2-40B4-BE49-F238E27FC236}">
                <a16:creationId xmlns:a16="http://schemas.microsoft.com/office/drawing/2014/main" id="{5D481FB9-0EF9-DADA-F16E-73A414DC1F67}"/>
              </a:ext>
            </a:extLst>
          </p:cNvPr>
          <p:cNvSpPr/>
          <p:nvPr/>
        </p:nvSpPr>
        <p:spPr>
          <a:xfrm>
            <a:off x="4389120" y="4352544"/>
            <a:ext cx="1645920" cy="384048"/>
          </a:xfrm>
          <a:prstGeom prst="rect">
            <a:avLst/>
          </a:prstGeom>
          <a:noFill/>
          <a:ln/>
        </p:spPr>
        <p:txBody>
          <a:bodyPr wrap="square" lIns="0" tIns="0" rIns="0" bIns="0" rtlCol="0" anchor="ctr"/>
          <a:lstStyle/>
          <a:p>
            <a:pPr marL="0" indent="0">
              <a:buNone/>
            </a:pPr>
            <a:r>
              <a:rPr lang="en-US" sz="900" dirty="0">
                <a:solidFill>
                  <a:srgbClr val="2B2B2B"/>
                </a:solidFill>
                <a:latin typeface="Calibri" pitchFamily="34" charset="0"/>
                <a:ea typeface="Calibri" pitchFamily="34" charset="-122"/>
                <a:cs typeface="Calibri" pitchFamily="34" charset="-120"/>
              </a:rPr>
              <a:t>Separate cache</a:t>
            </a:r>
            <a:endParaRPr lang="en-US" sz="900" dirty="0"/>
          </a:p>
        </p:txBody>
      </p:sp>
      <p:sp>
        <p:nvSpPr>
          <p:cNvPr id="27" name="Text 25">
            <a:extLst>
              <a:ext uri="{FF2B5EF4-FFF2-40B4-BE49-F238E27FC236}">
                <a16:creationId xmlns:a16="http://schemas.microsoft.com/office/drawing/2014/main" id="{2A591B25-C641-7748-0D80-2AA798FA4861}"/>
              </a:ext>
            </a:extLst>
          </p:cNvPr>
          <p:cNvSpPr/>
          <p:nvPr/>
        </p:nvSpPr>
        <p:spPr>
          <a:xfrm>
            <a:off x="731520" y="4864608"/>
            <a:ext cx="5303520" cy="502920"/>
          </a:xfrm>
          <a:prstGeom prst="rect">
            <a:avLst/>
          </a:prstGeom>
          <a:noFill/>
          <a:ln/>
        </p:spPr>
        <p:txBody>
          <a:bodyPr wrap="square" lIns="0" tIns="0" rIns="0" bIns="0" rtlCol="0" anchor="ctr"/>
          <a:lstStyle/>
          <a:p>
            <a:pPr marL="0" indent="0">
              <a:buNone/>
            </a:pPr>
            <a:r>
              <a:rPr lang="en-US" sz="900" i="1" dirty="0">
                <a:solidFill>
                  <a:srgbClr val="6B6B6B"/>
                </a:solidFill>
                <a:latin typeface="Calibri" pitchFamily="34" charset="0"/>
                <a:ea typeface="Calibri" pitchFamily="34" charset="-122"/>
                <a:cs typeface="Calibri" pitchFamily="34" charset="-120"/>
              </a:rPr>
              <a:t>Because a fork's prompt and tools match the parent exactly, its first request reuses the parent's prompt cache — cheaper than a fresh subagent for tasks needing the same context.</a:t>
            </a:r>
            <a:endParaRPr lang="en-US" sz="900" dirty="0"/>
          </a:p>
        </p:txBody>
      </p:sp>
      <p:sp>
        <p:nvSpPr>
          <p:cNvPr id="28" name="Shape 26">
            <a:extLst>
              <a:ext uri="{FF2B5EF4-FFF2-40B4-BE49-F238E27FC236}">
                <a16:creationId xmlns:a16="http://schemas.microsoft.com/office/drawing/2014/main" id="{AA9CD8E7-4FE9-C36A-7D67-932B0BA35877}"/>
              </a:ext>
            </a:extLst>
          </p:cNvPr>
          <p:cNvSpPr/>
          <p:nvPr/>
        </p:nvSpPr>
        <p:spPr>
          <a:xfrm>
            <a:off x="6583680" y="1508760"/>
            <a:ext cx="5120640" cy="4023360"/>
          </a:xfrm>
          <a:prstGeom prst="roundRect">
            <a:avLst>
              <a:gd name="adj" fmla="val 1364"/>
            </a:avLst>
          </a:prstGeom>
          <a:solidFill>
            <a:srgbClr val="FFFFFF"/>
          </a:solidFill>
          <a:ln w="12700">
            <a:solidFill>
              <a:srgbClr val="E3E0D8"/>
            </a:solidFill>
            <a:prstDash val="solid"/>
          </a:ln>
          <a:effectLst>
            <a:outerShdw blurRad="101600" dist="25400" dir="5400000" algn="bl" rotWithShape="0">
              <a:srgbClr val="000000">
                <a:alpha val="8000"/>
              </a:srgbClr>
            </a:outerShdw>
          </a:effectLst>
        </p:spPr>
        <p:txBody>
          <a:bodyPr/>
          <a:lstStyle/>
          <a:p>
            <a:endParaRPr lang="en-US"/>
          </a:p>
        </p:txBody>
      </p:sp>
      <p:sp>
        <p:nvSpPr>
          <p:cNvPr id="29" name="Text 27">
            <a:extLst>
              <a:ext uri="{FF2B5EF4-FFF2-40B4-BE49-F238E27FC236}">
                <a16:creationId xmlns:a16="http://schemas.microsoft.com/office/drawing/2014/main" id="{9EF0B3B5-3C70-FBDA-1792-28EA1D77559F}"/>
              </a:ext>
            </a:extLst>
          </p:cNvPr>
          <p:cNvSpPr/>
          <p:nvPr/>
        </p:nvSpPr>
        <p:spPr>
          <a:xfrm>
            <a:off x="6858000" y="1709928"/>
            <a:ext cx="4572000" cy="320040"/>
          </a:xfrm>
          <a:prstGeom prst="rect">
            <a:avLst/>
          </a:prstGeom>
          <a:noFill/>
          <a:ln/>
        </p:spPr>
        <p:txBody>
          <a:bodyPr wrap="square" lIns="0" tIns="0" rIns="0" bIns="0" rtlCol="0" anchor="ctr"/>
          <a:lstStyle/>
          <a:p>
            <a:pPr marL="0" indent="0">
              <a:buNone/>
            </a:pPr>
            <a:r>
              <a:rPr lang="en-US" sz="1500" b="1" dirty="0">
                <a:solidFill>
                  <a:srgbClr val="141414"/>
                </a:solidFill>
                <a:latin typeface="Calibri" pitchFamily="34" charset="0"/>
                <a:ea typeface="Calibri" pitchFamily="34" charset="-122"/>
                <a:cs typeface="Calibri" pitchFamily="34" charset="-120"/>
              </a:rPr>
              <a:t>Subagent vs. main conversation</a:t>
            </a:r>
            <a:endParaRPr lang="en-US" sz="1500" dirty="0"/>
          </a:p>
        </p:txBody>
      </p:sp>
      <p:sp>
        <p:nvSpPr>
          <p:cNvPr id="30" name="Text 28">
            <a:extLst>
              <a:ext uri="{FF2B5EF4-FFF2-40B4-BE49-F238E27FC236}">
                <a16:creationId xmlns:a16="http://schemas.microsoft.com/office/drawing/2014/main" id="{F635717E-B6B4-8463-1B37-C0883087F20A}"/>
              </a:ext>
            </a:extLst>
          </p:cNvPr>
          <p:cNvSpPr/>
          <p:nvPr/>
        </p:nvSpPr>
        <p:spPr>
          <a:xfrm>
            <a:off x="6858000" y="2075688"/>
            <a:ext cx="4572000" cy="274320"/>
          </a:xfrm>
          <a:prstGeom prst="rect">
            <a:avLst/>
          </a:prstGeom>
          <a:noFill/>
          <a:ln/>
        </p:spPr>
        <p:txBody>
          <a:bodyPr wrap="square" lIns="0" tIns="0" rIns="0" bIns="0" rtlCol="0" anchor="ctr"/>
          <a:lstStyle/>
          <a:p>
            <a:pPr marL="0" indent="0">
              <a:buNone/>
            </a:pPr>
            <a:r>
              <a:rPr lang="en-US" sz="1150" b="1" dirty="0">
                <a:solidFill>
                  <a:srgbClr val="3B7A75"/>
                </a:solidFill>
                <a:latin typeface="Calibri" pitchFamily="34" charset="0"/>
                <a:ea typeface="Calibri" pitchFamily="34" charset="-122"/>
                <a:cs typeface="Calibri" pitchFamily="34" charset="-120"/>
              </a:rPr>
              <a:t>Stay in main conversation when:</a:t>
            </a:r>
            <a:endParaRPr lang="en-US" sz="1150" dirty="0"/>
          </a:p>
        </p:txBody>
      </p:sp>
      <p:sp>
        <p:nvSpPr>
          <p:cNvPr id="31" name="Text 29">
            <a:extLst>
              <a:ext uri="{FF2B5EF4-FFF2-40B4-BE49-F238E27FC236}">
                <a16:creationId xmlns:a16="http://schemas.microsoft.com/office/drawing/2014/main" id="{424DAD94-86EF-AB9F-236D-8505F4DFE270}"/>
              </a:ext>
            </a:extLst>
          </p:cNvPr>
          <p:cNvSpPr/>
          <p:nvPr/>
        </p:nvSpPr>
        <p:spPr>
          <a:xfrm>
            <a:off x="6949440" y="2386584"/>
            <a:ext cx="4480560" cy="237744"/>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 Needs frequent back-and-forth</a:t>
            </a:r>
            <a:endParaRPr lang="en-US" sz="950" dirty="0"/>
          </a:p>
        </p:txBody>
      </p:sp>
      <p:sp>
        <p:nvSpPr>
          <p:cNvPr id="32" name="Text 30">
            <a:extLst>
              <a:ext uri="{FF2B5EF4-FFF2-40B4-BE49-F238E27FC236}">
                <a16:creationId xmlns:a16="http://schemas.microsoft.com/office/drawing/2014/main" id="{23B9F114-1B87-FD9B-9F72-CE0A13CA9AAB}"/>
              </a:ext>
            </a:extLst>
          </p:cNvPr>
          <p:cNvSpPr/>
          <p:nvPr/>
        </p:nvSpPr>
        <p:spPr>
          <a:xfrm>
            <a:off x="6949440" y="2642616"/>
            <a:ext cx="4480560" cy="237744"/>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 Phases share significant context</a:t>
            </a:r>
            <a:endParaRPr lang="en-US" sz="950" dirty="0"/>
          </a:p>
        </p:txBody>
      </p:sp>
      <p:sp>
        <p:nvSpPr>
          <p:cNvPr id="33" name="Text 31">
            <a:extLst>
              <a:ext uri="{FF2B5EF4-FFF2-40B4-BE49-F238E27FC236}">
                <a16:creationId xmlns:a16="http://schemas.microsoft.com/office/drawing/2014/main" id="{16005D82-D55D-00AE-D191-3CD42C4926FD}"/>
              </a:ext>
            </a:extLst>
          </p:cNvPr>
          <p:cNvSpPr/>
          <p:nvPr/>
        </p:nvSpPr>
        <p:spPr>
          <a:xfrm>
            <a:off x="6949440" y="2898648"/>
            <a:ext cx="4480560" cy="237744"/>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 Quick, targeted change</a:t>
            </a:r>
            <a:endParaRPr lang="en-US" sz="950" dirty="0"/>
          </a:p>
        </p:txBody>
      </p:sp>
      <p:sp>
        <p:nvSpPr>
          <p:cNvPr id="34" name="Text 32">
            <a:extLst>
              <a:ext uri="{FF2B5EF4-FFF2-40B4-BE49-F238E27FC236}">
                <a16:creationId xmlns:a16="http://schemas.microsoft.com/office/drawing/2014/main" id="{48EFDAC7-5DA6-CEE1-FAEB-B455B9008A0E}"/>
              </a:ext>
            </a:extLst>
          </p:cNvPr>
          <p:cNvSpPr/>
          <p:nvPr/>
        </p:nvSpPr>
        <p:spPr>
          <a:xfrm>
            <a:off x="6949440" y="3154680"/>
            <a:ext cx="4480560" cy="237744"/>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 Latency matters — subagents start fresh</a:t>
            </a:r>
            <a:endParaRPr lang="en-US" sz="950" dirty="0"/>
          </a:p>
        </p:txBody>
      </p:sp>
      <p:sp>
        <p:nvSpPr>
          <p:cNvPr id="35" name="Text 33">
            <a:extLst>
              <a:ext uri="{FF2B5EF4-FFF2-40B4-BE49-F238E27FC236}">
                <a16:creationId xmlns:a16="http://schemas.microsoft.com/office/drawing/2014/main" id="{A688ADBC-B714-A045-773A-3B8FA84940AD}"/>
              </a:ext>
            </a:extLst>
          </p:cNvPr>
          <p:cNvSpPr/>
          <p:nvPr/>
        </p:nvSpPr>
        <p:spPr>
          <a:xfrm>
            <a:off x="6858000" y="3547872"/>
            <a:ext cx="4572000" cy="274320"/>
          </a:xfrm>
          <a:prstGeom prst="rect">
            <a:avLst/>
          </a:prstGeom>
          <a:noFill/>
          <a:ln/>
        </p:spPr>
        <p:txBody>
          <a:bodyPr wrap="square" lIns="0" tIns="0" rIns="0" bIns="0" rtlCol="0" anchor="ctr"/>
          <a:lstStyle/>
          <a:p>
            <a:pPr marL="0" indent="0">
              <a:buNone/>
            </a:pPr>
            <a:r>
              <a:rPr lang="en-US" sz="1150" b="1" dirty="0">
                <a:solidFill>
                  <a:srgbClr val="6B5B95"/>
                </a:solidFill>
                <a:latin typeface="Calibri" pitchFamily="34" charset="0"/>
                <a:ea typeface="Calibri" pitchFamily="34" charset="-122"/>
                <a:cs typeface="Calibri" pitchFamily="34" charset="-120"/>
              </a:rPr>
              <a:t>Use a subagent when:</a:t>
            </a:r>
            <a:endParaRPr lang="en-US" sz="1150" dirty="0"/>
          </a:p>
        </p:txBody>
      </p:sp>
      <p:sp>
        <p:nvSpPr>
          <p:cNvPr id="36" name="Text 34">
            <a:extLst>
              <a:ext uri="{FF2B5EF4-FFF2-40B4-BE49-F238E27FC236}">
                <a16:creationId xmlns:a16="http://schemas.microsoft.com/office/drawing/2014/main" id="{D832C7C4-34E9-6FC8-582D-BDB2CC7912B3}"/>
              </a:ext>
            </a:extLst>
          </p:cNvPr>
          <p:cNvSpPr/>
          <p:nvPr/>
        </p:nvSpPr>
        <p:spPr>
          <a:xfrm>
            <a:off x="6949440" y="3867912"/>
            <a:ext cx="4480560" cy="320040"/>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 Task produces verbose output you don't need in context</a:t>
            </a:r>
            <a:endParaRPr lang="en-US" sz="950" dirty="0"/>
          </a:p>
        </p:txBody>
      </p:sp>
      <p:sp>
        <p:nvSpPr>
          <p:cNvPr id="37" name="Text 35">
            <a:extLst>
              <a:ext uri="{FF2B5EF4-FFF2-40B4-BE49-F238E27FC236}">
                <a16:creationId xmlns:a16="http://schemas.microsoft.com/office/drawing/2014/main" id="{E150500F-CCDA-D749-3F12-254617938840}"/>
              </a:ext>
            </a:extLst>
          </p:cNvPr>
          <p:cNvSpPr/>
          <p:nvPr/>
        </p:nvSpPr>
        <p:spPr>
          <a:xfrm>
            <a:off x="6949440" y="4197096"/>
            <a:ext cx="4480560" cy="320040"/>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 You want to enforce specific tool restrictions</a:t>
            </a:r>
            <a:endParaRPr lang="en-US" sz="950" dirty="0"/>
          </a:p>
        </p:txBody>
      </p:sp>
      <p:sp>
        <p:nvSpPr>
          <p:cNvPr id="38" name="Text 36">
            <a:extLst>
              <a:ext uri="{FF2B5EF4-FFF2-40B4-BE49-F238E27FC236}">
                <a16:creationId xmlns:a16="http://schemas.microsoft.com/office/drawing/2014/main" id="{05803A9D-555F-5D21-3D64-1484C1D20E76}"/>
              </a:ext>
            </a:extLst>
          </p:cNvPr>
          <p:cNvSpPr/>
          <p:nvPr/>
        </p:nvSpPr>
        <p:spPr>
          <a:xfrm>
            <a:off x="6949440" y="4526280"/>
            <a:ext cx="4480560" cy="320040"/>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 Work is self-contained, returns a clean summary</a:t>
            </a:r>
            <a:endParaRPr lang="en-US" sz="950" dirty="0"/>
          </a:p>
        </p:txBody>
      </p:sp>
      <p:sp>
        <p:nvSpPr>
          <p:cNvPr id="39" name="Shape 37">
            <a:extLst>
              <a:ext uri="{FF2B5EF4-FFF2-40B4-BE49-F238E27FC236}">
                <a16:creationId xmlns:a16="http://schemas.microsoft.com/office/drawing/2014/main" id="{16D7E169-E354-0021-E7D5-F1E99A741421}"/>
              </a:ext>
            </a:extLst>
          </p:cNvPr>
          <p:cNvSpPr/>
          <p:nvPr/>
        </p:nvSpPr>
        <p:spPr>
          <a:xfrm>
            <a:off x="6858000" y="4965192"/>
            <a:ext cx="4572000" cy="777240"/>
          </a:xfrm>
          <a:prstGeom prst="rect">
            <a:avLst/>
          </a:prstGeom>
          <a:solidFill>
            <a:srgbClr val="F7F5F0"/>
          </a:solidFill>
          <a:ln w="9525">
            <a:solidFill>
              <a:srgbClr val="E3E0D8"/>
            </a:solidFill>
            <a:prstDash val="solid"/>
          </a:ln>
        </p:spPr>
        <p:txBody>
          <a:bodyPr/>
          <a:lstStyle/>
          <a:p>
            <a:endParaRPr lang="en-US"/>
          </a:p>
        </p:txBody>
      </p:sp>
      <p:sp>
        <p:nvSpPr>
          <p:cNvPr id="40" name="Text 38">
            <a:extLst>
              <a:ext uri="{FF2B5EF4-FFF2-40B4-BE49-F238E27FC236}">
                <a16:creationId xmlns:a16="http://schemas.microsoft.com/office/drawing/2014/main" id="{41A48CAF-5468-476D-1CCB-3DED3D25BE66}"/>
              </a:ext>
            </a:extLst>
          </p:cNvPr>
          <p:cNvSpPr/>
          <p:nvPr/>
        </p:nvSpPr>
        <p:spPr>
          <a:xfrm>
            <a:off x="6995160" y="4965192"/>
            <a:ext cx="4297680" cy="777240"/>
          </a:xfrm>
          <a:prstGeom prst="rect">
            <a:avLst/>
          </a:prstGeom>
          <a:noFill/>
          <a:ln/>
        </p:spPr>
        <p:txBody>
          <a:bodyPr wrap="square" lIns="0" tIns="0" rIns="0" bIns="0" rtlCol="0" anchor="ctr"/>
          <a:lstStyle/>
          <a:p>
            <a:pPr marL="0" indent="0">
              <a:buNone/>
            </a:pPr>
            <a:r>
              <a:rPr lang="en-US" sz="950" b="1" dirty="0">
                <a:solidFill>
                  <a:srgbClr val="141414"/>
                </a:solidFill>
                <a:latin typeface="Calibri" pitchFamily="34" charset="0"/>
                <a:ea typeface="Calibri" pitchFamily="34" charset="-122"/>
                <a:cs typeface="Calibri" pitchFamily="34" charset="-120"/>
              </a:rPr>
              <a:t>Quick question about something already in context?  </a:t>
            </a:r>
            <a:r>
              <a:rPr lang="en-US" sz="950" dirty="0">
                <a:solidFill>
                  <a:srgbClr val="2B2B2B"/>
                </a:solidFill>
                <a:latin typeface="Calibri" pitchFamily="34" charset="0"/>
                <a:ea typeface="Calibri" pitchFamily="34" charset="-122"/>
                <a:cs typeface="Calibri" pitchFamily="34" charset="-120"/>
              </a:rPr>
              <a:t>Use /btw instead — sees full context, no tool access, answer isn't added to history.</a:t>
            </a:r>
            <a:endParaRPr lang="en-US" sz="950" dirty="0"/>
          </a:p>
        </p:txBody>
      </p:sp>
      <p:sp>
        <p:nvSpPr>
          <p:cNvPr id="41" name="Shape 39">
            <a:extLst>
              <a:ext uri="{FF2B5EF4-FFF2-40B4-BE49-F238E27FC236}">
                <a16:creationId xmlns:a16="http://schemas.microsoft.com/office/drawing/2014/main" id="{1E586613-F9B2-D824-2847-D8BD523A005D}"/>
              </a:ext>
            </a:extLst>
          </p:cNvPr>
          <p:cNvSpPr/>
          <p:nvPr/>
        </p:nvSpPr>
        <p:spPr>
          <a:xfrm>
            <a:off x="457200" y="5715000"/>
            <a:ext cx="11247120" cy="502920"/>
          </a:xfrm>
          <a:prstGeom prst="rect">
            <a:avLst/>
          </a:prstGeom>
          <a:solidFill>
            <a:srgbClr val="F7F5F0"/>
          </a:solidFill>
          <a:ln w="9525">
            <a:solidFill>
              <a:srgbClr val="E3E0D8"/>
            </a:solidFill>
            <a:prstDash val="solid"/>
          </a:ln>
        </p:spPr>
        <p:txBody>
          <a:bodyPr/>
          <a:lstStyle/>
          <a:p>
            <a:endParaRPr lang="en-US"/>
          </a:p>
        </p:txBody>
      </p:sp>
      <p:sp>
        <p:nvSpPr>
          <p:cNvPr id="42" name="Text 40">
            <a:extLst>
              <a:ext uri="{FF2B5EF4-FFF2-40B4-BE49-F238E27FC236}">
                <a16:creationId xmlns:a16="http://schemas.microsoft.com/office/drawing/2014/main" id="{E0FF7ACF-EC3B-0FC9-5237-BF66ACD7891C}"/>
              </a:ext>
            </a:extLst>
          </p:cNvPr>
          <p:cNvSpPr/>
          <p:nvPr/>
        </p:nvSpPr>
        <p:spPr>
          <a:xfrm>
            <a:off x="777240" y="5715000"/>
            <a:ext cx="10607040" cy="502920"/>
          </a:xfrm>
          <a:prstGeom prst="rect">
            <a:avLst/>
          </a:prstGeom>
          <a:noFill/>
          <a:ln/>
        </p:spPr>
        <p:txBody>
          <a:bodyPr wrap="square" lIns="0" tIns="0" rIns="0" bIns="0" rtlCol="0" anchor="ctr"/>
          <a:lstStyle/>
          <a:p>
            <a:pPr marL="0" indent="0">
              <a:buNone/>
            </a:pPr>
            <a:r>
              <a:rPr lang="en-US" sz="1200" b="1" dirty="0">
                <a:solidFill>
                  <a:srgbClr val="C9704F"/>
                </a:solidFill>
                <a:latin typeface="Calibri" pitchFamily="34" charset="0"/>
                <a:ea typeface="Calibri" pitchFamily="34" charset="-122"/>
                <a:cs typeface="Calibri" pitchFamily="34" charset="-120"/>
              </a:rPr>
              <a:t>Reusable workflow that stays in the main context?  </a:t>
            </a:r>
            <a:r>
              <a:rPr lang="en-US" sz="1200" dirty="0">
                <a:solidFill>
                  <a:srgbClr val="2B2B2B"/>
                </a:solidFill>
                <a:latin typeface="Calibri" pitchFamily="34" charset="0"/>
                <a:ea typeface="Calibri" pitchFamily="34" charset="-122"/>
                <a:cs typeface="Calibri" pitchFamily="34" charset="-120"/>
              </a:rPr>
              <a:t>That's a Skill, not a subagent — skills run inline, subagents run isolated.</a:t>
            </a:r>
            <a:endParaRPr lang="en-US" sz="1200" dirty="0"/>
          </a:p>
        </p:txBody>
      </p:sp>
    </p:spTree>
    <p:extLst>
      <p:ext uri="{BB962C8B-B14F-4D97-AF65-F5344CB8AC3E}">
        <p14:creationId xmlns:p14="http://schemas.microsoft.com/office/powerpoint/2010/main" val="6968425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EDAF6B6-479A-7FE1-3665-538B45992CDE}"/>
              </a:ext>
            </a:extLst>
          </p:cNvPr>
          <p:cNvSpPr/>
          <p:nvPr/>
        </p:nvSpPr>
        <p:spPr>
          <a:xfrm>
            <a:off x="457200" y="274320"/>
            <a:ext cx="11247120" cy="502920"/>
          </a:xfrm>
          <a:prstGeom prst="rect">
            <a:avLst/>
          </a:prstGeom>
          <a:noFill/>
          <a:ln/>
        </p:spPr>
        <p:txBody>
          <a:bodyPr wrap="square" lIns="0" tIns="0" rIns="0" bIns="0" rtlCol="0" anchor="ctr"/>
          <a:lstStyle/>
          <a:p>
            <a:pPr marL="0" indent="0">
              <a:buNone/>
            </a:pPr>
            <a:r>
              <a:rPr lang="en-US" sz="3200" b="1" dirty="0">
                <a:solidFill>
                  <a:srgbClr val="141414"/>
                </a:solidFill>
                <a:latin typeface="Cambria" pitchFamily="34" charset="0"/>
                <a:ea typeface="Cambria" pitchFamily="34" charset="-122"/>
                <a:cs typeface="Cambria" pitchFamily="34" charset="-120"/>
              </a:rPr>
              <a:t>Example Subagents</a:t>
            </a:r>
            <a:endParaRPr lang="en-US" sz="3200" dirty="0"/>
          </a:p>
        </p:txBody>
      </p:sp>
      <p:sp>
        <p:nvSpPr>
          <p:cNvPr id="3" name="Text 1">
            <a:extLst>
              <a:ext uri="{FF2B5EF4-FFF2-40B4-BE49-F238E27FC236}">
                <a16:creationId xmlns:a16="http://schemas.microsoft.com/office/drawing/2014/main" id="{A707AC55-A74C-1638-DEB2-81A2115276A5}"/>
              </a:ext>
            </a:extLst>
          </p:cNvPr>
          <p:cNvSpPr/>
          <p:nvPr/>
        </p:nvSpPr>
        <p:spPr>
          <a:xfrm>
            <a:off x="457200" y="731520"/>
            <a:ext cx="11247120" cy="457200"/>
          </a:xfrm>
          <a:prstGeom prst="rect">
            <a:avLst/>
          </a:prstGeom>
          <a:noFill/>
          <a:ln/>
        </p:spPr>
        <p:txBody>
          <a:bodyPr wrap="square" lIns="0" tIns="0" rIns="0" bIns="0" rtlCol="0" anchor="ctr"/>
          <a:lstStyle/>
          <a:p>
            <a:pPr marL="0" indent="0">
              <a:buNone/>
            </a:pPr>
            <a:r>
              <a:rPr lang="en-US" sz="1250" dirty="0">
                <a:solidFill>
                  <a:srgbClr val="6B6B6B"/>
                </a:solidFill>
                <a:latin typeface="Calibri" pitchFamily="34" charset="0"/>
                <a:ea typeface="Calibri" pitchFamily="34" charset="-122"/>
                <a:cs typeface="Calibri" pitchFamily="34" charset="-120"/>
              </a:rPr>
              <a:t>Four real subagents from the docs, each solving a different problem by making one deliberate choice: how much access to grant. More access isn't better — it's just riskier if it isn't needed.</a:t>
            </a:r>
            <a:endParaRPr lang="en-US" sz="1250" dirty="0"/>
          </a:p>
        </p:txBody>
      </p:sp>
      <p:sp>
        <p:nvSpPr>
          <p:cNvPr id="4" name="Shape 2">
            <a:extLst>
              <a:ext uri="{FF2B5EF4-FFF2-40B4-BE49-F238E27FC236}">
                <a16:creationId xmlns:a16="http://schemas.microsoft.com/office/drawing/2014/main" id="{62B6BC6C-4847-85B5-D2A6-0F58C36DB00A}"/>
              </a:ext>
            </a:extLst>
          </p:cNvPr>
          <p:cNvSpPr/>
          <p:nvPr/>
        </p:nvSpPr>
        <p:spPr>
          <a:xfrm>
            <a:off x="457200" y="1417320"/>
            <a:ext cx="2724912" cy="3657600"/>
          </a:xfrm>
          <a:prstGeom prst="roundRect">
            <a:avLst>
              <a:gd name="adj" fmla="val 2013"/>
            </a:avLst>
          </a:prstGeom>
          <a:solidFill>
            <a:srgbClr val="FFFFFF"/>
          </a:solidFill>
          <a:ln w="12700">
            <a:solidFill>
              <a:srgbClr val="E3E0D8"/>
            </a:solidFill>
            <a:prstDash val="solid"/>
          </a:ln>
          <a:effectLst>
            <a:outerShdw blurRad="76200" dist="25400" dir="5400000" algn="bl" rotWithShape="0">
              <a:srgbClr val="000000">
                <a:alpha val="8000"/>
              </a:srgbClr>
            </a:outerShdw>
          </a:effectLst>
        </p:spPr>
        <p:txBody>
          <a:bodyPr/>
          <a:lstStyle/>
          <a:p>
            <a:endParaRPr lang="en-US"/>
          </a:p>
        </p:txBody>
      </p:sp>
      <p:sp>
        <p:nvSpPr>
          <p:cNvPr id="5" name="Shape 3">
            <a:extLst>
              <a:ext uri="{FF2B5EF4-FFF2-40B4-BE49-F238E27FC236}">
                <a16:creationId xmlns:a16="http://schemas.microsoft.com/office/drawing/2014/main" id="{3822341F-3018-C175-1BA1-22349F741256}"/>
              </a:ext>
            </a:extLst>
          </p:cNvPr>
          <p:cNvSpPr/>
          <p:nvPr/>
        </p:nvSpPr>
        <p:spPr>
          <a:xfrm>
            <a:off x="457200" y="1417320"/>
            <a:ext cx="2724912" cy="457200"/>
          </a:xfrm>
          <a:prstGeom prst="rect">
            <a:avLst/>
          </a:prstGeom>
          <a:solidFill>
            <a:srgbClr val="3B7A75"/>
          </a:solidFill>
          <a:ln w="12700">
            <a:solidFill>
              <a:srgbClr val="3B7A75"/>
            </a:solidFill>
            <a:prstDash val="solid"/>
          </a:ln>
        </p:spPr>
        <p:txBody>
          <a:bodyPr/>
          <a:lstStyle/>
          <a:p>
            <a:endParaRPr lang="en-US"/>
          </a:p>
        </p:txBody>
      </p:sp>
      <p:sp>
        <p:nvSpPr>
          <p:cNvPr id="6" name="Text 4">
            <a:extLst>
              <a:ext uri="{FF2B5EF4-FFF2-40B4-BE49-F238E27FC236}">
                <a16:creationId xmlns:a16="http://schemas.microsoft.com/office/drawing/2014/main" id="{153AC813-0F66-5F9D-2F41-E01F8C96FCF3}"/>
              </a:ext>
            </a:extLst>
          </p:cNvPr>
          <p:cNvSpPr/>
          <p:nvPr/>
        </p:nvSpPr>
        <p:spPr>
          <a:xfrm>
            <a:off x="548640" y="1417320"/>
            <a:ext cx="2542032" cy="457200"/>
          </a:xfrm>
          <a:prstGeom prst="rect">
            <a:avLst/>
          </a:prstGeom>
          <a:noFill/>
          <a:ln/>
        </p:spPr>
        <p:txBody>
          <a:bodyPr wrap="square" lIns="0" tIns="0" rIns="0" bIns="0" rtlCol="0" anchor="ctr"/>
          <a:lstStyle/>
          <a:p>
            <a:pPr marL="0" indent="0">
              <a:buNone/>
            </a:pPr>
            <a:r>
              <a:rPr lang="en-US" sz="1200" b="1" dirty="0">
                <a:solidFill>
                  <a:srgbClr val="FFFFFF"/>
                </a:solidFill>
                <a:latin typeface="Courier New" pitchFamily="34" charset="0"/>
                <a:ea typeface="Courier New" pitchFamily="34" charset="-122"/>
                <a:cs typeface="Courier New" pitchFamily="34" charset="-120"/>
              </a:rPr>
              <a:t>code-reviewer</a:t>
            </a:r>
            <a:endParaRPr lang="en-US" sz="1200" dirty="0"/>
          </a:p>
        </p:txBody>
      </p:sp>
      <p:sp>
        <p:nvSpPr>
          <p:cNvPr id="7" name="Text 5">
            <a:extLst>
              <a:ext uri="{FF2B5EF4-FFF2-40B4-BE49-F238E27FC236}">
                <a16:creationId xmlns:a16="http://schemas.microsoft.com/office/drawing/2014/main" id="{027332C3-708B-FC27-C3BF-05721544BF7D}"/>
              </a:ext>
            </a:extLst>
          </p:cNvPr>
          <p:cNvSpPr/>
          <p:nvPr/>
        </p:nvSpPr>
        <p:spPr>
          <a:xfrm>
            <a:off x="594360" y="1984248"/>
            <a:ext cx="2450592" cy="201168"/>
          </a:xfrm>
          <a:prstGeom prst="rect">
            <a:avLst/>
          </a:prstGeom>
          <a:noFill/>
          <a:ln/>
        </p:spPr>
        <p:txBody>
          <a:bodyPr wrap="square" lIns="0" tIns="0" rIns="0" bIns="0" rtlCol="0" anchor="ctr"/>
          <a:lstStyle/>
          <a:p>
            <a:pPr marL="0" indent="0">
              <a:buNone/>
            </a:pPr>
            <a:r>
              <a:rPr lang="en-US" sz="850" b="1" dirty="0">
                <a:solidFill>
                  <a:srgbClr val="6B6B6B"/>
                </a:solidFill>
                <a:latin typeface="Calibri" pitchFamily="34" charset="0"/>
                <a:ea typeface="Calibri" pitchFamily="34" charset="-122"/>
                <a:cs typeface="Calibri" pitchFamily="34" charset="-120"/>
              </a:rPr>
              <a:t>tools:</a:t>
            </a:r>
            <a:endParaRPr lang="en-US" sz="850" dirty="0"/>
          </a:p>
        </p:txBody>
      </p:sp>
      <p:sp>
        <p:nvSpPr>
          <p:cNvPr id="8" name="Text 6">
            <a:extLst>
              <a:ext uri="{FF2B5EF4-FFF2-40B4-BE49-F238E27FC236}">
                <a16:creationId xmlns:a16="http://schemas.microsoft.com/office/drawing/2014/main" id="{5843377C-1044-1D8A-9A59-949E8BF33276}"/>
              </a:ext>
            </a:extLst>
          </p:cNvPr>
          <p:cNvSpPr/>
          <p:nvPr/>
        </p:nvSpPr>
        <p:spPr>
          <a:xfrm>
            <a:off x="594360" y="2185416"/>
            <a:ext cx="2450592" cy="502920"/>
          </a:xfrm>
          <a:prstGeom prst="rect">
            <a:avLst/>
          </a:prstGeom>
          <a:noFill/>
          <a:ln/>
        </p:spPr>
        <p:txBody>
          <a:bodyPr wrap="square" lIns="0" tIns="0" rIns="0" bIns="0" rtlCol="0" anchor="ctr"/>
          <a:lstStyle/>
          <a:p>
            <a:pPr marL="0" indent="0">
              <a:buNone/>
            </a:pPr>
            <a:r>
              <a:rPr lang="en-US" sz="900" dirty="0">
                <a:solidFill>
                  <a:srgbClr val="3B7A75"/>
                </a:solidFill>
                <a:latin typeface="Courier New" pitchFamily="34" charset="0"/>
                <a:ea typeface="Courier New" pitchFamily="34" charset="-122"/>
                <a:cs typeface="Courier New" pitchFamily="34" charset="-120"/>
              </a:rPr>
              <a:t>Read, Grep, Glob, Bash</a:t>
            </a:r>
            <a:endParaRPr lang="en-US" sz="900" dirty="0"/>
          </a:p>
        </p:txBody>
      </p:sp>
      <p:sp>
        <p:nvSpPr>
          <p:cNvPr id="9" name="Shape 7">
            <a:extLst>
              <a:ext uri="{FF2B5EF4-FFF2-40B4-BE49-F238E27FC236}">
                <a16:creationId xmlns:a16="http://schemas.microsoft.com/office/drawing/2014/main" id="{CA51FFDA-914A-2993-A3F5-7B6AE35C3BDD}"/>
              </a:ext>
            </a:extLst>
          </p:cNvPr>
          <p:cNvSpPr/>
          <p:nvPr/>
        </p:nvSpPr>
        <p:spPr>
          <a:xfrm>
            <a:off x="594360" y="2743200"/>
            <a:ext cx="2450592" cy="0"/>
          </a:xfrm>
          <a:prstGeom prst="line">
            <a:avLst/>
          </a:prstGeom>
          <a:noFill/>
          <a:ln w="9525">
            <a:solidFill>
              <a:srgbClr val="E3E0D8"/>
            </a:solidFill>
            <a:prstDash val="solid"/>
          </a:ln>
        </p:spPr>
        <p:txBody>
          <a:bodyPr/>
          <a:lstStyle/>
          <a:p>
            <a:endParaRPr lang="en-US"/>
          </a:p>
        </p:txBody>
      </p:sp>
      <p:sp>
        <p:nvSpPr>
          <p:cNvPr id="10" name="Text 8">
            <a:extLst>
              <a:ext uri="{FF2B5EF4-FFF2-40B4-BE49-F238E27FC236}">
                <a16:creationId xmlns:a16="http://schemas.microsoft.com/office/drawing/2014/main" id="{6ED854D7-DCFF-DB28-024E-745F05EBA576}"/>
              </a:ext>
            </a:extLst>
          </p:cNvPr>
          <p:cNvSpPr/>
          <p:nvPr/>
        </p:nvSpPr>
        <p:spPr>
          <a:xfrm>
            <a:off x="594360" y="2862072"/>
            <a:ext cx="2450592" cy="868680"/>
          </a:xfrm>
          <a:prstGeom prst="rect">
            <a:avLst/>
          </a:prstGeom>
          <a:noFill/>
          <a:ln/>
        </p:spPr>
        <p:txBody>
          <a:bodyPr wrap="square" lIns="0" tIns="0" rIns="0" bIns="0" rtlCol="0" anchor="ctr"/>
          <a:lstStyle/>
          <a:p>
            <a:pPr marL="0" indent="0">
              <a:buNone/>
            </a:pPr>
            <a:r>
              <a:rPr lang="en-US" sz="950" b="1" dirty="0">
                <a:solidFill>
                  <a:srgbClr val="141414"/>
                </a:solidFill>
                <a:latin typeface="Calibri" pitchFamily="34" charset="0"/>
                <a:ea typeface="Calibri" pitchFamily="34" charset="-122"/>
                <a:cs typeface="Calibri" pitchFamily="34" charset="-120"/>
              </a:rPr>
              <a:t>Read-only. Reviews without modifying — no Edit or Write.</a:t>
            </a:r>
            <a:endParaRPr lang="en-US" sz="950" dirty="0"/>
          </a:p>
        </p:txBody>
      </p:sp>
      <p:sp>
        <p:nvSpPr>
          <p:cNvPr id="11" name="Text 9">
            <a:extLst>
              <a:ext uri="{FF2B5EF4-FFF2-40B4-BE49-F238E27FC236}">
                <a16:creationId xmlns:a16="http://schemas.microsoft.com/office/drawing/2014/main" id="{DE06DD52-73A5-3984-E26C-3EB31EDCDBA6}"/>
              </a:ext>
            </a:extLst>
          </p:cNvPr>
          <p:cNvSpPr/>
          <p:nvPr/>
        </p:nvSpPr>
        <p:spPr>
          <a:xfrm>
            <a:off x="594360" y="3794760"/>
            <a:ext cx="2450592" cy="1280160"/>
          </a:xfrm>
          <a:prstGeom prst="rect">
            <a:avLst/>
          </a:prstGeom>
          <a:noFill/>
          <a:ln/>
        </p:spPr>
        <p:txBody>
          <a:bodyPr wrap="square" lIns="0" tIns="0" rIns="0" bIns="0" rtlCol="0" anchor="ctr"/>
          <a:lstStyle/>
          <a:p>
            <a:pPr marL="0" indent="0">
              <a:buNone/>
            </a:pPr>
            <a:r>
              <a:rPr lang="en-US" sz="900" dirty="0">
                <a:solidFill>
                  <a:srgbClr val="2B2B2B"/>
                </a:solidFill>
                <a:latin typeface="Calibri" pitchFamily="34" charset="0"/>
                <a:ea typeface="Calibri" pitchFamily="34" charset="-122"/>
                <a:cs typeface="Calibri" pitchFamily="34" charset="-120"/>
              </a:rPr>
              <a:t>Runs git diff, focuses on modified files, reports critical/warning/suggestion tiers.</a:t>
            </a:r>
            <a:endParaRPr lang="en-US" sz="900" dirty="0"/>
          </a:p>
        </p:txBody>
      </p:sp>
      <p:sp>
        <p:nvSpPr>
          <p:cNvPr id="12" name="Shape 10">
            <a:extLst>
              <a:ext uri="{FF2B5EF4-FFF2-40B4-BE49-F238E27FC236}">
                <a16:creationId xmlns:a16="http://schemas.microsoft.com/office/drawing/2014/main" id="{761CE898-BFC7-B31B-6F6A-7E7EDE356915}"/>
              </a:ext>
            </a:extLst>
          </p:cNvPr>
          <p:cNvSpPr/>
          <p:nvPr/>
        </p:nvSpPr>
        <p:spPr>
          <a:xfrm>
            <a:off x="3300984" y="1417320"/>
            <a:ext cx="2724912" cy="3657600"/>
          </a:xfrm>
          <a:prstGeom prst="roundRect">
            <a:avLst>
              <a:gd name="adj" fmla="val 2013"/>
            </a:avLst>
          </a:prstGeom>
          <a:solidFill>
            <a:srgbClr val="FFFFFF"/>
          </a:solidFill>
          <a:ln w="12700">
            <a:solidFill>
              <a:srgbClr val="E3E0D8"/>
            </a:solidFill>
            <a:prstDash val="solid"/>
          </a:ln>
          <a:effectLst>
            <a:outerShdw blurRad="76200" dist="25400" dir="5400000" algn="bl" rotWithShape="0">
              <a:srgbClr val="000000">
                <a:alpha val="8000"/>
              </a:srgbClr>
            </a:outerShdw>
          </a:effectLst>
        </p:spPr>
        <p:txBody>
          <a:bodyPr/>
          <a:lstStyle/>
          <a:p>
            <a:endParaRPr lang="en-US"/>
          </a:p>
        </p:txBody>
      </p:sp>
      <p:sp>
        <p:nvSpPr>
          <p:cNvPr id="13" name="Shape 11">
            <a:extLst>
              <a:ext uri="{FF2B5EF4-FFF2-40B4-BE49-F238E27FC236}">
                <a16:creationId xmlns:a16="http://schemas.microsoft.com/office/drawing/2014/main" id="{CE19B174-B274-EDEE-22F2-E9931BF53FA0}"/>
              </a:ext>
            </a:extLst>
          </p:cNvPr>
          <p:cNvSpPr/>
          <p:nvPr/>
        </p:nvSpPr>
        <p:spPr>
          <a:xfrm>
            <a:off x="3300984" y="1417320"/>
            <a:ext cx="2724912" cy="457200"/>
          </a:xfrm>
          <a:prstGeom prst="rect">
            <a:avLst/>
          </a:prstGeom>
          <a:solidFill>
            <a:srgbClr val="6B5B95"/>
          </a:solidFill>
          <a:ln w="12700">
            <a:solidFill>
              <a:srgbClr val="6B5B95"/>
            </a:solidFill>
            <a:prstDash val="solid"/>
          </a:ln>
        </p:spPr>
        <p:txBody>
          <a:bodyPr/>
          <a:lstStyle/>
          <a:p>
            <a:endParaRPr lang="en-US"/>
          </a:p>
        </p:txBody>
      </p:sp>
      <p:sp>
        <p:nvSpPr>
          <p:cNvPr id="14" name="Text 12">
            <a:extLst>
              <a:ext uri="{FF2B5EF4-FFF2-40B4-BE49-F238E27FC236}">
                <a16:creationId xmlns:a16="http://schemas.microsoft.com/office/drawing/2014/main" id="{41AF03FA-3128-2A19-7483-2DA1589B3E71}"/>
              </a:ext>
            </a:extLst>
          </p:cNvPr>
          <p:cNvSpPr/>
          <p:nvPr/>
        </p:nvSpPr>
        <p:spPr>
          <a:xfrm>
            <a:off x="3392424" y="1417320"/>
            <a:ext cx="2542032" cy="457200"/>
          </a:xfrm>
          <a:prstGeom prst="rect">
            <a:avLst/>
          </a:prstGeom>
          <a:noFill/>
          <a:ln/>
        </p:spPr>
        <p:txBody>
          <a:bodyPr wrap="square" lIns="0" tIns="0" rIns="0" bIns="0" rtlCol="0" anchor="ctr"/>
          <a:lstStyle/>
          <a:p>
            <a:pPr marL="0" indent="0">
              <a:buNone/>
            </a:pPr>
            <a:r>
              <a:rPr lang="en-US" sz="1200" b="1" dirty="0">
                <a:solidFill>
                  <a:srgbClr val="FFFFFF"/>
                </a:solidFill>
                <a:latin typeface="Courier New" pitchFamily="34" charset="0"/>
                <a:ea typeface="Courier New" pitchFamily="34" charset="-122"/>
                <a:cs typeface="Courier New" pitchFamily="34" charset="-120"/>
              </a:rPr>
              <a:t>debugger</a:t>
            </a:r>
            <a:endParaRPr lang="en-US" sz="1200" dirty="0"/>
          </a:p>
        </p:txBody>
      </p:sp>
      <p:sp>
        <p:nvSpPr>
          <p:cNvPr id="15" name="Text 13">
            <a:extLst>
              <a:ext uri="{FF2B5EF4-FFF2-40B4-BE49-F238E27FC236}">
                <a16:creationId xmlns:a16="http://schemas.microsoft.com/office/drawing/2014/main" id="{BAC39EF9-EC6A-1656-87C7-B8A0A827C938}"/>
              </a:ext>
            </a:extLst>
          </p:cNvPr>
          <p:cNvSpPr/>
          <p:nvPr/>
        </p:nvSpPr>
        <p:spPr>
          <a:xfrm>
            <a:off x="3438144" y="1984248"/>
            <a:ext cx="2450592" cy="201168"/>
          </a:xfrm>
          <a:prstGeom prst="rect">
            <a:avLst/>
          </a:prstGeom>
          <a:noFill/>
          <a:ln/>
        </p:spPr>
        <p:txBody>
          <a:bodyPr wrap="square" lIns="0" tIns="0" rIns="0" bIns="0" rtlCol="0" anchor="ctr"/>
          <a:lstStyle/>
          <a:p>
            <a:pPr marL="0" indent="0">
              <a:buNone/>
            </a:pPr>
            <a:r>
              <a:rPr lang="en-US" sz="850" b="1" dirty="0">
                <a:solidFill>
                  <a:srgbClr val="6B6B6B"/>
                </a:solidFill>
                <a:latin typeface="Calibri" pitchFamily="34" charset="0"/>
                <a:ea typeface="Calibri" pitchFamily="34" charset="-122"/>
                <a:cs typeface="Calibri" pitchFamily="34" charset="-120"/>
              </a:rPr>
              <a:t>tools:</a:t>
            </a:r>
            <a:endParaRPr lang="en-US" sz="850" dirty="0"/>
          </a:p>
        </p:txBody>
      </p:sp>
      <p:sp>
        <p:nvSpPr>
          <p:cNvPr id="16" name="Text 14">
            <a:extLst>
              <a:ext uri="{FF2B5EF4-FFF2-40B4-BE49-F238E27FC236}">
                <a16:creationId xmlns:a16="http://schemas.microsoft.com/office/drawing/2014/main" id="{61402B10-D58D-CAAE-D0EE-FEAF4834FA18}"/>
              </a:ext>
            </a:extLst>
          </p:cNvPr>
          <p:cNvSpPr/>
          <p:nvPr/>
        </p:nvSpPr>
        <p:spPr>
          <a:xfrm>
            <a:off x="3438144" y="2185416"/>
            <a:ext cx="2450592" cy="502920"/>
          </a:xfrm>
          <a:prstGeom prst="rect">
            <a:avLst/>
          </a:prstGeom>
          <a:noFill/>
          <a:ln/>
        </p:spPr>
        <p:txBody>
          <a:bodyPr wrap="square" lIns="0" tIns="0" rIns="0" bIns="0" rtlCol="0" anchor="ctr"/>
          <a:lstStyle/>
          <a:p>
            <a:pPr marL="0" indent="0">
              <a:buNone/>
            </a:pPr>
            <a:r>
              <a:rPr lang="en-US" sz="900" dirty="0">
                <a:solidFill>
                  <a:srgbClr val="6B5B95"/>
                </a:solidFill>
                <a:latin typeface="Courier New" pitchFamily="34" charset="0"/>
                <a:ea typeface="Courier New" pitchFamily="34" charset="-122"/>
                <a:cs typeface="Courier New" pitchFamily="34" charset="-120"/>
              </a:rPr>
              <a:t>Read, Edit, Bash, Grep, Glob</a:t>
            </a:r>
            <a:endParaRPr lang="en-US" sz="900" dirty="0"/>
          </a:p>
        </p:txBody>
      </p:sp>
      <p:sp>
        <p:nvSpPr>
          <p:cNvPr id="17" name="Shape 15">
            <a:extLst>
              <a:ext uri="{FF2B5EF4-FFF2-40B4-BE49-F238E27FC236}">
                <a16:creationId xmlns:a16="http://schemas.microsoft.com/office/drawing/2014/main" id="{7728C33E-422C-4114-66CD-C38292017A6D}"/>
              </a:ext>
            </a:extLst>
          </p:cNvPr>
          <p:cNvSpPr/>
          <p:nvPr/>
        </p:nvSpPr>
        <p:spPr>
          <a:xfrm>
            <a:off x="3438144" y="2743200"/>
            <a:ext cx="2450592" cy="0"/>
          </a:xfrm>
          <a:prstGeom prst="line">
            <a:avLst/>
          </a:prstGeom>
          <a:noFill/>
          <a:ln w="9525">
            <a:solidFill>
              <a:srgbClr val="E3E0D8"/>
            </a:solidFill>
            <a:prstDash val="solid"/>
          </a:ln>
        </p:spPr>
        <p:txBody>
          <a:bodyPr/>
          <a:lstStyle/>
          <a:p>
            <a:endParaRPr lang="en-US"/>
          </a:p>
        </p:txBody>
      </p:sp>
      <p:sp>
        <p:nvSpPr>
          <p:cNvPr id="18" name="Text 16">
            <a:extLst>
              <a:ext uri="{FF2B5EF4-FFF2-40B4-BE49-F238E27FC236}">
                <a16:creationId xmlns:a16="http://schemas.microsoft.com/office/drawing/2014/main" id="{95483778-C30E-FAF9-C895-1BCD1DBFFA0C}"/>
              </a:ext>
            </a:extLst>
          </p:cNvPr>
          <p:cNvSpPr/>
          <p:nvPr/>
        </p:nvSpPr>
        <p:spPr>
          <a:xfrm>
            <a:off x="3438144" y="2862072"/>
            <a:ext cx="2450592" cy="868680"/>
          </a:xfrm>
          <a:prstGeom prst="rect">
            <a:avLst/>
          </a:prstGeom>
          <a:noFill/>
          <a:ln/>
        </p:spPr>
        <p:txBody>
          <a:bodyPr wrap="square" lIns="0" tIns="0" rIns="0" bIns="0" rtlCol="0" anchor="ctr"/>
          <a:lstStyle/>
          <a:p>
            <a:pPr marL="0" indent="0">
              <a:buNone/>
            </a:pPr>
            <a:r>
              <a:rPr lang="en-US" sz="950" b="1" dirty="0">
                <a:solidFill>
                  <a:srgbClr val="141414"/>
                </a:solidFill>
                <a:latin typeface="Calibri" pitchFamily="34" charset="0"/>
                <a:ea typeface="Calibri" pitchFamily="34" charset="-122"/>
                <a:cs typeface="Calibri" pitchFamily="34" charset="-120"/>
              </a:rPr>
              <a:t>Diagnoses AND fixes. Includes Edit since bugs need code changes.</a:t>
            </a:r>
            <a:endParaRPr lang="en-US" sz="950" dirty="0"/>
          </a:p>
        </p:txBody>
      </p:sp>
      <p:sp>
        <p:nvSpPr>
          <p:cNvPr id="19" name="Text 17">
            <a:extLst>
              <a:ext uri="{FF2B5EF4-FFF2-40B4-BE49-F238E27FC236}">
                <a16:creationId xmlns:a16="http://schemas.microsoft.com/office/drawing/2014/main" id="{D90E4917-F9C4-4A89-FFE2-B5E388D0ABAD}"/>
              </a:ext>
            </a:extLst>
          </p:cNvPr>
          <p:cNvSpPr/>
          <p:nvPr/>
        </p:nvSpPr>
        <p:spPr>
          <a:xfrm>
            <a:off x="3438144" y="3794760"/>
            <a:ext cx="2450592" cy="1280160"/>
          </a:xfrm>
          <a:prstGeom prst="rect">
            <a:avLst/>
          </a:prstGeom>
          <a:noFill/>
          <a:ln/>
        </p:spPr>
        <p:txBody>
          <a:bodyPr wrap="square" lIns="0" tIns="0" rIns="0" bIns="0" rtlCol="0" anchor="ctr"/>
          <a:lstStyle/>
          <a:p>
            <a:pPr marL="0" indent="0">
              <a:buNone/>
            </a:pPr>
            <a:r>
              <a:rPr lang="en-US" sz="900" dirty="0">
                <a:solidFill>
                  <a:srgbClr val="2B2B2B"/>
                </a:solidFill>
                <a:latin typeface="Calibri" pitchFamily="34" charset="0"/>
                <a:ea typeface="Calibri" pitchFamily="34" charset="-122"/>
                <a:cs typeface="Calibri" pitchFamily="34" charset="-120"/>
              </a:rPr>
              <a:t>Capture error → reproduce → isolate → minimal fix → verify.</a:t>
            </a:r>
            <a:endParaRPr lang="en-US" sz="900" dirty="0"/>
          </a:p>
        </p:txBody>
      </p:sp>
      <p:sp>
        <p:nvSpPr>
          <p:cNvPr id="20" name="Shape 18">
            <a:extLst>
              <a:ext uri="{FF2B5EF4-FFF2-40B4-BE49-F238E27FC236}">
                <a16:creationId xmlns:a16="http://schemas.microsoft.com/office/drawing/2014/main" id="{B716756F-16C3-2819-D454-CD33F3E33E6C}"/>
              </a:ext>
            </a:extLst>
          </p:cNvPr>
          <p:cNvSpPr/>
          <p:nvPr/>
        </p:nvSpPr>
        <p:spPr>
          <a:xfrm>
            <a:off x="6144768" y="1417320"/>
            <a:ext cx="2724912" cy="3657600"/>
          </a:xfrm>
          <a:prstGeom prst="roundRect">
            <a:avLst>
              <a:gd name="adj" fmla="val 2013"/>
            </a:avLst>
          </a:prstGeom>
          <a:solidFill>
            <a:srgbClr val="FFFFFF"/>
          </a:solidFill>
          <a:ln w="12700">
            <a:solidFill>
              <a:srgbClr val="E3E0D8"/>
            </a:solidFill>
            <a:prstDash val="solid"/>
          </a:ln>
          <a:effectLst>
            <a:outerShdw blurRad="76200" dist="25400" dir="5400000" algn="bl" rotWithShape="0">
              <a:srgbClr val="000000">
                <a:alpha val="8000"/>
              </a:srgbClr>
            </a:outerShdw>
          </a:effectLst>
        </p:spPr>
        <p:txBody>
          <a:bodyPr/>
          <a:lstStyle/>
          <a:p>
            <a:endParaRPr lang="en-US"/>
          </a:p>
        </p:txBody>
      </p:sp>
      <p:sp>
        <p:nvSpPr>
          <p:cNvPr id="21" name="Shape 19">
            <a:extLst>
              <a:ext uri="{FF2B5EF4-FFF2-40B4-BE49-F238E27FC236}">
                <a16:creationId xmlns:a16="http://schemas.microsoft.com/office/drawing/2014/main" id="{E409AF1E-50D5-B227-0965-19942AB6951B}"/>
              </a:ext>
            </a:extLst>
          </p:cNvPr>
          <p:cNvSpPr/>
          <p:nvPr/>
        </p:nvSpPr>
        <p:spPr>
          <a:xfrm>
            <a:off x="6144768" y="1417320"/>
            <a:ext cx="2724912" cy="457200"/>
          </a:xfrm>
          <a:prstGeom prst="rect">
            <a:avLst/>
          </a:prstGeom>
          <a:solidFill>
            <a:srgbClr val="8A6D3B"/>
          </a:solidFill>
          <a:ln w="12700">
            <a:solidFill>
              <a:srgbClr val="8A6D3B"/>
            </a:solidFill>
            <a:prstDash val="solid"/>
          </a:ln>
        </p:spPr>
        <p:txBody>
          <a:bodyPr/>
          <a:lstStyle/>
          <a:p>
            <a:endParaRPr lang="en-US"/>
          </a:p>
        </p:txBody>
      </p:sp>
      <p:sp>
        <p:nvSpPr>
          <p:cNvPr id="22" name="Text 20">
            <a:extLst>
              <a:ext uri="{FF2B5EF4-FFF2-40B4-BE49-F238E27FC236}">
                <a16:creationId xmlns:a16="http://schemas.microsoft.com/office/drawing/2014/main" id="{416C28A6-98E4-E7CD-6C63-87D7CBA83588}"/>
              </a:ext>
            </a:extLst>
          </p:cNvPr>
          <p:cNvSpPr/>
          <p:nvPr/>
        </p:nvSpPr>
        <p:spPr>
          <a:xfrm>
            <a:off x="6236208" y="1417320"/>
            <a:ext cx="2542032" cy="457200"/>
          </a:xfrm>
          <a:prstGeom prst="rect">
            <a:avLst/>
          </a:prstGeom>
          <a:noFill/>
          <a:ln/>
        </p:spPr>
        <p:txBody>
          <a:bodyPr wrap="square" lIns="0" tIns="0" rIns="0" bIns="0" rtlCol="0" anchor="ctr"/>
          <a:lstStyle/>
          <a:p>
            <a:pPr marL="0" indent="0">
              <a:buNone/>
            </a:pPr>
            <a:r>
              <a:rPr lang="en-US" sz="1200" b="1" dirty="0">
                <a:solidFill>
                  <a:srgbClr val="FFFFFF"/>
                </a:solidFill>
                <a:latin typeface="Courier New" pitchFamily="34" charset="0"/>
                <a:ea typeface="Courier New" pitchFamily="34" charset="-122"/>
                <a:cs typeface="Courier New" pitchFamily="34" charset="-120"/>
              </a:rPr>
              <a:t>data-scientist</a:t>
            </a:r>
            <a:endParaRPr lang="en-US" sz="1200" dirty="0"/>
          </a:p>
        </p:txBody>
      </p:sp>
      <p:sp>
        <p:nvSpPr>
          <p:cNvPr id="23" name="Text 21">
            <a:extLst>
              <a:ext uri="{FF2B5EF4-FFF2-40B4-BE49-F238E27FC236}">
                <a16:creationId xmlns:a16="http://schemas.microsoft.com/office/drawing/2014/main" id="{C2997A07-0E01-1A1D-CD25-8E68A1057D0C}"/>
              </a:ext>
            </a:extLst>
          </p:cNvPr>
          <p:cNvSpPr/>
          <p:nvPr/>
        </p:nvSpPr>
        <p:spPr>
          <a:xfrm>
            <a:off x="6281928" y="1984248"/>
            <a:ext cx="2450592" cy="201168"/>
          </a:xfrm>
          <a:prstGeom prst="rect">
            <a:avLst/>
          </a:prstGeom>
          <a:noFill/>
          <a:ln/>
        </p:spPr>
        <p:txBody>
          <a:bodyPr wrap="square" lIns="0" tIns="0" rIns="0" bIns="0" rtlCol="0" anchor="ctr"/>
          <a:lstStyle/>
          <a:p>
            <a:pPr marL="0" indent="0">
              <a:buNone/>
            </a:pPr>
            <a:r>
              <a:rPr lang="en-US" sz="850" b="1" dirty="0">
                <a:solidFill>
                  <a:srgbClr val="6B6B6B"/>
                </a:solidFill>
                <a:latin typeface="Calibri" pitchFamily="34" charset="0"/>
                <a:ea typeface="Calibri" pitchFamily="34" charset="-122"/>
                <a:cs typeface="Calibri" pitchFamily="34" charset="-120"/>
              </a:rPr>
              <a:t>tools:</a:t>
            </a:r>
            <a:endParaRPr lang="en-US" sz="850" dirty="0"/>
          </a:p>
        </p:txBody>
      </p:sp>
      <p:sp>
        <p:nvSpPr>
          <p:cNvPr id="24" name="Text 22">
            <a:extLst>
              <a:ext uri="{FF2B5EF4-FFF2-40B4-BE49-F238E27FC236}">
                <a16:creationId xmlns:a16="http://schemas.microsoft.com/office/drawing/2014/main" id="{689E7DE0-A2EA-0519-7AD8-7EBEEC4AB9D4}"/>
              </a:ext>
            </a:extLst>
          </p:cNvPr>
          <p:cNvSpPr/>
          <p:nvPr/>
        </p:nvSpPr>
        <p:spPr>
          <a:xfrm>
            <a:off x="6281928" y="2185416"/>
            <a:ext cx="2450592" cy="502920"/>
          </a:xfrm>
          <a:prstGeom prst="rect">
            <a:avLst/>
          </a:prstGeom>
          <a:noFill/>
          <a:ln/>
        </p:spPr>
        <p:txBody>
          <a:bodyPr wrap="square" lIns="0" tIns="0" rIns="0" bIns="0" rtlCol="0" anchor="ctr"/>
          <a:lstStyle/>
          <a:p>
            <a:pPr marL="0" indent="0">
              <a:buNone/>
            </a:pPr>
            <a:r>
              <a:rPr lang="en-US" sz="900" dirty="0">
                <a:solidFill>
                  <a:srgbClr val="8A6D3B"/>
                </a:solidFill>
                <a:latin typeface="Courier New" pitchFamily="34" charset="0"/>
                <a:ea typeface="Courier New" pitchFamily="34" charset="-122"/>
                <a:cs typeface="Courier New" pitchFamily="34" charset="-120"/>
              </a:rPr>
              <a:t>Bash, Read, Write</a:t>
            </a:r>
            <a:endParaRPr lang="en-US" sz="900" dirty="0"/>
          </a:p>
        </p:txBody>
      </p:sp>
      <p:sp>
        <p:nvSpPr>
          <p:cNvPr id="25" name="Shape 23">
            <a:extLst>
              <a:ext uri="{FF2B5EF4-FFF2-40B4-BE49-F238E27FC236}">
                <a16:creationId xmlns:a16="http://schemas.microsoft.com/office/drawing/2014/main" id="{0E9804B0-A49E-DDDD-3AE2-CBDD1A326146}"/>
              </a:ext>
            </a:extLst>
          </p:cNvPr>
          <p:cNvSpPr/>
          <p:nvPr/>
        </p:nvSpPr>
        <p:spPr>
          <a:xfrm>
            <a:off x="6281928" y="2743200"/>
            <a:ext cx="2450592" cy="0"/>
          </a:xfrm>
          <a:prstGeom prst="line">
            <a:avLst/>
          </a:prstGeom>
          <a:noFill/>
          <a:ln w="9525">
            <a:solidFill>
              <a:srgbClr val="E3E0D8"/>
            </a:solidFill>
            <a:prstDash val="solid"/>
          </a:ln>
        </p:spPr>
        <p:txBody>
          <a:bodyPr/>
          <a:lstStyle/>
          <a:p>
            <a:endParaRPr lang="en-US"/>
          </a:p>
        </p:txBody>
      </p:sp>
      <p:sp>
        <p:nvSpPr>
          <p:cNvPr id="26" name="Text 24">
            <a:extLst>
              <a:ext uri="{FF2B5EF4-FFF2-40B4-BE49-F238E27FC236}">
                <a16:creationId xmlns:a16="http://schemas.microsoft.com/office/drawing/2014/main" id="{19953A69-7E69-F182-3C33-89E52BD506BB}"/>
              </a:ext>
            </a:extLst>
          </p:cNvPr>
          <p:cNvSpPr/>
          <p:nvPr/>
        </p:nvSpPr>
        <p:spPr>
          <a:xfrm>
            <a:off x="6281928" y="2862072"/>
            <a:ext cx="2450592" cy="868680"/>
          </a:xfrm>
          <a:prstGeom prst="rect">
            <a:avLst/>
          </a:prstGeom>
          <a:noFill/>
          <a:ln/>
        </p:spPr>
        <p:txBody>
          <a:bodyPr wrap="square" lIns="0" tIns="0" rIns="0" bIns="0" rtlCol="0" anchor="ctr"/>
          <a:lstStyle/>
          <a:p>
            <a:pPr marL="0" indent="0">
              <a:buNone/>
            </a:pPr>
            <a:r>
              <a:rPr lang="en-US" sz="950" b="1" dirty="0">
                <a:solidFill>
                  <a:srgbClr val="141414"/>
                </a:solidFill>
                <a:latin typeface="Calibri" pitchFamily="34" charset="0"/>
                <a:ea typeface="Calibri" pitchFamily="34" charset="-122"/>
                <a:cs typeface="Calibri" pitchFamily="34" charset="-120"/>
              </a:rPr>
              <a:t>Domain-specific, non-coding workflow. Explicitly pins model: sonnet.</a:t>
            </a:r>
            <a:endParaRPr lang="en-US" sz="950" dirty="0"/>
          </a:p>
        </p:txBody>
      </p:sp>
      <p:sp>
        <p:nvSpPr>
          <p:cNvPr id="27" name="Text 25">
            <a:extLst>
              <a:ext uri="{FF2B5EF4-FFF2-40B4-BE49-F238E27FC236}">
                <a16:creationId xmlns:a16="http://schemas.microsoft.com/office/drawing/2014/main" id="{7EC26E8D-A3EA-5DD4-9FE3-99D71FF3789D}"/>
              </a:ext>
            </a:extLst>
          </p:cNvPr>
          <p:cNvSpPr/>
          <p:nvPr/>
        </p:nvSpPr>
        <p:spPr>
          <a:xfrm>
            <a:off x="6281928" y="3794760"/>
            <a:ext cx="2450592" cy="1280160"/>
          </a:xfrm>
          <a:prstGeom prst="rect">
            <a:avLst/>
          </a:prstGeom>
          <a:noFill/>
          <a:ln/>
        </p:spPr>
        <p:txBody>
          <a:bodyPr wrap="square" lIns="0" tIns="0" rIns="0" bIns="0" rtlCol="0" anchor="ctr"/>
          <a:lstStyle/>
          <a:p>
            <a:pPr marL="0" indent="0">
              <a:buNone/>
            </a:pPr>
            <a:r>
              <a:rPr lang="en-US" sz="900" dirty="0">
                <a:solidFill>
                  <a:srgbClr val="2B2B2B"/>
                </a:solidFill>
                <a:latin typeface="Calibri" pitchFamily="34" charset="0"/>
                <a:ea typeface="Calibri" pitchFamily="34" charset="-122"/>
                <a:cs typeface="Calibri" pitchFamily="34" charset="-120"/>
              </a:rPr>
              <a:t>SQL + BigQuery analysis, optimized queries, data-driven recommendations.</a:t>
            </a:r>
            <a:endParaRPr lang="en-US" sz="900" dirty="0"/>
          </a:p>
        </p:txBody>
      </p:sp>
      <p:sp>
        <p:nvSpPr>
          <p:cNvPr id="28" name="Shape 26">
            <a:extLst>
              <a:ext uri="{FF2B5EF4-FFF2-40B4-BE49-F238E27FC236}">
                <a16:creationId xmlns:a16="http://schemas.microsoft.com/office/drawing/2014/main" id="{53B69081-02F7-72A3-EDAD-127C024E1E7E}"/>
              </a:ext>
            </a:extLst>
          </p:cNvPr>
          <p:cNvSpPr/>
          <p:nvPr/>
        </p:nvSpPr>
        <p:spPr>
          <a:xfrm>
            <a:off x="8988552" y="1417320"/>
            <a:ext cx="2724912" cy="3657600"/>
          </a:xfrm>
          <a:prstGeom prst="roundRect">
            <a:avLst>
              <a:gd name="adj" fmla="val 2013"/>
            </a:avLst>
          </a:prstGeom>
          <a:solidFill>
            <a:srgbClr val="FFFFFF"/>
          </a:solidFill>
          <a:ln w="12700">
            <a:solidFill>
              <a:srgbClr val="E3E0D8"/>
            </a:solidFill>
            <a:prstDash val="solid"/>
          </a:ln>
          <a:effectLst>
            <a:outerShdw blurRad="76200" dist="25400" dir="5400000" algn="bl" rotWithShape="0">
              <a:srgbClr val="000000">
                <a:alpha val="8000"/>
              </a:srgbClr>
            </a:outerShdw>
          </a:effectLst>
        </p:spPr>
        <p:txBody>
          <a:bodyPr/>
          <a:lstStyle/>
          <a:p>
            <a:endParaRPr lang="en-US"/>
          </a:p>
        </p:txBody>
      </p:sp>
      <p:sp>
        <p:nvSpPr>
          <p:cNvPr id="29" name="Shape 27">
            <a:extLst>
              <a:ext uri="{FF2B5EF4-FFF2-40B4-BE49-F238E27FC236}">
                <a16:creationId xmlns:a16="http://schemas.microsoft.com/office/drawing/2014/main" id="{A971419A-3ADC-705E-9991-8FDC7AAE5BE2}"/>
              </a:ext>
            </a:extLst>
          </p:cNvPr>
          <p:cNvSpPr/>
          <p:nvPr/>
        </p:nvSpPr>
        <p:spPr>
          <a:xfrm>
            <a:off x="8988552" y="1417320"/>
            <a:ext cx="2724912" cy="457200"/>
          </a:xfrm>
          <a:prstGeom prst="rect">
            <a:avLst/>
          </a:prstGeom>
          <a:solidFill>
            <a:srgbClr val="B04A3B"/>
          </a:solidFill>
          <a:ln w="12700">
            <a:solidFill>
              <a:srgbClr val="B04A3B"/>
            </a:solidFill>
            <a:prstDash val="solid"/>
          </a:ln>
        </p:spPr>
        <p:txBody>
          <a:bodyPr/>
          <a:lstStyle/>
          <a:p>
            <a:endParaRPr lang="en-US"/>
          </a:p>
        </p:txBody>
      </p:sp>
      <p:sp>
        <p:nvSpPr>
          <p:cNvPr id="30" name="Text 28">
            <a:extLst>
              <a:ext uri="{FF2B5EF4-FFF2-40B4-BE49-F238E27FC236}">
                <a16:creationId xmlns:a16="http://schemas.microsoft.com/office/drawing/2014/main" id="{944B89A1-04D5-D7C9-8964-03A008ACC552}"/>
              </a:ext>
            </a:extLst>
          </p:cNvPr>
          <p:cNvSpPr/>
          <p:nvPr/>
        </p:nvSpPr>
        <p:spPr>
          <a:xfrm>
            <a:off x="9079992" y="1417320"/>
            <a:ext cx="2542032" cy="457200"/>
          </a:xfrm>
          <a:prstGeom prst="rect">
            <a:avLst/>
          </a:prstGeom>
          <a:noFill/>
          <a:ln/>
        </p:spPr>
        <p:txBody>
          <a:bodyPr wrap="square" lIns="0" tIns="0" rIns="0" bIns="0" rtlCol="0" anchor="ctr"/>
          <a:lstStyle/>
          <a:p>
            <a:pPr marL="0" indent="0">
              <a:buNone/>
            </a:pPr>
            <a:r>
              <a:rPr lang="en-US" sz="1200" b="1" dirty="0">
                <a:solidFill>
                  <a:srgbClr val="FFFFFF"/>
                </a:solidFill>
                <a:latin typeface="Courier New" pitchFamily="34" charset="0"/>
                <a:ea typeface="Courier New" pitchFamily="34" charset="-122"/>
                <a:cs typeface="Courier New" pitchFamily="34" charset="-120"/>
              </a:rPr>
              <a:t>db-reader</a:t>
            </a:r>
            <a:endParaRPr lang="en-US" sz="1200" dirty="0"/>
          </a:p>
        </p:txBody>
      </p:sp>
      <p:sp>
        <p:nvSpPr>
          <p:cNvPr id="31" name="Text 29">
            <a:extLst>
              <a:ext uri="{FF2B5EF4-FFF2-40B4-BE49-F238E27FC236}">
                <a16:creationId xmlns:a16="http://schemas.microsoft.com/office/drawing/2014/main" id="{C1400B27-35C9-9E86-3651-E20DF36E8332}"/>
              </a:ext>
            </a:extLst>
          </p:cNvPr>
          <p:cNvSpPr/>
          <p:nvPr/>
        </p:nvSpPr>
        <p:spPr>
          <a:xfrm>
            <a:off x="9125712" y="1984248"/>
            <a:ext cx="2450592" cy="201168"/>
          </a:xfrm>
          <a:prstGeom prst="rect">
            <a:avLst/>
          </a:prstGeom>
          <a:noFill/>
          <a:ln/>
        </p:spPr>
        <p:txBody>
          <a:bodyPr wrap="square" lIns="0" tIns="0" rIns="0" bIns="0" rtlCol="0" anchor="ctr"/>
          <a:lstStyle/>
          <a:p>
            <a:pPr marL="0" indent="0">
              <a:buNone/>
            </a:pPr>
            <a:r>
              <a:rPr lang="en-US" sz="850" b="1" dirty="0">
                <a:solidFill>
                  <a:srgbClr val="6B6B6B"/>
                </a:solidFill>
                <a:latin typeface="Calibri" pitchFamily="34" charset="0"/>
                <a:ea typeface="Calibri" pitchFamily="34" charset="-122"/>
                <a:cs typeface="Calibri" pitchFamily="34" charset="-120"/>
              </a:rPr>
              <a:t>tools:</a:t>
            </a:r>
            <a:endParaRPr lang="en-US" sz="850" dirty="0"/>
          </a:p>
        </p:txBody>
      </p:sp>
      <p:sp>
        <p:nvSpPr>
          <p:cNvPr id="32" name="Text 30">
            <a:extLst>
              <a:ext uri="{FF2B5EF4-FFF2-40B4-BE49-F238E27FC236}">
                <a16:creationId xmlns:a16="http://schemas.microsoft.com/office/drawing/2014/main" id="{DCCBA759-B4AB-F0B1-0A32-05F2CF61065B}"/>
              </a:ext>
            </a:extLst>
          </p:cNvPr>
          <p:cNvSpPr/>
          <p:nvPr/>
        </p:nvSpPr>
        <p:spPr>
          <a:xfrm>
            <a:off x="9125712" y="2185416"/>
            <a:ext cx="2450592" cy="502920"/>
          </a:xfrm>
          <a:prstGeom prst="rect">
            <a:avLst/>
          </a:prstGeom>
          <a:noFill/>
          <a:ln/>
        </p:spPr>
        <p:txBody>
          <a:bodyPr wrap="square" lIns="0" tIns="0" rIns="0" bIns="0" rtlCol="0" anchor="ctr"/>
          <a:lstStyle/>
          <a:p>
            <a:pPr marL="0" indent="0">
              <a:buNone/>
            </a:pPr>
            <a:r>
              <a:rPr lang="en-US" sz="900" dirty="0">
                <a:solidFill>
                  <a:srgbClr val="B04A3B"/>
                </a:solidFill>
                <a:latin typeface="Courier New" pitchFamily="34" charset="0"/>
                <a:ea typeface="Courier New" pitchFamily="34" charset="-122"/>
                <a:cs typeface="Courier New" pitchFamily="34" charset="-120"/>
              </a:rPr>
              <a:t>Bash + PreToolUse hook</a:t>
            </a:r>
            <a:endParaRPr lang="en-US" sz="900" dirty="0"/>
          </a:p>
        </p:txBody>
      </p:sp>
      <p:sp>
        <p:nvSpPr>
          <p:cNvPr id="33" name="Shape 31">
            <a:extLst>
              <a:ext uri="{FF2B5EF4-FFF2-40B4-BE49-F238E27FC236}">
                <a16:creationId xmlns:a16="http://schemas.microsoft.com/office/drawing/2014/main" id="{60996B1E-5657-A17A-0784-C872D3D0B0B3}"/>
              </a:ext>
            </a:extLst>
          </p:cNvPr>
          <p:cNvSpPr/>
          <p:nvPr/>
        </p:nvSpPr>
        <p:spPr>
          <a:xfrm>
            <a:off x="9125712" y="2743200"/>
            <a:ext cx="2450592" cy="0"/>
          </a:xfrm>
          <a:prstGeom prst="line">
            <a:avLst/>
          </a:prstGeom>
          <a:noFill/>
          <a:ln w="9525">
            <a:solidFill>
              <a:srgbClr val="E3E0D8"/>
            </a:solidFill>
            <a:prstDash val="solid"/>
          </a:ln>
        </p:spPr>
        <p:txBody>
          <a:bodyPr/>
          <a:lstStyle/>
          <a:p>
            <a:endParaRPr lang="en-US"/>
          </a:p>
        </p:txBody>
      </p:sp>
      <p:sp>
        <p:nvSpPr>
          <p:cNvPr id="34" name="Text 32">
            <a:extLst>
              <a:ext uri="{FF2B5EF4-FFF2-40B4-BE49-F238E27FC236}">
                <a16:creationId xmlns:a16="http://schemas.microsoft.com/office/drawing/2014/main" id="{1E4A7756-BD67-DD8A-86E1-4D88E39F5DA9}"/>
              </a:ext>
            </a:extLst>
          </p:cNvPr>
          <p:cNvSpPr/>
          <p:nvPr/>
        </p:nvSpPr>
        <p:spPr>
          <a:xfrm>
            <a:off x="9125712" y="2862072"/>
            <a:ext cx="2450592" cy="868680"/>
          </a:xfrm>
          <a:prstGeom prst="rect">
            <a:avLst/>
          </a:prstGeom>
          <a:noFill/>
          <a:ln/>
        </p:spPr>
        <p:txBody>
          <a:bodyPr wrap="square" lIns="0" tIns="0" rIns="0" bIns="0" rtlCol="0" anchor="ctr"/>
          <a:lstStyle/>
          <a:p>
            <a:pPr marL="0" indent="0">
              <a:buNone/>
            </a:pPr>
            <a:r>
              <a:rPr lang="en-US" sz="950" b="1" dirty="0">
                <a:solidFill>
                  <a:srgbClr val="141414"/>
                </a:solidFill>
                <a:latin typeface="Calibri" pitchFamily="34" charset="0"/>
                <a:ea typeface="Calibri" pitchFamily="34" charset="-122"/>
                <a:cs typeface="Calibri" pitchFamily="34" charset="-120"/>
              </a:rPr>
              <a:t>Bash allowed, but a hook validates every command before it runs.</a:t>
            </a:r>
            <a:endParaRPr lang="en-US" sz="950" dirty="0"/>
          </a:p>
        </p:txBody>
      </p:sp>
      <p:sp>
        <p:nvSpPr>
          <p:cNvPr id="35" name="Text 33">
            <a:extLst>
              <a:ext uri="{FF2B5EF4-FFF2-40B4-BE49-F238E27FC236}">
                <a16:creationId xmlns:a16="http://schemas.microsoft.com/office/drawing/2014/main" id="{206FB2E8-BA8A-0D6E-797F-6930A338199F}"/>
              </a:ext>
            </a:extLst>
          </p:cNvPr>
          <p:cNvSpPr/>
          <p:nvPr/>
        </p:nvSpPr>
        <p:spPr>
          <a:xfrm>
            <a:off x="9125712" y="3794760"/>
            <a:ext cx="2450592" cy="1280160"/>
          </a:xfrm>
          <a:prstGeom prst="rect">
            <a:avLst/>
          </a:prstGeom>
          <a:noFill/>
          <a:ln/>
        </p:spPr>
        <p:txBody>
          <a:bodyPr wrap="square" lIns="0" tIns="0" rIns="0" bIns="0" rtlCol="0" anchor="ctr"/>
          <a:lstStyle/>
          <a:p>
            <a:pPr marL="0" indent="0">
              <a:buNone/>
            </a:pPr>
            <a:r>
              <a:rPr lang="en-US" sz="900" dirty="0">
                <a:solidFill>
                  <a:srgbClr val="2B2B2B"/>
                </a:solidFill>
                <a:latin typeface="Calibri" pitchFamily="34" charset="0"/>
                <a:ea typeface="Calibri" pitchFamily="34" charset="-122"/>
                <a:cs typeface="Calibri" pitchFamily="34" charset="-120"/>
              </a:rPr>
              <a:t>Hook blocks INSERT/UPDATE/DELETE/DROP — only SELECT queries pass through.</a:t>
            </a:r>
            <a:endParaRPr lang="en-US" sz="900" dirty="0"/>
          </a:p>
        </p:txBody>
      </p:sp>
      <p:sp>
        <p:nvSpPr>
          <p:cNvPr id="36" name="Shape 34">
            <a:extLst>
              <a:ext uri="{FF2B5EF4-FFF2-40B4-BE49-F238E27FC236}">
                <a16:creationId xmlns:a16="http://schemas.microsoft.com/office/drawing/2014/main" id="{FE8E1136-CD50-8D01-C4D8-2225F6B42E5A}"/>
              </a:ext>
            </a:extLst>
          </p:cNvPr>
          <p:cNvSpPr/>
          <p:nvPr/>
        </p:nvSpPr>
        <p:spPr>
          <a:xfrm>
            <a:off x="457200" y="5257800"/>
            <a:ext cx="11247120" cy="777240"/>
          </a:xfrm>
          <a:prstGeom prst="rect">
            <a:avLst/>
          </a:prstGeom>
          <a:solidFill>
            <a:srgbClr val="1E1E1E"/>
          </a:solidFill>
          <a:ln w="12700">
            <a:solidFill>
              <a:srgbClr val="1E1E1E"/>
            </a:solidFill>
            <a:prstDash val="solid"/>
          </a:ln>
        </p:spPr>
        <p:txBody>
          <a:bodyPr/>
          <a:lstStyle/>
          <a:p>
            <a:endParaRPr lang="en-US"/>
          </a:p>
        </p:txBody>
      </p:sp>
      <p:sp>
        <p:nvSpPr>
          <p:cNvPr id="37" name="Text 35">
            <a:extLst>
              <a:ext uri="{FF2B5EF4-FFF2-40B4-BE49-F238E27FC236}">
                <a16:creationId xmlns:a16="http://schemas.microsoft.com/office/drawing/2014/main" id="{DC43FC35-C1E1-F040-659B-9FAD84C36AB9}"/>
              </a:ext>
            </a:extLst>
          </p:cNvPr>
          <p:cNvSpPr/>
          <p:nvPr/>
        </p:nvSpPr>
        <p:spPr>
          <a:xfrm>
            <a:off x="731520" y="5257800"/>
            <a:ext cx="10698480" cy="777240"/>
          </a:xfrm>
          <a:prstGeom prst="rect">
            <a:avLst/>
          </a:prstGeom>
          <a:noFill/>
          <a:ln/>
        </p:spPr>
        <p:txBody>
          <a:bodyPr wrap="square" lIns="0" tIns="0" rIns="0" bIns="0" rtlCol="0" anchor="ctr"/>
          <a:lstStyle/>
          <a:p>
            <a:pPr marL="0" indent="0">
              <a:buNone/>
            </a:pPr>
            <a:r>
              <a:rPr lang="en-US" sz="1100" b="1" dirty="0">
                <a:solidFill>
                  <a:srgbClr val="D4D4D4"/>
                </a:solidFill>
                <a:latin typeface="Courier New" pitchFamily="34" charset="0"/>
                <a:ea typeface="Courier New" pitchFamily="34" charset="-122"/>
                <a:cs typeface="Courier New" pitchFamily="34" charset="-120"/>
              </a:rPr>
              <a:t>PreToolUse hook (db-reader): </a:t>
            </a:r>
            <a:r>
              <a:rPr lang="en-US" sz="1100" dirty="0">
                <a:solidFill>
                  <a:srgbClr val="CE9178"/>
                </a:solidFill>
                <a:latin typeface="Courier New" pitchFamily="34" charset="0"/>
                <a:ea typeface="Courier New" pitchFamily="34" charset="-122"/>
                <a:cs typeface="Courier New" pitchFamily="34" charset="-120"/>
              </a:rPr>
              <a:t>grep -iE '\b(INSERT|UPDATE|DELETE|DROP)\b' → </a:t>
            </a:r>
            <a:r>
              <a:rPr lang="en-US" sz="1100" b="1" dirty="0">
                <a:solidFill>
                  <a:srgbClr val="6A9955"/>
                </a:solidFill>
                <a:latin typeface="Courier New" pitchFamily="34" charset="0"/>
                <a:ea typeface="Courier New" pitchFamily="34" charset="-122"/>
                <a:cs typeface="Courier New" pitchFamily="34" charset="-120"/>
              </a:rPr>
              <a:t>exit 2</a:t>
            </a:r>
            <a:r>
              <a:rPr lang="en-US" sz="1100" dirty="0">
                <a:solidFill>
                  <a:srgbClr val="D4D4D4"/>
                </a:solidFill>
                <a:latin typeface="Courier New" pitchFamily="34" charset="0"/>
                <a:ea typeface="Courier New" pitchFamily="34" charset="-122"/>
                <a:cs typeface="Courier New" pitchFamily="34" charset="-120"/>
              </a:rPr>
              <a:t>  blocks the command and returns the error to Claude</a:t>
            </a:r>
            <a:endParaRPr lang="en-US" sz="1100" dirty="0"/>
          </a:p>
        </p:txBody>
      </p:sp>
      <p:sp>
        <p:nvSpPr>
          <p:cNvPr id="38" name="Shape 36">
            <a:extLst>
              <a:ext uri="{FF2B5EF4-FFF2-40B4-BE49-F238E27FC236}">
                <a16:creationId xmlns:a16="http://schemas.microsoft.com/office/drawing/2014/main" id="{8E352681-FC82-5186-7018-3AFB58CF87E9}"/>
              </a:ext>
            </a:extLst>
          </p:cNvPr>
          <p:cNvSpPr/>
          <p:nvPr/>
        </p:nvSpPr>
        <p:spPr>
          <a:xfrm>
            <a:off x="457200" y="6172200"/>
            <a:ext cx="11247120" cy="502920"/>
          </a:xfrm>
          <a:prstGeom prst="rect">
            <a:avLst/>
          </a:prstGeom>
          <a:solidFill>
            <a:srgbClr val="F7F5F0"/>
          </a:solidFill>
          <a:ln w="9525">
            <a:solidFill>
              <a:srgbClr val="E3E0D8"/>
            </a:solidFill>
            <a:prstDash val="solid"/>
          </a:ln>
        </p:spPr>
        <p:txBody>
          <a:bodyPr/>
          <a:lstStyle/>
          <a:p>
            <a:endParaRPr lang="en-US"/>
          </a:p>
        </p:txBody>
      </p:sp>
      <p:sp>
        <p:nvSpPr>
          <p:cNvPr id="39" name="Text 37">
            <a:extLst>
              <a:ext uri="{FF2B5EF4-FFF2-40B4-BE49-F238E27FC236}">
                <a16:creationId xmlns:a16="http://schemas.microsoft.com/office/drawing/2014/main" id="{DB963A00-322B-74ED-6204-CAF75F8BE309}"/>
              </a:ext>
            </a:extLst>
          </p:cNvPr>
          <p:cNvSpPr/>
          <p:nvPr/>
        </p:nvSpPr>
        <p:spPr>
          <a:xfrm>
            <a:off x="777240" y="6172200"/>
            <a:ext cx="10607040" cy="502920"/>
          </a:xfrm>
          <a:prstGeom prst="rect">
            <a:avLst/>
          </a:prstGeom>
          <a:noFill/>
          <a:ln/>
        </p:spPr>
        <p:txBody>
          <a:bodyPr wrap="square" lIns="0" tIns="0" rIns="0" bIns="0" rtlCol="0" anchor="ctr"/>
          <a:lstStyle/>
          <a:p>
            <a:pPr marL="0" indent="0">
              <a:buNone/>
            </a:pPr>
            <a:r>
              <a:rPr lang="en-US" sz="1200" b="1" dirty="0">
                <a:solidFill>
                  <a:srgbClr val="C9704F"/>
                </a:solidFill>
                <a:latin typeface="Calibri" pitchFamily="34" charset="0"/>
                <a:ea typeface="Calibri" pitchFamily="34" charset="-122"/>
                <a:cs typeface="Calibri" pitchFamily="34" charset="-120"/>
              </a:rPr>
              <a:t>The pattern across all four:  </a:t>
            </a:r>
            <a:r>
              <a:rPr lang="en-US" sz="1200" dirty="0">
                <a:solidFill>
                  <a:srgbClr val="2B2B2B"/>
                </a:solidFill>
                <a:latin typeface="Calibri" pitchFamily="34" charset="0"/>
                <a:ea typeface="Calibri" pitchFamily="34" charset="-122"/>
                <a:cs typeface="Calibri" pitchFamily="34" charset="-120"/>
              </a:rPr>
              <a:t>tool access is the design decision — grant exactly what the job needs, nothing more.</a:t>
            </a:r>
            <a:endParaRPr lang="en-US" sz="1200" dirty="0"/>
          </a:p>
        </p:txBody>
      </p:sp>
    </p:spTree>
    <p:extLst>
      <p:ext uri="{BB962C8B-B14F-4D97-AF65-F5344CB8AC3E}">
        <p14:creationId xmlns:p14="http://schemas.microsoft.com/office/powerpoint/2010/main" val="35292238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 0">
            <a:extLst>
              <a:ext uri="{FF2B5EF4-FFF2-40B4-BE49-F238E27FC236}">
                <a16:creationId xmlns:a16="http://schemas.microsoft.com/office/drawing/2014/main" id="{F2B5152F-3271-0907-9A9C-163D0E3BB1A5}"/>
              </a:ext>
            </a:extLst>
          </p:cNvPr>
          <p:cNvSpPr/>
          <p:nvPr/>
        </p:nvSpPr>
        <p:spPr>
          <a:xfrm>
            <a:off x="365760" y="137160"/>
            <a:ext cx="8412480" cy="502920"/>
          </a:xfrm>
          <a:prstGeom prst="rect">
            <a:avLst/>
          </a:prstGeom>
          <a:noFill/>
          <a:ln/>
        </p:spPr>
        <p:txBody>
          <a:bodyPr wrap="square" lIns="0" tIns="0" rIns="0" bIns="0" rtlCol="0" anchor="ctr"/>
          <a:lstStyle/>
          <a:p>
            <a:pPr marL="0" indent="0">
              <a:buNone/>
            </a:pPr>
            <a:r>
              <a:rPr lang="en-US" sz="2600" b="1" dirty="0">
                <a:solidFill>
                  <a:srgbClr val="1A202C"/>
                </a:solidFill>
                <a:latin typeface="Cambria" pitchFamily="34" charset="0"/>
                <a:ea typeface="Cambria" pitchFamily="34" charset="-122"/>
                <a:cs typeface="Cambria" pitchFamily="34" charset="-120"/>
              </a:rPr>
              <a:t>Skills vs. Other Claude Code Features</a:t>
            </a:r>
            <a:endParaRPr lang="en-US" sz="2600" dirty="0"/>
          </a:p>
        </p:txBody>
      </p:sp>
      <p:sp>
        <p:nvSpPr>
          <p:cNvPr id="56" name="Text 1">
            <a:extLst>
              <a:ext uri="{FF2B5EF4-FFF2-40B4-BE49-F238E27FC236}">
                <a16:creationId xmlns:a16="http://schemas.microsoft.com/office/drawing/2014/main" id="{BC30F42C-06B1-F3C4-3E2D-FF50C9E1EC0E}"/>
              </a:ext>
            </a:extLst>
          </p:cNvPr>
          <p:cNvSpPr/>
          <p:nvPr/>
        </p:nvSpPr>
        <p:spPr>
          <a:xfrm>
            <a:off x="365760" y="667512"/>
            <a:ext cx="8412480" cy="256032"/>
          </a:xfrm>
          <a:prstGeom prst="rect">
            <a:avLst/>
          </a:prstGeom>
          <a:noFill/>
          <a:ln/>
        </p:spPr>
        <p:txBody>
          <a:bodyPr wrap="square" lIns="0" tIns="0" rIns="0" bIns="0" rtlCol="0" anchor="ctr"/>
          <a:lstStyle/>
          <a:p>
            <a:pPr marL="0" indent="0">
              <a:buNone/>
            </a:pPr>
            <a:r>
              <a:rPr lang="en-US" sz="1200" dirty="0">
                <a:solidFill>
                  <a:srgbClr val="718096"/>
                </a:solidFill>
                <a:latin typeface="Calibri" pitchFamily="34" charset="0"/>
                <a:ea typeface="Calibri" pitchFamily="34" charset="-122"/>
                <a:cs typeface="Calibri" pitchFamily="34" charset="-120"/>
              </a:rPr>
              <a:t>Five tools, five jobs — use the one that fits, then combine them</a:t>
            </a:r>
            <a:endParaRPr lang="en-US" sz="1200" dirty="0"/>
          </a:p>
        </p:txBody>
      </p:sp>
      <p:sp>
        <p:nvSpPr>
          <p:cNvPr id="57" name="Shape 2">
            <a:extLst>
              <a:ext uri="{FF2B5EF4-FFF2-40B4-BE49-F238E27FC236}">
                <a16:creationId xmlns:a16="http://schemas.microsoft.com/office/drawing/2014/main" id="{F2BF79EA-CAD6-4358-36EC-5A750FEE7FEE}"/>
              </a:ext>
            </a:extLst>
          </p:cNvPr>
          <p:cNvSpPr/>
          <p:nvPr/>
        </p:nvSpPr>
        <p:spPr>
          <a:xfrm>
            <a:off x="365760" y="1005840"/>
            <a:ext cx="2169181" cy="4389120"/>
          </a:xfrm>
          <a:prstGeom prst="roundRect">
            <a:avLst>
              <a:gd name="adj" fmla="val 5814"/>
            </a:avLst>
          </a:prstGeom>
          <a:solidFill>
            <a:srgbClr val="FDF5F1"/>
          </a:solidFill>
          <a:ln w="12700">
            <a:solidFill>
              <a:srgbClr val="E0E4EC"/>
            </a:solidFill>
            <a:prstDash val="solid"/>
          </a:ln>
        </p:spPr>
        <p:txBody>
          <a:bodyPr/>
          <a:lstStyle/>
          <a:p>
            <a:endParaRPr lang="en-US"/>
          </a:p>
        </p:txBody>
      </p:sp>
      <p:sp>
        <p:nvSpPr>
          <p:cNvPr id="58" name="Shape 3">
            <a:extLst>
              <a:ext uri="{FF2B5EF4-FFF2-40B4-BE49-F238E27FC236}">
                <a16:creationId xmlns:a16="http://schemas.microsoft.com/office/drawing/2014/main" id="{B4662C2C-BC48-3DCF-93A3-F810E0E77F90}"/>
              </a:ext>
            </a:extLst>
          </p:cNvPr>
          <p:cNvSpPr/>
          <p:nvPr/>
        </p:nvSpPr>
        <p:spPr>
          <a:xfrm>
            <a:off x="365760" y="1005839"/>
            <a:ext cx="2169181" cy="511501"/>
          </a:xfrm>
          <a:prstGeom prst="roundRect">
            <a:avLst>
              <a:gd name="adj" fmla="val 23810"/>
            </a:avLst>
          </a:prstGeom>
          <a:solidFill>
            <a:srgbClr val="C05A2E"/>
          </a:solidFill>
          <a:ln w="12700">
            <a:solidFill>
              <a:srgbClr val="C05A2E"/>
            </a:solidFill>
            <a:prstDash val="solid"/>
          </a:ln>
        </p:spPr>
        <p:txBody>
          <a:bodyPr/>
          <a:lstStyle/>
          <a:p>
            <a:endParaRPr lang="en-US"/>
          </a:p>
        </p:txBody>
      </p:sp>
      <p:sp>
        <p:nvSpPr>
          <p:cNvPr id="59" name="Shape 4">
            <a:extLst>
              <a:ext uri="{FF2B5EF4-FFF2-40B4-BE49-F238E27FC236}">
                <a16:creationId xmlns:a16="http://schemas.microsoft.com/office/drawing/2014/main" id="{869F8E6E-E4CF-482C-BEFD-77C393B8084A}"/>
              </a:ext>
            </a:extLst>
          </p:cNvPr>
          <p:cNvSpPr/>
          <p:nvPr/>
        </p:nvSpPr>
        <p:spPr>
          <a:xfrm>
            <a:off x="365760" y="1207008"/>
            <a:ext cx="2169181" cy="243572"/>
          </a:xfrm>
          <a:prstGeom prst="rect">
            <a:avLst/>
          </a:prstGeom>
          <a:solidFill>
            <a:srgbClr val="C05A2E"/>
          </a:solidFill>
          <a:ln w="12700">
            <a:solidFill>
              <a:srgbClr val="C05A2E"/>
            </a:solidFill>
            <a:prstDash val="solid"/>
          </a:ln>
        </p:spPr>
        <p:txBody>
          <a:bodyPr/>
          <a:lstStyle/>
          <a:p>
            <a:endParaRPr lang="en-US"/>
          </a:p>
        </p:txBody>
      </p:sp>
      <p:sp>
        <p:nvSpPr>
          <p:cNvPr id="60" name="Text 5">
            <a:extLst>
              <a:ext uri="{FF2B5EF4-FFF2-40B4-BE49-F238E27FC236}">
                <a16:creationId xmlns:a16="http://schemas.microsoft.com/office/drawing/2014/main" id="{44BE4E46-DC73-91D2-4CED-8864D89DF367}"/>
              </a:ext>
            </a:extLst>
          </p:cNvPr>
          <p:cNvSpPr/>
          <p:nvPr/>
        </p:nvSpPr>
        <p:spPr>
          <a:xfrm>
            <a:off x="411480" y="1005839"/>
            <a:ext cx="2177700" cy="511501"/>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CLAUDE.md</a:t>
            </a:r>
            <a:endParaRPr lang="en-US" dirty="0"/>
          </a:p>
        </p:txBody>
      </p:sp>
      <p:sp>
        <p:nvSpPr>
          <p:cNvPr id="61" name="Text 6">
            <a:extLst>
              <a:ext uri="{FF2B5EF4-FFF2-40B4-BE49-F238E27FC236}">
                <a16:creationId xmlns:a16="http://schemas.microsoft.com/office/drawing/2014/main" id="{CA92952D-BAC5-C3B4-E3D2-83B39E4AEECB}"/>
              </a:ext>
            </a:extLst>
          </p:cNvPr>
          <p:cNvSpPr/>
          <p:nvPr/>
        </p:nvSpPr>
        <p:spPr>
          <a:xfrm>
            <a:off x="457200" y="1463040"/>
            <a:ext cx="2043274" cy="316644"/>
          </a:xfrm>
          <a:prstGeom prst="rect">
            <a:avLst/>
          </a:prstGeom>
          <a:noFill/>
          <a:ln/>
        </p:spPr>
        <p:txBody>
          <a:bodyPr wrap="square" lIns="0" tIns="0" rIns="0" bIns="0" rtlCol="0" anchor="ctr"/>
          <a:lstStyle/>
          <a:p>
            <a:pPr marL="0" indent="0">
              <a:buNone/>
            </a:pPr>
            <a:r>
              <a:rPr lang="en-US" sz="1400" b="1" dirty="0">
                <a:solidFill>
                  <a:srgbClr val="C05A2E"/>
                </a:solidFill>
                <a:latin typeface="Calibri" pitchFamily="34" charset="0"/>
                <a:ea typeface="Calibri" pitchFamily="34" charset="-122"/>
                <a:cs typeface="Calibri" pitchFamily="34" charset="-120"/>
              </a:rPr>
              <a:t>Always-on context</a:t>
            </a:r>
            <a:endParaRPr lang="en-US" sz="1400" dirty="0"/>
          </a:p>
        </p:txBody>
      </p:sp>
      <p:sp>
        <p:nvSpPr>
          <p:cNvPr id="62" name="Text 7">
            <a:extLst>
              <a:ext uri="{FF2B5EF4-FFF2-40B4-BE49-F238E27FC236}">
                <a16:creationId xmlns:a16="http://schemas.microsoft.com/office/drawing/2014/main" id="{B372ABEE-B796-6B79-4710-3B63D270B4A5}"/>
              </a:ext>
            </a:extLst>
          </p:cNvPr>
          <p:cNvSpPr/>
          <p:nvPr/>
        </p:nvSpPr>
        <p:spPr>
          <a:xfrm>
            <a:off x="457200" y="1755648"/>
            <a:ext cx="2043274" cy="852502"/>
          </a:xfrm>
          <a:prstGeom prst="rect">
            <a:avLst/>
          </a:prstGeom>
          <a:noFill/>
          <a:ln/>
        </p:spPr>
        <p:txBody>
          <a:bodyPr wrap="square" lIns="0" tIns="0" rIns="0" bIns="0" rtlCol="0" anchor="t"/>
          <a:lstStyle/>
          <a:p>
            <a:pPr marL="0" indent="0">
              <a:buNone/>
            </a:pPr>
            <a:r>
              <a:rPr lang="en-US" sz="1300" dirty="0">
                <a:solidFill>
                  <a:srgbClr val="2D3748"/>
                </a:solidFill>
                <a:latin typeface="Calibri" pitchFamily="34" charset="0"/>
                <a:ea typeface="Calibri" pitchFamily="34" charset="-122"/>
                <a:cs typeface="Calibri" pitchFamily="34" charset="-120"/>
              </a:rPr>
              <a:t>Persistent instructions and project standards — always loaded, every session.</a:t>
            </a:r>
            <a:endParaRPr lang="en-US" sz="1300" dirty="0"/>
          </a:p>
        </p:txBody>
      </p:sp>
      <p:sp>
        <p:nvSpPr>
          <p:cNvPr id="63" name="Text 8">
            <a:extLst>
              <a:ext uri="{FF2B5EF4-FFF2-40B4-BE49-F238E27FC236}">
                <a16:creationId xmlns:a16="http://schemas.microsoft.com/office/drawing/2014/main" id="{CD3E927A-3C5F-BC0A-EC72-E76DE4349FC4}"/>
              </a:ext>
            </a:extLst>
          </p:cNvPr>
          <p:cNvSpPr/>
          <p:nvPr/>
        </p:nvSpPr>
        <p:spPr>
          <a:xfrm>
            <a:off x="457200" y="2634155"/>
            <a:ext cx="2043274" cy="1023003"/>
          </a:xfrm>
          <a:prstGeom prst="rect">
            <a:avLst/>
          </a:prstGeom>
          <a:noFill/>
          <a:ln/>
        </p:spPr>
        <p:txBody>
          <a:bodyPr wrap="square" lIns="0" tIns="0" rIns="0" bIns="0" rtlCol="0" anchor="t"/>
          <a:lstStyle/>
          <a:p>
            <a:pPr marL="0" indent="0">
              <a:buNone/>
            </a:pPr>
            <a:r>
              <a:rPr lang="en-US" sz="1400" b="1" dirty="0">
                <a:solidFill>
                  <a:srgbClr val="2D3748"/>
                </a:solidFill>
                <a:latin typeface="Calibri" pitchFamily="34" charset="0"/>
                <a:ea typeface="Calibri" pitchFamily="34" charset="-122"/>
                <a:cs typeface="Calibri" pitchFamily="34" charset="-120"/>
              </a:rPr>
              <a:t>Use when: </a:t>
            </a:r>
            <a:r>
              <a:rPr lang="en-US" sz="1400" dirty="0">
                <a:solidFill>
                  <a:srgbClr val="2D3748"/>
                </a:solidFill>
                <a:latin typeface="Calibri" pitchFamily="34" charset="0"/>
                <a:ea typeface="Calibri" pitchFamily="34" charset="-122"/>
                <a:cs typeface="Calibri" pitchFamily="34" charset="-120"/>
              </a:rPr>
              <a:t>Global rules, style conventions, schema constraints, anything that applies session-wide.</a:t>
            </a:r>
            <a:endParaRPr lang="en-US" sz="1400" dirty="0"/>
          </a:p>
        </p:txBody>
      </p:sp>
      <p:sp>
        <p:nvSpPr>
          <p:cNvPr id="64" name="Text 9">
            <a:extLst>
              <a:ext uri="{FF2B5EF4-FFF2-40B4-BE49-F238E27FC236}">
                <a16:creationId xmlns:a16="http://schemas.microsoft.com/office/drawing/2014/main" id="{C0C0FC51-455E-B35D-1D8C-FAE8B06EB752}"/>
              </a:ext>
            </a:extLst>
          </p:cNvPr>
          <p:cNvSpPr/>
          <p:nvPr/>
        </p:nvSpPr>
        <p:spPr>
          <a:xfrm>
            <a:off x="457200" y="3583819"/>
            <a:ext cx="2043274" cy="401894"/>
          </a:xfrm>
          <a:prstGeom prst="rect">
            <a:avLst/>
          </a:prstGeom>
          <a:noFill/>
          <a:ln/>
        </p:spPr>
        <p:txBody>
          <a:bodyPr wrap="square" lIns="0" tIns="0" rIns="0" bIns="0" rtlCol="0" anchor="ctr"/>
          <a:lstStyle/>
          <a:p>
            <a:pPr marL="0" indent="0">
              <a:buNone/>
            </a:pPr>
            <a:r>
              <a:rPr lang="en-US" sz="1400" i="1" dirty="0">
                <a:solidFill>
                  <a:srgbClr val="718096"/>
                </a:solidFill>
                <a:latin typeface="Calibri" pitchFamily="34" charset="0"/>
                <a:ea typeface="Calibri" pitchFamily="34" charset="-122"/>
                <a:cs typeface="Calibri" pitchFamily="34" charset="-120"/>
              </a:rPr>
              <a:t>Loads always · full-session presence</a:t>
            </a:r>
            <a:endParaRPr lang="en-US" sz="1400" dirty="0"/>
          </a:p>
        </p:txBody>
      </p:sp>
      <p:sp>
        <p:nvSpPr>
          <p:cNvPr id="65" name="Shape 10">
            <a:extLst>
              <a:ext uri="{FF2B5EF4-FFF2-40B4-BE49-F238E27FC236}">
                <a16:creationId xmlns:a16="http://schemas.microsoft.com/office/drawing/2014/main" id="{D7E4A631-FB21-C018-D16B-271A2F97DFDB}"/>
              </a:ext>
            </a:extLst>
          </p:cNvPr>
          <p:cNvSpPr/>
          <p:nvPr/>
        </p:nvSpPr>
        <p:spPr>
          <a:xfrm>
            <a:off x="411480" y="4112620"/>
            <a:ext cx="2043274" cy="0"/>
          </a:xfrm>
          <a:prstGeom prst="line">
            <a:avLst/>
          </a:prstGeom>
          <a:noFill/>
          <a:ln w="6350">
            <a:solidFill>
              <a:srgbClr val="D0D8E8"/>
            </a:solidFill>
            <a:prstDash val="solid"/>
          </a:ln>
        </p:spPr>
        <p:txBody>
          <a:bodyPr/>
          <a:lstStyle/>
          <a:p>
            <a:endParaRPr lang="en-US"/>
          </a:p>
        </p:txBody>
      </p:sp>
      <p:sp>
        <p:nvSpPr>
          <p:cNvPr id="66" name="Text 11">
            <a:extLst>
              <a:ext uri="{FF2B5EF4-FFF2-40B4-BE49-F238E27FC236}">
                <a16:creationId xmlns:a16="http://schemas.microsoft.com/office/drawing/2014/main" id="{08BFA07D-5807-49AE-5371-939BABA18C06}"/>
              </a:ext>
            </a:extLst>
          </p:cNvPr>
          <p:cNvSpPr/>
          <p:nvPr/>
        </p:nvSpPr>
        <p:spPr>
          <a:xfrm>
            <a:off x="457200" y="4334658"/>
            <a:ext cx="2043274" cy="365358"/>
          </a:xfrm>
          <a:prstGeom prst="rect">
            <a:avLst/>
          </a:prstGeom>
          <a:noFill/>
          <a:ln/>
        </p:spPr>
        <p:txBody>
          <a:bodyPr wrap="square" lIns="0" tIns="0" rIns="0" bIns="0" rtlCol="0" anchor="ctr"/>
          <a:lstStyle/>
          <a:p>
            <a:pPr marL="0" indent="0">
              <a:buNone/>
            </a:pPr>
            <a:r>
              <a:rPr lang="en-US" sz="1400" i="1" dirty="0">
                <a:solidFill>
                  <a:srgbClr val="718096"/>
                </a:solidFill>
                <a:latin typeface="Calibri" pitchFamily="34" charset="0"/>
                <a:ea typeface="Calibri" pitchFamily="34" charset="-122"/>
                <a:cs typeface="Calibri" pitchFamily="34" charset="-120"/>
              </a:rPr>
              <a:t>Style rules · commit conventions · repo layout</a:t>
            </a:r>
            <a:endParaRPr lang="en-US" sz="1400" dirty="0"/>
          </a:p>
        </p:txBody>
      </p:sp>
      <p:sp>
        <p:nvSpPr>
          <p:cNvPr id="67" name="Shape 12">
            <a:extLst>
              <a:ext uri="{FF2B5EF4-FFF2-40B4-BE49-F238E27FC236}">
                <a16:creationId xmlns:a16="http://schemas.microsoft.com/office/drawing/2014/main" id="{F8C9EAAA-AC6F-5D69-64A0-1F936FAF4C21}"/>
              </a:ext>
            </a:extLst>
          </p:cNvPr>
          <p:cNvSpPr/>
          <p:nvPr/>
        </p:nvSpPr>
        <p:spPr>
          <a:xfrm>
            <a:off x="2682727" y="1005839"/>
            <a:ext cx="2169181" cy="4389119"/>
          </a:xfrm>
          <a:prstGeom prst="roundRect">
            <a:avLst>
              <a:gd name="adj" fmla="val 5814"/>
            </a:avLst>
          </a:prstGeom>
          <a:solidFill>
            <a:srgbClr val="F4F3FD"/>
          </a:solidFill>
          <a:ln w="12700">
            <a:solidFill>
              <a:srgbClr val="E0E4EC"/>
            </a:solidFill>
            <a:prstDash val="solid"/>
          </a:ln>
        </p:spPr>
        <p:txBody>
          <a:bodyPr/>
          <a:lstStyle/>
          <a:p>
            <a:endParaRPr lang="en-US"/>
          </a:p>
        </p:txBody>
      </p:sp>
      <p:sp>
        <p:nvSpPr>
          <p:cNvPr id="68" name="Shape 13">
            <a:extLst>
              <a:ext uri="{FF2B5EF4-FFF2-40B4-BE49-F238E27FC236}">
                <a16:creationId xmlns:a16="http://schemas.microsoft.com/office/drawing/2014/main" id="{5B65B260-DA9F-1099-3B69-91C559708365}"/>
              </a:ext>
            </a:extLst>
          </p:cNvPr>
          <p:cNvSpPr/>
          <p:nvPr/>
        </p:nvSpPr>
        <p:spPr>
          <a:xfrm>
            <a:off x="2682727" y="1005839"/>
            <a:ext cx="2169181" cy="511501"/>
          </a:xfrm>
          <a:prstGeom prst="roundRect">
            <a:avLst>
              <a:gd name="adj" fmla="val 23810"/>
            </a:avLst>
          </a:prstGeom>
          <a:solidFill>
            <a:srgbClr val="5B4FCF"/>
          </a:solidFill>
          <a:ln w="12700">
            <a:solidFill>
              <a:srgbClr val="5B4FCF"/>
            </a:solidFill>
            <a:prstDash val="solid"/>
          </a:ln>
        </p:spPr>
        <p:txBody>
          <a:bodyPr/>
          <a:lstStyle/>
          <a:p>
            <a:endParaRPr lang="en-US"/>
          </a:p>
        </p:txBody>
      </p:sp>
      <p:sp>
        <p:nvSpPr>
          <p:cNvPr id="69" name="Shape 14">
            <a:extLst>
              <a:ext uri="{FF2B5EF4-FFF2-40B4-BE49-F238E27FC236}">
                <a16:creationId xmlns:a16="http://schemas.microsoft.com/office/drawing/2014/main" id="{2104AF89-16FD-B754-7F63-0C6C8BC394B5}"/>
              </a:ext>
            </a:extLst>
          </p:cNvPr>
          <p:cNvSpPr/>
          <p:nvPr/>
        </p:nvSpPr>
        <p:spPr>
          <a:xfrm>
            <a:off x="2682727" y="1207008"/>
            <a:ext cx="2169181" cy="243572"/>
          </a:xfrm>
          <a:prstGeom prst="rect">
            <a:avLst/>
          </a:prstGeom>
          <a:solidFill>
            <a:srgbClr val="5B4FCF"/>
          </a:solidFill>
          <a:ln w="12700">
            <a:solidFill>
              <a:srgbClr val="5B4FCF"/>
            </a:solidFill>
            <a:prstDash val="solid"/>
          </a:ln>
        </p:spPr>
        <p:txBody>
          <a:bodyPr/>
          <a:lstStyle/>
          <a:p>
            <a:endParaRPr lang="en-US"/>
          </a:p>
        </p:txBody>
      </p:sp>
      <p:sp>
        <p:nvSpPr>
          <p:cNvPr id="70" name="Text 15">
            <a:extLst>
              <a:ext uri="{FF2B5EF4-FFF2-40B4-BE49-F238E27FC236}">
                <a16:creationId xmlns:a16="http://schemas.microsoft.com/office/drawing/2014/main" id="{4B95A305-4726-648B-AFB0-2D3DC2E5BB10}"/>
              </a:ext>
            </a:extLst>
          </p:cNvPr>
          <p:cNvSpPr/>
          <p:nvPr/>
        </p:nvSpPr>
        <p:spPr>
          <a:xfrm>
            <a:off x="2728448" y="1005839"/>
            <a:ext cx="2043066" cy="511501"/>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Skills</a:t>
            </a:r>
            <a:endParaRPr lang="en-US" dirty="0"/>
          </a:p>
        </p:txBody>
      </p:sp>
      <p:sp>
        <p:nvSpPr>
          <p:cNvPr id="71" name="Text 16">
            <a:extLst>
              <a:ext uri="{FF2B5EF4-FFF2-40B4-BE49-F238E27FC236}">
                <a16:creationId xmlns:a16="http://schemas.microsoft.com/office/drawing/2014/main" id="{8157B171-E0B9-9346-885E-B44F2F303DA1}"/>
              </a:ext>
            </a:extLst>
          </p:cNvPr>
          <p:cNvSpPr/>
          <p:nvPr/>
        </p:nvSpPr>
        <p:spPr>
          <a:xfrm>
            <a:off x="2774167" y="1463040"/>
            <a:ext cx="1916951" cy="316644"/>
          </a:xfrm>
          <a:prstGeom prst="rect">
            <a:avLst/>
          </a:prstGeom>
          <a:noFill/>
          <a:ln/>
        </p:spPr>
        <p:txBody>
          <a:bodyPr wrap="square" lIns="0" tIns="0" rIns="0" bIns="0" rtlCol="0" anchor="ctr"/>
          <a:lstStyle/>
          <a:p>
            <a:pPr marL="0" indent="0">
              <a:buNone/>
            </a:pPr>
            <a:r>
              <a:rPr lang="en-US" sz="1400" b="1" dirty="0">
                <a:solidFill>
                  <a:srgbClr val="5B4FCF"/>
                </a:solidFill>
                <a:latin typeface="Calibri" pitchFamily="34" charset="0"/>
                <a:ea typeface="Calibri" pitchFamily="34" charset="-122"/>
                <a:cs typeface="Calibri" pitchFamily="34" charset="-120"/>
              </a:rPr>
              <a:t>Request-driven guides</a:t>
            </a:r>
            <a:endParaRPr lang="en-US" sz="1400" dirty="0"/>
          </a:p>
        </p:txBody>
      </p:sp>
      <p:sp>
        <p:nvSpPr>
          <p:cNvPr id="72" name="Text 17">
            <a:extLst>
              <a:ext uri="{FF2B5EF4-FFF2-40B4-BE49-F238E27FC236}">
                <a16:creationId xmlns:a16="http://schemas.microsoft.com/office/drawing/2014/main" id="{F68D8D2C-576F-4513-C0B4-E88EC954C066}"/>
              </a:ext>
            </a:extLst>
          </p:cNvPr>
          <p:cNvSpPr/>
          <p:nvPr/>
        </p:nvSpPr>
        <p:spPr>
          <a:xfrm>
            <a:off x="2774167" y="1755648"/>
            <a:ext cx="1916951" cy="852502"/>
          </a:xfrm>
          <a:prstGeom prst="rect">
            <a:avLst/>
          </a:prstGeom>
          <a:noFill/>
          <a:ln/>
        </p:spPr>
        <p:txBody>
          <a:bodyPr wrap="square" lIns="0" tIns="0" rIns="0" bIns="0" rtlCol="0" anchor="t"/>
          <a:lstStyle/>
          <a:p>
            <a:pPr marL="0" indent="0">
              <a:buNone/>
            </a:pPr>
            <a:r>
              <a:rPr lang="en-US" sz="1300" dirty="0">
                <a:solidFill>
                  <a:srgbClr val="2D3748"/>
                </a:solidFill>
                <a:latin typeface="Calibri" pitchFamily="34" charset="0"/>
                <a:ea typeface="Calibri" pitchFamily="34" charset="-122"/>
                <a:cs typeface="Calibri" pitchFamily="34" charset="-120"/>
              </a:rPr>
              <a:t>Workflow guides injected via bootstrap hook; shape HOW the agent approaches each task.</a:t>
            </a:r>
            <a:endParaRPr lang="en-US" sz="1300" dirty="0"/>
          </a:p>
        </p:txBody>
      </p:sp>
      <p:sp>
        <p:nvSpPr>
          <p:cNvPr id="73" name="Text 18">
            <a:extLst>
              <a:ext uri="{FF2B5EF4-FFF2-40B4-BE49-F238E27FC236}">
                <a16:creationId xmlns:a16="http://schemas.microsoft.com/office/drawing/2014/main" id="{0BEBB7F0-C397-B3E9-5A6E-AF48DA7E2696}"/>
              </a:ext>
            </a:extLst>
          </p:cNvPr>
          <p:cNvSpPr/>
          <p:nvPr/>
        </p:nvSpPr>
        <p:spPr>
          <a:xfrm>
            <a:off x="2774166" y="2643178"/>
            <a:ext cx="1916951" cy="1023003"/>
          </a:xfrm>
          <a:prstGeom prst="rect">
            <a:avLst/>
          </a:prstGeom>
          <a:noFill/>
          <a:ln/>
        </p:spPr>
        <p:txBody>
          <a:bodyPr wrap="square" lIns="0" tIns="0" rIns="0" bIns="0" rtlCol="0" anchor="t"/>
          <a:lstStyle/>
          <a:p>
            <a:pPr marL="0" indent="0">
              <a:buNone/>
            </a:pPr>
            <a:r>
              <a:rPr lang="en-US" sz="1400" b="1" dirty="0">
                <a:solidFill>
                  <a:srgbClr val="2D3748"/>
                </a:solidFill>
                <a:latin typeface="Calibri" pitchFamily="34" charset="0"/>
                <a:ea typeface="Calibri" pitchFamily="34" charset="-122"/>
                <a:cs typeface="Calibri" pitchFamily="34" charset="-120"/>
              </a:rPr>
              <a:t>Use when: </a:t>
            </a:r>
            <a:r>
              <a:rPr lang="en-US" sz="1400" dirty="0">
                <a:solidFill>
                  <a:srgbClr val="2D3748"/>
                </a:solidFill>
                <a:latin typeface="Calibri" pitchFamily="34" charset="0"/>
                <a:ea typeface="Calibri" pitchFamily="34" charset="-122"/>
                <a:cs typeface="Calibri" pitchFamily="34" charset="-120"/>
              </a:rPr>
              <a:t>Task matches a known process: brainstorming before code, TDD, systematic-debugging.</a:t>
            </a:r>
            <a:endParaRPr lang="en-US" sz="1400" dirty="0"/>
          </a:p>
        </p:txBody>
      </p:sp>
      <p:sp>
        <p:nvSpPr>
          <p:cNvPr id="74" name="Text 19">
            <a:extLst>
              <a:ext uri="{FF2B5EF4-FFF2-40B4-BE49-F238E27FC236}">
                <a16:creationId xmlns:a16="http://schemas.microsoft.com/office/drawing/2014/main" id="{01211DE2-4287-B701-905A-FFDF5696043F}"/>
              </a:ext>
            </a:extLst>
          </p:cNvPr>
          <p:cNvSpPr/>
          <p:nvPr/>
        </p:nvSpPr>
        <p:spPr>
          <a:xfrm>
            <a:off x="2774167" y="3849680"/>
            <a:ext cx="1916951" cy="401894"/>
          </a:xfrm>
          <a:prstGeom prst="rect">
            <a:avLst/>
          </a:prstGeom>
          <a:noFill/>
          <a:ln/>
        </p:spPr>
        <p:txBody>
          <a:bodyPr wrap="square" lIns="0" tIns="0" rIns="0" bIns="0" rtlCol="0" anchor="ctr"/>
          <a:lstStyle/>
          <a:p>
            <a:pPr marL="0" indent="0">
              <a:buNone/>
            </a:pPr>
            <a:r>
              <a:rPr lang="en-US" sz="1400" i="1" dirty="0">
                <a:solidFill>
                  <a:srgbClr val="718096"/>
                </a:solidFill>
                <a:latin typeface="Calibri" pitchFamily="34" charset="0"/>
                <a:ea typeface="Calibri" pitchFamily="34" charset="-122"/>
                <a:cs typeface="Calibri" pitchFamily="34" charset="-120"/>
              </a:rPr>
              <a:t>Injected at session start · active all session</a:t>
            </a:r>
            <a:endParaRPr lang="en-US" sz="1400" dirty="0"/>
          </a:p>
        </p:txBody>
      </p:sp>
      <p:sp>
        <p:nvSpPr>
          <p:cNvPr id="75" name="Shape 20">
            <a:extLst>
              <a:ext uri="{FF2B5EF4-FFF2-40B4-BE49-F238E27FC236}">
                <a16:creationId xmlns:a16="http://schemas.microsoft.com/office/drawing/2014/main" id="{B66FAF14-87EB-1834-D587-1ED1855EAA7C}"/>
              </a:ext>
            </a:extLst>
          </p:cNvPr>
          <p:cNvSpPr/>
          <p:nvPr/>
        </p:nvSpPr>
        <p:spPr>
          <a:xfrm>
            <a:off x="2774165" y="4379731"/>
            <a:ext cx="1916951" cy="0"/>
          </a:xfrm>
          <a:prstGeom prst="line">
            <a:avLst/>
          </a:prstGeom>
          <a:noFill/>
          <a:ln w="6350">
            <a:solidFill>
              <a:srgbClr val="D0D8E8"/>
            </a:solidFill>
            <a:prstDash val="solid"/>
          </a:ln>
        </p:spPr>
        <p:txBody>
          <a:bodyPr/>
          <a:lstStyle/>
          <a:p>
            <a:endParaRPr lang="en-US"/>
          </a:p>
        </p:txBody>
      </p:sp>
      <p:sp>
        <p:nvSpPr>
          <p:cNvPr id="76" name="Text 21">
            <a:extLst>
              <a:ext uri="{FF2B5EF4-FFF2-40B4-BE49-F238E27FC236}">
                <a16:creationId xmlns:a16="http://schemas.microsoft.com/office/drawing/2014/main" id="{87E37BD2-D841-57FF-7926-3B0C29B49AD7}"/>
              </a:ext>
            </a:extLst>
          </p:cNvPr>
          <p:cNvSpPr/>
          <p:nvPr/>
        </p:nvSpPr>
        <p:spPr>
          <a:xfrm>
            <a:off x="2791505" y="4413353"/>
            <a:ext cx="1916951" cy="757331"/>
          </a:xfrm>
          <a:prstGeom prst="rect">
            <a:avLst/>
          </a:prstGeom>
          <a:noFill/>
          <a:ln/>
        </p:spPr>
        <p:txBody>
          <a:bodyPr wrap="square" lIns="0" tIns="0" rIns="0" bIns="0" rtlCol="0" anchor="ctr"/>
          <a:lstStyle/>
          <a:p>
            <a:pPr marL="0" indent="0">
              <a:buNone/>
            </a:pPr>
            <a:r>
              <a:rPr lang="en-US" sz="1400" i="1" dirty="0">
                <a:solidFill>
                  <a:srgbClr val="718096"/>
                </a:solidFill>
                <a:latin typeface="Calibri" pitchFamily="34" charset="0"/>
                <a:ea typeface="Calibri" pitchFamily="34" charset="-122"/>
                <a:cs typeface="Calibri" pitchFamily="34" charset="-120"/>
              </a:rPr>
              <a:t>brainstorming · test-driven-development · systematic-debugging</a:t>
            </a:r>
            <a:endParaRPr lang="en-US" sz="1400" dirty="0"/>
          </a:p>
        </p:txBody>
      </p:sp>
      <p:sp>
        <p:nvSpPr>
          <p:cNvPr id="77" name="Shape 22">
            <a:extLst>
              <a:ext uri="{FF2B5EF4-FFF2-40B4-BE49-F238E27FC236}">
                <a16:creationId xmlns:a16="http://schemas.microsoft.com/office/drawing/2014/main" id="{B6158BA8-7902-A00C-B8DE-7A2C222B0103}"/>
              </a:ext>
            </a:extLst>
          </p:cNvPr>
          <p:cNvSpPr/>
          <p:nvPr/>
        </p:nvSpPr>
        <p:spPr>
          <a:xfrm>
            <a:off x="5111666" y="986991"/>
            <a:ext cx="2177700" cy="4389119"/>
          </a:xfrm>
          <a:prstGeom prst="roundRect">
            <a:avLst>
              <a:gd name="adj" fmla="val 5814"/>
            </a:avLst>
          </a:prstGeom>
          <a:solidFill>
            <a:srgbClr val="F0FAF8"/>
          </a:solidFill>
          <a:ln w="12700">
            <a:solidFill>
              <a:srgbClr val="E0E4EC"/>
            </a:solidFill>
            <a:prstDash val="solid"/>
          </a:ln>
        </p:spPr>
        <p:txBody>
          <a:bodyPr/>
          <a:lstStyle/>
          <a:p>
            <a:endParaRPr lang="en-US"/>
          </a:p>
        </p:txBody>
      </p:sp>
      <p:sp>
        <p:nvSpPr>
          <p:cNvPr id="78" name="Shape 23">
            <a:extLst>
              <a:ext uri="{FF2B5EF4-FFF2-40B4-BE49-F238E27FC236}">
                <a16:creationId xmlns:a16="http://schemas.microsoft.com/office/drawing/2014/main" id="{857E36DA-9D27-6E27-D3D4-51A603F614A7}"/>
              </a:ext>
            </a:extLst>
          </p:cNvPr>
          <p:cNvSpPr/>
          <p:nvPr/>
        </p:nvSpPr>
        <p:spPr>
          <a:xfrm>
            <a:off x="5111666" y="986991"/>
            <a:ext cx="2177700" cy="567209"/>
          </a:xfrm>
          <a:prstGeom prst="roundRect">
            <a:avLst>
              <a:gd name="adj" fmla="val 23810"/>
            </a:avLst>
          </a:prstGeom>
          <a:solidFill>
            <a:srgbClr val="1B7A6E"/>
          </a:solidFill>
          <a:ln w="12700">
            <a:solidFill>
              <a:srgbClr val="1B7A6E"/>
            </a:solidFill>
            <a:prstDash val="solid"/>
          </a:ln>
        </p:spPr>
        <p:txBody>
          <a:bodyPr/>
          <a:lstStyle/>
          <a:p>
            <a:endParaRPr lang="en-US"/>
          </a:p>
        </p:txBody>
      </p:sp>
      <p:sp>
        <p:nvSpPr>
          <p:cNvPr id="79" name="Shape 24">
            <a:extLst>
              <a:ext uri="{FF2B5EF4-FFF2-40B4-BE49-F238E27FC236}">
                <a16:creationId xmlns:a16="http://schemas.microsoft.com/office/drawing/2014/main" id="{D94D3ED2-C607-8337-8E27-19182868F6C6}"/>
              </a:ext>
            </a:extLst>
          </p:cNvPr>
          <p:cNvSpPr/>
          <p:nvPr/>
        </p:nvSpPr>
        <p:spPr>
          <a:xfrm>
            <a:off x="5111666" y="1188160"/>
            <a:ext cx="2177700" cy="270100"/>
          </a:xfrm>
          <a:prstGeom prst="rect">
            <a:avLst/>
          </a:prstGeom>
          <a:solidFill>
            <a:srgbClr val="1B7A6E"/>
          </a:solidFill>
          <a:ln w="12700">
            <a:solidFill>
              <a:srgbClr val="1B7A6E"/>
            </a:solidFill>
            <a:prstDash val="solid"/>
          </a:ln>
        </p:spPr>
        <p:txBody>
          <a:bodyPr/>
          <a:lstStyle/>
          <a:p>
            <a:endParaRPr lang="en-US"/>
          </a:p>
        </p:txBody>
      </p:sp>
      <p:sp>
        <p:nvSpPr>
          <p:cNvPr id="80" name="Text 25">
            <a:extLst>
              <a:ext uri="{FF2B5EF4-FFF2-40B4-BE49-F238E27FC236}">
                <a16:creationId xmlns:a16="http://schemas.microsoft.com/office/drawing/2014/main" id="{2CE32DE3-80C0-D8A0-86CF-D069C7372823}"/>
              </a:ext>
            </a:extLst>
          </p:cNvPr>
          <p:cNvSpPr/>
          <p:nvPr/>
        </p:nvSpPr>
        <p:spPr>
          <a:xfrm>
            <a:off x="5157385" y="986991"/>
            <a:ext cx="1924283" cy="567209"/>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Subagents</a:t>
            </a:r>
            <a:endParaRPr lang="en-US" dirty="0"/>
          </a:p>
        </p:txBody>
      </p:sp>
      <p:sp>
        <p:nvSpPr>
          <p:cNvPr id="81" name="Text 26">
            <a:extLst>
              <a:ext uri="{FF2B5EF4-FFF2-40B4-BE49-F238E27FC236}">
                <a16:creationId xmlns:a16="http://schemas.microsoft.com/office/drawing/2014/main" id="{E76D1221-C7B3-E2BC-FD4F-D5A6A19F7CF4}"/>
              </a:ext>
            </a:extLst>
          </p:cNvPr>
          <p:cNvSpPr/>
          <p:nvPr/>
        </p:nvSpPr>
        <p:spPr>
          <a:xfrm>
            <a:off x="5216776" y="1480496"/>
            <a:ext cx="1805500" cy="351130"/>
          </a:xfrm>
          <a:prstGeom prst="rect">
            <a:avLst/>
          </a:prstGeom>
          <a:noFill/>
          <a:ln/>
        </p:spPr>
        <p:txBody>
          <a:bodyPr wrap="square" lIns="0" tIns="0" rIns="0" bIns="0" rtlCol="0" anchor="ctr"/>
          <a:lstStyle/>
          <a:p>
            <a:pPr marL="0" indent="0">
              <a:buNone/>
            </a:pPr>
            <a:r>
              <a:rPr lang="en-US" sz="1400" b="1" dirty="0">
                <a:solidFill>
                  <a:srgbClr val="1B7A6E"/>
                </a:solidFill>
                <a:latin typeface="Calibri" pitchFamily="34" charset="0"/>
                <a:ea typeface="Calibri" pitchFamily="34" charset="-122"/>
                <a:cs typeface="Calibri" pitchFamily="34" charset="-120"/>
              </a:rPr>
              <a:t>Delegated work</a:t>
            </a:r>
            <a:endParaRPr lang="en-US" sz="1400" dirty="0"/>
          </a:p>
        </p:txBody>
      </p:sp>
      <p:sp>
        <p:nvSpPr>
          <p:cNvPr id="82" name="Text 27">
            <a:extLst>
              <a:ext uri="{FF2B5EF4-FFF2-40B4-BE49-F238E27FC236}">
                <a16:creationId xmlns:a16="http://schemas.microsoft.com/office/drawing/2014/main" id="{7E1BB572-6B0D-3337-E5F5-A4BF0216158B}"/>
              </a:ext>
            </a:extLst>
          </p:cNvPr>
          <p:cNvSpPr/>
          <p:nvPr/>
        </p:nvSpPr>
        <p:spPr>
          <a:xfrm>
            <a:off x="5203106" y="1771659"/>
            <a:ext cx="1805500" cy="945349"/>
          </a:xfrm>
          <a:prstGeom prst="rect">
            <a:avLst/>
          </a:prstGeom>
          <a:noFill/>
          <a:ln/>
        </p:spPr>
        <p:txBody>
          <a:bodyPr wrap="square" lIns="0" tIns="0" rIns="0" bIns="0" rtlCol="0" anchor="t"/>
          <a:lstStyle/>
          <a:p>
            <a:pPr marL="0" indent="0">
              <a:buNone/>
            </a:pPr>
            <a:r>
              <a:rPr lang="en-US" sz="1400" dirty="0">
                <a:solidFill>
                  <a:srgbClr val="2D3748"/>
                </a:solidFill>
                <a:latin typeface="Calibri" pitchFamily="34" charset="0"/>
                <a:ea typeface="Calibri" pitchFamily="34" charset="-122"/>
                <a:cs typeface="Calibri" pitchFamily="34" charset="-120"/>
              </a:rPr>
              <a:t>Fresh agent instances with isolated context windows for parallel or delegated tasks.</a:t>
            </a:r>
            <a:endParaRPr lang="en-US" sz="1400" dirty="0"/>
          </a:p>
        </p:txBody>
      </p:sp>
      <p:sp>
        <p:nvSpPr>
          <p:cNvPr id="83" name="Text 28">
            <a:extLst>
              <a:ext uri="{FF2B5EF4-FFF2-40B4-BE49-F238E27FC236}">
                <a16:creationId xmlns:a16="http://schemas.microsoft.com/office/drawing/2014/main" id="{30956E7B-3937-C417-0C26-8B374F734DA4}"/>
              </a:ext>
            </a:extLst>
          </p:cNvPr>
          <p:cNvSpPr/>
          <p:nvPr/>
        </p:nvSpPr>
        <p:spPr>
          <a:xfrm>
            <a:off x="5203106" y="2646907"/>
            <a:ext cx="1805500" cy="1134418"/>
          </a:xfrm>
          <a:prstGeom prst="rect">
            <a:avLst/>
          </a:prstGeom>
          <a:noFill/>
          <a:ln/>
        </p:spPr>
        <p:txBody>
          <a:bodyPr wrap="square" lIns="0" tIns="0" rIns="0" bIns="0" rtlCol="0" anchor="t"/>
          <a:lstStyle/>
          <a:p>
            <a:pPr marL="0" indent="0">
              <a:buNone/>
            </a:pPr>
            <a:r>
              <a:rPr lang="en-US" sz="1400" b="1" dirty="0">
                <a:solidFill>
                  <a:srgbClr val="2D3748"/>
                </a:solidFill>
                <a:latin typeface="Calibri" pitchFamily="34" charset="0"/>
                <a:ea typeface="Calibri" pitchFamily="34" charset="-122"/>
                <a:cs typeface="Calibri" pitchFamily="34" charset="-120"/>
              </a:rPr>
              <a:t>Use when: </a:t>
            </a:r>
            <a:r>
              <a:rPr lang="en-US" sz="1400" dirty="0">
                <a:solidFill>
                  <a:srgbClr val="2D3748"/>
                </a:solidFill>
                <a:latin typeface="Calibri" pitchFamily="34" charset="0"/>
                <a:ea typeface="Calibri" pitchFamily="34" charset="-122"/>
                <a:cs typeface="Calibri" pitchFamily="34" charset="-120"/>
              </a:rPr>
              <a:t>Parallel execution, context isolation, or handing off a long implementation task.</a:t>
            </a:r>
            <a:endParaRPr lang="en-US" sz="1400" dirty="0"/>
          </a:p>
        </p:txBody>
      </p:sp>
      <p:sp>
        <p:nvSpPr>
          <p:cNvPr id="84" name="Text 29">
            <a:extLst>
              <a:ext uri="{FF2B5EF4-FFF2-40B4-BE49-F238E27FC236}">
                <a16:creationId xmlns:a16="http://schemas.microsoft.com/office/drawing/2014/main" id="{116109F3-0D6A-FA2C-9923-80C77F2EBAE1}"/>
              </a:ext>
            </a:extLst>
          </p:cNvPr>
          <p:cNvSpPr/>
          <p:nvPr/>
        </p:nvSpPr>
        <p:spPr>
          <a:xfrm>
            <a:off x="5192060" y="3851753"/>
            <a:ext cx="1805500" cy="445664"/>
          </a:xfrm>
          <a:prstGeom prst="rect">
            <a:avLst/>
          </a:prstGeom>
          <a:noFill/>
          <a:ln/>
        </p:spPr>
        <p:txBody>
          <a:bodyPr wrap="square" lIns="0" tIns="0" rIns="0" bIns="0" rtlCol="0" anchor="ctr"/>
          <a:lstStyle/>
          <a:p>
            <a:pPr marL="0" indent="0">
              <a:buNone/>
            </a:pPr>
            <a:r>
              <a:rPr lang="en-US" sz="1400" i="1" dirty="0">
                <a:solidFill>
                  <a:srgbClr val="718096"/>
                </a:solidFill>
                <a:latin typeface="Calibri" pitchFamily="34" charset="0"/>
                <a:ea typeface="Calibri" pitchFamily="34" charset="-122"/>
                <a:cs typeface="Calibri" pitchFamily="34" charset="-120"/>
              </a:rPr>
              <a:t>Own context window · results returned to caller</a:t>
            </a:r>
            <a:endParaRPr lang="en-US" sz="1400" dirty="0"/>
          </a:p>
        </p:txBody>
      </p:sp>
      <p:sp>
        <p:nvSpPr>
          <p:cNvPr id="85" name="Shape 30">
            <a:extLst>
              <a:ext uri="{FF2B5EF4-FFF2-40B4-BE49-F238E27FC236}">
                <a16:creationId xmlns:a16="http://schemas.microsoft.com/office/drawing/2014/main" id="{0C1D1E19-0F32-EC28-ECFB-D7C05DC181B1}"/>
              </a:ext>
            </a:extLst>
          </p:cNvPr>
          <p:cNvSpPr/>
          <p:nvPr/>
        </p:nvSpPr>
        <p:spPr>
          <a:xfrm>
            <a:off x="5203106" y="4367846"/>
            <a:ext cx="1805500" cy="0"/>
          </a:xfrm>
          <a:prstGeom prst="line">
            <a:avLst/>
          </a:prstGeom>
          <a:noFill/>
          <a:ln w="6350">
            <a:solidFill>
              <a:srgbClr val="D0D8E8"/>
            </a:solidFill>
            <a:prstDash val="solid"/>
          </a:ln>
        </p:spPr>
        <p:txBody>
          <a:bodyPr/>
          <a:lstStyle/>
          <a:p>
            <a:endParaRPr lang="en-US"/>
          </a:p>
        </p:txBody>
      </p:sp>
      <p:sp>
        <p:nvSpPr>
          <p:cNvPr id="86" name="Text 31">
            <a:extLst>
              <a:ext uri="{FF2B5EF4-FFF2-40B4-BE49-F238E27FC236}">
                <a16:creationId xmlns:a16="http://schemas.microsoft.com/office/drawing/2014/main" id="{02DA9223-D35F-DD77-3C24-9143586F38A9}"/>
              </a:ext>
            </a:extLst>
          </p:cNvPr>
          <p:cNvSpPr/>
          <p:nvPr/>
        </p:nvSpPr>
        <p:spPr>
          <a:xfrm>
            <a:off x="5192060" y="4619202"/>
            <a:ext cx="1805500" cy="405149"/>
          </a:xfrm>
          <a:prstGeom prst="rect">
            <a:avLst/>
          </a:prstGeom>
          <a:noFill/>
          <a:ln/>
        </p:spPr>
        <p:txBody>
          <a:bodyPr wrap="square" lIns="0" tIns="0" rIns="0" bIns="0" rtlCol="0" anchor="ctr"/>
          <a:lstStyle/>
          <a:p>
            <a:pPr marL="0" indent="0">
              <a:buNone/>
            </a:pPr>
            <a:r>
              <a:rPr lang="en-US" sz="1400" i="1" dirty="0">
                <a:solidFill>
                  <a:srgbClr val="718096"/>
                </a:solidFill>
                <a:latin typeface="Calibri" pitchFamily="34" charset="0"/>
                <a:ea typeface="Calibri" pitchFamily="34" charset="-122"/>
                <a:cs typeface="Calibri" pitchFamily="34" charset="-120"/>
              </a:rPr>
              <a:t>Parallel analysis · isolated impl · code review</a:t>
            </a:r>
            <a:endParaRPr lang="en-US" sz="1400" dirty="0"/>
          </a:p>
        </p:txBody>
      </p:sp>
      <p:sp>
        <p:nvSpPr>
          <p:cNvPr id="87" name="Shape 32">
            <a:extLst>
              <a:ext uri="{FF2B5EF4-FFF2-40B4-BE49-F238E27FC236}">
                <a16:creationId xmlns:a16="http://schemas.microsoft.com/office/drawing/2014/main" id="{65FC695C-423E-BDC6-38F9-D8DCE19EBC45}"/>
              </a:ext>
            </a:extLst>
          </p:cNvPr>
          <p:cNvSpPr/>
          <p:nvPr/>
        </p:nvSpPr>
        <p:spPr>
          <a:xfrm>
            <a:off x="7549519" y="986992"/>
            <a:ext cx="2169180" cy="4407968"/>
          </a:xfrm>
          <a:prstGeom prst="roundRect">
            <a:avLst>
              <a:gd name="adj" fmla="val 5814"/>
            </a:avLst>
          </a:prstGeom>
          <a:solidFill>
            <a:srgbClr val="F0F7FC"/>
          </a:solidFill>
          <a:ln w="12700">
            <a:solidFill>
              <a:srgbClr val="E0E4EC"/>
            </a:solidFill>
            <a:prstDash val="solid"/>
          </a:ln>
        </p:spPr>
        <p:txBody>
          <a:bodyPr/>
          <a:lstStyle/>
          <a:p>
            <a:endParaRPr lang="en-US"/>
          </a:p>
        </p:txBody>
      </p:sp>
      <p:sp>
        <p:nvSpPr>
          <p:cNvPr id="88" name="Shape 33">
            <a:extLst>
              <a:ext uri="{FF2B5EF4-FFF2-40B4-BE49-F238E27FC236}">
                <a16:creationId xmlns:a16="http://schemas.microsoft.com/office/drawing/2014/main" id="{1ABB7320-FE7C-1C34-A196-84F92A880D45}"/>
              </a:ext>
            </a:extLst>
          </p:cNvPr>
          <p:cNvSpPr/>
          <p:nvPr/>
        </p:nvSpPr>
        <p:spPr>
          <a:xfrm>
            <a:off x="7549519" y="986991"/>
            <a:ext cx="2169180" cy="569645"/>
          </a:xfrm>
          <a:prstGeom prst="roundRect">
            <a:avLst>
              <a:gd name="adj" fmla="val 23810"/>
            </a:avLst>
          </a:prstGeom>
          <a:solidFill>
            <a:srgbClr val="1A6490"/>
          </a:solidFill>
          <a:ln w="12700">
            <a:solidFill>
              <a:srgbClr val="1A6490"/>
            </a:solidFill>
            <a:prstDash val="solid"/>
          </a:ln>
        </p:spPr>
        <p:txBody>
          <a:bodyPr/>
          <a:lstStyle/>
          <a:p>
            <a:endParaRPr lang="en-US"/>
          </a:p>
        </p:txBody>
      </p:sp>
      <p:sp>
        <p:nvSpPr>
          <p:cNvPr id="89" name="Shape 34">
            <a:extLst>
              <a:ext uri="{FF2B5EF4-FFF2-40B4-BE49-F238E27FC236}">
                <a16:creationId xmlns:a16="http://schemas.microsoft.com/office/drawing/2014/main" id="{7718FDBC-0256-F7BE-5FC8-D160F4142292}"/>
              </a:ext>
            </a:extLst>
          </p:cNvPr>
          <p:cNvSpPr/>
          <p:nvPr/>
        </p:nvSpPr>
        <p:spPr>
          <a:xfrm>
            <a:off x="7549519" y="1188160"/>
            <a:ext cx="2169180" cy="271260"/>
          </a:xfrm>
          <a:prstGeom prst="rect">
            <a:avLst/>
          </a:prstGeom>
          <a:solidFill>
            <a:srgbClr val="1A6490"/>
          </a:solidFill>
          <a:ln w="12700">
            <a:solidFill>
              <a:srgbClr val="1A6490"/>
            </a:solidFill>
            <a:prstDash val="solid"/>
          </a:ln>
        </p:spPr>
        <p:txBody>
          <a:bodyPr/>
          <a:lstStyle/>
          <a:p>
            <a:endParaRPr lang="en-US"/>
          </a:p>
        </p:txBody>
      </p:sp>
      <p:sp>
        <p:nvSpPr>
          <p:cNvPr id="90" name="Text 35">
            <a:extLst>
              <a:ext uri="{FF2B5EF4-FFF2-40B4-BE49-F238E27FC236}">
                <a16:creationId xmlns:a16="http://schemas.microsoft.com/office/drawing/2014/main" id="{670D8259-0175-E6E3-A570-505861789292}"/>
              </a:ext>
            </a:extLst>
          </p:cNvPr>
          <p:cNvSpPr/>
          <p:nvPr/>
        </p:nvSpPr>
        <p:spPr>
          <a:xfrm>
            <a:off x="7595238" y="986991"/>
            <a:ext cx="2043065" cy="569645"/>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Hooks</a:t>
            </a:r>
            <a:endParaRPr lang="en-US" dirty="0"/>
          </a:p>
        </p:txBody>
      </p:sp>
      <p:sp>
        <p:nvSpPr>
          <p:cNvPr id="91" name="Text 36">
            <a:extLst>
              <a:ext uri="{FF2B5EF4-FFF2-40B4-BE49-F238E27FC236}">
                <a16:creationId xmlns:a16="http://schemas.microsoft.com/office/drawing/2014/main" id="{785BAC1A-7340-45EB-868C-EE3267E896EB}"/>
              </a:ext>
            </a:extLst>
          </p:cNvPr>
          <p:cNvSpPr/>
          <p:nvPr/>
        </p:nvSpPr>
        <p:spPr>
          <a:xfrm>
            <a:off x="7629518" y="1509450"/>
            <a:ext cx="2449076" cy="352637"/>
          </a:xfrm>
          <a:prstGeom prst="rect">
            <a:avLst/>
          </a:prstGeom>
          <a:noFill/>
          <a:ln/>
        </p:spPr>
        <p:txBody>
          <a:bodyPr wrap="square" lIns="0" tIns="0" rIns="0" bIns="0" rtlCol="0" anchor="ctr"/>
          <a:lstStyle/>
          <a:p>
            <a:pPr marL="0" indent="0">
              <a:buNone/>
            </a:pPr>
            <a:r>
              <a:rPr lang="en-US" sz="1400" b="1" dirty="0">
                <a:solidFill>
                  <a:srgbClr val="1A6490"/>
                </a:solidFill>
                <a:latin typeface="Calibri" pitchFamily="34" charset="0"/>
                <a:ea typeface="Calibri" pitchFamily="34" charset="-122"/>
                <a:cs typeface="Calibri" pitchFamily="34" charset="-120"/>
              </a:rPr>
              <a:t>Event-driven automation</a:t>
            </a:r>
            <a:endParaRPr lang="en-US" sz="1400" dirty="0"/>
          </a:p>
        </p:txBody>
      </p:sp>
      <p:sp>
        <p:nvSpPr>
          <p:cNvPr id="92" name="Text 37">
            <a:extLst>
              <a:ext uri="{FF2B5EF4-FFF2-40B4-BE49-F238E27FC236}">
                <a16:creationId xmlns:a16="http://schemas.microsoft.com/office/drawing/2014/main" id="{68753471-2B7A-D6FB-E62B-C53DBE57EDE8}"/>
              </a:ext>
            </a:extLst>
          </p:cNvPr>
          <p:cNvSpPr/>
          <p:nvPr/>
        </p:nvSpPr>
        <p:spPr>
          <a:xfrm>
            <a:off x="7640959" y="1867499"/>
            <a:ext cx="1916950" cy="949408"/>
          </a:xfrm>
          <a:prstGeom prst="rect">
            <a:avLst/>
          </a:prstGeom>
          <a:noFill/>
          <a:ln/>
        </p:spPr>
        <p:txBody>
          <a:bodyPr wrap="square" lIns="0" tIns="0" rIns="0" bIns="0" rtlCol="0" anchor="t"/>
          <a:lstStyle/>
          <a:p>
            <a:pPr marL="0" indent="0">
              <a:buNone/>
            </a:pPr>
            <a:r>
              <a:rPr lang="en-US" sz="1400" dirty="0">
                <a:solidFill>
                  <a:srgbClr val="2D3748"/>
                </a:solidFill>
                <a:latin typeface="Calibri" pitchFamily="34" charset="0"/>
                <a:ea typeface="Calibri" pitchFamily="34" charset="-122"/>
                <a:cs typeface="Calibri" pitchFamily="34" charset="-120"/>
              </a:rPr>
              <a:t>Shell commands that fire automatically on harness events — no model involvement.</a:t>
            </a:r>
            <a:endParaRPr lang="en-US" sz="1400" dirty="0"/>
          </a:p>
        </p:txBody>
      </p:sp>
      <p:sp>
        <p:nvSpPr>
          <p:cNvPr id="93" name="Text 38">
            <a:extLst>
              <a:ext uri="{FF2B5EF4-FFF2-40B4-BE49-F238E27FC236}">
                <a16:creationId xmlns:a16="http://schemas.microsoft.com/office/drawing/2014/main" id="{671C4EB3-4F6B-2DB7-BE60-778507F0A593}"/>
              </a:ext>
            </a:extLst>
          </p:cNvPr>
          <p:cNvSpPr/>
          <p:nvPr/>
        </p:nvSpPr>
        <p:spPr>
          <a:xfrm>
            <a:off x="7640959" y="2799304"/>
            <a:ext cx="1916950" cy="1139290"/>
          </a:xfrm>
          <a:prstGeom prst="rect">
            <a:avLst/>
          </a:prstGeom>
          <a:noFill/>
          <a:ln/>
        </p:spPr>
        <p:txBody>
          <a:bodyPr wrap="square" lIns="0" tIns="0" rIns="0" bIns="0" rtlCol="0" anchor="t"/>
          <a:lstStyle/>
          <a:p>
            <a:pPr marL="0" indent="0">
              <a:buNone/>
            </a:pPr>
            <a:r>
              <a:rPr lang="en-US" sz="1400" b="1" dirty="0">
                <a:solidFill>
                  <a:srgbClr val="2D3748"/>
                </a:solidFill>
                <a:latin typeface="Calibri" pitchFamily="34" charset="0"/>
                <a:ea typeface="Calibri" pitchFamily="34" charset="-122"/>
                <a:cs typeface="Calibri" pitchFamily="34" charset="-120"/>
              </a:rPr>
              <a:t>Use when: </a:t>
            </a:r>
            <a:r>
              <a:rPr lang="en-US" sz="1400" dirty="0">
                <a:solidFill>
                  <a:srgbClr val="2D3748"/>
                </a:solidFill>
                <a:latin typeface="Calibri" pitchFamily="34" charset="0"/>
                <a:ea typeface="Calibri" pitchFamily="34" charset="-122"/>
                <a:cs typeface="Calibri" pitchFamily="34" charset="-120"/>
              </a:rPr>
              <a:t>Lint on file save, validate before tool calls, inject context at session start.</a:t>
            </a:r>
            <a:endParaRPr lang="en-US" sz="1400" dirty="0"/>
          </a:p>
        </p:txBody>
      </p:sp>
      <p:sp>
        <p:nvSpPr>
          <p:cNvPr id="94" name="Text 39">
            <a:extLst>
              <a:ext uri="{FF2B5EF4-FFF2-40B4-BE49-F238E27FC236}">
                <a16:creationId xmlns:a16="http://schemas.microsoft.com/office/drawing/2014/main" id="{C2C9F2FC-9326-38E3-676C-FE55559C94B1}"/>
              </a:ext>
            </a:extLst>
          </p:cNvPr>
          <p:cNvSpPr/>
          <p:nvPr/>
        </p:nvSpPr>
        <p:spPr>
          <a:xfrm>
            <a:off x="7640959" y="3964204"/>
            <a:ext cx="1916950" cy="447578"/>
          </a:xfrm>
          <a:prstGeom prst="rect">
            <a:avLst/>
          </a:prstGeom>
          <a:noFill/>
          <a:ln/>
        </p:spPr>
        <p:txBody>
          <a:bodyPr wrap="square" lIns="0" tIns="0" rIns="0" bIns="0" rtlCol="0" anchor="ctr"/>
          <a:lstStyle/>
          <a:p>
            <a:pPr marL="0" indent="0">
              <a:buNone/>
            </a:pPr>
            <a:r>
              <a:rPr lang="en-US" sz="1400" i="1" dirty="0">
                <a:solidFill>
                  <a:srgbClr val="718096"/>
                </a:solidFill>
                <a:latin typeface="Calibri" pitchFamily="34" charset="0"/>
                <a:ea typeface="Calibri" pitchFamily="34" charset="-122"/>
                <a:cs typeface="Calibri" pitchFamily="34" charset="-120"/>
              </a:rPr>
              <a:t>Runs outside the model · event-triggered</a:t>
            </a:r>
            <a:endParaRPr lang="en-US" sz="1400" dirty="0"/>
          </a:p>
        </p:txBody>
      </p:sp>
      <p:sp>
        <p:nvSpPr>
          <p:cNvPr id="95" name="Shape 40">
            <a:extLst>
              <a:ext uri="{FF2B5EF4-FFF2-40B4-BE49-F238E27FC236}">
                <a16:creationId xmlns:a16="http://schemas.microsoft.com/office/drawing/2014/main" id="{9555D1C0-0E13-5105-C25D-DFBB49A284F2}"/>
              </a:ext>
            </a:extLst>
          </p:cNvPr>
          <p:cNvSpPr/>
          <p:nvPr/>
        </p:nvSpPr>
        <p:spPr>
          <a:xfrm>
            <a:off x="7640959" y="4423803"/>
            <a:ext cx="1916950" cy="0"/>
          </a:xfrm>
          <a:prstGeom prst="line">
            <a:avLst/>
          </a:prstGeom>
          <a:noFill/>
          <a:ln w="6350">
            <a:solidFill>
              <a:srgbClr val="D0D8E8"/>
            </a:solidFill>
            <a:prstDash val="solid"/>
          </a:ln>
        </p:spPr>
        <p:txBody>
          <a:bodyPr/>
          <a:lstStyle/>
          <a:p>
            <a:endParaRPr lang="en-US"/>
          </a:p>
        </p:txBody>
      </p:sp>
      <p:sp>
        <p:nvSpPr>
          <p:cNvPr id="96" name="Text 41">
            <a:extLst>
              <a:ext uri="{FF2B5EF4-FFF2-40B4-BE49-F238E27FC236}">
                <a16:creationId xmlns:a16="http://schemas.microsoft.com/office/drawing/2014/main" id="{EC0E7979-5D11-108D-63F5-0BCFAC51800B}"/>
              </a:ext>
            </a:extLst>
          </p:cNvPr>
          <p:cNvSpPr/>
          <p:nvPr/>
        </p:nvSpPr>
        <p:spPr>
          <a:xfrm>
            <a:off x="7595238" y="4588573"/>
            <a:ext cx="1916950" cy="406889"/>
          </a:xfrm>
          <a:prstGeom prst="rect">
            <a:avLst/>
          </a:prstGeom>
          <a:noFill/>
          <a:ln/>
        </p:spPr>
        <p:txBody>
          <a:bodyPr wrap="square" lIns="0" tIns="0" rIns="0" bIns="0" rtlCol="0" anchor="ctr"/>
          <a:lstStyle/>
          <a:p>
            <a:pPr marL="0" indent="0">
              <a:buNone/>
            </a:pPr>
            <a:r>
              <a:rPr lang="en-US" sz="1400" i="1" dirty="0">
                <a:solidFill>
                  <a:srgbClr val="718096"/>
                </a:solidFill>
                <a:latin typeface="Calibri" pitchFamily="34" charset="0"/>
                <a:ea typeface="Calibri" pitchFamily="34" charset="-122"/>
                <a:cs typeface="Calibri" pitchFamily="34" charset="-120"/>
              </a:rPr>
              <a:t>SessionStart · PostToolUse · PreToolUse</a:t>
            </a:r>
            <a:endParaRPr lang="en-US" sz="1400" dirty="0"/>
          </a:p>
        </p:txBody>
      </p:sp>
      <p:sp>
        <p:nvSpPr>
          <p:cNvPr id="97" name="Shape 42">
            <a:extLst>
              <a:ext uri="{FF2B5EF4-FFF2-40B4-BE49-F238E27FC236}">
                <a16:creationId xmlns:a16="http://schemas.microsoft.com/office/drawing/2014/main" id="{6C52BB99-187B-01AE-20FC-630B84ADC940}"/>
              </a:ext>
            </a:extLst>
          </p:cNvPr>
          <p:cNvSpPr/>
          <p:nvPr/>
        </p:nvSpPr>
        <p:spPr>
          <a:xfrm>
            <a:off x="9834455" y="1016738"/>
            <a:ext cx="2169180" cy="4359372"/>
          </a:xfrm>
          <a:prstGeom prst="roundRect">
            <a:avLst>
              <a:gd name="adj" fmla="val 5814"/>
            </a:avLst>
          </a:prstGeom>
          <a:solidFill>
            <a:srgbClr val="FDFBF0"/>
          </a:solidFill>
          <a:ln w="12700">
            <a:solidFill>
              <a:srgbClr val="E0E4EC"/>
            </a:solidFill>
            <a:prstDash val="solid"/>
          </a:ln>
        </p:spPr>
        <p:txBody>
          <a:bodyPr/>
          <a:lstStyle/>
          <a:p>
            <a:endParaRPr lang="en-US"/>
          </a:p>
        </p:txBody>
      </p:sp>
      <p:sp>
        <p:nvSpPr>
          <p:cNvPr id="98" name="Shape 43">
            <a:extLst>
              <a:ext uri="{FF2B5EF4-FFF2-40B4-BE49-F238E27FC236}">
                <a16:creationId xmlns:a16="http://schemas.microsoft.com/office/drawing/2014/main" id="{38DE47F4-D319-EAF7-1E36-66897F1204AE}"/>
              </a:ext>
            </a:extLst>
          </p:cNvPr>
          <p:cNvSpPr/>
          <p:nvPr/>
        </p:nvSpPr>
        <p:spPr>
          <a:xfrm>
            <a:off x="9834455" y="1016738"/>
            <a:ext cx="2169180" cy="563365"/>
          </a:xfrm>
          <a:prstGeom prst="roundRect">
            <a:avLst>
              <a:gd name="adj" fmla="val 23810"/>
            </a:avLst>
          </a:prstGeom>
          <a:solidFill>
            <a:srgbClr val="7A6B1A"/>
          </a:solidFill>
          <a:ln w="12700">
            <a:solidFill>
              <a:srgbClr val="7A6B1A"/>
            </a:solidFill>
            <a:prstDash val="solid"/>
          </a:ln>
        </p:spPr>
        <p:txBody>
          <a:bodyPr/>
          <a:lstStyle/>
          <a:p>
            <a:endParaRPr lang="en-US"/>
          </a:p>
        </p:txBody>
      </p:sp>
      <p:sp>
        <p:nvSpPr>
          <p:cNvPr id="99" name="Shape 44">
            <a:extLst>
              <a:ext uri="{FF2B5EF4-FFF2-40B4-BE49-F238E27FC236}">
                <a16:creationId xmlns:a16="http://schemas.microsoft.com/office/drawing/2014/main" id="{57139A8A-93F0-17F9-8232-CAEC4D97B021}"/>
              </a:ext>
            </a:extLst>
          </p:cNvPr>
          <p:cNvSpPr/>
          <p:nvPr/>
        </p:nvSpPr>
        <p:spPr>
          <a:xfrm>
            <a:off x="9834455" y="1217906"/>
            <a:ext cx="2169180" cy="268269"/>
          </a:xfrm>
          <a:prstGeom prst="rect">
            <a:avLst/>
          </a:prstGeom>
          <a:solidFill>
            <a:srgbClr val="7A6B1A"/>
          </a:solidFill>
          <a:ln w="12700">
            <a:solidFill>
              <a:srgbClr val="7A6B1A"/>
            </a:solidFill>
            <a:prstDash val="solid"/>
          </a:ln>
        </p:spPr>
        <p:txBody>
          <a:bodyPr/>
          <a:lstStyle/>
          <a:p>
            <a:endParaRPr lang="en-US"/>
          </a:p>
        </p:txBody>
      </p:sp>
      <p:sp>
        <p:nvSpPr>
          <p:cNvPr id="100" name="Text 45">
            <a:extLst>
              <a:ext uri="{FF2B5EF4-FFF2-40B4-BE49-F238E27FC236}">
                <a16:creationId xmlns:a16="http://schemas.microsoft.com/office/drawing/2014/main" id="{5C43EFF6-39BC-EA54-C19D-04B1BCCA95EA}"/>
              </a:ext>
            </a:extLst>
          </p:cNvPr>
          <p:cNvSpPr/>
          <p:nvPr/>
        </p:nvSpPr>
        <p:spPr>
          <a:xfrm>
            <a:off x="9880175" y="1016738"/>
            <a:ext cx="2043065" cy="563365"/>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MCP servers</a:t>
            </a:r>
            <a:endParaRPr lang="en-US" dirty="0"/>
          </a:p>
        </p:txBody>
      </p:sp>
      <p:sp>
        <p:nvSpPr>
          <p:cNvPr id="101" name="Text 46">
            <a:extLst>
              <a:ext uri="{FF2B5EF4-FFF2-40B4-BE49-F238E27FC236}">
                <a16:creationId xmlns:a16="http://schemas.microsoft.com/office/drawing/2014/main" id="{0FACBC28-EB49-4C58-F0C4-E8F35034E286}"/>
              </a:ext>
            </a:extLst>
          </p:cNvPr>
          <p:cNvSpPr/>
          <p:nvPr/>
        </p:nvSpPr>
        <p:spPr>
          <a:xfrm>
            <a:off x="9925896" y="1511262"/>
            <a:ext cx="1916950" cy="348750"/>
          </a:xfrm>
          <a:prstGeom prst="rect">
            <a:avLst/>
          </a:prstGeom>
          <a:noFill/>
          <a:ln/>
        </p:spPr>
        <p:txBody>
          <a:bodyPr wrap="square" lIns="0" tIns="0" rIns="0" bIns="0" rtlCol="0" anchor="ctr"/>
          <a:lstStyle/>
          <a:p>
            <a:pPr marL="0" indent="0">
              <a:buNone/>
            </a:pPr>
            <a:r>
              <a:rPr lang="en-US" sz="1400" b="1" dirty="0">
                <a:solidFill>
                  <a:srgbClr val="7A6B1A"/>
                </a:solidFill>
                <a:latin typeface="Calibri" pitchFamily="34" charset="0"/>
                <a:ea typeface="Calibri" pitchFamily="34" charset="-122"/>
                <a:cs typeface="Calibri" pitchFamily="34" charset="-120"/>
              </a:rPr>
              <a:t>External tool connections</a:t>
            </a:r>
            <a:endParaRPr lang="en-US" sz="1400" dirty="0"/>
          </a:p>
        </p:txBody>
      </p:sp>
      <p:sp>
        <p:nvSpPr>
          <p:cNvPr id="102" name="Text 47">
            <a:extLst>
              <a:ext uri="{FF2B5EF4-FFF2-40B4-BE49-F238E27FC236}">
                <a16:creationId xmlns:a16="http://schemas.microsoft.com/office/drawing/2014/main" id="{A2DEB868-F9AC-517C-BB21-532EF1516484}"/>
              </a:ext>
            </a:extLst>
          </p:cNvPr>
          <p:cNvSpPr/>
          <p:nvPr/>
        </p:nvSpPr>
        <p:spPr>
          <a:xfrm>
            <a:off x="9925896" y="1766546"/>
            <a:ext cx="1916950" cy="938941"/>
          </a:xfrm>
          <a:prstGeom prst="rect">
            <a:avLst/>
          </a:prstGeom>
          <a:noFill/>
          <a:ln/>
        </p:spPr>
        <p:txBody>
          <a:bodyPr wrap="square" lIns="0" tIns="0" rIns="0" bIns="0" rtlCol="0" anchor="t"/>
          <a:lstStyle/>
          <a:p>
            <a:pPr marL="0" indent="0">
              <a:buNone/>
            </a:pPr>
            <a:r>
              <a:rPr lang="en-US" sz="1400" dirty="0">
                <a:solidFill>
                  <a:srgbClr val="2D3748"/>
                </a:solidFill>
                <a:latin typeface="Calibri" pitchFamily="34" charset="0"/>
                <a:ea typeface="Calibri" pitchFamily="34" charset="-122"/>
                <a:cs typeface="Calibri" pitchFamily="34" charset="-120"/>
              </a:rPr>
              <a:t>Protocol servers that expose external tools, APIs, and resources to Claude.</a:t>
            </a:r>
            <a:endParaRPr lang="en-US" sz="1400" dirty="0"/>
          </a:p>
        </p:txBody>
      </p:sp>
      <p:sp>
        <p:nvSpPr>
          <p:cNvPr id="103" name="Text 48">
            <a:extLst>
              <a:ext uri="{FF2B5EF4-FFF2-40B4-BE49-F238E27FC236}">
                <a16:creationId xmlns:a16="http://schemas.microsoft.com/office/drawing/2014/main" id="{F3133F6C-C963-078B-B14D-21FEB6F87387}"/>
              </a:ext>
            </a:extLst>
          </p:cNvPr>
          <p:cNvSpPr/>
          <p:nvPr/>
        </p:nvSpPr>
        <p:spPr>
          <a:xfrm>
            <a:off x="9909290" y="2742266"/>
            <a:ext cx="1916950" cy="1126730"/>
          </a:xfrm>
          <a:prstGeom prst="rect">
            <a:avLst/>
          </a:prstGeom>
          <a:noFill/>
          <a:ln/>
        </p:spPr>
        <p:txBody>
          <a:bodyPr wrap="square" lIns="0" tIns="0" rIns="0" bIns="0" rtlCol="0" anchor="t"/>
          <a:lstStyle/>
          <a:p>
            <a:pPr marL="0" indent="0">
              <a:buNone/>
            </a:pPr>
            <a:r>
              <a:rPr lang="en-US" sz="1400" b="1" dirty="0">
                <a:solidFill>
                  <a:srgbClr val="2D3748"/>
                </a:solidFill>
                <a:latin typeface="Calibri" pitchFamily="34" charset="0"/>
                <a:ea typeface="Calibri" pitchFamily="34" charset="-122"/>
                <a:cs typeface="Calibri" pitchFamily="34" charset="-120"/>
              </a:rPr>
              <a:t>Use when: </a:t>
            </a:r>
            <a:r>
              <a:rPr lang="en-US" sz="1400" dirty="0">
                <a:solidFill>
                  <a:srgbClr val="2D3748"/>
                </a:solidFill>
                <a:latin typeface="Calibri" pitchFamily="34" charset="0"/>
                <a:ea typeface="Calibri" pitchFamily="34" charset="-122"/>
                <a:cs typeface="Calibri" pitchFamily="34" charset="-120"/>
              </a:rPr>
              <a:t>Integrating outside systems — databases, APIs, browsers, file systems.</a:t>
            </a:r>
            <a:endParaRPr lang="en-US" sz="1400" dirty="0"/>
          </a:p>
        </p:txBody>
      </p:sp>
      <p:sp>
        <p:nvSpPr>
          <p:cNvPr id="104" name="Text 49">
            <a:extLst>
              <a:ext uri="{FF2B5EF4-FFF2-40B4-BE49-F238E27FC236}">
                <a16:creationId xmlns:a16="http://schemas.microsoft.com/office/drawing/2014/main" id="{A48B93BB-2218-5ECD-41D0-B2BFEF26EFC5}"/>
              </a:ext>
            </a:extLst>
          </p:cNvPr>
          <p:cNvSpPr/>
          <p:nvPr/>
        </p:nvSpPr>
        <p:spPr>
          <a:xfrm>
            <a:off x="9960570" y="3966671"/>
            <a:ext cx="1916950" cy="442643"/>
          </a:xfrm>
          <a:prstGeom prst="rect">
            <a:avLst/>
          </a:prstGeom>
          <a:noFill/>
          <a:ln/>
        </p:spPr>
        <p:txBody>
          <a:bodyPr wrap="square" lIns="0" tIns="0" rIns="0" bIns="0" rtlCol="0" anchor="ctr"/>
          <a:lstStyle/>
          <a:p>
            <a:pPr marL="0" indent="0">
              <a:buNone/>
            </a:pPr>
            <a:r>
              <a:rPr lang="en-US" sz="1400" i="1" dirty="0">
                <a:solidFill>
                  <a:srgbClr val="718096"/>
                </a:solidFill>
                <a:latin typeface="Calibri" pitchFamily="34" charset="0"/>
                <a:ea typeface="Calibri" pitchFamily="34" charset="-122"/>
                <a:cs typeface="Calibri" pitchFamily="34" charset="-120"/>
              </a:rPr>
              <a:t>External connections · available like built-in tools</a:t>
            </a:r>
            <a:endParaRPr lang="en-US" sz="1400" dirty="0"/>
          </a:p>
        </p:txBody>
      </p:sp>
      <p:sp>
        <p:nvSpPr>
          <p:cNvPr id="105" name="Shape 50">
            <a:extLst>
              <a:ext uri="{FF2B5EF4-FFF2-40B4-BE49-F238E27FC236}">
                <a16:creationId xmlns:a16="http://schemas.microsoft.com/office/drawing/2014/main" id="{C1CF2096-3FB0-29BC-5FBE-088563C52735}"/>
              </a:ext>
            </a:extLst>
          </p:cNvPr>
          <p:cNvSpPr/>
          <p:nvPr/>
        </p:nvSpPr>
        <p:spPr>
          <a:xfrm>
            <a:off x="9909290" y="4482662"/>
            <a:ext cx="1916950" cy="0"/>
          </a:xfrm>
          <a:prstGeom prst="line">
            <a:avLst/>
          </a:prstGeom>
          <a:noFill/>
          <a:ln w="6350">
            <a:solidFill>
              <a:srgbClr val="D0D8E8"/>
            </a:solidFill>
            <a:prstDash val="solid"/>
          </a:ln>
        </p:spPr>
        <p:txBody>
          <a:bodyPr/>
          <a:lstStyle/>
          <a:p>
            <a:endParaRPr lang="en-US"/>
          </a:p>
        </p:txBody>
      </p:sp>
      <p:sp>
        <p:nvSpPr>
          <p:cNvPr id="106" name="Text 51">
            <a:extLst>
              <a:ext uri="{FF2B5EF4-FFF2-40B4-BE49-F238E27FC236}">
                <a16:creationId xmlns:a16="http://schemas.microsoft.com/office/drawing/2014/main" id="{175B744E-DE0E-8B17-D706-BAFA586F2039}"/>
              </a:ext>
            </a:extLst>
          </p:cNvPr>
          <p:cNvSpPr/>
          <p:nvPr/>
        </p:nvSpPr>
        <p:spPr>
          <a:xfrm>
            <a:off x="9925896" y="4623703"/>
            <a:ext cx="1916950" cy="402403"/>
          </a:xfrm>
          <a:prstGeom prst="rect">
            <a:avLst/>
          </a:prstGeom>
          <a:noFill/>
          <a:ln/>
        </p:spPr>
        <p:txBody>
          <a:bodyPr wrap="square" lIns="0" tIns="0" rIns="0" bIns="0" rtlCol="0" anchor="ctr"/>
          <a:lstStyle/>
          <a:p>
            <a:pPr marL="0" indent="0">
              <a:buNone/>
            </a:pPr>
            <a:r>
              <a:rPr lang="en-US" sz="1400" i="1" dirty="0">
                <a:solidFill>
                  <a:srgbClr val="718096"/>
                </a:solidFill>
                <a:latin typeface="Calibri" pitchFamily="34" charset="0"/>
                <a:ea typeface="Calibri" pitchFamily="34" charset="-122"/>
                <a:cs typeface="Calibri" pitchFamily="34" charset="-120"/>
              </a:rPr>
              <a:t>GitHub · Slack · PostgreSQL · browser</a:t>
            </a:r>
            <a:endParaRPr lang="en-US" sz="1400" dirty="0"/>
          </a:p>
        </p:txBody>
      </p:sp>
    </p:spTree>
    <p:extLst>
      <p:ext uri="{BB962C8B-B14F-4D97-AF65-F5344CB8AC3E}">
        <p14:creationId xmlns:p14="http://schemas.microsoft.com/office/powerpoint/2010/main" val="29641179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41413"/>
        </a:solidFill>
        <a:effectLst/>
      </p:bgPr>
    </p:bg>
    <p:spTree>
      <p:nvGrpSpPr>
        <p:cNvPr id="1" name="">
          <a:extLst>
            <a:ext uri="{FF2B5EF4-FFF2-40B4-BE49-F238E27FC236}">
              <a16:creationId xmlns:a16="http://schemas.microsoft.com/office/drawing/2014/main" id="{A2C57190-318E-67D0-4542-87BAA8D9AF2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7900920-7567-D1B1-F68B-AB0358DF193C}"/>
              </a:ext>
            </a:extLst>
          </p:cNvPr>
          <p:cNvSpPr/>
          <p:nvPr/>
        </p:nvSpPr>
        <p:spPr>
          <a:xfrm>
            <a:off x="457200" y="320040"/>
            <a:ext cx="1371600" cy="1371600"/>
          </a:xfrm>
          <a:prstGeom prst="rect">
            <a:avLst/>
          </a:prstGeom>
          <a:noFill/>
          <a:ln/>
        </p:spPr>
        <p:txBody>
          <a:bodyPr wrap="square" rtlCol="0" anchor="ctr"/>
          <a:lstStyle/>
          <a:p>
            <a:pPr marL="0" indent="0">
              <a:buNone/>
            </a:pPr>
            <a:r>
              <a:rPr lang="en-US" sz="9000" b="1" dirty="0">
                <a:solidFill>
                  <a:srgbClr val="232220"/>
                </a:solidFill>
                <a:latin typeface="Poppins" pitchFamily="34" charset="0"/>
                <a:ea typeface="Poppins" pitchFamily="34" charset="-122"/>
                <a:cs typeface="Poppins" pitchFamily="34" charset="-120"/>
              </a:rPr>
              <a:t>{</a:t>
            </a:r>
            <a:endParaRPr lang="en-US" sz="9000" dirty="0"/>
          </a:p>
        </p:txBody>
      </p:sp>
      <p:sp>
        <p:nvSpPr>
          <p:cNvPr id="3" name="Text 1">
            <a:extLst>
              <a:ext uri="{FF2B5EF4-FFF2-40B4-BE49-F238E27FC236}">
                <a16:creationId xmlns:a16="http://schemas.microsoft.com/office/drawing/2014/main" id="{ECA5F3DE-BC63-C773-1662-D8AE7C7A9725}"/>
              </a:ext>
            </a:extLst>
          </p:cNvPr>
          <p:cNvSpPr/>
          <p:nvPr/>
        </p:nvSpPr>
        <p:spPr>
          <a:xfrm>
            <a:off x="10424160" y="5120640"/>
            <a:ext cx="1371600" cy="1371600"/>
          </a:xfrm>
          <a:prstGeom prst="rect">
            <a:avLst/>
          </a:prstGeom>
          <a:noFill/>
          <a:ln/>
        </p:spPr>
        <p:txBody>
          <a:bodyPr wrap="square" rtlCol="0" anchor="ctr"/>
          <a:lstStyle/>
          <a:p>
            <a:pPr marL="0" indent="0" algn="r">
              <a:buNone/>
            </a:pPr>
            <a:r>
              <a:rPr lang="en-US" sz="9000" b="1" dirty="0">
                <a:solidFill>
                  <a:srgbClr val="232220"/>
                </a:solidFill>
                <a:latin typeface="Poppins" pitchFamily="34" charset="0"/>
                <a:ea typeface="Poppins" pitchFamily="34" charset="-122"/>
                <a:cs typeface="Poppins" pitchFamily="34" charset="-120"/>
              </a:rPr>
              <a:t>}</a:t>
            </a:r>
            <a:endParaRPr lang="en-US" sz="9000" dirty="0"/>
          </a:p>
        </p:txBody>
      </p:sp>
      <p:sp>
        <p:nvSpPr>
          <p:cNvPr id="5" name="Text 3">
            <a:extLst>
              <a:ext uri="{FF2B5EF4-FFF2-40B4-BE49-F238E27FC236}">
                <a16:creationId xmlns:a16="http://schemas.microsoft.com/office/drawing/2014/main" id="{555D7FFD-434B-34C3-0EE0-B7AE9719471F}"/>
              </a:ext>
            </a:extLst>
          </p:cNvPr>
          <p:cNvSpPr/>
          <p:nvPr/>
        </p:nvSpPr>
        <p:spPr>
          <a:xfrm>
            <a:off x="822960" y="2331720"/>
            <a:ext cx="10515600" cy="1188720"/>
          </a:xfrm>
          <a:prstGeom prst="rect">
            <a:avLst/>
          </a:prstGeom>
          <a:noFill/>
          <a:ln/>
        </p:spPr>
        <p:txBody>
          <a:bodyPr wrap="square" lIns="0" tIns="0" rIns="0" bIns="0" rtlCol="0" anchor="ctr"/>
          <a:lstStyle/>
          <a:p>
            <a:pPr marL="0" indent="0">
              <a:buNone/>
            </a:pPr>
            <a:r>
              <a:rPr lang="en-US" sz="4400" b="1" dirty="0">
                <a:solidFill>
                  <a:srgbClr val="FAF9F5"/>
                </a:solidFill>
                <a:latin typeface="Poppins" pitchFamily="34" charset="0"/>
                <a:cs typeface="Poppins" pitchFamily="34" charset="-120"/>
              </a:rPr>
              <a:t>Hooks</a:t>
            </a:r>
          </a:p>
        </p:txBody>
      </p:sp>
      <p:sp>
        <p:nvSpPr>
          <p:cNvPr id="10" name="Text 8">
            <a:extLst>
              <a:ext uri="{FF2B5EF4-FFF2-40B4-BE49-F238E27FC236}">
                <a16:creationId xmlns:a16="http://schemas.microsoft.com/office/drawing/2014/main" id="{5F93BC84-AFD8-F224-62A5-3846531285AD}"/>
              </a:ext>
            </a:extLst>
          </p:cNvPr>
          <p:cNvSpPr/>
          <p:nvPr/>
        </p:nvSpPr>
        <p:spPr>
          <a:xfrm>
            <a:off x="822960" y="6263640"/>
            <a:ext cx="7315200" cy="274320"/>
          </a:xfrm>
          <a:prstGeom prst="rect">
            <a:avLst/>
          </a:prstGeom>
          <a:noFill/>
          <a:ln/>
        </p:spPr>
        <p:txBody>
          <a:bodyPr wrap="square" rtlCol="0" anchor="ctr"/>
          <a:lstStyle/>
          <a:p>
            <a:pPr marL="0" indent="0">
              <a:buNone/>
            </a:pPr>
            <a:endParaRPr lang="en-US" sz="1100" dirty="0"/>
          </a:p>
        </p:txBody>
      </p:sp>
    </p:spTree>
    <p:extLst>
      <p:ext uri="{BB962C8B-B14F-4D97-AF65-F5344CB8AC3E}">
        <p14:creationId xmlns:p14="http://schemas.microsoft.com/office/powerpoint/2010/main" val="25082692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49DF22B-7DDB-0ED1-F953-C7E54C0A1599}"/>
              </a:ext>
            </a:extLst>
          </p:cNvPr>
          <p:cNvSpPr/>
          <p:nvPr/>
        </p:nvSpPr>
        <p:spPr>
          <a:xfrm>
            <a:off x="457200" y="256032"/>
            <a:ext cx="11247120" cy="457200"/>
          </a:xfrm>
          <a:prstGeom prst="rect">
            <a:avLst/>
          </a:prstGeom>
          <a:noFill/>
          <a:ln/>
        </p:spPr>
        <p:txBody>
          <a:bodyPr wrap="square" lIns="0" tIns="0" rIns="0" bIns="0" rtlCol="0" anchor="ctr"/>
          <a:lstStyle/>
          <a:p>
            <a:pPr marL="0" indent="0">
              <a:buNone/>
            </a:pPr>
            <a:r>
              <a:rPr lang="en-US" sz="3200" b="1" dirty="0">
                <a:solidFill>
                  <a:srgbClr val="141414"/>
                </a:solidFill>
                <a:latin typeface="Cambria" pitchFamily="34" charset="0"/>
                <a:ea typeface="Cambria" pitchFamily="34" charset="-122"/>
                <a:cs typeface="Cambria" pitchFamily="34" charset="-120"/>
              </a:rPr>
              <a:t>Hooks</a:t>
            </a:r>
            <a:endParaRPr lang="en-US" sz="3200" dirty="0"/>
          </a:p>
        </p:txBody>
      </p:sp>
      <p:sp>
        <p:nvSpPr>
          <p:cNvPr id="3" name="Text 1">
            <a:extLst>
              <a:ext uri="{FF2B5EF4-FFF2-40B4-BE49-F238E27FC236}">
                <a16:creationId xmlns:a16="http://schemas.microsoft.com/office/drawing/2014/main" id="{32EF8AAD-A369-D44C-71DB-D4C8B71F0AAE}"/>
              </a:ext>
            </a:extLst>
          </p:cNvPr>
          <p:cNvSpPr/>
          <p:nvPr/>
        </p:nvSpPr>
        <p:spPr>
          <a:xfrm>
            <a:off x="457200" y="731520"/>
            <a:ext cx="11247120" cy="411480"/>
          </a:xfrm>
          <a:prstGeom prst="rect">
            <a:avLst/>
          </a:prstGeom>
          <a:noFill/>
          <a:ln/>
        </p:spPr>
        <p:txBody>
          <a:bodyPr wrap="square" lIns="0" tIns="0" rIns="0" bIns="0" rtlCol="0" anchor="ctr"/>
          <a:lstStyle/>
          <a:p>
            <a:pPr marL="0" indent="0">
              <a:buNone/>
            </a:pPr>
            <a:r>
              <a:rPr lang="en-US" sz="1200" dirty="0">
                <a:solidFill>
                  <a:srgbClr val="6B6B6B"/>
                </a:solidFill>
                <a:latin typeface="Calibri" pitchFamily="34" charset="0"/>
                <a:ea typeface="Calibri" pitchFamily="34" charset="-122"/>
                <a:cs typeface="Calibri" pitchFamily="34" charset="-120"/>
              </a:rPr>
              <a:t>Shell commands that execute automatically at specific lifecycle points. Unlike asking Claude to do something, hooks always run — they provide deterministic control regardless of what the LLM decides.</a:t>
            </a:r>
            <a:endParaRPr lang="en-US" sz="1200" dirty="0"/>
          </a:p>
        </p:txBody>
      </p:sp>
      <p:sp>
        <p:nvSpPr>
          <p:cNvPr id="4" name="Shape 2">
            <a:extLst>
              <a:ext uri="{FF2B5EF4-FFF2-40B4-BE49-F238E27FC236}">
                <a16:creationId xmlns:a16="http://schemas.microsoft.com/office/drawing/2014/main" id="{90826ABF-F781-1448-2D9C-3F9F87EC0B8D}"/>
              </a:ext>
            </a:extLst>
          </p:cNvPr>
          <p:cNvSpPr/>
          <p:nvPr/>
        </p:nvSpPr>
        <p:spPr>
          <a:xfrm>
            <a:off x="457200" y="1261872"/>
            <a:ext cx="5577840" cy="5486400"/>
          </a:xfrm>
          <a:prstGeom prst="roundRect">
            <a:avLst>
              <a:gd name="adj" fmla="val 1000"/>
            </a:avLst>
          </a:prstGeom>
          <a:solidFill>
            <a:srgbClr val="FFFFFF"/>
          </a:solidFill>
          <a:ln w="12700">
            <a:solidFill>
              <a:srgbClr val="E3E0D8"/>
            </a:solidFill>
            <a:prstDash val="solid"/>
          </a:ln>
          <a:effectLst>
            <a:outerShdw blurRad="101600" dist="25400" dir="5400000" algn="bl" rotWithShape="0">
              <a:srgbClr val="000000">
                <a:alpha val="8000"/>
              </a:srgbClr>
            </a:outerShdw>
          </a:effectLst>
        </p:spPr>
        <p:txBody>
          <a:bodyPr/>
          <a:lstStyle/>
          <a:p>
            <a:endParaRPr lang="en-US"/>
          </a:p>
        </p:txBody>
      </p:sp>
      <p:sp>
        <p:nvSpPr>
          <p:cNvPr id="5" name="Text 3">
            <a:extLst>
              <a:ext uri="{FF2B5EF4-FFF2-40B4-BE49-F238E27FC236}">
                <a16:creationId xmlns:a16="http://schemas.microsoft.com/office/drawing/2014/main" id="{1366C1B1-7CD9-C6C1-7A15-12144E75BC9B}"/>
              </a:ext>
            </a:extLst>
          </p:cNvPr>
          <p:cNvSpPr/>
          <p:nvPr/>
        </p:nvSpPr>
        <p:spPr>
          <a:xfrm>
            <a:off x="731520" y="1444752"/>
            <a:ext cx="5029200" cy="301752"/>
          </a:xfrm>
          <a:prstGeom prst="rect">
            <a:avLst/>
          </a:prstGeom>
          <a:noFill/>
          <a:ln/>
        </p:spPr>
        <p:txBody>
          <a:bodyPr wrap="square" lIns="0" tIns="0" rIns="0" bIns="0" rtlCol="0" anchor="ctr"/>
          <a:lstStyle/>
          <a:p>
            <a:pPr marL="0" indent="0">
              <a:buNone/>
            </a:pPr>
            <a:r>
              <a:rPr lang="en-US" sz="1500" b="1" dirty="0">
                <a:solidFill>
                  <a:srgbClr val="C9704F"/>
                </a:solidFill>
                <a:latin typeface="Calibri" pitchFamily="34" charset="0"/>
                <a:ea typeface="Calibri" pitchFamily="34" charset="-122"/>
                <a:cs typeface="Calibri" pitchFamily="34" charset="-120"/>
              </a:rPr>
              <a:t>Anatomy of a hook</a:t>
            </a:r>
            <a:endParaRPr lang="en-US" sz="1500" dirty="0"/>
          </a:p>
        </p:txBody>
      </p:sp>
      <p:sp>
        <p:nvSpPr>
          <p:cNvPr id="6" name="Text 4">
            <a:extLst>
              <a:ext uri="{FF2B5EF4-FFF2-40B4-BE49-F238E27FC236}">
                <a16:creationId xmlns:a16="http://schemas.microsoft.com/office/drawing/2014/main" id="{B3262551-5476-06DB-F8EC-E56176EB6886}"/>
              </a:ext>
            </a:extLst>
          </p:cNvPr>
          <p:cNvSpPr/>
          <p:nvPr/>
        </p:nvSpPr>
        <p:spPr>
          <a:xfrm>
            <a:off x="731520" y="1792224"/>
            <a:ext cx="5029200" cy="347472"/>
          </a:xfrm>
          <a:prstGeom prst="rect">
            <a:avLst/>
          </a:prstGeom>
          <a:noFill/>
          <a:ln/>
        </p:spPr>
        <p:txBody>
          <a:bodyPr wrap="square" lIns="0" tIns="0" rIns="0" bIns="0" rtlCol="0" anchor="ctr"/>
          <a:lstStyle/>
          <a:p>
            <a:pPr marL="0" indent="0">
              <a:buNone/>
            </a:pPr>
            <a:r>
              <a:rPr lang="en-US" sz="1000" dirty="0">
                <a:solidFill>
                  <a:srgbClr val="2B2B2B"/>
                </a:solidFill>
                <a:latin typeface="Calibri" pitchFamily="34" charset="0"/>
                <a:ea typeface="Calibri" pitchFamily="34" charset="-122"/>
                <a:cs typeface="Calibri" pitchFamily="34" charset="-120"/>
              </a:rPr>
              <a:t>Add a hooks block to a settings file. Each key is an event name; the value is an array of matcher+hooks groups:</a:t>
            </a:r>
            <a:endParaRPr lang="en-US" sz="1000" dirty="0"/>
          </a:p>
        </p:txBody>
      </p:sp>
      <p:sp>
        <p:nvSpPr>
          <p:cNvPr id="7" name="Shape 5">
            <a:extLst>
              <a:ext uri="{FF2B5EF4-FFF2-40B4-BE49-F238E27FC236}">
                <a16:creationId xmlns:a16="http://schemas.microsoft.com/office/drawing/2014/main" id="{BA469FBD-F1DD-C19E-5ECC-DD52957A32B1}"/>
              </a:ext>
            </a:extLst>
          </p:cNvPr>
          <p:cNvSpPr/>
          <p:nvPr/>
        </p:nvSpPr>
        <p:spPr>
          <a:xfrm>
            <a:off x="731520" y="2176272"/>
            <a:ext cx="5029200" cy="1600200"/>
          </a:xfrm>
          <a:prstGeom prst="rect">
            <a:avLst/>
          </a:prstGeom>
          <a:solidFill>
            <a:srgbClr val="1E1E1E"/>
          </a:solidFill>
          <a:ln w="12700">
            <a:solidFill>
              <a:srgbClr val="1E1E1E"/>
            </a:solidFill>
            <a:prstDash val="solid"/>
          </a:ln>
        </p:spPr>
        <p:txBody>
          <a:bodyPr/>
          <a:lstStyle/>
          <a:p>
            <a:endParaRPr lang="en-US"/>
          </a:p>
        </p:txBody>
      </p:sp>
      <p:sp>
        <p:nvSpPr>
          <p:cNvPr id="8" name="Text 6">
            <a:extLst>
              <a:ext uri="{FF2B5EF4-FFF2-40B4-BE49-F238E27FC236}">
                <a16:creationId xmlns:a16="http://schemas.microsoft.com/office/drawing/2014/main" id="{8B72430E-9F79-F54C-6E2F-2BC5607E61B6}"/>
              </a:ext>
            </a:extLst>
          </p:cNvPr>
          <p:cNvSpPr/>
          <p:nvPr/>
        </p:nvSpPr>
        <p:spPr>
          <a:xfrm>
            <a:off x="868680" y="2249424"/>
            <a:ext cx="4754880" cy="1463040"/>
          </a:xfrm>
          <a:prstGeom prst="rect">
            <a:avLst/>
          </a:prstGeom>
          <a:noFill/>
          <a:ln/>
        </p:spPr>
        <p:txBody>
          <a:bodyPr wrap="square" lIns="0" tIns="0" rIns="0" bIns="0" rtlCol="0" anchor="t"/>
          <a:lstStyle/>
          <a:p>
            <a:pPr marL="0" indent="0">
              <a:lnSpc>
                <a:spcPts val="1100"/>
              </a:lnSpc>
              <a:buNone/>
            </a:pPr>
            <a:r>
              <a:rPr lang="en-US" sz="900" dirty="0">
                <a:solidFill>
                  <a:srgbClr val="6B6B6B"/>
                </a:solidFill>
                <a:latin typeface="Courier New" pitchFamily="34" charset="0"/>
                <a:ea typeface="Courier New" pitchFamily="34" charset="-122"/>
                <a:cs typeface="Courier New" pitchFamily="34" charset="-120"/>
              </a:rPr>
              <a:t>// .claude/settings.json
</a:t>
            </a:r>
            <a:r>
              <a:rPr lang="en-US" sz="900" dirty="0">
                <a:solidFill>
                  <a:srgbClr val="D4D4D4"/>
                </a:solidFill>
                <a:latin typeface="Courier New" pitchFamily="34" charset="0"/>
                <a:ea typeface="Courier New" pitchFamily="34" charset="-122"/>
                <a:cs typeface="Courier New" pitchFamily="34" charset="-120"/>
              </a:rPr>
              <a:t>{ "hooks": {
</a:t>
            </a:r>
            <a:r>
              <a:rPr lang="en-US" sz="900" dirty="0">
                <a:solidFill>
                  <a:srgbClr val="CE9178"/>
                </a:solidFill>
                <a:latin typeface="Courier New" pitchFamily="34" charset="0"/>
                <a:ea typeface="Courier New" pitchFamily="34" charset="-122"/>
                <a:cs typeface="Courier New" pitchFamily="34" charset="-120"/>
              </a:rPr>
              <a:t>    "PostToolUse": [{
</a:t>
            </a:r>
            <a:r>
              <a:rPr lang="en-US" sz="900" dirty="0">
                <a:solidFill>
                  <a:srgbClr val="D4D4D4"/>
                </a:solidFill>
                <a:latin typeface="Courier New" pitchFamily="34" charset="0"/>
                <a:ea typeface="Courier New" pitchFamily="34" charset="-122"/>
                <a:cs typeface="Courier New" pitchFamily="34" charset="-120"/>
              </a:rPr>
              <a:t>      "matcher": </a:t>
            </a:r>
            <a:r>
              <a:rPr lang="en-US" sz="900" dirty="0">
                <a:solidFill>
                  <a:srgbClr val="6A9955"/>
                </a:solidFill>
                <a:latin typeface="Courier New" pitchFamily="34" charset="0"/>
                <a:ea typeface="Courier New" pitchFamily="34" charset="-122"/>
                <a:cs typeface="Courier New" pitchFamily="34" charset="-120"/>
              </a:rPr>
              <a:t>"Edit|Write"</a:t>
            </a:r>
            <a:r>
              <a:rPr lang="en-US" sz="900" dirty="0">
                <a:solidFill>
                  <a:srgbClr val="D4D4D4"/>
                </a:solidFill>
                <a:latin typeface="Courier New" pitchFamily="34" charset="0"/>
                <a:ea typeface="Courier New" pitchFamily="34" charset="-122"/>
                <a:cs typeface="Courier New" pitchFamily="34" charset="-120"/>
              </a:rPr>
              <a:t>,
      "hooks": [{
        "type": </a:t>
            </a:r>
            <a:r>
              <a:rPr lang="en-US" sz="900" dirty="0">
                <a:solidFill>
                  <a:srgbClr val="6A9955"/>
                </a:solidFill>
                <a:latin typeface="Courier New" pitchFamily="34" charset="0"/>
                <a:ea typeface="Courier New" pitchFamily="34" charset="-122"/>
                <a:cs typeface="Courier New" pitchFamily="34" charset="-120"/>
              </a:rPr>
              <a:t>"command"</a:t>
            </a:r>
            <a:r>
              <a:rPr lang="en-US" sz="900" dirty="0">
                <a:solidFill>
                  <a:srgbClr val="D4D4D4"/>
                </a:solidFill>
                <a:latin typeface="Courier New" pitchFamily="34" charset="0"/>
                <a:ea typeface="Courier New" pitchFamily="34" charset="-122"/>
                <a:cs typeface="Courier New" pitchFamily="34" charset="-120"/>
              </a:rPr>
              <a:t>,</a:t>
            </a:r>
            <a:endParaRPr lang="en-US" sz="900" dirty="0"/>
          </a:p>
          <a:p>
            <a:pPr marL="0" indent="0">
              <a:lnSpc>
                <a:spcPts val="1100"/>
              </a:lnSpc>
              <a:buNone/>
            </a:pPr>
            <a:r>
              <a:rPr lang="en-US" sz="900" dirty="0">
                <a:solidFill>
                  <a:srgbClr val="D4D4D4"/>
                </a:solidFill>
                <a:latin typeface="Courier New" pitchFamily="34" charset="0"/>
                <a:ea typeface="Courier New" pitchFamily="34" charset="-122"/>
                <a:cs typeface="Courier New" pitchFamily="34" charset="-120"/>
              </a:rPr>
              <a:t>        "command": </a:t>
            </a:r>
            <a:endParaRPr lang="en-US" sz="900" dirty="0"/>
          </a:p>
          <a:p>
            <a:pPr marL="0" indent="0">
              <a:lnSpc>
                <a:spcPts val="1100"/>
              </a:lnSpc>
              <a:buNone/>
            </a:pPr>
            <a:r>
              <a:rPr lang="en-US" sz="900" dirty="0">
                <a:solidFill>
                  <a:srgbClr val="6A9955"/>
                </a:solidFill>
                <a:latin typeface="Courier New" pitchFamily="34" charset="0"/>
                <a:ea typeface="Courier New" pitchFamily="34" charset="-122"/>
                <a:cs typeface="Courier New" pitchFamily="34" charset="-120"/>
              </a:rPr>
              <a:t>"npx prettier --write ..."
</a:t>
            </a:r>
            <a:r>
              <a:rPr lang="en-US" sz="900" dirty="0">
                <a:solidFill>
                  <a:srgbClr val="D4D4D4"/>
                </a:solidFill>
                <a:latin typeface="Courier New" pitchFamily="34" charset="0"/>
                <a:ea typeface="Courier New" pitchFamily="34" charset="-122"/>
                <a:cs typeface="Courier New" pitchFamily="34" charset="-120"/>
              </a:rPr>
              <a:t>      }]</a:t>
            </a:r>
            <a:endParaRPr lang="en-US" sz="900" dirty="0"/>
          </a:p>
          <a:p>
            <a:pPr marL="0" indent="0">
              <a:lnSpc>
                <a:spcPts val="1100"/>
              </a:lnSpc>
              <a:buNone/>
            </a:pPr>
            <a:r>
              <a:rPr lang="en-US" sz="900" dirty="0">
                <a:solidFill>
                  <a:srgbClr val="D4D4D4"/>
                </a:solidFill>
                <a:latin typeface="Courier New" pitchFamily="34" charset="0"/>
                <a:ea typeface="Courier New" pitchFamily="34" charset="-122"/>
                <a:cs typeface="Courier New" pitchFamily="34" charset="-120"/>
              </a:rPr>
              <a:t>    }]</a:t>
            </a:r>
            <a:endParaRPr lang="en-US" sz="900" dirty="0"/>
          </a:p>
          <a:p>
            <a:pPr marL="0" indent="0">
              <a:lnSpc>
                <a:spcPts val="1100"/>
              </a:lnSpc>
              <a:buNone/>
            </a:pPr>
            <a:r>
              <a:rPr lang="en-US" sz="900" dirty="0">
                <a:solidFill>
                  <a:srgbClr val="D4D4D4"/>
                </a:solidFill>
                <a:latin typeface="Courier New" pitchFamily="34" charset="0"/>
                <a:ea typeface="Courier New" pitchFamily="34" charset="-122"/>
                <a:cs typeface="Courier New" pitchFamily="34" charset="-120"/>
              </a:rPr>
              <a:t>  }</a:t>
            </a:r>
            <a:endParaRPr lang="en-US" sz="900" dirty="0"/>
          </a:p>
          <a:p>
            <a:pPr marL="0" indent="0">
              <a:lnSpc>
                <a:spcPts val="1100"/>
              </a:lnSpc>
              <a:buNone/>
            </a:pPr>
            <a:r>
              <a:rPr lang="en-US" sz="900" dirty="0">
                <a:solidFill>
                  <a:srgbClr val="D4D4D4"/>
                </a:solidFill>
                <a:latin typeface="Courier New" pitchFamily="34" charset="0"/>
                <a:ea typeface="Courier New" pitchFamily="34" charset="-122"/>
                <a:cs typeface="Courier New" pitchFamily="34" charset="-120"/>
              </a:rPr>
              <a:t>}</a:t>
            </a:r>
            <a:endParaRPr lang="en-US" sz="900" dirty="0"/>
          </a:p>
        </p:txBody>
      </p:sp>
      <p:sp>
        <p:nvSpPr>
          <p:cNvPr id="9" name="Text 7">
            <a:extLst>
              <a:ext uri="{FF2B5EF4-FFF2-40B4-BE49-F238E27FC236}">
                <a16:creationId xmlns:a16="http://schemas.microsoft.com/office/drawing/2014/main" id="{023B4F87-4DA0-016C-BD3E-EF47CA6097CE}"/>
              </a:ext>
            </a:extLst>
          </p:cNvPr>
          <p:cNvSpPr/>
          <p:nvPr/>
        </p:nvSpPr>
        <p:spPr>
          <a:xfrm>
            <a:off x="731520" y="4251960"/>
            <a:ext cx="5029200" cy="237744"/>
          </a:xfrm>
          <a:prstGeom prst="rect">
            <a:avLst/>
          </a:prstGeom>
          <a:noFill/>
          <a:ln/>
        </p:spPr>
        <p:txBody>
          <a:bodyPr wrap="square" lIns="0" tIns="0" rIns="0" bIns="0" rtlCol="0" anchor="ctr"/>
          <a:lstStyle/>
          <a:p>
            <a:pPr marL="0" indent="0">
              <a:buNone/>
            </a:pPr>
            <a:r>
              <a:rPr lang="en-US" sz="1100" b="1" dirty="0">
                <a:solidFill>
                  <a:srgbClr val="141414"/>
                </a:solidFill>
                <a:latin typeface="Calibri" pitchFamily="34" charset="0"/>
                <a:ea typeface="Calibri" pitchFamily="34" charset="-122"/>
                <a:cs typeface="Calibri" pitchFamily="34" charset="-120"/>
              </a:rPr>
              <a:t>Where to put it:</a:t>
            </a:r>
            <a:endParaRPr lang="en-US" sz="1100" dirty="0"/>
          </a:p>
        </p:txBody>
      </p:sp>
      <p:sp>
        <p:nvSpPr>
          <p:cNvPr id="10" name="Text 8">
            <a:extLst>
              <a:ext uri="{FF2B5EF4-FFF2-40B4-BE49-F238E27FC236}">
                <a16:creationId xmlns:a16="http://schemas.microsoft.com/office/drawing/2014/main" id="{DB5267A1-6224-14A7-8E7C-F2877513CADD}"/>
              </a:ext>
            </a:extLst>
          </p:cNvPr>
          <p:cNvSpPr/>
          <p:nvPr/>
        </p:nvSpPr>
        <p:spPr>
          <a:xfrm>
            <a:off x="822960" y="4535424"/>
            <a:ext cx="2560320" cy="274320"/>
          </a:xfrm>
          <a:prstGeom prst="rect">
            <a:avLst/>
          </a:prstGeom>
          <a:noFill/>
          <a:ln/>
        </p:spPr>
        <p:txBody>
          <a:bodyPr wrap="square" lIns="0" tIns="0" rIns="0" bIns="0" rtlCol="0" anchor="ctr"/>
          <a:lstStyle/>
          <a:p>
            <a:pPr marL="0" indent="0">
              <a:buNone/>
            </a:pPr>
            <a:r>
              <a:rPr lang="en-US" sz="950" b="1" dirty="0">
                <a:solidFill>
                  <a:srgbClr val="6B5B95"/>
                </a:solidFill>
                <a:latin typeface="Courier New" pitchFamily="34" charset="0"/>
                <a:ea typeface="Courier New" pitchFamily="34" charset="-122"/>
                <a:cs typeface="Courier New" pitchFamily="34" charset="-120"/>
              </a:rPr>
              <a:t>~/.claude/settings.json</a:t>
            </a:r>
            <a:endParaRPr lang="en-US" sz="950" dirty="0"/>
          </a:p>
        </p:txBody>
      </p:sp>
      <p:sp>
        <p:nvSpPr>
          <p:cNvPr id="11" name="Text 9">
            <a:extLst>
              <a:ext uri="{FF2B5EF4-FFF2-40B4-BE49-F238E27FC236}">
                <a16:creationId xmlns:a16="http://schemas.microsoft.com/office/drawing/2014/main" id="{3DF53CD8-0EC6-1A9E-00AE-CB45F15AD2A0}"/>
              </a:ext>
            </a:extLst>
          </p:cNvPr>
          <p:cNvSpPr/>
          <p:nvPr/>
        </p:nvSpPr>
        <p:spPr>
          <a:xfrm>
            <a:off x="3383280" y="4535424"/>
            <a:ext cx="2377440" cy="274320"/>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Personal — applies to all your projects</a:t>
            </a:r>
            <a:endParaRPr lang="en-US" sz="950" dirty="0"/>
          </a:p>
        </p:txBody>
      </p:sp>
      <p:sp>
        <p:nvSpPr>
          <p:cNvPr id="12" name="Text 10">
            <a:extLst>
              <a:ext uri="{FF2B5EF4-FFF2-40B4-BE49-F238E27FC236}">
                <a16:creationId xmlns:a16="http://schemas.microsoft.com/office/drawing/2014/main" id="{C0D5C192-527D-F1AF-0384-130784AD0D1A}"/>
              </a:ext>
            </a:extLst>
          </p:cNvPr>
          <p:cNvSpPr/>
          <p:nvPr/>
        </p:nvSpPr>
        <p:spPr>
          <a:xfrm>
            <a:off x="822960" y="4855464"/>
            <a:ext cx="2560320" cy="274320"/>
          </a:xfrm>
          <a:prstGeom prst="rect">
            <a:avLst/>
          </a:prstGeom>
          <a:noFill/>
          <a:ln/>
        </p:spPr>
        <p:txBody>
          <a:bodyPr wrap="square" lIns="0" tIns="0" rIns="0" bIns="0" rtlCol="0" anchor="ctr"/>
          <a:lstStyle/>
          <a:p>
            <a:pPr marL="0" indent="0">
              <a:buNone/>
            </a:pPr>
            <a:r>
              <a:rPr lang="en-US" sz="950" b="1" dirty="0">
                <a:solidFill>
                  <a:srgbClr val="6B5B95"/>
                </a:solidFill>
                <a:latin typeface="Courier New" pitchFamily="34" charset="0"/>
                <a:ea typeface="Courier New" pitchFamily="34" charset="-122"/>
                <a:cs typeface="Courier New" pitchFamily="34" charset="-120"/>
              </a:rPr>
              <a:t>.claude/settings.json</a:t>
            </a:r>
            <a:endParaRPr lang="en-US" sz="950" dirty="0"/>
          </a:p>
        </p:txBody>
      </p:sp>
      <p:sp>
        <p:nvSpPr>
          <p:cNvPr id="13" name="Text 11">
            <a:extLst>
              <a:ext uri="{FF2B5EF4-FFF2-40B4-BE49-F238E27FC236}">
                <a16:creationId xmlns:a16="http://schemas.microsoft.com/office/drawing/2014/main" id="{A6BCFE3D-BBAB-9592-7D36-A58269D1E6C1}"/>
              </a:ext>
            </a:extLst>
          </p:cNvPr>
          <p:cNvSpPr/>
          <p:nvPr/>
        </p:nvSpPr>
        <p:spPr>
          <a:xfrm>
            <a:off x="3383280" y="4855464"/>
            <a:ext cx="2377440" cy="274320"/>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Project — shared with your team via git</a:t>
            </a:r>
            <a:endParaRPr lang="en-US" sz="950" dirty="0"/>
          </a:p>
        </p:txBody>
      </p:sp>
      <p:sp>
        <p:nvSpPr>
          <p:cNvPr id="14" name="Text 12">
            <a:extLst>
              <a:ext uri="{FF2B5EF4-FFF2-40B4-BE49-F238E27FC236}">
                <a16:creationId xmlns:a16="http://schemas.microsoft.com/office/drawing/2014/main" id="{4D2382EF-2588-2B35-FA60-8D307F5E58FA}"/>
              </a:ext>
            </a:extLst>
          </p:cNvPr>
          <p:cNvSpPr/>
          <p:nvPr/>
        </p:nvSpPr>
        <p:spPr>
          <a:xfrm>
            <a:off x="822960" y="5175504"/>
            <a:ext cx="2560320" cy="274320"/>
          </a:xfrm>
          <a:prstGeom prst="rect">
            <a:avLst/>
          </a:prstGeom>
          <a:noFill/>
          <a:ln/>
        </p:spPr>
        <p:txBody>
          <a:bodyPr wrap="square" lIns="0" tIns="0" rIns="0" bIns="0" rtlCol="0" anchor="ctr"/>
          <a:lstStyle/>
          <a:p>
            <a:pPr marL="0" indent="0">
              <a:buNone/>
            </a:pPr>
            <a:r>
              <a:rPr lang="en-US" sz="950" b="1" dirty="0">
                <a:solidFill>
                  <a:srgbClr val="6B5B95"/>
                </a:solidFill>
                <a:latin typeface="Courier New" pitchFamily="34" charset="0"/>
                <a:ea typeface="Courier New" pitchFamily="34" charset="-122"/>
                <a:cs typeface="Courier New" pitchFamily="34" charset="-120"/>
              </a:rPr>
              <a:t>.claude/settings.local.json</a:t>
            </a:r>
            <a:endParaRPr lang="en-US" sz="950" dirty="0"/>
          </a:p>
        </p:txBody>
      </p:sp>
      <p:sp>
        <p:nvSpPr>
          <p:cNvPr id="15" name="Text 13">
            <a:extLst>
              <a:ext uri="{FF2B5EF4-FFF2-40B4-BE49-F238E27FC236}">
                <a16:creationId xmlns:a16="http://schemas.microsoft.com/office/drawing/2014/main" id="{1E401581-F033-DE40-5C67-8FAEB690D2E0}"/>
              </a:ext>
            </a:extLst>
          </p:cNvPr>
          <p:cNvSpPr/>
          <p:nvPr/>
        </p:nvSpPr>
        <p:spPr>
          <a:xfrm>
            <a:off x="3383280" y="5175504"/>
            <a:ext cx="2377440" cy="274320"/>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Project-local — not committed to git</a:t>
            </a:r>
            <a:endParaRPr lang="en-US" sz="950" dirty="0"/>
          </a:p>
        </p:txBody>
      </p:sp>
      <p:sp>
        <p:nvSpPr>
          <p:cNvPr id="16" name="Text 14">
            <a:extLst>
              <a:ext uri="{FF2B5EF4-FFF2-40B4-BE49-F238E27FC236}">
                <a16:creationId xmlns:a16="http://schemas.microsoft.com/office/drawing/2014/main" id="{7E939CFC-88DC-C225-5B8A-2B08C2EFD548}"/>
              </a:ext>
            </a:extLst>
          </p:cNvPr>
          <p:cNvSpPr/>
          <p:nvPr/>
        </p:nvSpPr>
        <p:spPr>
          <a:xfrm>
            <a:off x="731520" y="5568696"/>
            <a:ext cx="5029200" cy="320040"/>
          </a:xfrm>
          <a:prstGeom prst="rect">
            <a:avLst/>
          </a:prstGeom>
          <a:noFill/>
          <a:ln/>
        </p:spPr>
        <p:txBody>
          <a:bodyPr wrap="square" lIns="0" tIns="0" rIns="0" bIns="0" rtlCol="0" anchor="ctr"/>
          <a:lstStyle/>
          <a:p>
            <a:pPr marL="0" indent="0">
              <a:buNone/>
            </a:pPr>
            <a:r>
              <a:rPr lang="en-US" sz="900" i="1" dirty="0">
                <a:solidFill>
                  <a:srgbClr val="6B6B6B"/>
                </a:solidFill>
                <a:latin typeface="Calibri" pitchFamily="34" charset="0"/>
                <a:ea typeface="Calibri" pitchFamily="34" charset="-122"/>
                <a:cs typeface="Calibri" pitchFamily="34" charset="-120"/>
              </a:rPr>
              <a:t>Use /hooks in the CLI to browse all registered hooks and verify configuration.</a:t>
            </a:r>
            <a:endParaRPr lang="en-US" sz="900" dirty="0"/>
          </a:p>
        </p:txBody>
      </p:sp>
      <p:sp>
        <p:nvSpPr>
          <p:cNvPr id="17" name="Shape 15">
            <a:extLst>
              <a:ext uri="{FF2B5EF4-FFF2-40B4-BE49-F238E27FC236}">
                <a16:creationId xmlns:a16="http://schemas.microsoft.com/office/drawing/2014/main" id="{ED06C303-7370-B6BC-B1F4-F5C6C1C7E0C9}"/>
              </a:ext>
            </a:extLst>
          </p:cNvPr>
          <p:cNvSpPr/>
          <p:nvPr/>
        </p:nvSpPr>
        <p:spPr>
          <a:xfrm>
            <a:off x="6263640" y="1261872"/>
            <a:ext cx="5440680" cy="5486400"/>
          </a:xfrm>
          <a:prstGeom prst="roundRect">
            <a:avLst>
              <a:gd name="adj" fmla="val 1008"/>
            </a:avLst>
          </a:prstGeom>
          <a:solidFill>
            <a:srgbClr val="FFFFFF"/>
          </a:solidFill>
          <a:ln w="12700">
            <a:solidFill>
              <a:srgbClr val="E3E0D8"/>
            </a:solidFill>
            <a:prstDash val="solid"/>
          </a:ln>
          <a:effectLst>
            <a:outerShdw blurRad="101600" dist="25400" dir="5400000" algn="bl" rotWithShape="0">
              <a:srgbClr val="000000">
                <a:alpha val="8000"/>
              </a:srgbClr>
            </a:outerShdw>
          </a:effectLst>
        </p:spPr>
        <p:txBody>
          <a:bodyPr/>
          <a:lstStyle/>
          <a:p>
            <a:endParaRPr lang="en-US"/>
          </a:p>
        </p:txBody>
      </p:sp>
      <p:sp>
        <p:nvSpPr>
          <p:cNvPr id="18" name="Text 16">
            <a:extLst>
              <a:ext uri="{FF2B5EF4-FFF2-40B4-BE49-F238E27FC236}">
                <a16:creationId xmlns:a16="http://schemas.microsoft.com/office/drawing/2014/main" id="{8D3918AC-F840-FF36-3530-7D519A615626}"/>
              </a:ext>
            </a:extLst>
          </p:cNvPr>
          <p:cNvSpPr/>
          <p:nvPr/>
        </p:nvSpPr>
        <p:spPr>
          <a:xfrm>
            <a:off x="6537960" y="1444752"/>
            <a:ext cx="4892040" cy="301752"/>
          </a:xfrm>
          <a:prstGeom prst="rect">
            <a:avLst/>
          </a:prstGeom>
          <a:noFill/>
          <a:ln/>
        </p:spPr>
        <p:txBody>
          <a:bodyPr wrap="square" lIns="0" tIns="0" rIns="0" bIns="0" rtlCol="0" anchor="ctr"/>
          <a:lstStyle/>
          <a:p>
            <a:pPr marL="0" indent="0">
              <a:buNone/>
            </a:pPr>
            <a:r>
              <a:rPr lang="en-US" sz="1500" b="1" dirty="0">
                <a:solidFill>
                  <a:srgbClr val="141414"/>
                </a:solidFill>
                <a:latin typeface="Calibri" pitchFamily="34" charset="0"/>
                <a:ea typeface="Calibri" pitchFamily="34" charset="-122"/>
                <a:cs typeface="Calibri" pitchFamily="34" charset="-120"/>
              </a:rPr>
              <a:t>Four hook types</a:t>
            </a:r>
            <a:endParaRPr lang="en-US" sz="1500" dirty="0"/>
          </a:p>
        </p:txBody>
      </p:sp>
      <p:sp>
        <p:nvSpPr>
          <p:cNvPr id="19" name="Shape 17">
            <a:extLst>
              <a:ext uri="{FF2B5EF4-FFF2-40B4-BE49-F238E27FC236}">
                <a16:creationId xmlns:a16="http://schemas.microsoft.com/office/drawing/2014/main" id="{26DBFA8A-034B-B2F5-E02B-F6926596BBD7}"/>
              </a:ext>
            </a:extLst>
          </p:cNvPr>
          <p:cNvSpPr/>
          <p:nvPr/>
        </p:nvSpPr>
        <p:spPr>
          <a:xfrm>
            <a:off x="6537960" y="1847088"/>
            <a:ext cx="54864" cy="411480"/>
          </a:xfrm>
          <a:prstGeom prst="rect">
            <a:avLst/>
          </a:prstGeom>
          <a:solidFill>
            <a:srgbClr val="3B7A75"/>
          </a:solidFill>
          <a:ln w="12700">
            <a:solidFill>
              <a:srgbClr val="3B7A75"/>
            </a:solidFill>
            <a:prstDash val="solid"/>
          </a:ln>
        </p:spPr>
        <p:txBody>
          <a:bodyPr/>
          <a:lstStyle/>
          <a:p>
            <a:endParaRPr lang="en-US"/>
          </a:p>
        </p:txBody>
      </p:sp>
      <p:sp>
        <p:nvSpPr>
          <p:cNvPr id="20" name="Text 18">
            <a:extLst>
              <a:ext uri="{FF2B5EF4-FFF2-40B4-BE49-F238E27FC236}">
                <a16:creationId xmlns:a16="http://schemas.microsoft.com/office/drawing/2014/main" id="{7B88F015-39AC-5B19-F00A-4E95A62DAA65}"/>
              </a:ext>
            </a:extLst>
          </p:cNvPr>
          <p:cNvSpPr/>
          <p:nvPr/>
        </p:nvSpPr>
        <p:spPr>
          <a:xfrm>
            <a:off x="6702552" y="1810512"/>
            <a:ext cx="4709160" cy="219456"/>
          </a:xfrm>
          <a:prstGeom prst="rect">
            <a:avLst/>
          </a:prstGeom>
          <a:noFill/>
          <a:ln/>
        </p:spPr>
        <p:txBody>
          <a:bodyPr wrap="square" lIns="0" tIns="0" rIns="0" bIns="0" rtlCol="0" anchor="ctr"/>
          <a:lstStyle/>
          <a:p>
            <a:pPr marL="0" indent="0">
              <a:buNone/>
            </a:pPr>
            <a:r>
              <a:rPr lang="en-US" sz="1050" b="1" dirty="0">
                <a:solidFill>
                  <a:srgbClr val="141414"/>
                </a:solidFill>
                <a:latin typeface="Courier New" pitchFamily="34" charset="0"/>
                <a:ea typeface="Courier New" pitchFamily="34" charset="-122"/>
                <a:cs typeface="Courier New" pitchFamily="34" charset="-120"/>
              </a:rPr>
              <a:t>"type": "command"</a:t>
            </a:r>
            <a:endParaRPr lang="en-US" sz="1050" dirty="0"/>
          </a:p>
        </p:txBody>
      </p:sp>
      <p:sp>
        <p:nvSpPr>
          <p:cNvPr id="21" name="Text 19">
            <a:extLst>
              <a:ext uri="{FF2B5EF4-FFF2-40B4-BE49-F238E27FC236}">
                <a16:creationId xmlns:a16="http://schemas.microsoft.com/office/drawing/2014/main" id="{0E6D3B0F-3DA4-3E83-B1A2-B51CF78A68CC}"/>
              </a:ext>
            </a:extLst>
          </p:cNvPr>
          <p:cNvSpPr/>
          <p:nvPr/>
        </p:nvSpPr>
        <p:spPr>
          <a:xfrm>
            <a:off x="6702552" y="2029968"/>
            <a:ext cx="4709160" cy="347472"/>
          </a:xfrm>
          <a:prstGeom prst="rect">
            <a:avLst/>
          </a:prstGeom>
          <a:noFill/>
          <a:ln/>
        </p:spPr>
        <p:txBody>
          <a:bodyPr wrap="square" lIns="0" tIns="0" rIns="0" bIns="0" rtlCol="0" anchor="ctr"/>
          <a:lstStyle/>
          <a:p>
            <a:pPr marL="0" indent="0">
              <a:buNone/>
            </a:pPr>
            <a:r>
              <a:rPr lang="en-US" sz="900" dirty="0">
                <a:solidFill>
                  <a:srgbClr val="2B2B2B"/>
                </a:solidFill>
                <a:latin typeface="Calibri" pitchFamily="34" charset="0"/>
                <a:ea typeface="Calibri" pitchFamily="34" charset="-122"/>
                <a:cs typeface="Calibri" pitchFamily="34" charset="-120"/>
              </a:rPr>
              <a:t>Run a shell command. The most common type — reads JSON from stdin, writes to stdout/stderr, exits with a code.</a:t>
            </a:r>
            <a:endParaRPr lang="en-US" sz="900" dirty="0"/>
          </a:p>
        </p:txBody>
      </p:sp>
      <p:sp>
        <p:nvSpPr>
          <p:cNvPr id="22" name="Shape 20">
            <a:extLst>
              <a:ext uri="{FF2B5EF4-FFF2-40B4-BE49-F238E27FC236}">
                <a16:creationId xmlns:a16="http://schemas.microsoft.com/office/drawing/2014/main" id="{753BC480-CF96-8BCF-CE13-924262046376}"/>
              </a:ext>
            </a:extLst>
          </p:cNvPr>
          <p:cNvSpPr/>
          <p:nvPr/>
        </p:nvSpPr>
        <p:spPr>
          <a:xfrm>
            <a:off x="6537960" y="2441448"/>
            <a:ext cx="54864" cy="411480"/>
          </a:xfrm>
          <a:prstGeom prst="rect">
            <a:avLst/>
          </a:prstGeom>
          <a:solidFill>
            <a:srgbClr val="6B5B95"/>
          </a:solidFill>
          <a:ln w="12700">
            <a:solidFill>
              <a:srgbClr val="6B5B95"/>
            </a:solidFill>
            <a:prstDash val="solid"/>
          </a:ln>
        </p:spPr>
        <p:txBody>
          <a:bodyPr/>
          <a:lstStyle/>
          <a:p>
            <a:endParaRPr lang="en-US"/>
          </a:p>
        </p:txBody>
      </p:sp>
      <p:sp>
        <p:nvSpPr>
          <p:cNvPr id="23" name="Text 21">
            <a:extLst>
              <a:ext uri="{FF2B5EF4-FFF2-40B4-BE49-F238E27FC236}">
                <a16:creationId xmlns:a16="http://schemas.microsoft.com/office/drawing/2014/main" id="{DF32593D-2A82-BDB3-F75B-526FB78673A8}"/>
              </a:ext>
            </a:extLst>
          </p:cNvPr>
          <p:cNvSpPr/>
          <p:nvPr/>
        </p:nvSpPr>
        <p:spPr>
          <a:xfrm>
            <a:off x="6702552" y="2404872"/>
            <a:ext cx="4709160" cy="219456"/>
          </a:xfrm>
          <a:prstGeom prst="rect">
            <a:avLst/>
          </a:prstGeom>
          <a:noFill/>
          <a:ln/>
        </p:spPr>
        <p:txBody>
          <a:bodyPr wrap="square" lIns="0" tIns="0" rIns="0" bIns="0" rtlCol="0" anchor="ctr"/>
          <a:lstStyle/>
          <a:p>
            <a:pPr marL="0" indent="0">
              <a:buNone/>
            </a:pPr>
            <a:r>
              <a:rPr lang="en-US" sz="1050" b="1" dirty="0">
                <a:solidFill>
                  <a:srgbClr val="141414"/>
                </a:solidFill>
                <a:latin typeface="Courier New" pitchFamily="34" charset="0"/>
                <a:ea typeface="Courier New" pitchFamily="34" charset="-122"/>
                <a:cs typeface="Courier New" pitchFamily="34" charset="-120"/>
              </a:rPr>
              <a:t>"type": "http"</a:t>
            </a:r>
            <a:endParaRPr lang="en-US" sz="1050" dirty="0"/>
          </a:p>
        </p:txBody>
      </p:sp>
      <p:sp>
        <p:nvSpPr>
          <p:cNvPr id="24" name="Text 22">
            <a:extLst>
              <a:ext uri="{FF2B5EF4-FFF2-40B4-BE49-F238E27FC236}">
                <a16:creationId xmlns:a16="http://schemas.microsoft.com/office/drawing/2014/main" id="{28F4C323-132E-070A-6303-E3255300FF40}"/>
              </a:ext>
            </a:extLst>
          </p:cNvPr>
          <p:cNvSpPr/>
          <p:nvPr/>
        </p:nvSpPr>
        <p:spPr>
          <a:xfrm>
            <a:off x="6702552" y="2624328"/>
            <a:ext cx="4709160" cy="347472"/>
          </a:xfrm>
          <a:prstGeom prst="rect">
            <a:avLst/>
          </a:prstGeom>
          <a:noFill/>
          <a:ln/>
        </p:spPr>
        <p:txBody>
          <a:bodyPr wrap="square" lIns="0" tIns="0" rIns="0" bIns="0" rtlCol="0" anchor="ctr"/>
          <a:lstStyle/>
          <a:p>
            <a:pPr marL="0" indent="0">
              <a:buNone/>
            </a:pPr>
            <a:r>
              <a:rPr lang="en-US" sz="900" dirty="0">
                <a:solidFill>
                  <a:srgbClr val="2B2B2B"/>
                </a:solidFill>
                <a:latin typeface="Calibri" pitchFamily="34" charset="0"/>
                <a:ea typeface="Calibri" pitchFamily="34" charset="-122"/>
                <a:cs typeface="Calibri" pitchFamily="34" charset="-120"/>
              </a:rPr>
              <a:t>POST event data to a URL. Useful for webhooks, logging services, or external systems.</a:t>
            </a:r>
            <a:endParaRPr lang="en-US" sz="900" dirty="0"/>
          </a:p>
        </p:txBody>
      </p:sp>
      <p:sp>
        <p:nvSpPr>
          <p:cNvPr id="25" name="Shape 23">
            <a:extLst>
              <a:ext uri="{FF2B5EF4-FFF2-40B4-BE49-F238E27FC236}">
                <a16:creationId xmlns:a16="http://schemas.microsoft.com/office/drawing/2014/main" id="{ADD6FF83-23FA-EBD3-FC99-F985052D6B8D}"/>
              </a:ext>
            </a:extLst>
          </p:cNvPr>
          <p:cNvSpPr/>
          <p:nvPr/>
        </p:nvSpPr>
        <p:spPr>
          <a:xfrm>
            <a:off x="6537960" y="3035808"/>
            <a:ext cx="54864" cy="411480"/>
          </a:xfrm>
          <a:prstGeom prst="rect">
            <a:avLst/>
          </a:prstGeom>
          <a:solidFill>
            <a:srgbClr val="8A6D3B"/>
          </a:solidFill>
          <a:ln w="12700">
            <a:solidFill>
              <a:srgbClr val="8A6D3B"/>
            </a:solidFill>
            <a:prstDash val="solid"/>
          </a:ln>
        </p:spPr>
        <p:txBody>
          <a:bodyPr/>
          <a:lstStyle/>
          <a:p>
            <a:endParaRPr lang="en-US"/>
          </a:p>
        </p:txBody>
      </p:sp>
      <p:sp>
        <p:nvSpPr>
          <p:cNvPr id="26" name="Text 24">
            <a:extLst>
              <a:ext uri="{FF2B5EF4-FFF2-40B4-BE49-F238E27FC236}">
                <a16:creationId xmlns:a16="http://schemas.microsoft.com/office/drawing/2014/main" id="{B18D6909-8ABB-EC53-B1DD-C788DE542022}"/>
              </a:ext>
            </a:extLst>
          </p:cNvPr>
          <p:cNvSpPr/>
          <p:nvPr/>
        </p:nvSpPr>
        <p:spPr>
          <a:xfrm>
            <a:off x="6702552" y="2999232"/>
            <a:ext cx="4709160" cy="219456"/>
          </a:xfrm>
          <a:prstGeom prst="rect">
            <a:avLst/>
          </a:prstGeom>
          <a:noFill/>
          <a:ln/>
        </p:spPr>
        <p:txBody>
          <a:bodyPr wrap="square" lIns="0" tIns="0" rIns="0" bIns="0" rtlCol="0" anchor="ctr"/>
          <a:lstStyle/>
          <a:p>
            <a:pPr marL="0" indent="0">
              <a:buNone/>
            </a:pPr>
            <a:r>
              <a:rPr lang="en-US" sz="1050" b="1" dirty="0">
                <a:solidFill>
                  <a:srgbClr val="141414"/>
                </a:solidFill>
                <a:latin typeface="Courier New" pitchFamily="34" charset="0"/>
                <a:ea typeface="Courier New" pitchFamily="34" charset="-122"/>
                <a:cs typeface="Courier New" pitchFamily="34" charset="-120"/>
              </a:rPr>
              <a:t>"type": "prompt"</a:t>
            </a:r>
            <a:endParaRPr lang="en-US" sz="1050" dirty="0"/>
          </a:p>
        </p:txBody>
      </p:sp>
      <p:sp>
        <p:nvSpPr>
          <p:cNvPr id="27" name="Text 25">
            <a:extLst>
              <a:ext uri="{FF2B5EF4-FFF2-40B4-BE49-F238E27FC236}">
                <a16:creationId xmlns:a16="http://schemas.microsoft.com/office/drawing/2014/main" id="{EDDB5FEE-2567-4F55-A2CC-E21807F60ACC}"/>
              </a:ext>
            </a:extLst>
          </p:cNvPr>
          <p:cNvSpPr/>
          <p:nvPr/>
        </p:nvSpPr>
        <p:spPr>
          <a:xfrm>
            <a:off x="6702552" y="3218688"/>
            <a:ext cx="4709160" cy="347472"/>
          </a:xfrm>
          <a:prstGeom prst="rect">
            <a:avLst/>
          </a:prstGeom>
          <a:noFill/>
          <a:ln/>
        </p:spPr>
        <p:txBody>
          <a:bodyPr wrap="square" lIns="0" tIns="0" rIns="0" bIns="0" rtlCol="0" anchor="ctr"/>
          <a:lstStyle/>
          <a:p>
            <a:pPr marL="0" indent="0">
              <a:buNone/>
            </a:pPr>
            <a:r>
              <a:rPr lang="en-US" sz="900" dirty="0">
                <a:solidFill>
                  <a:srgbClr val="2B2B2B"/>
                </a:solidFill>
                <a:latin typeface="Calibri" pitchFamily="34" charset="0"/>
                <a:ea typeface="Calibri" pitchFamily="34" charset="-122"/>
                <a:cs typeface="Calibri" pitchFamily="34" charset="-120"/>
              </a:rPr>
              <a:t>Single-turn LLM evaluation. For decisions that need judgment rather than deterministic logic.</a:t>
            </a:r>
            <a:endParaRPr lang="en-US" sz="900" dirty="0"/>
          </a:p>
        </p:txBody>
      </p:sp>
      <p:sp>
        <p:nvSpPr>
          <p:cNvPr id="28" name="Shape 26">
            <a:extLst>
              <a:ext uri="{FF2B5EF4-FFF2-40B4-BE49-F238E27FC236}">
                <a16:creationId xmlns:a16="http://schemas.microsoft.com/office/drawing/2014/main" id="{89370557-2B70-2540-ACC8-EC9FDA7A66A9}"/>
              </a:ext>
            </a:extLst>
          </p:cNvPr>
          <p:cNvSpPr/>
          <p:nvPr/>
        </p:nvSpPr>
        <p:spPr>
          <a:xfrm>
            <a:off x="6537960" y="3630168"/>
            <a:ext cx="54864" cy="411480"/>
          </a:xfrm>
          <a:prstGeom prst="rect">
            <a:avLst/>
          </a:prstGeom>
          <a:solidFill>
            <a:srgbClr val="B04A3B"/>
          </a:solidFill>
          <a:ln w="12700">
            <a:solidFill>
              <a:srgbClr val="B04A3B"/>
            </a:solidFill>
            <a:prstDash val="solid"/>
          </a:ln>
        </p:spPr>
        <p:txBody>
          <a:bodyPr/>
          <a:lstStyle/>
          <a:p>
            <a:endParaRPr lang="en-US"/>
          </a:p>
        </p:txBody>
      </p:sp>
      <p:sp>
        <p:nvSpPr>
          <p:cNvPr id="29" name="Text 27">
            <a:extLst>
              <a:ext uri="{FF2B5EF4-FFF2-40B4-BE49-F238E27FC236}">
                <a16:creationId xmlns:a16="http://schemas.microsoft.com/office/drawing/2014/main" id="{30A10AAA-8FB4-ADC1-8596-1DED5F3C5AFC}"/>
              </a:ext>
            </a:extLst>
          </p:cNvPr>
          <p:cNvSpPr/>
          <p:nvPr/>
        </p:nvSpPr>
        <p:spPr>
          <a:xfrm>
            <a:off x="6702552" y="3593592"/>
            <a:ext cx="4709160" cy="219456"/>
          </a:xfrm>
          <a:prstGeom prst="rect">
            <a:avLst/>
          </a:prstGeom>
          <a:noFill/>
          <a:ln/>
        </p:spPr>
        <p:txBody>
          <a:bodyPr wrap="square" lIns="0" tIns="0" rIns="0" bIns="0" rtlCol="0" anchor="ctr"/>
          <a:lstStyle/>
          <a:p>
            <a:pPr marL="0" indent="0">
              <a:buNone/>
            </a:pPr>
            <a:r>
              <a:rPr lang="en-US" sz="1050" b="1" dirty="0">
                <a:solidFill>
                  <a:srgbClr val="141414"/>
                </a:solidFill>
                <a:latin typeface="Courier New" pitchFamily="34" charset="0"/>
                <a:ea typeface="Courier New" pitchFamily="34" charset="-122"/>
                <a:cs typeface="Courier New" pitchFamily="34" charset="-120"/>
              </a:rPr>
              <a:t>"type": "agent"</a:t>
            </a:r>
            <a:endParaRPr lang="en-US" sz="1050" dirty="0"/>
          </a:p>
        </p:txBody>
      </p:sp>
      <p:sp>
        <p:nvSpPr>
          <p:cNvPr id="30" name="Text 28">
            <a:extLst>
              <a:ext uri="{FF2B5EF4-FFF2-40B4-BE49-F238E27FC236}">
                <a16:creationId xmlns:a16="http://schemas.microsoft.com/office/drawing/2014/main" id="{3CFE5B63-58B7-BD22-D3D8-E3E1E42325AB}"/>
              </a:ext>
            </a:extLst>
          </p:cNvPr>
          <p:cNvSpPr/>
          <p:nvPr/>
        </p:nvSpPr>
        <p:spPr>
          <a:xfrm>
            <a:off x="6702552" y="3813048"/>
            <a:ext cx="4709160" cy="347472"/>
          </a:xfrm>
          <a:prstGeom prst="rect">
            <a:avLst/>
          </a:prstGeom>
          <a:noFill/>
          <a:ln/>
        </p:spPr>
        <p:txBody>
          <a:bodyPr wrap="square" lIns="0" tIns="0" rIns="0" bIns="0" rtlCol="0" anchor="ctr"/>
          <a:lstStyle/>
          <a:p>
            <a:pPr marL="0" indent="0">
              <a:buNone/>
            </a:pPr>
            <a:r>
              <a:rPr lang="en-US" sz="900" dirty="0">
                <a:solidFill>
                  <a:srgbClr val="2B2B2B"/>
                </a:solidFill>
                <a:latin typeface="Calibri" pitchFamily="34" charset="0"/>
                <a:ea typeface="Calibri" pitchFamily="34" charset="-122"/>
                <a:cs typeface="Calibri" pitchFamily="34" charset="-120"/>
              </a:rPr>
              <a:t>Multi-turn LLM with tool access. Experimental. For complex verification workflows.</a:t>
            </a:r>
            <a:endParaRPr lang="en-US" sz="900" dirty="0"/>
          </a:p>
        </p:txBody>
      </p:sp>
      <p:sp>
        <p:nvSpPr>
          <p:cNvPr id="31" name="Shape 29">
            <a:extLst>
              <a:ext uri="{FF2B5EF4-FFF2-40B4-BE49-F238E27FC236}">
                <a16:creationId xmlns:a16="http://schemas.microsoft.com/office/drawing/2014/main" id="{B351BB3C-531F-318C-AD30-EB58CF4C0D3F}"/>
              </a:ext>
            </a:extLst>
          </p:cNvPr>
          <p:cNvSpPr/>
          <p:nvPr/>
        </p:nvSpPr>
        <p:spPr>
          <a:xfrm>
            <a:off x="6537960" y="4242816"/>
            <a:ext cx="4892040" cy="0"/>
          </a:xfrm>
          <a:prstGeom prst="line">
            <a:avLst/>
          </a:prstGeom>
          <a:noFill/>
          <a:ln w="12700">
            <a:solidFill>
              <a:srgbClr val="E3E0D8"/>
            </a:solidFill>
            <a:prstDash val="solid"/>
          </a:ln>
        </p:spPr>
        <p:txBody>
          <a:bodyPr/>
          <a:lstStyle/>
          <a:p>
            <a:endParaRPr lang="en-US"/>
          </a:p>
        </p:txBody>
      </p:sp>
      <p:sp>
        <p:nvSpPr>
          <p:cNvPr id="32" name="Text 30">
            <a:extLst>
              <a:ext uri="{FF2B5EF4-FFF2-40B4-BE49-F238E27FC236}">
                <a16:creationId xmlns:a16="http://schemas.microsoft.com/office/drawing/2014/main" id="{5B2494E0-1CE2-ED79-C482-FB97F4DD2774}"/>
              </a:ext>
            </a:extLst>
          </p:cNvPr>
          <p:cNvSpPr/>
          <p:nvPr/>
        </p:nvSpPr>
        <p:spPr>
          <a:xfrm>
            <a:off x="6537960" y="4416552"/>
            <a:ext cx="4892040" cy="274320"/>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Matchers</a:t>
            </a:r>
            <a:endParaRPr lang="en-US" sz="1300" dirty="0"/>
          </a:p>
        </p:txBody>
      </p:sp>
      <p:sp>
        <p:nvSpPr>
          <p:cNvPr id="33" name="Text 31">
            <a:extLst>
              <a:ext uri="{FF2B5EF4-FFF2-40B4-BE49-F238E27FC236}">
                <a16:creationId xmlns:a16="http://schemas.microsoft.com/office/drawing/2014/main" id="{C022FFEE-1608-E90E-0DCD-660248BD4522}"/>
              </a:ext>
            </a:extLst>
          </p:cNvPr>
          <p:cNvSpPr/>
          <p:nvPr/>
        </p:nvSpPr>
        <p:spPr>
          <a:xfrm>
            <a:off x="6537960" y="4736592"/>
            <a:ext cx="4892040" cy="347472"/>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Narrow which events trigger the hook. Without a matcher, the hook fires on every occurrence of the event.</a:t>
            </a:r>
            <a:endParaRPr lang="en-US" sz="950" dirty="0"/>
          </a:p>
        </p:txBody>
      </p:sp>
      <p:sp>
        <p:nvSpPr>
          <p:cNvPr id="34" name="Text 32">
            <a:extLst>
              <a:ext uri="{FF2B5EF4-FFF2-40B4-BE49-F238E27FC236}">
                <a16:creationId xmlns:a16="http://schemas.microsoft.com/office/drawing/2014/main" id="{E53C9CAD-9546-F3AA-72C1-D12DC8798865}"/>
              </a:ext>
            </a:extLst>
          </p:cNvPr>
          <p:cNvSpPr/>
          <p:nvPr/>
        </p:nvSpPr>
        <p:spPr>
          <a:xfrm>
            <a:off x="6537960" y="5138928"/>
            <a:ext cx="4892040" cy="201168"/>
          </a:xfrm>
          <a:prstGeom prst="rect">
            <a:avLst/>
          </a:prstGeom>
          <a:noFill/>
          <a:ln/>
        </p:spPr>
        <p:txBody>
          <a:bodyPr wrap="square" lIns="0" tIns="0" rIns="0" bIns="0" rtlCol="0" anchor="ctr"/>
          <a:lstStyle/>
          <a:p>
            <a:pPr marL="0" indent="0">
              <a:buNone/>
            </a:pPr>
            <a:r>
              <a:rPr lang="en-US" sz="900" b="1" dirty="0">
                <a:solidFill>
                  <a:srgbClr val="3B7A75"/>
                </a:solidFill>
                <a:latin typeface="Calibri" pitchFamily="34" charset="0"/>
                <a:ea typeface="Calibri" pitchFamily="34" charset="-122"/>
                <a:cs typeface="Calibri" pitchFamily="34" charset="-120"/>
              </a:rPr>
              <a:t>PreToolUse, PostToolUse:</a:t>
            </a:r>
            <a:endParaRPr lang="en-US" sz="900" dirty="0"/>
          </a:p>
        </p:txBody>
      </p:sp>
      <p:sp>
        <p:nvSpPr>
          <p:cNvPr id="35" name="Text 33">
            <a:extLst>
              <a:ext uri="{FF2B5EF4-FFF2-40B4-BE49-F238E27FC236}">
                <a16:creationId xmlns:a16="http://schemas.microsoft.com/office/drawing/2014/main" id="{F5068CEF-6D7A-AE38-80C9-D0DDF161EC45}"/>
              </a:ext>
            </a:extLst>
          </p:cNvPr>
          <p:cNvSpPr/>
          <p:nvPr/>
        </p:nvSpPr>
        <p:spPr>
          <a:xfrm>
            <a:off x="6537960" y="5340096"/>
            <a:ext cx="4892040" cy="201168"/>
          </a:xfrm>
          <a:prstGeom prst="rect">
            <a:avLst/>
          </a:prstGeom>
          <a:noFill/>
          <a:ln/>
        </p:spPr>
        <p:txBody>
          <a:bodyPr wrap="square" lIns="0" tIns="0" rIns="0" bIns="0" rtlCol="0" anchor="ctr"/>
          <a:lstStyle/>
          <a:p>
            <a:pPr marL="0" indent="0">
              <a:buNone/>
            </a:pPr>
            <a:r>
              <a:rPr lang="en-US" sz="900" dirty="0">
                <a:solidFill>
                  <a:srgbClr val="2B2B2B"/>
                </a:solidFill>
                <a:latin typeface="Courier New" pitchFamily="34" charset="0"/>
                <a:ea typeface="Courier New" pitchFamily="34" charset="-122"/>
                <a:cs typeface="Courier New" pitchFamily="34" charset="-120"/>
              </a:rPr>
              <a:t>Matches tool name  →  "Edit|Write"  or  "Bash"</a:t>
            </a:r>
            <a:endParaRPr lang="en-US" sz="900" dirty="0"/>
          </a:p>
        </p:txBody>
      </p:sp>
      <p:sp>
        <p:nvSpPr>
          <p:cNvPr id="36" name="Text 34">
            <a:extLst>
              <a:ext uri="{FF2B5EF4-FFF2-40B4-BE49-F238E27FC236}">
                <a16:creationId xmlns:a16="http://schemas.microsoft.com/office/drawing/2014/main" id="{C701A5D9-40F8-4B4C-2260-E082D9EE2D4F}"/>
              </a:ext>
            </a:extLst>
          </p:cNvPr>
          <p:cNvSpPr/>
          <p:nvPr/>
        </p:nvSpPr>
        <p:spPr>
          <a:xfrm>
            <a:off x="6537960" y="5541264"/>
            <a:ext cx="4892040" cy="201168"/>
          </a:xfrm>
          <a:prstGeom prst="rect">
            <a:avLst/>
          </a:prstGeom>
          <a:noFill/>
          <a:ln/>
        </p:spPr>
        <p:txBody>
          <a:bodyPr wrap="square" lIns="0" tIns="0" rIns="0" bIns="0" rtlCol="0" anchor="ctr"/>
          <a:lstStyle/>
          <a:p>
            <a:pPr marL="0" indent="0">
              <a:buNone/>
            </a:pPr>
            <a:r>
              <a:rPr lang="en-US" sz="900" b="1" dirty="0">
                <a:solidFill>
                  <a:srgbClr val="3B7A75"/>
                </a:solidFill>
                <a:latin typeface="Calibri" pitchFamily="34" charset="0"/>
                <a:ea typeface="Calibri" pitchFamily="34" charset="-122"/>
                <a:cs typeface="Calibri" pitchFamily="34" charset="-120"/>
              </a:rPr>
              <a:t>SessionStart:</a:t>
            </a:r>
            <a:endParaRPr lang="en-US" sz="900" dirty="0"/>
          </a:p>
        </p:txBody>
      </p:sp>
      <p:sp>
        <p:nvSpPr>
          <p:cNvPr id="37" name="Text 35">
            <a:extLst>
              <a:ext uri="{FF2B5EF4-FFF2-40B4-BE49-F238E27FC236}">
                <a16:creationId xmlns:a16="http://schemas.microsoft.com/office/drawing/2014/main" id="{F15C87E4-E361-EBCA-576B-4620C7064DE0}"/>
              </a:ext>
            </a:extLst>
          </p:cNvPr>
          <p:cNvSpPr/>
          <p:nvPr/>
        </p:nvSpPr>
        <p:spPr>
          <a:xfrm>
            <a:off x="6537960" y="5742432"/>
            <a:ext cx="4892040" cy="201168"/>
          </a:xfrm>
          <a:prstGeom prst="rect">
            <a:avLst/>
          </a:prstGeom>
          <a:noFill/>
          <a:ln/>
        </p:spPr>
        <p:txBody>
          <a:bodyPr wrap="square" lIns="0" tIns="0" rIns="0" bIns="0" rtlCol="0" anchor="ctr"/>
          <a:lstStyle/>
          <a:p>
            <a:pPr marL="0" indent="0">
              <a:buNone/>
            </a:pPr>
            <a:r>
              <a:rPr lang="en-US" sz="900" dirty="0">
                <a:solidFill>
                  <a:srgbClr val="2B2B2B"/>
                </a:solidFill>
                <a:latin typeface="Courier New" pitchFamily="34" charset="0"/>
                <a:ea typeface="Courier New" pitchFamily="34" charset="-122"/>
                <a:cs typeface="Courier New" pitchFamily="34" charset="-120"/>
              </a:rPr>
              <a:t>Matches trigger source  →  "compact"  or  "resume"</a:t>
            </a:r>
            <a:endParaRPr lang="en-US" sz="900" dirty="0"/>
          </a:p>
        </p:txBody>
      </p:sp>
      <p:sp>
        <p:nvSpPr>
          <p:cNvPr id="38" name="Text 36">
            <a:extLst>
              <a:ext uri="{FF2B5EF4-FFF2-40B4-BE49-F238E27FC236}">
                <a16:creationId xmlns:a16="http://schemas.microsoft.com/office/drawing/2014/main" id="{F2AE516F-C5F5-BE9A-6E32-06287609F758}"/>
              </a:ext>
            </a:extLst>
          </p:cNvPr>
          <p:cNvSpPr/>
          <p:nvPr/>
        </p:nvSpPr>
        <p:spPr>
          <a:xfrm>
            <a:off x="6537960" y="5943600"/>
            <a:ext cx="4892040" cy="201168"/>
          </a:xfrm>
          <a:prstGeom prst="rect">
            <a:avLst/>
          </a:prstGeom>
          <a:noFill/>
          <a:ln/>
        </p:spPr>
        <p:txBody>
          <a:bodyPr wrap="square" lIns="0" tIns="0" rIns="0" bIns="0" rtlCol="0" anchor="ctr"/>
          <a:lstStyle/>
          <a:p>
            <a:pPr marL="0" indent="0">
              <a:buNone/>
            </a:pPr>
            <a:r>
              <a:rPr lang="en-US" sz="900" b="1" dirty="0">
                <a:solidFill>
                  <a:srgbClr val="3B7A75"/>
                </a:solidFill>
                <a:latin typeface="Calibri" pitchFamily="34" charset="0"/>
                <a:ea typeface="Calibri" pitchFamily="34" charset="-122"/>
                <a:cs typeface="Calibri" pitchFamily="34" charset="-120"/>
              </a:rPr>
              <a:t>Notification:</a:t>
            </a:r>
            <a:endParaRPr lang="en-US" sz="900" dirty="0"/>
          </a:p>
        </p:txBody>
      </p:sp>
      <p:sp>
        <p:nvSpPr>
          <p:cNvPr id="39" name="Text 37">
            <a:extLst>
              <a:ext uri="{FF2B5EF4-FFF2-40B4-BE49-F238E27FC236}">
                <a16:creationId xmlns:a16="http://schemas.microsoft.com/office/drawing/2014/main" id="{2648E2F2-44A5-AE04-7F55-FFEE7D6BC0C9}"/>
              </a:ext>
            </a:extLst>
          </p:cNvPr>
          <p:cNvSpPr/>
          <p:nvPr/>
        </p:nvSpPr>
        <p:spPr>
          <a:xfrm>
            <a:off x="6537960" y="6144768"/>
            <a:ext cx="4892040" cy="201168"/>
          </a:xfrm>
          <a:prstGeom prst="rect">
            <a:avLst/>
          </a:prstGeom>
          <a:noFill/>
          <a:ln/>
        </p:spPr>
        <p:txBody>
          <a:bodyPr wrap="square" lIns="0" tIns="0" rIns="0" bIns="0" rtlCol="0" anchor="ctr"/>
          <a:lstStyle/>
          <a:p>
            <a:pPr marL="0" indent="0">
              <a:buNone/>
            </a:pPr>
            <a:r>
              <a:rPr lang="en-US" sz="900" dirty="0">
                <a:solidFill>
                  <a:srgbClr val="2B2B2B"/>
                </a:solidFill>
                <a:latin typeface="Courier New" pitchFamily="34" charset="0"/>
                <a:ea typeface="Courier New" pitchFamily="34" charset="-122"/>
                <a:cs typeface="Courier New" pitchFamily="34" charset="-120"/>
              </a:rPr>
              <a:t>Matches notification type  →  "permission_prompt"</a:t>
            </a:r>
            <a:endParaRPr lang="en-US" sz="900" dirty="0"/>
          </a:p>
        </p:txBody>
      </p:sp>
      <p:sp>
        <p:nvSpPr>
          <p:cNvPr id="40" name="Text 38">
            <a:extLst>
              <a:ext uri="{FF2B5EF4-FFF2-40B4-BE49-F238E27FC236}">
                <a16:creationId xmlns:a16="http://schemas.microsoft.com/office/drawing/2014/main" id="{38196C88-5214-8D24-6552-4882FFEE9F89}"/>
              </a:ext>
            </a:extLst>
          </p:cNvPr>
          <p:cNvSpPr/>
          <p:nvPr/>
        </p:nvSpPr>
        <p:spPr>
          <a:xfrm>
            <a:off x="6537960" y="6345936"/>
            <a:ext cx="4892040" cy="201168"/>
          </a:xfrm>
          <a:prstGeom prst="rect">
            <a:avLst/>
          </a:prstGeom>
          <a:noFill/>
          <a:ln/>
        </p:spPr>
        <p:txBody>
          <a:bodyPr wrap="square" lIns="0" tIns="0" rIns="0" bIns="0" rtlCol="0" anchor="ctr"/>
          <a:lstStyle/>
          <a:p>
            <a:pPr marL="0" indent="0">
              <a:buNone/>
            </a:pPr>
            <a:r>
              <a:rPr lang="en-US" sz="900" b="1" dirty="0">
                <a:solidFill>
                  <a:srgbClr val="3B7A75"/>
                </a:solidFill>
                <a:latin typeface="Calibri" pitchFamily="34" charset="0"/>
                <a:ea typeface="Calibri" pitchFamily="34" charset="-122"/>
                <a:cs typeface="Calibri" pitchFamily="34" charset="-120"/>
              </a:rPr>
              <a:t>FileChanged:</a:t>
            </a:r>
            <a:endParaRPr lang="en-US" sz="900" dirty="0"/>
          </a:p>
        </p:txBody>
      </p:sp>
      <p:sp>
        <p:nvSpPr>
          <p:cNvPr id="41" name="Text 39">
            <a:extLst>
              <a:ext uri="{FF2B5EF4-FFF2-40B4-BE49-F238E27FC236}">
                <a16:creationId xmlns:a16="http://schemas.microsoft.com/office/drawing/2014/main" id="{2B3DC0E6-237C-20A7-40C4-3FF389EC0569}"/>
              </a:ext>
            </a:extLst>
          </p:cNvPr>
          <p:cNvSpPr/>
          <p:nvPr/>
        </p:nvSpPr>
        <p:spPr>
          <a:xfrm>
            <a:off x="6537960" y="6547104"/>
            <a:ext cx="4892040" cy="201168"/>
          </a:xfrm>
          <a:prstGeom prst="rect">
            <a:avLst/>
          </a:prstGeom>
          <a:noFill/>
          <a:ln/>
        </p:spPr>
        <p:txBody>
          <a:bodyPr wrap="square" lIns="0" tIns="0" rIns="0" bIns="0" rtlCol="0" anchor="ctr"/>
          <a:lstStyle/>
          <a:p>
            <a:pPr marL="0" indent="0">
              <a:buNone/>
            </a:pPr>
            <a:r>
              <a:rPr lang="en-US" sz="900" dirty="0">
                <a:solidFill>
                  <a:srgbClr val="2B2B2B"/>
                </a:solidFill>
                <a:latin typeface="Courier New" pitchFamily="34" charset="0"/>
                <a:ea typeface="Courier New" pitchFamily="34" charset="-122"/>
                <a:cs typeface="Courier New" pitchFamily="34" charset="-120"/>
              </a:rPr>
              <a:t>Matches filename (literal)  →  ".envrc|.env"</a:t>
            </a:r>
            <a:endParaRPr lang="en-US" sz="900" dirty="0"/>
          </a:p>
        </p:txBody>
      </p:sp>
      <p:sp>
        <p:nvSpPr>
          <p:cNvPr id="42" name="Shape 40">
            <a:extLst>
              <a:ext uri="{FF2B5EF4-FFF2-40B4-BE49-F238E27FC236}">
                <a16:creationId xmlns:a16="http://schemas.microsoft.com/office/drawing/2014/main" id="{7FF3AF57-3D8E-A848-1D34-836D642A0BE5}"/>
              </a:ext>
            </a:extLst>
          </p:cNvPr>
          <p:cNvSpPr/>
          <p:nvPr/>
        </p:nvSpPr>
        <p:spPr>
          <a:xfrm>
            <a:off x="457200" y="6858000"/>
            <a:ext cx="11247120" cy="457200"/>
          </a:xfrm>
          <a:prstGeom prst="rect">
            <a:avLst/>
          </a:prstGeom>
          <a:solidFill>
            <a:srgbClr val="F7F5F0"/>
          </a:solidFill>
          <a:ln w="9525">
            <a:solidFill>
              <a:srgbClr val="E3E0D8"/>
            </a:solidFill>
            <a:prstDash val="solid"/>
          </a:ln>
        </p:spPr>
        <p:txBody>
          <a:bodyPr/>
          <a:lstStyle/>
          <a:p>
            <a:endParaRPr lang="en-US"/>
          </a:p>
        </p:txBody>
      </p:sp>
      <p:sp>
        <p:nvSpPr>
          <p:cNvPr id="43" name="Text 41">
            <a:extLst>
              <a:ext uri="{FF2B5EF4-FFF2-40B4-BE49-F238E27FC236}">
                <a16:creationId xmlns:a16="http://schemas.microsoft.com/office/drawing/2014/main" id="{0E944536-D577-0C33-D20B-255F875BD808}"/>
              </a:ext>
            </a:extLst>
          </p:cNvPr>
          <p:cNvSpPr/>
          <p:nvPr/>
        </p:nvSpPr>
        <p:spPr>
          <a:xfrm>
            <a:off x="777240" y="6858000"/>
            <a:ext cx="10607040" cy="457200"/>
          </a:xfrm>
          <a:prstGeom prst="rect">
            <a:avLst/>
          </a:prstGeom>
          <a:noFill/>
          <a:ln/>
        </p:spPr>
        <p:txBody>
          <a:bodyPr wrap="square" lIns="0" tIns="0" rIns="0" bIns="0" rtlCol="0" anchor="ctr"/>
          <a:lstStyle/>
          <a:p>
            <a:pPr marL="0" indent="0">
              <a:buNone/>
            </a:pPr>
            <a:r>
              <a:rPr lang="en-US" sz="1100" b="1" dirty="0">
                <a:solidFill>
                  <a:srgbClr val="C9704F"/>
                </a:solidFill>
                <a:latin typeface="Calibri" pitchFamily="34" charset="0"/>
                <a:ea typeface="Calibri" pitchFamily="34" charset="-122"/>
                <a:cs typeface="Calibri" pitchFamily="34" charset="-120"/>
              </a:rPr>
              <a:t>Multiple hooks on the same event run in parallel.  </a:t>
            </a:r>
            <a:r>
              <a:rPr lang="en-US" sz="1100" dirty="0">
                <a:solidFill>
                  <a:srgbClr val="2B2B2B"/>
                </a:solidFill>
                <a:latin typeface="Calibri" pitchFamily="34" charset="0"/>
                <a:ea typeface="Calibri" pitchFamily="34" charset="-122"/>
                <a:cs typeface="Calibri" pitchFamily="34" charset="-120"/>
              </a:rPr>
              <a:t>Identical commands are deduplicated automatically. For PreToolUse, the most restrictive result wins: deny &gt; defer &gt; ask &gt; allow.</a:t>
            </a:r>
            <a:endParaRPr lang="en-US" sz="1100" dirty="0"/>
          </a:p>
        </p:txBody>
      </p:sp>
    </p:spTree>
    <p:extLst>
      <p:ext uri="{BB962C8B-B14F-4D97-AF65-F5344CB8AC3E}">
        <p14:creationId xmlns:p14="http://schemas.microsoft.com/office/powerpoint/2010/main" val="18236656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F5801CA-9FBC-6F8E-7C0A-473C312A2B8B}"/>
              </a:ext>
            </a:extLst>
          </p:cNvPr>
          <p:cNvSpPr/>
          <p:nvPr/>
        </p:nvSpPr>
        <p:spPr>
          <a:xfrm>
            <a:off x="457200" y="256032"/>
            <a:ext cx="11247120" cy="457200"/>
          </a:xfrm>
          <a:prstGeom prst="rect">
            <a:avLst/>
          </a:prstGeom>
          <a:noFill/>
          <a:ln/>
        </p:spPr>
        <p:txBody>
          <a:bodyPr wrap="square" lIns="0" tIns="0" rIns="0" bIns="0" rtlCol="0" anchor="ctr"/>
          <a:lstStyle/>
          <a:p>
            <a:pPr marL="0" indent="0">
              <a:buNone/>
            </a:pPr>
            <a:r>
              <a:rPr lang="en-US" sz="3200" b="1" dirty="0">
                <a:solidFill>
                  <a:srgbClr val="141414"/>
                </a:solidFill>
                <a:latin typeface="Cambria" pitchFamily="34" charset="0"/>
                <a:ea typeface="Cambria" pitchFamily="34" charset="-122"/>
                <a:cs typeface="Cambria" pitchFamily="34" charset="-120"/>
              </a:rPr>
              <a:t>Hook Events &amp; Input/Output</a:t>
            </a:r>
            <a:endParaRPr lang="en-US" sz="3200" dirty="0"/>
          </a:p>
        </p:txBody>
      </p:sp>
      <p:sp>
        <p:nvSpPr>
          <p:cNvPr id="3" name="Text 1">
            <a:extLst>
              <a:ext uri="{FF2B5EF4-FFF2-40B4-BE49-F238E27FC236}">
                <a16:creationId xmlns:a16="http://schemas.microsoft.com/office/drawing/2014/main" id="{486C7D5E-E376-4053-6498-2543EF611E15}"/>
              </a:ext>
            </a:extLst>
          </p:cNvPr>
          <p:cNvSpPr/>
          <p:nvPr/>
        </p:nvSpPr>
        <p:spPr>
          <a:xfrm>
            <a:off x="457200" y="731520"/>
            <a:ext cx="11247120" cy="365760"/>
          </a:xfrm>
          <a:prstGeom prst="rect">
            <a:avLst/>
          </a:prstGeom>
          <a:noFill/>
          <a:ln/>
        </p:spPr>
        <p:txBody>
          <a:bodyPr wrap="square" lIns="0" tIns="0" rIns="0" bIns="0" rtlCol="0" anchor="ctr"/>
          <a:lstStyle/>
          <a:p>
            <a:pPr marL="0" indent="0">
              <a:buNone/>
            </a:pPr>
            <a:r>
              <a:rPr lang="en-US" sz="1200" dirty="0">
                <a:solidFill>
                  <a:srgbClr val="6B6B6B"/>
                </a:solidFill>
                <a:latin typeface="Calibri" pitchFamily="34" charset="0"/>
                <a:ea typeface="Calibri" pitchFamily="34" charset="-122"/>
                <a:cs typeface="Calibri" pitchFamily="34" charset="-120"/>
              </a:rPr>
              <a:t>Every hook receives JSON on stdin with session_id, cwd, and event-specific fields. What you write to stdout/stderr and which exit code you use determines what Claude Code does next.</a:t>
            </a:r>
            <a:endParaRPr lang="en-US" sz="1200" dirty="0"/>
          </a:p>
        </p:txBody>
      </p:sp>
      <p:sp>
        <p:nvSpPr>
          <p:cNvPr id="4" name="Shape 2">
            <a:extLst>
              <a:ext uri="{FF2B5EF4-FFF2-40B4-BE49-F238E27FC236}">
                <a16:creationId xmlns:a16="http://schemas.microsoft.com/office/drawing/2014/main" id="{325B7BAF-D1AC-D45B-9591-74F40F00A25D}"/>
              </a:ext>
            </a:extLst>
          </p:cNvPr>
          <p:cNvSpPr/>
          <p:nvPr/>
        </p:nvSpPr>
        <p:spPr>
          <a:xfrm>
            <a:off x="457200" y="1261872"/>
            <a:ext cx="5943600" cy="5577840"/>
          </a:xfrm>
          <a:prstGeom prst="roundRect">
            <a:avLst>
              <a:gd name="adj" fmla="val 984"/>
            </a:avLst>
          </a:prstGeom>
          <a:solidFill>
            <a:srgbClr val="FFFFFF"/>
          </a:solidFill>
          <a:ln w="12700">
            <a:solidFill>
              <a:srgbClr val="E3E0D8"/>
            </a:solidFill>
            <a:prstDash val="solid"/>
          </a:ln>
          <a:effectLst>
            <a:outerShdw blurRad="101600" dist="25400" dir="5400000" algn="bl" rotWithShape="0">
              <a:srgbClr val="000000">
                <a:alpha val="8000"/>
              </a:srgbClr>
            </a:outerShdw>
          </a:effectLst>
        </p:spPr>
        <p:txBody>
          <a:bodyPr/>
          <a:lstStyle/>
          <a:p>
            <a:endParaRPr lang="en-US"/>
          </a:p>
        </p:txBody>
      </p:sp>
      <p:sp>
        <p:nvSpPr>
          <p:cNvPr id="5" name="Text 3">
            <a:extLst>
              <a:ext uri="{FF2B5EF4-FFF2-40B4-BE49-F238E27FC236}">
                <a16:creationId xmlns:a16="http://schemas.microsoft.com/office/drawing/2014/main" id="{0C1BF45D-A853-33E7-8B07-BC546ACA89C3}"/>
              </a:ext>
            </a:extLst>
          </p:cNvPr>
          <p:cNvSpPr/>
          <p:nvPr/>
        </p:nvSpPr>
        <p:spPr>
          <a:xfrm>
            <a:off x="731520" y="1426464"/>
            <a:ext cx="5394960" cy="292608"/>
          </a:xfrm>
          <a:prstGeom prst="rect">
            <a:avLst/>
          </a:prstGeom>
          <a:noFill/>
          <a:ln/>
        </p:spPr>
        <p:txBody>
          <a:bodyPr wrap="square" lIns="0" tIns="0" rIns="0" bIns="0" rtlCol="0" anchor="ctr"/>
          <a:lstStyle/>
          <a:p>
            <a:pPr marL="0" indent="0">
              <a:buNone/>
            </a:pPr>
            <a:r>
              <a:rPr lang="en-US" sz="1500" b="1" dirty="0">
                <a:solidFill>
                  <a:srgbClr val="C9704F"/>
                </a:solidFill>
                <a:latin typeface="Calibri" pitchFamily="34" charset="0"/>
                <a:ea typeface="Calibri" pitchFamily="34" charset="-122"/>
                <a:cs typeface="Calibri" pitchFamily="34" charset="-120"/>
              </a:rPr>
              <a:t>All hook events</a:t>
            </a:r>
            <a:endParaRPr lang="en-US" sz="1500" dirty="0"/>
          </a:p>
        </p:txBody>
      </p:sp>
      <p:sp>
        <p:nvSpPr>
          <p:cNvPr id="6" name="Shape 4">
            <a:extLst>
              <a:ext uri="{FF2B5EF4-FFF2-40B4-BE49-F238E27FC236}">
                <a16:creationId xmlns:a16="http://schemas.microsoft.com/office/drawing/2014/main" id="{7EFE6C72-06B2-8331-FF2F-F3D426A137F7}"/>
              </a:ext>
            </a:extLst>
          </p:cNvPr>
          <p:cNvSpPr/>
          <p:nvPr/>
        </p:nvSpPr>
        <p:spPr>
          <a:xfrm>
            <a:off x="731520" y="1792224"/>
            <a:ext cx="5394960" cy="201168"/>
          </a:xfrm>
          <a:prstGeom prst="rect">
            <a:avLst/>
          </a:prstGeom>
          <a:solidFill>
            <a:srgbClr val="3B7A75"/>
          </a:solidFill>
          <a:ln w="12700">
            <a:solidFill>
              <a:srgbClr val="3B7A75"/>
            </a:solidFill>
            <a:prstDash val="solid"/>
          </a:ln>
        </p:spPr>
        <p:txBody>
          <a:bodyPr/>
          <a:lstStyle/>
          <a:p>
            <a:endParaRPr lang="en-US"/>
          </a:p>
        </p:txBody>
      </p:sp>
      <p:sp>
        <p:nvSpPr>
          <p:cNvPr id="7" name="Text 5">
            <a:extLst>
              <a:ext uri="{FF2B5EF4-FFF2-40B4-BE49-F238E27FC236}">
                <a16:creationId xmlns:a16="http://schemas.microsoft.com/office/drawing/2014/main" id="{5328122B-7FAD-5AB3-9205-4457F741ED51}"/>
              </a:ext>
            </a:extLst>
          </p:cNvPr>
          <p:cNvSpPr/>
          <p:nvPr/>
        </p:nvSpPr>
        <p:spPr>
          <a:xfrm>
            <a:off x="822960" y="1792224"/>
            <a:ext cx="5212080"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Session lifecycle</a:t>
            </a:r>
            <a:endParaRPr lang="en-US" sz="900" dirty="0"/>
          </a:p>
        </p:txBody>
      </p:sp>
      <p:sp>
        <p:nvSpPr>
          <p:cNvPr id="8" name="Text 6">
            <a:extLst>
              <a:ext uri="{FF2B5EF4-FFF2-40B4-BE49-F238E27FC236}">
                <a16:creationId xmlns:a16="http://schemas.microsoft.com/office/drawing/2014/main" id="{67E33453-34DE-B685-FE0C-ABD09CD7B837}"/>
              </a:ext>
            </a:extLst>
          </p:cNvPr>
          <p:cNvSpPr/>
          <p:nvPr/>
        </p:nvSpPr>
        <p:spPr>
          <a:xfrm>
            <a:off x="777240" y="2011680"/>
            <a:ext cx="2331720" cy="201168"/>
          </a:xfrm>
          <a:prstGeom prst="rect">
            <a:avLst/>
          </a:prstGeom>
          <a:noFill/>
          <a:ln/>
        </p:spPr>
        <p:txBody>
          <a:bodyPr wrap="square" lIns="0" tIns="0" rIns="0" bIns="0" rtlCol="0" anchor="ctr"/>
          <a:lstStyle/>
          <a:p>
            <a:pPr marL="0" indent="0">
              <a:buNone/>
            </a:pPr>
            <a:r>
              <a:rPr lang="en-US" sz="800" b="1" dirty="0">
                <a:solidFill>
                  <a:srgbClr val="141414"/>
                </a:solidFill>
                <a:latin typeface="Courier New" pitchFamily="34" charset="0"/>
                <a:ea typeface="Courier New" pitchFamily="34" charset="-122"/>
                <a:cs typeface="Courier New" pitchFamily="34" charset="-120"/>
              </a:rPr>
              <a:t>SessionStart</a:t>
            </a:r>
            <a:endParaRPr lang="en-US" sz="800" dirty="0"/>
          </a:p>
        </p:txBody>
      </p:sp>
      <p:sp>
        <p:nvSpPr>
          <p:cNvPr id="9" name="Text 7">
            <a:extLst>
              <a:ext uri="{FF2B5EF4-FFF2-40B4-BE49-F238E27FC236}">
                <a16:creationId xmlns:a16="http://schemas.microsoft.com/office/drawing/2014/main" id="{324C3017-9D6E-18E0-CB00-ECC9D64C0BE5}"/>
              </a:ext>
            </a:extLst>
          </p:cNvPr>
          <p:cNvSpPr/>
          <p:nvPr/>
        </p:nvSpPr>
        <p:spPr>
          <a:xfrm>
            <a:off x="3154680" y="2011680"/>
            <a:ext cx="2971800" cy="201168"/>
          </a:xfrm>
          <a:prstGeom prst="rect">
            <a:avLst/>
          </a:prstGeom>
          <a:noFill/>
          <a:ln/>
        </p:spPr>
        <p:txBody>
          <a:bodyPr wrap="square" lIns="0" tIns="0" rIns="0" bIns="0" rtlCol="0" anchor="ctr"/>
          <a:lstStyle/>
          <a:p>
            <a:pPr marL="0" indent="0">
              <a:buNone/>
            </a:pPr>
            <a:r>
              <a:rPr lang="en-US" sz="800" dirty="0">
                <a:solidFill>
                  <a:srgbClr val="2B2B2B"/>
                </a:solidFill>
                <a:latin typeface="Calibri" pitchFamily="34" charset="0"/>
                <a:ea typeface="Calibri" pitchFamily="34" charset="-122"/>
                <a:cs typeface="Calibri" pitchFamily="34" charset="-120"/>
              </a:rPr>
              <a:t>Session begins, resumes, or context compacts</a:t>
            </a:r>
            <a:endParaRPr lang="en-US" sz="800" dirty="0"/>
          </a:p>
        </p:txBody>
      </p:sp>
      <p:sp>
        <p:nvSpPr>
          <p:cNvPr id="10" name="Text 8">
            <a:extLst>
              <a:ext uri="{FF2B5EF4-FFF2-40B4-BE49-F238E27FC236}">
                <a16:creationId xmlns:a16="http://schemas.microsoft.com/office/drawing/2014/main" id="{929C3D39-3A7D-B107-E617-45188A21C5A9}"/>
              </a:ext>
            </a:extLst>
          </p:cNvPr>
          <p:cNvSpPr/>
          <p:nvPr/>
        </p:nvSpPr>
        <p:spPr>
          <a:xfrm>
            <a:off x="777240" y="2221992"/>
            <a:ext cx="2331720" cy="201168"/>
          </a:xfrm>
          <a:prstGeom prst="rect">
            <a:avLst/>
          </a:prstGeom>
          <a:noFill/>
          <a:ln/>
        </p:spPr>
        <p:txBody>
          <a:bodyPr wrap="square" lIns="0" tIns="0" rIns="0" bIns="0" rtlCol="0" anchor="ctr"/>
          <a:lstStyle/>
          <a:p>
            <a:pPr marL="0" indent="0">
              <a:buNone/>
            </a:pPr>
            <a:r>
              <a:rPr lang="en-US" sz="800" b="1" dirty="0">
                <a:solidFill>
                  <a:srgbClr val="141414"/>
                </a:solidFill>
                <a:latin typeface="Courier New" pitchFamily="34" charset="0"/>
                <a:ea typeface="Courier New" pitchFamily="34" charset="-122"/>
                <a:cs typeface="Courier New" pitchFamily="34" charset="-120"/>
              </a:rPr>
              <a:t>Setup</a:t>
            </a:r>
            <a:endParaRPr lang="en-US" sz="800" dirty="0"/>
          </a:p>
        </p:txBody>
      </p:sp>
      <p:sp>
        <p:nvSpPr>
          <p:cNvPr id="11" name="Text 9">
            <a:extLst>
              <a:ext uri="{FF2B5EF4-FFF2-40B4-BE49-F238E27FC236}">
                <a16:creationId xmlns:a16="http://schemas.microsoft.com/office/drawing/2014/main" id="{B7909CCA-C15C-8F91-E79D-83912EA0D7B1}"/>
              </a:ext>
            </a:extLst>
          </p:cNvPr>
          <p:cNvSpPr/>
          <p:nvPr/>
        </p:nvSpPr>
        <p:spPr>
          <a:xfrm>
            <a:off x="3154680" y="2221992"/>
            <a:ext cx="2971800" cy="201168"/>
          </a:xfrm>
          <a:prstGeom prst="rect">
            <a:avLst/>
          </a:prstGeom>
          <a:noFill/>
          <a:ln/>
        </p:spPr>
        <p:txBody>
          <a:bodyPr wrap="square" lIns="0" tIns="0" rIns="0" bIns="0" rtlCol="0" anchor="ctr"/>
          <a:lstStyle/>
          <a:p>
            <a:pPr marL="0" indent="0">
              <a:buNone/>
            </a:pPr>
            <a:r>
              <a:rPr lang="en-US" sz="800" dirty="0">
                <a:solidFill>
                  <a:srgbClr val="2B2B2B"/>
                </a:solidFill>
                <a:latin typeface="Calibri" pitchFamily="34" charset="0"/>
                <a:ea typeface="Calibri" pitchFamily="34" charset="-122"/>
                <a:cs typeface="Calibri" pitchFamily="34" charset="-120"/>
              </a:rPr>
              <a:t>Session started with --init-only or --init in -p mode</a:t>
            </a:r>
            <a:endParaRPr lang="en-US" sz="800" dirty="0"/>
          </a:p>
        </p:txBody>
      </p:sp>
      <p:sp>
        <p:nvSpPr>
          <p:cNvPr id="12" name="Text 10">
            <a:extLst>
              <a:ext uri="{FF2B5EF4-FFF2-40B4-BE49-F238E27FC236}">
                <a16:creationId xmlns:a16="http://schemas.microsoft.com/office/drawing/2014/main" id="{FFE92A14-D738-B3CE-25BB-1932ADE3FB47}"/>
              </a:ext>
            </a:extLst>
          </p:cNvPr>
          <p:cNvSpPr/>
          <p:nvPr/>
        </p:nvSpPr>
        <p:spPr>
          <a:xfrm>
            <a:off x="777240" y="2432304"/>
            <a:ext cx="2331720" cy="201168"/>
          </a:xfrm>
          <a:prstGeom prst="rect">
            <a:avLst/>
          </a:prstGeom>
          <a:noFill/>
          <a:ln/>
        </p:spPr>
        <p:txBody>
          <a:bodyPr wrap="square" lIns="0" tIns="0" rIns="0" bIns="0" rtlCol="0" anchor="ctr"/>
          <a:lstStyle/>
          <a:p>
            <a:pPr marL="0" indent="0">
              <a:buNone/>
            </a:pPr>
            <a:r>
              <a:rPr lang="en-US" sz="800" b="1" dirty="0">
                <a:solidFill>
                  <a:srgbClr val="141414"/>
                </a:solidFill>
                <a:latin typeface="Courier New" pitchFamily="34" charset="0"/>
                <a:ea typeface="Courier New" pitchFamily="34" charset="-122"/>
                <a:cs typeface="Courier New" pitchFamily="34" charset="-120"/>
              </a:rPr>
              <a:t>UserPromptSubmit</a:t>
            </a:r>
            <a:endParaRPr lang="en-US" sz="800" dirty="0"/>
          </a:p>
        </p:txBody>
      </p:sp>
      <p:sp>
        <p:nvSpPr>
          <p:cNvPr id="13" name="Text 11">
            <a:extLst>
              <a:ext uri="{FF2B5EF4-FFF2-40B4-BE49-F238E27FC236}">
                <a16:creationId xmlns:a16="http://schemas.microsoft.com/office/drawing/2014/main" id="{448EBB12-2294-BF5F-46A2-BCC17698E9DB}"/>
              </a:ext>
            </a:extLst>
          </p:cNvPr>
          <p:cNvSpPr/>
          <p:nvPr/>
        </p:nvSpPr>
        <p:spPr>
          <a:xfrm>
            <a:off x="3154680" y="2432304"/>
            <a:ext cx="2971800" cy="201168"/>
          </a:xfrm>
          <a:prstGeom prst="rect">
            <a:avLst/>
          </a:prstGeom>
          <a:noFill/>
          <a:ln/>
        </p:spPr>
        <p:txBody>
          <a:bodyPr wrap="square" lIns="0" tIns="0" rIns="0" bIns="0" rtlCol="0" anchor="ctr"/>
          <a:lstStyle/>
          <a:p>
            <a:pPr marL="0" indent="0">
              <a:buNone/>
            </a:pPr>
            <a:r>
              <a:rPr lang="en-US" sz="800" dirty="0">
                <a:solidFill>
                  <a:srgbClr val="2B2B2B"/>
                </a:solidFill>
                <a:latin typeface="Calibri" pitchFamily="34" charset="0"/>
                <a:ea typeface="Calibri" pitchFamily="34" charset="-122"/>
                <a:cs typeface="Calibri" pitchFamily="34" charset="-120"/>
              </a:rPr>
              <a:t>You submit a prompt, before Claude processes it</a:t>
            </a:r>
            <a:endParaRPr lang="en-US" sz="800" dirty="0"/>
          </a:p>
        </p:txBody>
      </p:sp>
      <p:sp>
        <p:nvSpPr>
          <p:cNvPr id="14" name="Text 12">
            <a:extLst>
              <a:ext uri="{FF2B5EF4-FFF2-40B4-BE49-F238E27FC236}">
                <a16:creationId xmlns:a16="http://schemas.microsoft.com/office/drawing/2014/main" id="{99A6A073-237E-A0B3-80AC-A1C99E64298D}"/>
              </a:ext>
            </a:extLst>
          </p:cNvPr>
          <p:cNvSpPr/>
          <p:nvPr/>
        </p:nvSpPr>
        <p:spPr>
          <a:xfrm>
            <a:off x="777240" y="2642616"/>
            <a:ext cx="2331720" cy="201168"/>
          </a:xfrm>
          <a:prstGeom prst="rect">
            <a:avLst/>
          </a:prstGeom>
          <a:noFill/>
          <a:ln/>
        </p:spPr>
        <p:txBody>
          <a:bodyPr wrap="square" lIns="0" tIns="0" rIns="0" bIns="0" rtlCol="0" anchor="ctr"/>
          <a:lstStyle/>
          <a:p>
            <a:pPr marL="0" indent="0">
              <a:buNone/>
            </a:pPr>
            <a:r>
              <a:rPr lang="en-US" sz="800" b="1" dirty="0">
                <a:solidFill>
                  <a:srgbClr val="141414"/>
                </a:solidFill>
                <a:latin typeface="Courier New" pitchFamily="34" charset="0"/>
                <a:ea typeface="Courier New" pitchFamily="34" charset="-122"/>
                <a:cs typeface="Courier New" pitchFamily="34" charset="-120"/>
              </a:rPr>
              <a:t>Stop / StopFailure</a:t>
            </a:r>
            <a:endParaRPr lang="en-US" sz="800" dirty="0"/>
          </a:p>
        </p:txBody>
      </p:sp>
      <p:sp>
        <p:nvSpPr>
          <p:cNvPr id="15" name="Text 13">
            <a:extLst>
              <a:ext uri="{FF2B5EF4-FFF2-40B4-BE49-F238E27FC236}">
                <a16:creationId xmlns:a16="http://schemas.microsoft.com/office/drawing/2014/main" id="{CBD6723C-A918-1993-5335-78EFFA3D3648}"/>
              </a:ext>
            </a:extLst>
          </p:cNvPr>
          <p:cNvSpPr/>
          <p:nvPr/>
        </p:nvSpPr>
        <p:spPr>
          <a:xfrm>
            <a:off x="3154680" y="2642616"/>
            <a:ext cx="2971800" cy="201168"/>
          </a:xfrm>
          <a:prstGeom prst="rect">
            <a:avLst/>
          </a:prstGeom>
          <a:noFill/>
          <a:ln/>
        </p:spPr>
        <p:txBody>
          <a:bodyPr wrap="square" lIns="0" tIns="0" rIns="0" bIns="0" rtlCol="0" anchor="ctr"/>
          <a:lstStyle/>
          <a:p>
            <a:pPr marL="0" indent="0">
              <a:buNone/>
            </a:pPr>
            <a:r>
              <a:rPr lang="en-US" sz="800" dirty="0">
                <a:solidFill>
                  <a:srgbClr val="2B2B2B"/>
                </a:solidFill>
                <a:latin typeface="Calibri" pitchFamily="34" charset="0"/>
                <a:ea typeface="Calibri" pitchFamily="34" charset="-122"/>
                <a:cs typeface="Calibri" pitchFamily="34" charset="-120"/>
              </a:rPr>
              <a:t>Claude finishes responding / turn ends with API error</a:t>
            </a:r>
            <a:endParaRPr lang="en-US" sz="800" dirty="0"/>
          </a:p>
        </p:txBody>
      </p:sp>
      <p:sp>
        <p:nvSpPr>
          <p:cNvPr id="16" name="Text 14">
            <a:extLst>
              <a:ext uri="{FF2B5EF4-FFF2-40B4-BE49-F238E27FC236}">
                <a16:creationId xmlns:a16="http://schemas.microsoft.com/office/drawing/2014/main" id="{9BA3F6B1-E3D9-7ACD-CBB9-ED5EF41A36F8}"/>
              </a:ext>
            </a:extLst>
          </p:cNvPr>
          <p:cNvSpPr/>
          <p:nvPr/>
        </p:nvSpPr>
        <p:spPr>
          <a:xfrm>
            <a:off x="777240" y="2852928"/>
            <a:ext cx="2331720" cy="201168"/>
          </a:xfrm>
          <a:prstGeom prst="rect">
            <a:avLst/>
          </a:prstGeom>
          <a:noFill/>
          <a:ln/>
        </p:spPr>
        <p:txBody>
          <a:bodyPr wrap="square" lIns="0" tIns="0" rIns="0" bIns="0" rtlCol="0" anchor="ctr"/>
          <a:lstStyle/>
          <a:p>
            <a:pPr marL="0" indent="0">
              <a:buNone/>
            </a:pPr>
            <a:r>
              <a:rPr lang="en-US" sz="800" b="1" dirty="0">
                <a:solidFill>
                  <a:srgbClr val="141414"/>
                </a:solidFill>
                <a:latin typeface="Courier New" pitchFamily="34" charset="0"/>
                <a:ea typeface="Courier New" pitchFamily="34" charset="-122"/>
                <a:cs typeface="Courier New" pitchFamily="34" charset="-120"/>
              </a:rPr>
              <a:t>SessionEnd</a:t>
            </a:r>
            <a:endParaRPr lang="en-US" sz="800" dirty="0"/>
          </a:p>
        </p:txBody>
      </p:sp>
      <p:sp>
        <p:nvSpPr>
          <p:cNvPr id="17" name="Text 15">
            <a:extLst>
              <a:ext uri="{FF2B5EF4-FFF2-40B4-BE49-F238E27FC236}">
                <a16:creationId xmlns:a16="http://schemas.microsoft.com/office/drawing/2014/main" id="{ADB061D0-68F2-512A-E897-6903CAC09037}"/>
              </a:ext>
            </a:extLst>
          </p:cNvPr>
          <p:cNvSpPr/>
          <p:nvPr/>
        </p:nvSpPr>
        <p:spPr>
          <a:xfrm>
            <a:off x="3154680" y="2852928"/>
            <a:ext cx="2971800" cy="201168"/>
          </a:xfrm>
          <a:prstGeom prst="rect">
            <a:avLst/>
          </a:prstGeom>
          <a:noFill/>
          <a:ln/>
        </p:spPr>
        <p:txBody>
          <a:bodyPr wrap="square" lIns="0" tIns="0" rIns="0" bIns="0" rtlCol="0" anchor="ctr"/>
          <a:lstStyle/>
          <a:p>
            <a:pPr marL="0" indent="0">
              <a:buNone/>
            </a:pPr>
            <a:r>
              <a:rPr lang="en-US" sz="800" dirty="0">
                <a:solidFill>
                  <a:srgbClr val="2B2B2B"/>
                </a:solidFill>
                <a:latin typeface="Calibri" pitchFamily="34" charset="0"/>
                <a:ea typeface="Calibri" pitchFamily="34" charset="-122"/>
                <a:cs typeface="Calibri" pitchFamily="34" charset="-120"/>
              </a:rPr>
              <a:t>Session terminates</a:t>
            </a:r>
            <a:endParaRPr lang="en-US" sz="800" dirty="0"/>
          </a:p>
        </p:txBody>
      </p:sp>
      <p:sp>
        <p:nvSpPr>
          <p:cNvPr id="18" name="Shape 16">
            <a:extLst>
              <a:ext uri="{FF2B5EF4-FFF2-40B4-BE49-F238E27FC236}">
                <a16:creationId xmlns:a16="http://schemas.microsoft.com/office/drawing/2014/main" id="{4A7D48ED-8564-2E19-0384-191CFE9B481E}"/>
              </a:ext>
            </a:extLst>
          </p:cNvPr>
          <p:cNvSpPr/>
          <p:nvPr/>
        </p:nvSpPr>
        <p:spPr>
          <a:xfrm>
            <a:off x="731520" y="3090672"/>
            <a:ext cx="5394960" cy="201168"/>
          </a:xfrm>
          <a:prstGeom prst="rect">
            <a:avLst/>
          </a:prstGeom>
          <a:solidFill>
            <a:srgbClr val="6B5B95"/>
          </a:solidFill>
          <a:ln w="12700">
            <a:solidFill>
              <a:srgbClr val="6B5B95"/>
            </a:solidFill>
            <a:prstDash val="solid"/>
          </a:ln>
        </p:spPr>
        <p:txBody>
          <a:bodyPr/>
          <a:lstStyle/>
          <a:p>
            <a:endParaRPr lang="en-US"/>
          </a:p>
        </p:txBody>
      </p:sp>
      <p:sp>
        <p:nvSpPr>
          <p:cNvPr id="19" name="Text 17">
            <a:extLst>
              <a:ext uri="{FF2B5EF4-FFF2-40B4-BE49-F238E27FC236}">
                <a16:creationId xmlns:a16="http://schemas.microsoft.com/office/drawing/2014/main" id="{794C6EA7-FBBD-17CC-815E-593D38363473}"/>
              </a:ext>
            </a:extLst>
          </p:cNvPr>
          <p:cNvSpPr/>
          <p:nvPr/>
        </p:nvSpPr>
        <p:spPr>
          <a:xfrm>
            <a:off x="822960" y="3090672"/>
            <a:ext cx="5212080"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Tool use</a:t>
            </a:r>
            <a:endParaRPr lang="en-US" sz="900" dirty="0"/>
          </a:p>
        </p:txBody>
      </p:sp>
      <p:sp>
        <p:nvSpPr>
          <p:cNvPr id="20" name="Text 18">
            <a:extLst>
              <a:ext uri="{FF2B5EF4-FFF2-40B4-BE49-F238E27FC236}">
                <a16:creationId xmlns:a16="http://schemas.microsoft.com/office/drawing/2014/main" id="{A8314159-6C9F-A746-DFE8-DEFDF2A61046}"/>
              </a:ext>
            </a:extLst>
          </p:cNvPr>
          <p:cNvSpPr/>
          <p:nvPr/>
        </p:nvSpPr>
        <p:spPr>
          <a:xfrm>
            <a:off x="777240" y="3310128"/>
            <a:ext cx="2331720" cy="201168"/>
          </a:xfrm>
          <a:prstGeom prst="rect">
            <a:avLst/>
          </a:prstGeom>
          <a:noFill/>
          <a:ln/>
        </p:spPr>
        <p:txBody>
          <a:bodyPr wrap="square" lIns="0" tIns="0" rIns="0" bIns="0" rtlCol="0" anchor="ctr"/>
          <a:lstStyle/>
          <a:p>
            <a:pPr marL="0" indent="0">
              <a:buNone/>
            </a:pPr>
            <a:r>
              <a:rPr lang="en-US" sz="800" b="1" dirty="0">
                <a:solidFill>
                  <a:srgbClr val="141414"/>
                </a:solidFill>
                <a:latin typeface="Courier New" pitchFamily="34" charset="0"/>
                <a:ea typeface="Courier New" pitchFamily="34" charset="-122"/>
                <a:cs typeface="Courier New" pitchFamily="34" charset="-120"/>
              </a:rPr>
              <a:t>PreToolUse</a:t>
            </a:r>
            <a:endParaRPr lang="en-US" sz="800" dirty="0"/>
          </a:p>
        </p:txBody>
      </p:sp>
      <p:sp>
        <p:nvSpPr>
          <p:cNvPr id="21" name="Text 19">
            <a:extLst>
              <a:ext uri="{FF2B5EF4-FFF2-40B4-BE49-F238E27FC236}">
                <a16:creationId xmlns:a16="http://schemas.microsoft.com/office/drawing/2014/main" id="{652A9D88-3083-6DA0-C231-FB8AF14717DA}"/>
              </a:ext>
            </a:extLst>
          </p:cNvPr>
          <p:cNvSpPr/>
          <p:nvPr/>
        </p:nvSpPr>
        <p:spPr>
          <a:xfrm>
            <a:off x="3154680" y="3310128"/>
            <a:ext cx="2971800" cy="201168"/>
          </a:xfrm>
          <a:prstGeom prst="rect">
            <a:avLst/>
          </a:prstGeom>
          <a:noFill/>
          <a:ln/>
        </p:spPr>
        <p:txBody>
          <a:bodyPr wrap="square" lIns="0" tIns="0" rIns="0" bIns="0" rtlCol="0" anchor="ctr"/>
          <a:lstStyle/>
          <a:p>
            <a:pPr marL="0" indent="0">
              <a:buNone/>
            </a:pPr>
            <a:r>
              <a:rPr lang="en-US" sz="800" dirty="0">
                <a:solidFill>
                  <a:srgbClr val="2B2B2B"/>
                </a:solidFill>
                <a:latin typeface="Calibri" pitchFamily="34" charset="0"/>
                <a:ea typeface="Calibri" pitchFamily="34" charset="-122"/>
                <a:cs typeface="Calibri" pitchFamily="34" charset="-120"/>
              </a:rPr>
              <a:t>Before a tool call — can block it</a:t>
            </a:r>
            <a:endParaRPr lang="en-US" sz="800" dirty="0"/>
          </a:p>
        </p:txBody>
      </p:sp>
      <p:sp>
        <p:nvSpPr>
          <p:cNvPr id="22" name="Text 20">
            <a:extLst>
              <a:ext uri="{FF2B5EF4-FFF2-40B4-BE49-F238E27FC236}">
                <a16:creationId xmlns:a16="http://schemas.microsoft.com/office/drawing/2014/main" id="{F5621D9A-71E3-06EA-B7BE-F7C2FC2E60F7}"/>
              </a:ext>
            </a:extLst>
          </p:cNvPr>
          <p:cNvSpPr/>
          <p:nvPr/>
        </p:nvSpPr>
        <p:spPr>
          <a:xfrm>
            <a:off x="777240" y="3520440"/>
            <a:ext cx="2331720" cy="201168"/>
          </a:xfrm>
          <a:prstGeom prst="rect">
            <a:avLst/>
          </a:prstGeom>
          <a:noFill/>
          <a:ln/>
        </p:spPr>
        <p:txBody>
          <a:bodyPr wrap="square" lIns="0" tIns="0" rIns="0" bIns="0" rtlCol="0" anchor="ctr"/>
          <a:lstStyle/>
          <a:p>
            <a:pPr marL="0" indent="0">
              <a:buNone/>
            </a:pPr>
            <a:r>
              <a:rPr lang="en-US" sz="800" b="1" dirty="0">
                <a:solidFill>
                  <a:srgbClr val="141414"/>
                </a:solidFill>
                <a:latin typeface="Courier New" pitchFamily="34" charset="0"/>
                <a:ea typeface="Courier New" pitchFamily="34" charset="-122"/>
                <a:cs typeface="Courier New" pitchFamily="34" charset="-120"/>
              </a:rPr>
              <a:t>PostToolUse</a:t>
            </a:r>
            <a:endParaRPr lang="en-US" sz="800" dirty="0"/>
          </a:p>
        </p:txBody>
      </p:sp>
      <p:sp>
        <p:nvSpPr>
          <p:cNvPr id="23" name="Text 21">
            <a:extLst>
              <a:ext uri="{FF2B5EF4-FFF2-40B4-BE49-F238E27FC236}">
                <a16:creationId xmlns:a16="http://schemas.microsoft.com/office/drawing/2014/main" id="{6E83ED8B-EB10-62C1-AA05-2A9678ADD6C5}"/>
              </a:ext>
            </a:extLst>
          </p:cNvPr>
          <p:cNvSpPr/>
          <p:nvPr/>
        </p:nvSpPr>
        <p:spPr>
          <a:xfrm>
            <a:off x="3154680" y="3520440"/>
            <a:ext cx="2971800" cy="201168"/>
          </a:xfrm>
          <a:prstGeom prst="rect">
            <a:avLst/>
          </a:prstGeom>
          <a:noFill/>
          <a:ln/>
        </p:spPr>
        <p:txBody>
          <a:bodyPr wrap="square" lIns="0" tIns="0" rIns="0" bIns="0" rtlCol="0" anchor="ctr"/>
          <a:lstStyle/>
          <a:p>
            <a:pPr marL="0" indent="0">
              <a:buNone/>
            </a:pPr>
            <a:r>
              <a:rPr lang="en-US" sz="800" dirty="0">
                <a:solidFill>
                  <a:srgbClr val="2B2B2B"/>
                </a:solidFill>
                <a:latin typeface="Calibri" pitchFamily="34" charset="0"/>
                <a:ea typeface="Calibri" pitchFamily="34" charset="-122"/>
                <a:cs typeface="Calibri" pitchFamily="34" charset="-120"/>
              </a:rPr>
              <a:t>After a tool call succeeds</a:t>
            </a:r>
            <a:endParaRPr lang="en-US" sz="800" dirty="0"/>
          </a:p>
        </p:txBody>
      </p:sp>
      <p:sp>
        <p:nvSpPr>
          <p:cNvPr id="24" name="Text 22">
            <a:extLst>
              <a:ext uri="{FF2B5EF4-FFF2-40B4-BE49-F238E27FC236}">
                <a16:creationId xmlns:a16="http://schemas.microsoft.com/office/drawing/2014/main" id="{FE2B460E-9888-1433-A0F3-CEA667B54691}"/>
              </a:ext>
            </a:extLst>
          </p:cNvPr>
          <p:cNvSpPr/>
          <p:nvPr/>
        </p:nvSpPr>
        <p:spPr>
          <a:xfrm>
            <a:off x="777240" y="3730752"/>
            <a:ext cx="2331720" cy="201168"/>
          </a:xfrm>
          <a:prstGeom prst="rect">
            <a:avLst/>
          </a:prstGeom>
          <a:noFill/>
          <a:ln/>
        </p:spPr>
        <p:txBody>
          <a:bodyPr wrap="square" lIns="0" tIns="0" rIns="0" bIns="0" rtlCol="0" anchor="ctr"/>
          <a:lstStyle/>
          <a:p>
            <a:pPr marL="0" indent="0">
              <a:buNone/>
            </a:pPr>
            <a:r>
              <a:rPr lang="en-US" sz="800" b="1" dirty="0">
                <a:solidFill>
                  <a:srgbClr val="141414"/>
                </a:solidFill>
                <a:latin typeface="Courier New" pitchFamily="34" charset="0"/>
                <a:ea typeface="Courier New" pitchFamily="34" charset="-122"/>
                <a:cs typeface="Courier New" pitchFamily="34" charset="-120"/>
              </a:rPr>
              <a:t>PostToolUseFailure</a:t>
            </a:r>
            <a:endParaRPr lang="en-US" sz="800" dirty="0"/>
          </a:p>
        </p:txBody>
      </p:sp>
      <p:sp>
        <p:nvSpPr>
          <p:cNvPr id="25" name="Text 23">
            <a:extLst>
              <a:ext uri="{FF2B5EF4-FFF2-40B4-BE49-F238E27FC236}">
                <a16:creationId xmlns:a16="http://schemas.microsoft.com/office/drawing/2014/main" id="{E5A03B92-A208-8A70-B165-308C22F9927A}"/>
              </a:ext>
            </a:extLst>
          </p:cNvPr>
          <p:cNvSpPr/>
          <p:nvPr/>
        </p:nvSpPr>
        <p:spPr>
          <a:xfrm>
            <a:off x="3154680" y="3730752"/>
            <a:ext cx="2971800" cy="201168"/>
          </a:xfrm>
          <a:prstGeom prst="rect">
            <a:avLst/>
          </a:prstGeom>
          <a:noFill/>
          <a:ln/>
        </p:spPr>
        <p:txBody>
          <a:bodyPr wrap="square" lIns="0" tIns="0" rIns="0" bIns="0" rtlCol="0" anchor="ctr"/>
          <a:lstStyle/>
          <a:p>
            <a:pPr marL="0" indent="0">
              <a:buNone/>
            </a:pPr>
            <a:r>
              <a:rPr lang="en-US" sz="800" dirty="0">
                <a:solidFill>
                  <a:srgbClr val="2B2B2B"/>
                </a:solidFill>
                <a:latin typeface="Calibri" pitchFamily="34" charset="0"/>
                <a:ea typeface="Calibri" pitchFamily="34" charset="-122"/>
                <a:cs typeface="Calibri" pitchFamily="34" charset="-120"/>
              </a:rPr>
              <a:t>After a tool call fails</a:t>
            </a:r>
            <a:endParaRPr lang="en-US" sz="800" dirty="0"/>
          </a:p>
        </p:txBody>
      </p:sp>
      <p:sp>
        <p:nvSpPr>
          <p:cNvPr id="26" name="Text 24">
            <a:extLst>
              <a:ext uri="{FF2B5EF4-FFF2-40B4-BE49-F238E27FC236}">
                <a16:creationId xmlns:a16="http://schemas.microsoft.com/office/drawing/2014/main" id="{0D7D4836-7C96-DBFD-7E20-DE5DCB0F4DB0}"/>
              </a:ext>
            </a:extLst>
          </p:cNvPr>
          <p:cNvSpPr/>
          <p:nvPr/>
        </p:nvSpPr>
        <p:spPr>
          <a:xfrm>
            <a:off x="777240" y="3941064"/>
            <a:ext cx="2331720" cy="201168"/>
          </a:xfrm>
          <a:prstGeom prst="rect">
            <a:avLst/>
          </a:prstGeom>
          <a:noFill/>
          <a:ln/>
        </p:spPr>
        <p:txBody>
          <a:bodyPr wrap="square" lIns="0" tIns="0" rIns="0" bIns="0" rtlCol="0" anchor="ctr"/>
          <a:lstStyle/>
          <a:p>
            <a:pPr marL="0" indent="0">
              <a:buNone/>
            </a:pPr>
            <a:r>
              <a:rPr lang="en-US" sz="800" b="1" dirty="0">
                <a:solidFill>
                  <a:srgbClr val="141414"/>
                </a:solidFill>
                <a:latin typeface="Courier New" pitchFamily="34" charset="0"/>
                <a:ea typeface="Courier New" pitchFamily="34" charset="-122"/>
                <a:cs typeface="Courier New" pitchFamily="34" charset="-120"/>
              </a:rPr>
              <a:t>PostToolBatch</a:t>
            </a:r>
            <a:endParaRPr lang="en-US" sz="800" dirty="0"/>
          </a:p>
        </p:txBody>
      </p:sp>
      <p:sp>
        <p:nvSpPr>
          <p:cNvPr id="27" name="Text 25">
            <a:extLst>
              <a:ext uri="{FF2B5EF4-FFF2-40B4-BE49-F238E27FC236}">
                <a16:creationId xmlns:a16="http://schemas.microsoft.com/office/drawing/2014/main" id="{DA25119D-2715-8C51-CC50-DA5C118B0BDC}"/>
              </a:ext>
            </a:extLst>
          </p:cNvPr>
          <p:cNvSpPr/>
          <p:nvPr/>
        </p:nvSpPr>
        <p:spPr>
          <a:xfrm>
            <a:off x="3154680" y="3941064"/>
            <a:ext cx="2971800" cy="201168"/>
          </a:xfrm>
          <a:prstGeom prst="rect">
            <a:avLst/>
          </a:prstGeom>
          <a:noFill/>
          <a:ln/>
        </p:spPr>
        <p:txBody>
          <a:bodyPr wrap="square" lIns="0" tIns="0" rIns="0" bIns="0" rtlCol="0" anchor="ctr"/>
          <a:lstStyle/>
          <a:p>
            <a:pPr marL="0" indent="0">
              <a:buNone/>
            </a:pPr>
            <a:r>
              <a:rPr lang="en-US" sz="800" dirty="0">
                <a:solidFill>
                  <a:srgbClr val="2B2B2B"/>
                </a:solidFill>
                <a:latin typeface="Calibri" pitchFamily="34" charset="0"/>
                <a:ea typeface="Calibri" pitchFamily="34" charset="-122"/>
                <a:cs typeface="Calibri" pitchFamily="34" charset="-120"/>
              </a:rPr>
              <a:t>After all parallel tool calls resolve, before next model call</a:t>
            </a:r>
            <a:endParaRPr lang="en-US" sz="800" dirty="0"/>
          </a:p>
        </p:txBody>
      </p:sp>
      <p:sp>
        <p:nvSpPr>
          <p:cNvPr id="28" name="Text 26">
            <a:extLst>
              <a:ext uri="{FF2B5EF4-FFF2-40B4-BE49-F238E27FC236}">
                <a16:creationId xmlns:a16="http://schemas.microsoft.com/office/drawing/2014/main" id="{9F809C3E-9150-4F79-7F03-EC88A12B66C0}"/>
              </a:ext>
            </a:extLst>
          </p:cNvPr>
          <p:cNvSpPr/>
          <p:nvPr/>
        </p:nvSpPr>
        <p:spPr>
          <a:xfrm>
            <a:off x="777240" y="4151376"/>
            <a:ext cx="2331720" cy="201168"/>
          </a:xfrm>
          <a:prstGeom prst="rect">
            <a:avLst/>
          </a:prstGeom>
          <a:noFill/>
          <a:ln/>
        </p:spPr>
        <p:txBody>
          <a:bodyPr wrap="square" lIns="0" tIns="0" rIns="0" bIns="0" rtlCol="0" anchor="ctr"/>
          <a:lstStyle/>
          <a:p>
            <a:pPr marL="0" indent="0">
              <a:buNone/>
            </a:pPr>
            <a:r>
              <a:rPr lang="en-US" sz="800" b="1" dirty="0">
                <a:solidFill>
                  <a:srgbClr val="141414"/>
                </a:solidFill>
                <a:latin typeface="Courier New" pitchFamily="34" charset="0"/>
                <a:ea typeface="Courier New" pitchFamily="34" charset="-122"/>
                <a:cs typeface="Courier New" pitchFamily="34" charset="-120"/>
              </a:rPr>
              <a:t>PermissionRequest</a:t>
            </a:r>
            <a:endParaRPr lang="en-US" sz="800" dirty="0"/>
          </a:p>
        </p:txBody>
      </p:sp>
      <p:sp>
        <p:nvSpPr>
          <p:cNvPr id="29" name="Text 27">
            <a:extLst>
              <a:ext uri="{FF2B5EF4-FFF2-40B4-BE49-F238E27FC236}">
                <a16:creationId xmlns:a16="http://schemas.microsoft.com/office/drawing/2014/main" id="{BE7384FB-7045-F642-6EE2-ED20428DC6AB}"/>
              </a:ext>
            </a:extLst>
          </p:cNvPr>
          <p:cNvSpPr/>
          <p:nvPr/>
        </p:nvSpPr>
        <p:spPr>
          <a:xfrm>
            <a:off x="3154680" y="4151376"/>
            <a:ext cx="2971800" cy="201168"/>
          </a:xfrm>
          <a:prstGeom prst="rect">
            <a:avLst/>
          </a:prstGeom>
          <a:noFill/>
          <a:ln/>
        </p:spPr>
        <p:txBody>
          <a:bodyPr wrap="square" lIns="0" tIns="0" rIns="0" bIns="0" rtlCol="0" anchor="ctr"/>
          <a:lstStyle/>
          <a:p>
            <a:pPr marL="0" indent="0">
              <a:buNone/>
            </a:pPr>
            <a:r>
              <a:rPr lang="en-US" sz="800" dirty="0">
                <a:solidFill>
                  <a:srgbClr val="2B2B2B"/>
                </a:solidFill>
                <a:latin typeface="Calibri" pitchFamily="34" charset="0"/>
                <a:ea typeface="Calibri" pitchFamily="34" charset="-122"/>
                <a:cs typeface="Calibri" pitchFamily="34" charset="-120"/>
              </a:rPr>
              <a:t>Permission dialog is about to appear — can auto-approve</a:t>
            </a:r>
            <a:endParaRPr lang="en-US" sz="800" dirty="0"/>
          </a:p>
        </p:txBody>
      </p:sp>
      <p:sp>
        <p:nvSpPr>
          <p:cNvPr id="30" name="Text 28">
            <a:extLst>
              <a:ext uri="{FF2B5EF4-FFF2-40B4-BE49-F238E27FC236}">
                <a16:creationId xmlns:a16="http://schemas.microsoft.com/office/drawing/2014/main" id="{C03D1396-CD8C-21CC-7EFC-B7557001FCD9}"/>
              </a:ext>
            </a:extLst>
          </p:cNvPr>
          <p:cNvSpPr/>
          <p:nvPr/>
        </p:nvSpPr>
        <p:spPr>
          <a:xfrm>
            <a:off x="777240" y="4361688"/>
            <a:ext cx="2331720" cy="201168"/>
          </a:xfrm>
          <a:prstGeom prst="rect">
            <a:avLst/>
          </a:prstGeom>
          <a:noFill/>
          <a:ln/>
        </p:spPr>
        <p:txBody>
          <a:bodyPr wrap="square" lIns="0" tIns="0" rIns="0" bIns="0" rtlCol="0" anchor="ctr"/>
          <a:lstStyle/>
          <a:p>
            <a:pPr marL="0" indent="0">
              <a:buNone/>
            </a:pPr>
            <a:r>
              <a:rPr lang="en-US" sz="800" b="1" dirty="0">
                <a:solidFill>
                  <a:srgbClr val="141414"/>
                </a:solidFill>
                <a:latin typeface="Courier New" pitchFamily="34" charset="0"/>
                <a:ea typeface="Courier New" pitchFamily="34" charset="-122"/>
                <a:cs typeface="Courier New" pitchFamily="34" charset="-120"/>
              </a:rPr>
              <a:t>PermissionDenied</a:t>
            </a:r>
            <a:endParaRPr lang="en-US" sz="800" dirty="0"/>
          </a:p>
        </p:txBody>
      </p:sp>
      <p:sp>
        <p:nvSpPr>
          <p:cNvPr id="31" name="Text 29">
            <a:extLst>
              <a:ext uri="{FF2B5EF4-FFF2-40B4-BE49-F238E27FC236}">
                <a16:creationId xmlns:a16="http://schemas.microsoft.com/office/drawing/2014/main" id="{75AA0EF0-7B17-B720-9D25-3D03A080B861}"/>
              </a:ext>
            </a:extLst>
          </p:cNvPr>
          <p:cNvSpPr/>
          <p:nvPr/>
        </p:nvSpPr>
        <p:spPr>
          <a:xfrm>
            <a:off x="3154680" y="4361688"/>
            <a:ext cx="2971800" cy="201168"/>
          </a:xfrm>
          <a:prstGeom prst="rect">
            <a:avLst/>
          </a:prstGeom>
          <a:noFill/>
          <a:ln/>
        </p:spPr>
        <p:txBody>
          <a:bodyPr wrap="square" lIns="0" tIns="0" rIns="0" bIns="0" rtlCol="0" anchor="ctr"/>
          <a:lstStyle/>
          <a:p>
            <a:pPr marL="0" indent="0">
              <a:buNone/>
            </a:pPr>
            <a:r>
              <a:rPr lang="en-US" sz="800" dirty="0">
                <a:solidFill>
                  <a:srgbClr val="2B2B2B"/>
                </a:solidFill>
                <a:latin typeface="Calibri" pitchFamily="34" charset="0"/>
                <a:ea typeface="Calibri" pitchFamily="34" charset="-122"/>
                <a:cs typeface="Calibri" pitchFamily="34" charset="-120"/>
              </a:rPr>
              <a:t>Tool denied by auto-mode classifier</a:t>
            </a:r>
            <a:endParaRPr lang="en-US" sz="800" dirty="0"/>
          </a:p>
        </p:txBody>
      </p:sp>
      <p:sp>
        <p:nvSpPr>
          <p:cNvPr id="32" name="Shape 30">
            <a:extLst>
              <a:ext uri="{FF2B5EF4-FFF2-40B4-BE49-F238E27FC236}">
                <a16:creationId xmlns:a16="http://schemas.microsoft.com/office/drawing/2014/main" id="{793F6569-9BB2-EB2B-3414-8E8F42B35BFE}"/>
              </a:ext>
            </a:extLst>
          </p:cNvPr>
          <p:cNvSpPr/>
          <p:nvPr/>
        </p:nvSpPr>
        <p:spPr>
          <a:xfrm>
            <a:off x="731520" y="4599432"/>
            <a:ext cx="5394960" cy="201168"/>
          </a:xfrm>
          <a:prstGeom prst="rect">
            <a:avLst/>
          </a:prstGeom>
          <a:solidFill>
            <a:srgbClr val="8A6D3B"/>
          </a:solidFill>
          <a:ln w="12700">
            <a:solidFill>
              <a:srgbClr val="8A6D3B"/>
            </a:solidFill>
            <a:prstDash val="solid"/>
          </a:ln>
        </p:spPr>
        <p:txBody>
          <a:bodyPr/>
          <a:lstStyle/>
          <a:p>
            <a:endParaRPr lang="en-US"/>
          </a:p>
        </p:txBody>
      </p:sp>
      <p:sp>
        <p:nvSpPr>
          <p:cNvPr id="33" name="Text 31">
            <a:extLst>
              <a:ext uri="{FF2B5EF4-FFF2-40B4-BE49-F238E27FC236}">
                <a16:creationId xmlns:a16="http://schemas.microsoft.com/office/drawing/2014/main" id="{080B8737-1F8B-9A02-7D4E-85D86B9A2D17}"/>
              </a:ext>
            </a:extLst>
          </p:cNvPr>
          <p:cNvSpPr/>
          <p:nvPr/>
        </p:nvSpPr>
        <p:spPr>
          <a:xfrm>
            <a:off x="822960" y="4599432"/>
            <a:ext cx="5212080"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Environment</a:t>
            </a:r>
            <a:endParaRPr lang="en-US" sz="900" dirty="0"/>
          </a:p>
        </p:txBody>
      </p:sp>
      <p:sp>
        <p:nvSpPr>
          <p:cNvPr id="34" name="Text 32">
            <a:extLst>
              <a:ext uri="{FF2B5EF4-FFF2-40B4-BE49-F238E27FC236}">
                <a16:creationId xmlns:a16="http://schemas.microsoft.com/office/drawing/2014/main" id="{5599C7E4-8282-D5C8-108B-40086FC54132}"/>
              </a:ext>
            </a:extLst>
          </p:cNvPr>
          <p:cNvSpPr/>
          <p:nvPr/>
        </p:nvSpPr>
        <p:spPr>
          <a:xfrm>
            <a:off x="777240" y="4818888"/>
            <a:ext cx="2331720" cy="201168"/>
          </a:xfrm>
          <a:prstGeom prst="rect">
            <a:avLst/>
          </a:prstGeom>
          <a:noFill/>
          <a:ln/>
        </p:spPr>
        <p:txBody>
          <a:bodyPr wrap="square" lIns="0" tIns="0" rIns="0" bIns="0" rtlCol="0" anchor="ctr"/>
          <a:lstStyle/>
          <a:p>
            <a:pPr marL="0" indent="0">
              <a:buNone/>
            </a:pPr>
            <a:r>
              <a:rPr lang="en-US" sz="800" b="1" dirty="0">
                <a:solidFill>
                  <a:srgbClr val="141414"/>
                </a:solidFill>
                <a:latin typeface="Courier New" pitchFamily="34" charset="0"/>
                <a:ea typeface="Courier New" pitchFamily="34" charset="-122"/>
                <a:cs typeface="Courier New" pitchFamily="34" charset="-120"/>
              </a:rPr>
              <a:t>CwdChanged</a:t>
            </a:r>
            <a:endParaRPr lang="en-US" sz="800" dirty="0"/>
          </a:p>
        </p:txBody>
      </p:sp>
      <p:sp>
        <p:nvSpPr>
          <p:cNvPr id="35" name="Text 33">
            <a:extLst>
              <a:ext uri="{FF2B5EF4-FFF2-40B4-BE49-F238E27FC236}">
                <a16:creationId xmlns:a16="http://schemas.microsoft.com/office/drawing/2014/main" id="{33A812F8-AEA7-5DE5-C3EE-37995E6AB7EA}"/>
              </a:ext>
            </a:extLst>
          </p:cNvPr>
          <p:cNvSpPr/>
          <p:nvPr/>
        </p:nvSpPr>
        <p:spPr>
          <a:xfrm>
            <a:off x="3154680" y="4818888"/>
            <a:ext cx="2971800" cy="201168"/>
          </a:xfrm>
          <a:prstGeom prst="rect">
            <a:avLst/>
          </a:prstGeom>
          <a:noFill/>
          <a:ln/>
        </p:spPr>
        <p:txBody>
          <a:bodyPr wrap="square" lIns="0" tIns="0" rIns="0" bIns="0" rtlCol="0" anchor="ctr"/>
          <a:lstStyle/>
          <a:p>
            <a:pPr marL="0" indent="0">
              <a:buNone/>
            </a:pPr>
            <a:r>
              <a:rPr lang="en-US" sz="800" dirty="0">
                <a:solidFill>
                  <a:srgbClr val="2B2B2B"/>
                </a:solidFill>
                <a:latin typeface="Calibri" pitchFamily="34" charset="0"/>
                <a:ea typeface="Calibri" pitchFamily="34" charset="-122"/>
                <a:cs typeface="Calibri" pitchFamily="34" charset="-120"/>
              </a:rPr>
              <a:t>Working directory changed (e.g. after cd)</a:t>
            </a:r>
            <a:endParaRPr lang="en-US" sz="800" dirty="0"/>
          </a:p>
        </p:txBody>
      </p:sp>
      <p:sp>
        <p:nvSpPr>
          <p:cNvPr id="36" name="Text 34">
            <a:extLst>
              <a:ext uri="{FF2B5EF4-FFF2-40B4-BE49-F238E27FC236}">
                <a16:creationId xmlns:a16="http://schemas.microsoft.com/office/drawing/2014/main" id="{6F83B01F-D11C-B870-9FF3-3EBBB5A6018A}"/>
              </a:ext>
            </a:extLst>
          </p:cNvPr>
          <p:cNvSpPr/>
          <p:nvPr/>
        </p:nvSpPr>
        <p:spPr>
          <a:xfrm>
            <a:off x="777240" y="5029200"/>
            <a:ext cx="2331720" cy="201168"/>
          </a:xfrm>
          <a:prstGeom prst="rect">
            <a:avLst/>
          </a:prstGeom>
          <a:noFill/>
          <a:ln/>
        </p:spPr>
        <p:txBody>
          <a:bodyPr wrap="square" lIns="0" tIns="0" rIns="0" bIns="0" rtlCol="0" anchor="ctr"/>
          <a:lstStyle/>
          <a:p>
            <a:pPr marL="0" indent="0">
              <a:buNone/>
            </a:pPr>
            <a:r>
              <a:rPr lang="en-US" sz="800" b="1" dirty="0">
                <a:solidFill>
                  <a:srgbClr val="141414"/>
                </a:solidFill>
                <a:latin typeface="Courier New" pitchFamily="34" charset="0"/>
                <a:ea typeface="Courier New" pitchFamily="34" charset="-122"/>
                <a:cs typeface="Courier New" pitchFamily="34" charset="-120"/>
              </a:rPr>
              <a:t>FileChanged</a:t>
            </a:r>
            <a:endParaRPr lang="en-US" sz="800" dirty="0"/>
          </a:p>
        </p:txBody>
      </p:sp>
      <p:sp>
        <p:nvSpPr>
          <p:cNvPr id="37" name="Text 35">
            <a:extLst>
              <a:ext uri="{FF2B5EF4-FFF2-40B4-BE49-F238E27FC236}">
                <a16:creationId xmlns:a16="http://schemas.microsoft.com/office/drawing/2014/main" id="{80E945BF-C9DC-17F1-ECEE-82BB450C88A7}"/>
              </a:ext>
            </a:extLst>
          </p:cNvPr>
          <p:cNvSpPr/>
          <p:nvPr/>
        </p:nvSpPr>
        <p:spPr>
          <a:xfrm>
            <a:off x="3154680" y="5029200"/>
            <a:ext cx="2971800" cy="201168"/>
          </a:xfrm>
          <a:prstGeom prst="rect">
            <a:avLst/>
          </a:prstGeom>
          <a:noFill/>
          <a:ln/>
        </p:spPr>
        <p:txBody>
          <a:bodyPr wrap="square" lIns="0" tIns="0" rIns="0" bIns="0" rtlCol="0" anchor="ctr"/>
          <a:lstStyle/>
          <a:p>
            <a:pPr marL="0" indent="0">
              <a:buNone/>
            </a:pPr>
            <a:r>
              <a:rPr lang="en-US" sz="800" dirty="0">
                <a:solidFill>
                  <a:srgbClr val="2B2B2B"/>
                </a:solidFill>
                <a:latin typeface="Calibri" pitchFamily="34" charset="0"/>
                <a:ea typeface="Calibri" pitchFamily="34" charset="-122"/>
                <a:cs typeface="Calibri" pitchFamily="34" charset="-120"/>
              </a:rPr>
              <a:t>A watched file changed on disk</a:t>
            </a:r>
            <a:endParaRPr lang="en-US" sz="800" dirty="0"/>
          </a:p>
        </p:txBody>
      </p:sp>
      <p:sp>
        <p:nvSpPr>
          <p:cNvPr id="38" name="Text 36">
            <a:extLst>
              <a:ext uri="{FF2B5EF4-FFF2-40B4-BE49-F238E27FC236}">
                <a16:creationId xmlns:a16="http://schemas.microsoft.com/office/drawing/2014/main" id="{9B14E40E-7EB9-3159-AEF0-CAAF700BD897}"/>
              </a:ext>
            </a:extLst>
          </p:cNvPr>
          <p:cNvSpPr/>
          <p:nvPr/>
        </p:nvSpPr>
        <p:spPr>
          <a:xfrm>
            <a:off x="777240" y="5239512"/>
            <a:ext cx="2331720" cy="201168"/>
          </a:xfrm>
          <a:prstGeom prst="rect">
            <a:avLst/>
          </a:prstGeom>
          <a:noFill/>
          <a:ln/>
        </p:spPr>
        <p:txBody>
          <a:bodyPr wrap="square" lIns="0" tIns="0" rIns="0" bIns="0" rtlCol="0" anchor="ctr"/>
          <a:lstStyle/>
          <a:p>
            <a:pPr marL="0" indent="0">
              <a:buNone/>
            </a:pPr>
            <a:r>
              <a:rPr lang="en-US" sz="800" b="1" dirty="0">
                <a:solidFill>
                  <a:srgbClr val="141414"/>
                </a:solidFill>
                <a:latin typeface="Courier New" pitchFamily="34" charset="0"/>
                <a:ea typeface="Courier New" pitchFamily="34" charset="-122"/>
                <a:cs typeface="Courier New" pitchFamily="34" charset="-120"/>
              </a:rPr>
              <a:t>ConfigChange</a:t>
            </a:r>
            <a:endParaRPr lang="en-US" sz="800" dirty="0"/>
          </a:p>
        </p:txBody>
      </p:sp>
      <p:sp>
        <p:nvSpPr>
          <p:cNvPr id="39" name="Text 37">
            <a:extLst>
              <a:ext uri="{FF2B5EF4-FFF2-40B4-BE49-F238E27FC236}">
                <a16:creationId xmlns:a16="http://schemas.microsoft.com/office/drawing/2014/main" id="{E7A0A98F-C621-8FB8-EDE0-2759B99F7EC2}"/>
              </a:ext>
            </a:extLst>
          </p:cNvPr>
          <p:cNvSpPr/>
          <p:nvPr/>
        </p:nvSpPr>
        <p:spPr>
          <a:xfrm>
            <a:off x="3154680" y="5239512"/>
            <a:ext cx="2971800" cy="201168"/>
          </a:xfrm>
          <a:prstGeom prst="rect">
            <a:avLst/>
          </a:prstGeom>
          <a:noFill/>
          <a:ln/>
        </p:spPr>
        <p:txBody>
          <a:bodyPr wrap="square" lIns="0" tIns="0" rIns="0" bIns="0" rtlCol="0" anchor="ctr"/>
          <a:lstStyle/>
          <a:p>
            <a:pPr marL="0" indent="0">
              <a:buNone/>
            </a:pPr>
            <a:r>
              <a:rPr lang="en-US" sz="800" dirty="0">
                <a:solidFill>
                  <a:srgbClr val="2B2B2B"/>
                </a:solidFill>
                <a:latin typeface="Calibri" pitchFamily="34" charset="0"/>
                <a:ea typeface="Calibri" pitchFamily="34" charset="-122"/>
                <a:cs typeface="Calibri" pitchFamily="34" charset="-120"/>
              </a:rPr>
              <a:t>A settings or skills file was modified</a:t>
            </a:r>
            <a:endParaRPr lang="en-US" sz="800" dirty="0"/>
          </a:p>
        </p:txBody>
      </p:sp>
      <p:sp>
        <p:nvSpPr>
          <p:cNvPr id="40" name="Text 38">
            <a:extLst>
              <a:ext uri="{FF2B5EF4-FFF2-40B4-BE49-F238E27FC236}">
                <a16:creationId xmlns:a16="http://schemas.microsoft.com/office/drawing/2014/main" id="{7F2DE361-B5C8-D9DE-11AF-55C0AFE78756}"/>
              </a:ext>
            </a:extLst>
          </p:cNvPr>
          <p:cNvSpPr/>
          <p:nvPr/>
        </p:nvSpPr>
        <p:spPr>
          <a:xfrm>
            <a:off x="777240" y="5449824"/>
            <a:ext cx="2331720" cy="201168"/>
          </a:xfrm>
          <a:prstGeom prst="rect">
            <a:avLst/>
          </a:prstGeom>
          <a:noFill/>
          <a:ln/>
        </p:spPr>
        <p:txBody>
          <a:bodyPr wrap="square" lIns="0" tIns="0" rIns="0" bIns="0" rtlCol="0" anchor="ctr"/>
          <a:lstStyle/>
          <a:p>
            <a:pPr marL="0" indent="0">
              <a:buNone/>
            </a:pPr>
            <a:r>
              <a:rPr lang="en-US" sz="800" b="1" dirty="0">
                <a:solidFill>
                  <a:srgbClr val="141414"/>
                </a:solidFill>
                <a:latin typeface="Courier New" pitchFamily="34" charset="0"/>
                <a:ea typeface="Courier New" pitchFamily="34" charset="-122"/>
                <a:cs typeface="Courier New" pitchFamily="34" charset="-120"/>
              </a:rPr>
              <a:t>InstructionsLoaded</a:t>
            </a:r>
            <a:endParaRPr lang="en-US" sz="800" dirty="0"/>
          </a:p>
        </p:txBody>
      </p:sp>
      <p:sp>
        <p:nvSpPr>
          <p:cNvPr id="41" name="Text 39">
            <a:extLst>
              <a:ext uri="{FF2B5EF4-FFF2-40B4-BE49-F238E27FC236}">
                <a16:creationId xmlns:a16="http://schemas.microsoft.com/office/drawing/2014/main" id="{A2D479BB-50D4-6355-DAA9-01471AA658B6}"/>
              </a:ext>
            </a:extLst>
          </p:cNvPr>
          <p:cNvSpPr/>
          <p:nvPr/>
        </p:nvSpPr>
        <p:spPr>
          <a:xfrm>
            <a:off x="3154680" y="5449824"/>
            <a:ext cx="2971800" cy="201168"/>
          </a:xfrm>
          <a:prstGeom prst="rect">
            <a:avLst/>
          </a:prstGeom>
          <a:noFill/>
          <a:ln/>
        </p:spPr>
        <p:txBody>
          <a:bodyPr wrap="square" lIns="0" tIns="0" rIns="0" bIns="0" rtlCol="0" anchor="ctr"/>
          <a:lstStyle/>
          <a:p>
            <a:pPr marL="0" indent="0">
              <a:buNone/>
            </a:pPr>
            <a:r>
              <a:rPr lang="en-US" sz="800" dirty="0">
                <a:solidFill>
                  <a:srgbClr val="2B2B2B"/>
                </a:solidFill>
                <a:latin typeface="Calibri" pitchFamily="34" charset="0"/>
                <a:ea typeface="Calibri" pitchFamily="34" charset="-122"/>
                <a:cs typeface="Calibri" pitchFamily="34" charset="-120"/>
              </a:rPr>
              <a:t>CLAUDE.md or rules file loaded into context</a:t>
            </a:r>
            <a:endParaRPr lang="en-US" sz="800" dirty="0"/>
          </a:p>
        </p:txBody>
      </p:sp>
      <p:sp>
        <p:nvSpPr>
          <p:cNvPr id="42" name="Shape 40">
            <a:extLst>
              <a:ext uri="{FF2B5EF4-FFF2-40B4-BE49-F238E27FC236}">
                <a16:creationId xmlns:a16="http://schemas.microsoft.com/office/drawing/2014/main" id="{968146C2-B939-1EC3-49DA-E733C9FE8878}"/>
              </a:ext>
            </a:extLst>
          </p:cNvPr>
          <p:cNvSpPr/>
          <p:nvPr/>
        </p:nvSpPr>
        <p:spPr>
          <a:xfrm>
            <a:off x="731520" y="5687568"/>
            <a:ext cx="5394960" cy="201168"/>
          </a:xfrm>
          <a:prstGeom prst="rect">
            <a:avLst/>
          </a:prstGeom>
          <a:solidFill>
            <a:srgbClr val="B04A3B"/>
          </a:solidFill>
          <a:ln w="12700">
            <a:solidFill>
              <a:srgbClr val="B04A3B"/>
            </a:solidFill>
            <a:prstDash val="solid"/>
          </a:ln>
        </p:spPr>
        <p:txBody>
          <a:bodyPr/>
          <a:lstStyle/>
          <a:p>
            <a:endParaRPr lang="en-US"/>
          </a:p>
        </p:txBody>
      </p:sp>
      <p:sp>
        <p:nvSpPr>
          <p:cNvPr id="43" name="Text 41">
            <a:extLst>
              <a:ext uri="{FF2B5EF4-FFF2-40B4-BE49-F238E27FC236}">
                <a16:creationId xmlns:a16="http://schemas.microsoft.com/office/drawing/2014/main" id="{3F01CAD7-A187-FE9E-B0CF-7F0E2A8185F3}"/>
              </a:ext>
            </a:extLst>
          </p:cNvPr>
          <p:cNvSpPr/>
          <p:nvPr/>
        </p:nvSpPr>
        <p:spPr>
          <a:xfrm>
            <a:off x="822960" y="5687568"/>
            <a:ext cx="5212080"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Agent / team</a:t>
            </a:r>
            <a:endParaRPr lang="en-US" sz="900" dirty="0"/>
          </a:p>
        </p:txBody>
      </p:sp>
      <p:sp>
        <p:nvSpPr>
          <p:cNvPr id="44" name="Text 42">
            <a:extLst>
              <a:ext uri="{FF2B5EF4-FFF2-40B4-BE49-F238E27FC236}">
                <a16:creationId xmlns:a16="http://schemas.microsoft.com/office/drawing/2014/main" id="{9731BAD9-21C7-9B3D-0E2A-AA9DC8B2EFC9}"/>
              </a:ext>
            </a:extLst>
          </p:cNvPr>
          <p:cNvSpPr/>
          <p:nvPr/>
        </p:nvSpPr>
        <p:spPr>
          <a:xfrm>
            <a:off x="777240" y="5907024"/>
            <a:ext cx="2331720" cy="201168"/>
          </a:xfrm>
          <a:prstGeom prst="rect">
            <a:avLst/>
          </a:prstGeom>
          <a:noFill/>
          <a:ln/>
        </p:spPr>
        <p:txBody>
          <a:bodyPr wrap="square" lIns="0" tIns="0" rIns="0" bIns="0" rtlCol="0" anchor="ctr"/>
          <a:lstStyle/>
          <a:p>
            <a:pPr marL="0" indent="0">
              <a:buNone/>
            </a:pPr>
            <a:r>
              <a:rPr lang="en-US" sz="800" b="1" dirty="0">
                <a:solidFill>
                  <a:srgbClr val="141414"/>
                </a:solidFill>
                <a:latin typeface="Courier New" pitchFamily="34" charset="0"/>
                <a:ea typeface="Courier New" pitchFamily="34" charset="-122"/>
                <a:cs typeface="Courier New" pitchFamily="34" charset="-120"/>
              </a:rPr>
              <a:t>SubagentStart / SubagentStop</a:t>
            </a:r>
            <a:endParaRPr lang="en-US" sz="800" dirty="0"/>
          </a:p>
        </p:txBody>
      </p:sp>
      <p:sp>
        <p:nvSpPr>
          <p:cNvPr id="45" name="Text 43">
            <a:extLst>
              <a:ext uri="{FF2B5EF4-FFF2-40B4-BE49-F238E27FC236}">
                <a16:creationId xmlns:a16="http://schemas.microsoft.com/office/drawing/2014/main" id="{74FAF590-E6B4-1B2D-34D3-8AE1696DAFB6}"/>
              </a:ext>
            </a:extLst>
          </p:cNvPr>
          <p:cNvSpPr/>
          <p:nvPr/>
        </p:nvSpPr>
        <p:spPr>
          <a:xfrm>
            <a:off x="3154680" y="5907024"/>
            <a:ext cx="2971800" cy="201168"/>
          </a:xfrm>
          <a:prstGeom prst="rect">
            <a:avLst/>
          </a:prstGeom>
          <a:noFill/>
          <a:ln/>
        </p:spPr>
        <p:txBody>
          <a:bodyPr wrap="square" lIns="0" tIns="0" rIns="0" bIns="0" rtlCol="0" anchor="ctr"/>
          <a:lstStyle/>
          <a:p>
            <a:pPr marL="0" indent="0">
              <a:buNone/>
            </a:pPr>
            <a:r>
              <a:rPr lang="en-US" sz="800" dirty="0">
                <a:solidFill>
                  <a:srgbClr val="2B2B2B"/>
                </a:solidFill>
                <a:latin typeface="Calibri" pitchFamily="34" charset="0"/>
                <a:ea typeface="Calibri" pitchFamily="34" charset="-122"/>
                <a:cs typeface="Calibri" pitchFamily="34" charset="-120"/>
              </a:rPr>
              <a:t>Subagent spawned / finished</a:t>
            </a:r>
            <a:endParaRPr lang="en-US" sz="800" dirty="0"/>
          </a:p>
        </p:txBody>
      </p:sp>
      <p:sp>
        <p:nvSpPr>
          <p:cNvPr id="46" name="Text 44">
            <a:extLst>
              <a:ext uri="{FF2B5EF4-FFF2-40B4-BE49-F238E27FC236}">
                <a16:creationId xmlns:a16="http://schemas.microsoft.com/office/drawing/2014/main" id="{72B22691-CDB2-F938-E3A2-2BBF4DAD3E52}"/>
              </a:ext>
            </a:extLst>
          </p:cNvPr>
          <p:cNvSpPr/>
          <p:nvPr/>
        </p:nvSpPr>
        <p:spPr>
          <a:xfrm>
            <a:off x="777240" y="6117336"/>
            <a:ext cx="2331720" cy="201168"/>
          </a:xfrm>
          <a:prstGeom prst="rect">
            <a:avLst/>
          </a:prstGeom>
          <a:noFill/>
          <a:ln/>
        </p:spPr>
        <p:txBody>
          <a:bodyPr wrap="square" lIns="0" tIns="0" rIns="0" bIns="0" rtlCol="0" anchor="ctr"/>
          <a:lstStyle/>
          <a:p>
            <a:pPr marL="0" indent="0">
              <a:buNone/>
            </a:pPr>
            <a:r>
              <a:rPr lang="en-US" sz="800" b="1" dirty="0">
                <a:solidFill>
                  <a:srgbClr val="141414"/>
                </a:solidFill>
                <a:latin typeface="Courier New" pitchFamily="34" charset="0"/>
                <a:ea typeface="Courier New" pitchFamily="34" charset="-122"/>
                <a:cs typeface="Courier New" pitchFamily="34" charset="-120"/>
              </a:rPr>
              <a:t>TaskCreated / TaskCompleted</a:t>
            </a:r>
            <a:endParaRPr lang="en-US" sz="800" dirty="0"/>
          </a:p>
        </p:txBody>
      </p:sp>
      <p:sp>
        <p:nvSpPr>
          <p:cNvPr id="47" name="Text 45">
            <a:extLst>
              <a:ext uri="{FF2B5EF4-FFF2-40B4-BE49-F238E27FC236}">
                <a16:creationId xmlns:a16="http://schemas.microsoft.com/office/drawing/2014/main" id="{5D337A68-35A4-2075-5390-7679051781CA}"/>
              </a:ext>
            </a:extLst>
          </p:cNvPr>
          <p:cNvSpPr/>
          <p:nvPr/>
        </p:nvSpPr>
        <p:spPr>
          <a:xfrm>
            <a:off x="3154680" y="6117336"/>
            <a:ext cx="2971800" cy="201168"/>
          </a:xfrm>
          <a:prstGeom prst="rect">
            <a:avLst/>
          </a:prstGeom>
          <a:noFill/>
          <a:ln/>
        </p:spPr>
        <p:txBody>
          <a:bodyPr wrap="square" lIns="0" tIns="0" rIns="0" bIns="0" rtlCol="0" anchor="ctr"/>
          <a:lstStyle/>
          <a:p>
            <a:pPr marL="0" indent="0">
              <a:buNone/>
            </a:pPr>
            <a:r>
              <a:rPr lang="en-US" sz="800" dirty="0">
                <a:solidFill>
                  <a:srgbClr val="2B2B2B"/>
                </a:solidFill>
                <a:latin typeface="Calibri" pitchFamily="34" charset="0"/>
                <a:ea typeface="Calibri" pitchFamily="34" charset="-122"/>
                <a:cs typeface="Calibri" pitchFamily="34" charset="-120"/>
              </a:rPr>
              <a:t>Agent team task created or marked complete</a:t>
            </a:r>
            <a:endParaRPr lang="en-US" sz="800" dirty="0"/>
          </a:p>
        </p:txBody>
      </p:sp>
      <p:sp>
        <p:nvSpPr>
          <p:cNvPr id="48" name="Text 46">
            <a:extLst>
              <a:ext uri="{FF2B5EF4-FFF2-40B4-BE49-F238E27FC236}">
                <a16:creationId xmlns:a16="http://schemas.microsoft.com/office/drawing/2014/main" id="{0DFE6D41-C992-1629-3775-13731A054212}"/>
              </a:ext>
            </a:extLst>
          </p:cNvPr>
          <p:cNvSpPr/>
          <p:nvPr/>
        </p:nvSpPr>
        <p:spPr>
          <a:xfrm>
            <a:off x="777240" y="6327648"/>
            <a:ext cx="2331720" cy="201168"/>
          </a:xfrm>
          <a:prstGeom prst="rect">
            <a:avLst/>
          </a:prstGeom>
          <a:noFill/>
          <a:ln/>
        </p:spPr>
        <p:txBody>
          <a:bodyPr wrap="square" lIns="0" tIns="0" rIns="0" bIns="0" rtlCol="0" anchor="ctr"/>
          <a:lstStyle/>
          <a:p>
            <a:pPr marL="0" indent="0">
              <a:buNone/>
            </a:pPr>
            <a:r>
              <a:rPr lang="en-US" sz="800" b="1" dirty="0">
                <a:solidFill>
                  <a:srgbClr val="141414"/>
                </a:solidFill>
                <a:latin typeface="Courier New" pitchFamily="34" charset="0"/>
                <a:ea typeface="Courier New" pitchFamily="34" charset="-122"/>
                <a:cs typeface="Courier New" pitchFamily="34" charset="-120"/>
              </a:rPr>
              <a:t>TeammateIdle</a:t>
            </a:r>
            <a:endParaRPr lang="en-US" sz="800" dirty="0"/>
          </a:p>
        </p:txBody>
      </p:sp>
      <p:sp>
        <p:nvSpPr>
          <p:cNvPr id="49" name="Text 47">
            <a:extLst>
              <a:ext uri="{FF2B5EF4-FFF2-40B4-BE49-F238E27FC236}">
                <a16:creationId xmlns:a16="http://schemas.microsoft.com/office/drawing/2014/main" id="{69546A20-08A4-11C7-3C45-761C6B44205C}"/>
              </a:ext>
            </a:extLst>
          </p:cNvPr>
          <p:cNvSpPr/>
          <p:nvPr/>
        </p:nvSpPr>
        <p:spPr>
          <a:xfrm>
            <a:off x="3154680" y="6327648"/>
            <a:ext cx="2971800" cy="201168"/>
          </a:xfrm>
          <a:prstGeom prst="rect">
            <a:avLst/>
          </a:prstGeom>
          <a:noFill/>
          <a:ln/>
        </p:spPr>
        <p:txBody>
          <a:bodyPr wrap="square" lIns="0" tIns="0" rIns="0" bIns="0" rtlCol="0" anchor="ctr"/>
          <a:lstStyle/>
          <a:p>
            <a:pPr marL="0" indent="0">
              <a:buNone/>
            </a:pPr>
            <a:r>
              <a:rPr lang="en-US" sz="800" dirty="0">
                <a:solidFill>
                  <a:srgbClr val="2B2B2B"/>
                </a:solidFill>
                <a:latin typeface="Calibri" pitchFamily="34" charset="0"/>
                <a:ea typeface="Calibri" pitchFamily="34" charset="-122"/>
                <a:cs typeface="Calibri" pitchFamily="34" charset="-120"/>
              </a:rPr>
              <a:t>Agent team teammate about to go idle</a:t>
            </a:r>
            <a:endParaRPr lang="en-US" sz="800" dirty="0"/>
          </a:p>
        </p:txBody>
      </p:sp>
      <p:sp>
        <p:nvSpPr>
          <p:cNvPr id="50" name="Text 48">
            <a:extLst>
              <a:ext uri="{FF2B5EF4-FFF2-40B4-BE49-F238E27FC236}">
                <a16:creationId xmlns:a16="http://schemas.microsoft.com/office/drawing/2014/main" id="{0027556A-3D35-08AD-E6F0-FB2D4C84C37C}"/>
              </a:ext>
            </a:extLst>
          </p:cNvPr>
          <p:cNvSpPr/>
          <p:nvPr/>
        </p:nvSpPr>
        <p:spPr>
          <a:xfrm>
            <a:off x="777240" y="6537960"/>
            <a:ext cx="2331720" cy="201168"/>
          </a:xfrm>
          <a:prstGeom prst="rect">
            <a:avLst/>
          </a:prstGeom>
          <a:noFill/>
          <a:ln/>
        </p:spPr>
        <p:txBody>
          <a:bodyPr wrap="square" lIns="0" tIns="0" rIns="0" bIns="0" rtlCol="0" anchor="ctr"/>
          <a:lstStyle/>
          <a:p>
            <a:pPr marL="0" indent="0">
              <a:buNone/>
            </a:pPr>
            <a:r>
              <a:rPr lang="en-US" sz="800" b="1" dirty="0">
                <a:solidFill>
                  <a:srgbClr val="141414"/>
                </a:solidFill>
                <a:latin typeface="Courier New" pitchFamily="34" charset="0"/>
                <a:ea typeface="Courier New" pitchFamily="34" charset="-122"/>
                <a:cs typeface="Courier New" pitchFamily="34" charset="-120"/>
              </a:rPr>
              <a:t>PreCompact / PostCompact</a:t>
            </a:r>
            <a:endParaRPr lang="en-US" sz="800" dirty="0"/>
          </a:p>
        </p:txBody>
      </p:sp>
      <p:sp>
        <p:nvSpPr>
          <p:cNvPr id="51" name="Text 49">
            <a:extLst>
              <a:ext uri="{FF2B5EF4-FFF2-40B4-BE49-F238E27FC236}">
                <a16:creationId xmlns:a16="http://schemas.microsoft.com/office/drawing/2014/main" id="{0EC29EC1-899A-8F76-E65C-9F01983AAA6C}"/>
              </a:ext>
            </a:extLst>
          </p:cNvPr>
          <p:cNvSpPr/>
          <p:nvPr/>
        </p:nvSpPr>
        <p:spPr>
          <a:xfrm>
            <a:off x="3154680" y="6537960"/>
            <a:ext cx="2971800" cy="201168"/>
          </a:xfrm>
          <a:prstGeom prst="rect">
            <a:avLst/>
          </a:prstGeom>
          <a:noFill/>
          <a:ln/>
        </p:spPr>
        <p:txBody>
          <a:bodyPr wrap="square" lIns="0" tIns="0" rIns="0" bIns="0" rtlCol="0" anchor="ctr"/>
          <a:lstStyle/>
          <a:p>
            <a:pPr marL="0" indent="0">
              <a:buNone/>
            </a:pPr>
            <a:r>
              <a:rPr lang="en-US" sz="800" dirty="0">
                <a:solidFill>
                  <a:srgbClr val="2B2B2B"/>
                </a:solidFill>
                <a:latin typeface="Calibri" pitchFamily="34" charset="0"/>
                <a:ea typeface="Calibri" pitchFamily="34" charset="-122"/>
                <a:cs typeface="Calibri" pitchFamily="34" charset="-120"/>
              </a:rPr>
              <a:t>Before/after context compaction</a:t>
            </a:r>
            <a:endParaRPr lang="en-US" sz="800" dirty="0"/>
          </a:p>
        </p:txBody>
      </p:sp>
      <p:sp>
        <p:nvSpPr>
          <p:cNvPr id="52" name="Shape 50">
            <a:extLst>
              <a:ext uri="{FF2B5EF4-FFF2-40B4-BE49-F238E27FC236}">
                <a16:creationId xmlns:a16="http://schemas.microsoft.com/office/drawing/2014/main" id="{6DB280F7-37FE-3848-1FE8-FF8C1A64F26C}"/>
              </a:ext>
            </a:extLst>
          </p:cNvPr>
          <p:cNvSpPr/>
          <p:nvPr/>
        </p:nvSpPr>
        <p:spPr>
          <a:xfrm>
            <a:off x="6629400" y="1261872"/>
            <a:ext cx="5074920" cy="5394960"/>
          </a:xfrm>
          <a:prstGeom prst="roundRect">
            <a:avLst>
              <a:gd name="adj" fmla="val 1081"/>
            </a:avLst>
          </a:prstGeom>
          <a:solidFill>
            <a:srgbClr val="FFFFFF"/>
          </a:solidFill>
          <a:ln w="12700">
            <a:solidFill>
              <a:srgbClr val="E3E0D8"/>
            </a:solidFill>
            <a:prstDash val="solid"/>
          </a:ln>
          <a:effectLst>
            <a:outerShdw blurRad="101600" dist="25400" dir="5400000" algn="bl" rotWithShape="0">
              <a:srgbClr val="000000">
                <a:alpha val="8000"/>
              </a:srgbClr>
            </a:outerShdw>
          </a:effectLst>
        </p:spPr>
        <p:txBody>
          <a:bodyPr/>
          <a:lstStyle/>
          <a:p>
            <a:endParaRPr lang="en-US"/>
          </a:p>
        </p:txBody>
      </p:sp>
      <p:sp>
        <p:nvSpPr>
          <p:cNvPr id="53" name="Text 51">
            <a:extLst>
              <a:ext uri="{FF2B5EF4-FFF2-40B4-BE49-F238E27FC236}">
                <a16:creationId xmlns:a16="http://schemas.microsoft.com/office/drawing/2014/main" id="{8E1F81C0-3D67-3FC9-C5F2-AACB0A41E849}"/>
              </a:ext>
            </a:extLst>
          </p:cNvPr>
          <p:cNvSpPr/>
          <p:nvPr/>
        </p:nvSpPr>
        <p:spPr>
          <a:xfrm>
            <a:off x="6903720" y="1426464"/>
            <a:ext cx="4526280" cy="292608"/>
          </a:xfrm>
          <a:prstGeom prst="rect">
            <a:avLst/>
          </a:prstGeom>
          <a:noFill/>
          <a:ln/>
        </p:spPr>
        <p:txBody>
          <a:bodyPr wrap="square" lIns="0" tIns="0" rIns="0" bIns="0" rtlCol="0" anchor="ctr"/>
          <a:lstStyle/>
          <a:p>
            <a:pPr marL="0" indent="0">
              <a:buNone/>
            </a:pPr>
            <a:r>
              <a:rPr lang="en-US" sz="1500" b="1" dirty="0">
                <a:solidFill>
                  <a:srgbClr val="141414"/>
                </a:solidFill>
                <a:latin typeface="Calibri" pitchFamily="34" charset="0"/>
                <a:ea typeface="Calibri" pitchFamily="34" charset="-122"/>
                <a:cs typeface="Calibri" pitchFamily="34" charset="-120"/>
              </a:rPr>
              <a:t>Input &amp; output mechanics</a:t>
            </a:r>
            <a:endParaRPr lang="en-US" sz="1500" dirty="0"/>
          </a:p>
        </p:txBody>
      </p:sp>
      <p:sp>
        <p:nvSpPr>
          <p:cNvPr id="54" name="Text 52">
            <a:extLst>
              <a:ext uri="{FF2B5EF4-FFF2-40B4-BE49-F238E27FC236}">
                <a16:creationId xmlns:a16="http://schemas.microsoft.com/office/drawing/2014/main" id="{17A36F4E-5975-A7E9-552A-1A55225F3035}"/>
              </a:ext>
            </a:extLst>
          </p:cNvPr>
          <p:cNvSpPr/>
          <p:nvPr/>
        </p:nvSpPr>
        <p:spPr>
          <a:xfrm>
            <a:off x="6903720" y="1810512"/>
            <a:ext cx="4526280" cy="219456"/>
          </a:xfrm>
          <a:prstGeom prst="rect">
            <a:avLst/>
          </a:prstGeom>
          <a:noFill/>
          <a:ln/>
        </p:spPr>
        <p:txBody>
          <a:bodyPr wrap="square" lIns="0" tIns="0" rIns="0" bIns="0" rtlCol="0" anchor="ctr"/>
          <a:lstStyle/>
          <a:p>
            <a:pPr marL="0" indent="0">
              <a:buNone/>
            </a:pPr>
            <a:r>
              <a:rPr lang="en-US" sz="1050" b="1" dirty="0">
                <a:solidFill>
                  <a:srgbClr val="141414"/>
                </a:solidFill>
                <a:latin typeface="Calibri" pitchFamily="34" charset="0"/>
                <a:ea typeface="Calibri" pitchFamily="34" charset="-122"/>
                <a:cs typeface="Calibri" pitchFamily="34" charset="-120"/>
              </a:rPr>
              <a:t>stdin — JSON with event data:</a:t>
            </a:r>
            <a:endParaRPr lang="en-US" sz="1050" dirty="0"/>
          </a:p>
        </p:txBody>
      </p:sp>
      <p:sp>
        <p:nvSpPr>
          <p:cNvPr id="55" name="Shape 53">
            <a:extLst>
              <a:ext uri="{FF2B5EF4-FFF2-40B4-BE49-F238E27FC236}">
                <a16:creationId xmlns:a16="http://schemas.microsoft.com/office/drawing/2014/main" id="{2D521633-E22F-FD0B-1681-A7C171A07CB7}"/>
              </a:ext>
            </a:extLst>
          </p:cNvPr>
          <p:cNvSpPr/>
          <p:nvPr/>
        </p:nvSpPr>
        <p:spPr>
          <a:xfrm>
            <a:off x="6903720" y="2057400"/>
            <a:ext cx="4526280" cy="868680"/>
          </a:xfrm>
          <a:prstGeom prst="rect">
            <a:avLst/>
          </a:prstGeom>
          <a:solidFill>
            <a:srgbClr val="1E1E1E"/>
          </a:solidFill>
          <a:ln w="12700">
            <a:solidFill>
              <a:srgbClr val="1E1E1E"/>
            </a:solidFill>
            <a:prstDash val="solid"/>
          </a:ln>
        </p:spPr>
        <p:txBody>
          <a:bodyPr/>
          <a:lstStyle/>
          <a:p>
            <a:endParaRPr lang="en-US"/>
          </a:p>
        </p:txBody>
      </p:sp>
      <p:sp>
        <p:nvSpPr>
          <p:cNvPr id="56" name="Text 54">
            <a:extLst>
              <a:ext uri="{FF2B5EF4-FFF2-40B4-BE49-F238E27FC236}">
                <a16:creationId xmlns:a16="http://schemas.microsoft.com/office/drawing/2014/main" id="{EE0C6FF6-8F93-E2C1-5DA4-98A5F6A0B9F9}"/>
              </a:ext>
            </a:extLst>
          </p:cNvPr>
          <p:cNvSpPr/>
          <p:nvPr/>
        </p:nvSpPr>
        <p:spPr>
          <a:xfrm>
            <a:off x="7040880" y="2121408"/>
            <a:ext cx="4251960" cy="749808"/>
          </a:xfrm>
          <a:prstGeom prst="rect">
            <a:avLst/>
          </a:prstGeom>
          <a:noFill/>
          <a:ln/>
        </p:spPr>
        <p:txBody>
          <a:bodyPr wrap="square" lIns="0" tIns="0" rIns="0" bIns="0" rtlCol="0" anchor="t"/>
          <a:lstStyle/>
          <a:p>
            <a:pPr marL="0" indent="0">
              <a:lnSpc>
                <a:spcPts val="1100"/>
              </a:lnSpc>
              <a:buNone/>
            </a:pPr>
            <a:r>
              <a:rPr lang="en-US" sz="850" dirty="0">
                <a:solidFill>
                  <a:srgbClr val="D4D4D4"/>
                </a:solidFill>
                <a:latin typeface="Courier New" pitchFamily="34" charset="0"/>
                <a:ea typeface="Courier New" pitchFamily="34" charset="-122"/>
                <a:cs typeface="Courier New" pitchFamily="34" charset="-120"/>
              </a:rPr>
              <a:t>{ "session_id": "abc123",
  "cwd": "/Users/me/project",
  "hook_event_name": "PreToolUse",
  "tool_name": "Bash",
  "tool_input": { "command": "npm test" } }</a:t>
            </a:r>
            <a:endParaRPr lang="en-US" sz="850" dirty="0"/>
          </a:p>
        </p:txBody>
      </p:sp>
      <p:sp>
        <p:nvSpPr>
          <p:cNvPr id="57" name="Text 55">
            <a:extLst>
              <a:ext uri="{FF2B5EF4-FFF2-40B4-BE49-F238E27FC236}">
                <a16:creationId xmlns:a16="http://schemas.microsoft.com/office/drawing/2014/main" id="{AC9E5872-5E1F-EC3C-B56D-35444A73095C}"/>
              </a:ext>
            </a:extLst>
          </p:cNvPr>
          <p:cNvSpPr/>
          <p:nvPr/>
        </p:nvSpPr>
        <p:spPr>
          <a:xfrm>
            <a:off x="6903720" y="3017520"/>
            <a:ext cx="4526280" cy="219456"/>
          </a:xfrm>
          <a:prstGeom prst="rect">
            <a:avLst/>
          </a:prstGeom>
          <a:noFill/>
          <a:ln/>
        </p:spPr>
        <p:txBody>
          <a:bodyPr wrap="square" lIns="0" tIns="0" rIns="0" bIns="0" rtlCol="0" anchor="ctr"/>
          <a:lstStyle/>
          <a:p>
            <a:pPr marL="0" indent="0">
              <a:buNone/>
            </a:pPr>
            <a:r>
              <a:rPr lang="en-US" sz="1050" b="1" dirty="0">
                <a:solidFill>
                  <a:srgbClr val="141414"/>
                </a:solidFill>
                <a:latin typeface="Calibri" pitchFamily="34" charset="0"/>
                <a:ea typeface="Calibri" pitchFamily="34" charset="-122"/>
                <a:cs typeface="Calibri" pitchFamily="34" charset="-120"/>
              </a:rPr>
              <a:t>Exit codes:</a:t>
            </a:r>
            <a:endParaRPr lang="en-US" sz="1050" dirty="0"/>
          </a:p>
        </p:txBody>
      </p:sp>
      <p:sp>
        <p:nvSpPr>
          <p:cNvPr id="58" name="Shape 56">
            <a:extLst>
              <a:ext uri="{FF2B5EF4-FFF2-40B4-BE49-F238E27FC236}">
                <a16:creationId xmlns:a16="http://schemas.microsoft.com/office/drawing/2014/main" id="{1E886456-2747-D036-DBD6-5DE013940E90}"/>
              </a:ext>
            </a:extLst>
          </p:cNvPr>
          <p:cNvSpPr/>
          <p:nvPr/>
        </p:nvSpPr>
        <p:spPr>
          <a:xfrm>
            <a:off x="6903720" y="3337560"/>
            <a:ext cx="237744" cy="237744"/>
          </a:xfrm>
          <a:prstGeom prst="ellipse">
            <a:avLst/>
          </a:prstGeom>
          <a:solidFill>
            <a:srgbClr val="3B7A75"/>
          </a:solidFill>
          <a:ln w="12700">
            <a:solidFill>
              <a:srgbClr val="3B7A75"/>
            </a:solidFill>
            <a:prstDash val="solid"/>
          </a:ln>
        </p:spPr>
        <p:txBody>
          <a:bodyPr/>
          <a:lstStyle/>
          <a:p>
            <a:endParaRPr lang="en-US"/>
          </a:p>
        </p:txBody>
      </p:sp>
      <p:sp>
        <p:nvSpPr>
          <p:cNvPr id="59" name="Text 57">
            <a:extLst>
              <a:ext uri="{FF2B5EF4-FFF2-40B4-BE49-F238E27FC236}">
                <a16:creationId xmlns:a16="http://schemas.microsoft.com/office/drawing/2014/main" id="{4EFB71CA-7F4D-B0B9-49F5-24DB05F1DA46}"/>
              </a:ext>
            </a:extLst>
          </p:cNvPr>
          <p:cNvSpPr/>
          <p:nvPr/>
        </p:nvSpPr>
        <p:spPr>
          <a:xfrm>
            <a:off x="6903720" y="3337560"/>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a:t>
            </a:r>
            <a:endParaRPr lang="en-US" sz="900" dirty="0"/>
          </a:p>
        </p:txBody>
      </p:sp>
      <p:sp>
        <p:nvSpPr>
          <p:cNvPr id="60" name="Text 58">
            <a:extLst>
              <a:ext uri="{FF2B5EF4-FFF2-40B4-BE49-F238E27FC236}">
                <a16:creationId xmlns:a16="http://schemas.microsoft.com/office/drawing/2014/main" id="{DCDCD3BE-2F33-2162-C337-5199DD297CDF}"/>
              </a:ext>
            </a:extLst>
          </p:cNvPr>
          <p:cNvSpPr/>
          <p:nvPr/>
        </p:nvSpPr>
        <p:spPr>
          <a:xfrm>
            <a:off x="7223760" y="3291840"/>
            <a:ext cx="4160520" cy="411480"/>
          </a:xfrm>
          <a:prstGeom prst="rect">
            <a:avLst/>
          </a:prstGeom>
          <a:noFill/>
          <a:ln/>
        </p:spPr>
        <p:txBody>
          <a:bodyPr wrap="square" lIns="0" tIns="0" rIns="0" bIns="0" rtlCol="0" anchor="ctr"/>
          <a:lstStyle/>
          <a:p>
            <a:pPr marL="0" indent="0">
              <a:buNone/>
            </a:pPr>
            <a:r>
              <a:rPr lang="en-US" sz="900" dirty="0">
                <a:solidFill>
                  <a:srgbClr val="2B2B2B"/>
                </a:solidFill>
                <a:latin typeface="Calibri" pitchFamily="34" charset="0"/>
                <a:ea typeface="Calibri" pitchFamily="34" charset="-122"/>
                <a:cs typeface="Calibri" pitchFamily="34" charset="-120"/>
              </a:rPr>
              <a:t>No decision — normal flow continues. stdout added to Claude's context (SessionStart, UserPromptSubmit).</a:t>
            </a:r>
            <a:endParaRPr lang="en-US" sz="900" dirty="0"/>
          </a:p>
        </p:txBody>
      </p:sp>
      <p:sp>
        <p:nvSpPr>
          <p:cNvPr id="61" name="Shape 59">
            <a:extLst>
              <a:ext uri="{FF2B5EF4-FFF2-40B4-BE49-F238E27FC236}">
                <a16:creationId xmlns:a16="http://schemas.microsoft.com/office/drawing/2014/main" id="{D15ABF18-EB97-E166-DFBC-B82DFAF69A08}"/>
              </a:ext>
            </a:extLst>
          </p:cNvPr>
          <p:cNvSpPr/>
          <p:nvPr/>
        </p:nvSpPr>
        <p:spPr>
          <a:xfrm>
            <a:off x="6903720" y="3813048"/>
            <a:ext cx="237744" cy="237744"/>
          </a:xfrm>
          <a:prstGeom prst="ellipse">
            <a:avLst/>
          </a:prstGeom>
          <a:solidFill>
            <a:srgbClr val="B04A3B"/>
          </a:solidFill>
          <a:ln w="12700">
            <a:solidFill>
              <a:srgbClr val="B04A3B"/>
            </a:solidFill>
            <a:prstDash val="solid"/>
          </a:ln>
        </p:spPr>
        <p:txBody>
          <a:bodyPr/>
          <a:lstStyle/>
          <a:p>
            <a:endParaRPr lang="en-US"/>
          </a:p>
        </p:txBody>
      </p:sp>
      <p:sp>
        <p:nvSpPr>
          <p:cNvPr id="62" name="Text 60">
            <a:extLst>
              <a:ext uri="{FF2B5EF4-FFF2-40B4-BE49-F238E27FC236}">
                <a16:creationId xmlns:a16="http://schemas.microsoft.com/office/drawing/2014/main" id="{4687F4E4-F0DB-CEDF-8E0C-E97B9D6BC6F7}"/>
              </a:ext>
            </a:extLst>
          </p:cNvPr>
          <p:cNvSpPr/>
          <p:nvPr/>
        </p:nvSpPr>
        <p:spPr>
          <a:xfrm>
            <a:off x="6903720" y="3813048"/>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63" name="Text 61">
            <a:extLst>
              <a:ext uri="{FF2B5EF4-FFF2-40B4-BE49-F238E27FC236}">
                <a16:creationId xmlns:a16="http://schemas.microsoft.com/office/drawing/2014/main" id="{9057D228-6394-B936-60A3-E2554B7079BA}"/>
              </a:ext>
            </a:extLst>
          </p:cNvPr>
          <p:cNvSpPr/>
          <p:nvPr/>
        </p:nvSpPr>
        <p:spPr>
          <a:xfrm>
            <a:off x="7223760" y="3767328"/>
            <a:ext cx="4160520" cy="411480"/>
          </a:xfrm>
          <a:prstGeom prst="rect">
            <a:avLst/>
          </a:prstGeom>
          <a:noFill/>
          <a:ln/>
        </p:spPr>
        <p:txBody>
          <a:bodyPr wrap="square" lIns="0" tIns="0" rIns="0" bIns="0" rtlCol="0" anchor="ctr"/>
          <a:lstStyle/>
          <a:p>
            <a:pPr marL="0" indent="0">
              <a:buNone/>
            </a:pPr>
            <a:r>
              <a:rPr lang="en-US" sz="900" dirty="0">
                <a:solidFill>
                  <a:srgbClr val="2B2B2B"/>
                </a:solidFill>
                <a:latin typeface="Calibri" pitchFamily="34" charset="0"/>
                <a:ea typeface="Calibri" pitchFamily="34" charset="-122"/>
                <a:cs typeface="Calibri" pitchFamily="34" charset="-120"/>
              </a:rPr>
              <a:t>Block the action. Write reason to stderr — Claude receives it as feedback and adjusts.</a:t>
            </a:r>
            <a:endParaRPr lang="en-US" sz="900" dirty="0"/>
          </a:p>
        </p:txBody>
      </p:sp>
      <p:sp>
        <p:nvSpPr>
          <p:cNvPr id="64" name="Shape 62">
            <a:extLst>
              <a:ext uri="{FF2B5EF4-FFF2-40B4-BE49-F238E27FC236}">
                <a16:creationId xmlns:a16="http://schemas.microsoft.com/office/drawing/2014/main" id="{5F5738F6-5112-ACAA-B974-E6DDAF6D7942}"/>
              </a:ext>
            </a:extLst>
          </p:cNvPr>
          <p:cNvSpPr/>
          <p:nvPr/>
        </p:nvSpPr>
        <p:spPr>
          <a:xfrm>
            <a:off x="6903720" y="4288536"/>
            <a:ext cx="237744" cy="237744"/>
          </a:xfrm>
          <a:prstGeom prst="ellipse">
            <a:avLst/>
          </a:prstGeom>
          <a:solidFill>
            <a:srgbClr val="8A6D3B"/>
          </a:solidFill>
          <a:ln w="12700">
            <a:solidFill>
              <a:srgbClr val="8A6D3B"/>
            </a:solidFill>
            <a:prstDash val="solid"/>
          </a:ln>
        </p:spPr>
        <p:txBody>
          <a:bodyPr/>
          <a:lstStyle/>
          <a:p>
            <a:endParaRPr lang="en-US"/>
          </a:p>
        </p:txBody>
      </p:sp>
      <p:sp>
        <p:nvSpPr>
          <p:cNvPr id="65" name="Text 63">
            <a:extLst>
              <a:ext uri="{FF2B5EF4-FFF2-40B4-BE49-F238E27FC236}">
                <a16:creationId xmlns:a16="http://schemas.microsoft.com/office/drawing/2014/main" id="{B3340B1A-A175-3501-FB24-8A78189135E2}"/>
              </a:ext>
            </a:extLst>
          </p:cNvPr>
          <p:cNvSpPr/>
          <p:nvPr/>
        </p:nvSpPr>
        <p:spPr>
          <a:xfrm>
            <a:off x="6903720" y="4288536"/>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other</a:t>
            </a:r>
            <a:endParaRPr lang="en-US" sz="900" dirty="0"/>
          </a:p>
        </p:txBody>
      </p:sp>
      <p:sp>
        <p:nvSpPr>
          <p:cNvPr id="66" name="Text 64">
            <a:extLst>
              <a:ext uri="{FF2B5EF4-FFF2-40B4-BE49-F238E27FC236}">
                <a16:creationId xmlns:a16="http://schemas.microsoft.com/office/drawing/2014/main" id="{7668C5F6-8773-B375-88D3-F616ED9DCC93}"/>
              </a:ext>
            </a:extLst>
          </p:cNvPr>
          <p:cNvSpPr/>
          <p:nvPr/>
        </p:nvSpPr>
        <p:spPr>
          <a:xfrm>
            <a:off x="7223760" y="4242816"/>
            <a:ext cx="4160520" cy="411480"/>
          </a:xfrm>
          <a:prstGeom prst="rect">
            <a:avLst/>
          </a:prstGeom>
          <a:noFill/>
          <a:ln/>
        </p:spPr>
        <p:txBody>
          <a:bodyPr wrap="square" lIns="0" tIns="0" rIns="0" bIns="0" rtlCol="0" anchor="ctr"/>
          <a:lstStyle/>
          <a:p>
            <a:pPr marL="0" indent="0">
              <a:buNone/>
            </a:pPr>
            <a:r>
              <a:rPr lang="en-US" sz="900" dirty="0">
                <a:solidFill>
                  <a:srgbClr val="2B2B2B"/>
                </a:solidFill>
                <a:latin typeface="Calibri" pitchFamily="34" charset="0"/>
                <a:ea typeface="Calibri" pitchFamily="34" charset="-122"/>
                <a:cs typeface="Calibri" pitchFamily="34" charset="-120"/>
              </a:rPr>
              <a:t>Hook error — action proceeds, transcript shows a warning. Full stderr goes to debug log.</a:t>
            </a:r>
            <a:endParaRPr lang="en-US" sz="900" dirty="0"/>
          </a:p>
        </p:txBody>
      </p:sp>
      <p:sp>
        <p:nvSpPr>
          <p:cNvPr id="67" name="Text 65">
            <a:extLst>
              <a:ext uri="{FF2B5EF4-FFF2-40B4-BE49-F238E27FC236}">
                <a16:creationId xmlns:a16="http://schemas.microsoft.com/office/drawing/2014/main" id="{A5DE35FA-2AB9-8CF3-841E-E6E2FABB1D6A}"/>
              </a:ext>
            </a:extLst>
          </p:cNvPr>
          <p:cNvSpPr/>
          <p:nvPr/>
        </p:nvSpPr>
        <p:spPr>
          <a:xfrm>
            <a:off x="6903720" y="4809744"/>
            <a:ext cx="4526280" cy="219456"/>
          </a:xfrm>
          <a:prstGeom prst="rect">
            <a:avLst/>
          </a:prstGeom>
          <a:noFill/>
          <a:ln/>
        </p:spPr>
        <p:txBody>
          <a:bodyPr wrap="square" lIns="0" tIns="0" rIns="0" bIns="0" rtlCol="0" anchor="ctr"/>
          <a:lstStyle/>
          <a:p>
            <a:pPr marL="0" indent="0">
              <a:buNone/>
            </a:pPr>
            <a:r>
              <a:rPr lang="en-US" sz="1050" b="1" dirty="0">
                <a:solidFill>
                  <a:srgbClr val="141414"/>
                </a:solidFill>
                <a:latin typeface="Calibri" pitchFamily="34" charset="0"/>
                <a:ea typeface="Calibri" pitchFamily="34" charset="-122"/>
                <a:cs typeface="Calibri" pitchFamily="34" charset="-120"/>
              </a:rPr>
              <a:t>Structured JSON output (exit 0):</a:t>
            </a:r>
            <a:endParaRPr lang="en-US" sz="1050" dirty="0"/>
          </a:p>
        </p:txBody>
      </p:sp>
      <p:sp>
        <p:nvSpPr>
          <p:cNvPr id="68" name="Text 66">
            <a:extLst>
              <a:ext uri="{FF2B5EF4-FFF2-40B4-BE49-F238E27FC236}">
                <a16:creationId xmlns:a16="http://schemas.microsoft.com/office/drawing/2014/main" id="{0C689354-4E75-F73B-2B14-95736FEA670F}"/>
              </a:ext>
            </a:extLst>
          </p:cNvPr>
          <p:cNvSpPr/>
          <p:nvPr/>
        </p:nvSpPr>
        <p:spPr>
          <a:xfrm>
            <a:off x="6903720" y="5047488"/>
            <a:ext cx="4526280" cy="219456"/>
          </a:xfrm>
          <a:prstGeom prst="rect">
            <a:avLst/>
          </a:prstGeom>
          <a:noFill/>
          <a:ln/>
        </p:spPr>
        <p:txBody>
          <a:bodyPr wrap="square" lIns="0" tIns="0" rIns="0" bIns="0" rtlCol="0" anchor="ctr"/>
          <a:lstStyle/>
          <a:p>
            <a:pPr marL="0" indent="0">
              <a:buNone/>
            </a:pPr>
            <a:r>
              <a:rPr lang="en-US" sz="900" dirty="0">
                <a:solidFill>
                  <a:srgbClr val="2B2B2B"/>
                </a:solidFill>
                <a:latin typeface="Calibri" pitchFamily="34" charset="0"/>
                <a:ea typeface="Calibri" pitchFamily="34" charset="-122"/>
                <a:cs typeface="Calibri" pitchFamily="34" charset="-120"/>
              </a:rPr>
              <a:t>For finer control than exit codes, print JSON to stdout:</a:t>
            </a:r>
            <a:endParaRPr lang="en-US" sz="900" dirty="0"/>
          </a:p>
        </p:txBody>
      </p:sp>
      <p:sp>
        <p:nvSpPr>
          <p:cNvPr id="69" name="Shape 67">
            <a:extLst>
              <a:ext uri="{FF2B5EF4-FFF2-40B4-BE49-F238E27FC236}">
                <a16:creationId xmlns:a16="http://schemas.microsoft.com/office/drawing/2014/main" id="{433963E6-E5D1-DD62-A60D-3FCDE0C62F87}"/>
              </a:ext>
            </a:extLst>
          </p:cNvPr>
          <p:cNvSpPr/>
          <p:nvPr/>
        </p:nvSpPr>
        <p:spPr>
          <a:xfrm>
            <a:off x="6903720" y="5294376"/>
            <a:ext cx="4526280" cy="804672"/>
          </a:xfrm>
          <a:prstGeom prst="rect">
            <a:avLst/>
          </a:prstGeom>
          <a:solidFill>
            <a:srgbClr val="1E1E1E"/>
          </a:solidFill>
          <a:ln w="12700">
            <a:solidFill>
              <a:srgbClr val="1E1E1E"/>
            </a:solidFill>
            <a:prstDash val="solid"/>
          </a:ln>
        </p:spPr>
        <p:txBody>
          <a:bodyPr/>
          <a:lstStyle/>
          <a:p>
            <a:endParaRPr lang="en-US"/>
          </a:p>
        </p:txBody>
      </p:sp>
      <p:sp>
        <p:nvSpPr>
          <p:cNvPr id="70" name="Text 68">
            <a:extLst>
              <a:ext uri="{FF2B5EF4-FFF2-40B4-BE49-F238E27FC236}">
                <a16:creationId xmlns:a16="http://schemas.microsoft.com/office/drawing/2014/main" id="{E57D32C5-0D64-23E8-16BA-CF4E30A5AA56}"/>
              </a:ext>
            </a:extLst>
          </p:cNvPr>
          <p:cNvSpPr/>
          <p:nvPr/>
        </p:nvSpPr>
        <p:spPr>
          <a:xfrm>
            <a:off x="7040880" y="5358384"/>
            <a:ext cx="4251960" cy="676656"/>
          </a:xfrm>
          <a:prstGeom prst="rect">
            <a:avLst/>
          </a:prstGeom>
          <a:noFill/>
          <a:ln/>
        </p:spPr>
        <p:txBody>
          <a:bodyPr wrap="square" lIns="0" tIns="0" rIns="0" bIns="0" rtlCol="0" anchor="t"/>
          <a:lstStyle/>
          <a:p>
            <a:pPr marL="0" indent="0">
              <a:lnSpc>
                <a:spcPts val="1100"/>
              </a:lnSpc>
              <a:buNone/>
            </a:pPr>
            <a:r>
              <a:rPr lang="en-US" sz="850" dirty="0">
                <a:solidFill>
                  <a:srgbClr val="6B6B6B"/>
                </a:solidFill>
                <a:latin typeface="Courier New" pitchFamily="34" charset="0"/>
                <a:ea typeface="Courier New" pitchFamily="34" charset="-122"/>
                <a:cs typeface="Courier New" pitchFamily="34" charset="-120"/>
              </a:rPr>
              <a:t>// PreToolUse: deny with reason
</a:t>
            </a:r>
            <a:r>
              <a:rPr lang="en-US" sz="850" dirty="0">
                <a:solidFill>
                  <a:srgbClr val="D4D4D4"/>
                </a:solidFill>
                <a:latin typeface="Courier New" pitchFamily="34" charset="0"/>
                <a:ea typeface="Courier New" pitchFamily="34" charset="-122"/>
                <a:cs typeface="Courier New" pitchFamily="34" charset="-120"/>
              </a:rPr>
              <a:t>{ "hookSpecificOutput": {
    "hookEventName": "PreToolUse",
    "permissionDecision": </a:t>
            </a:r>
            <a:r>
              <a:rPr lang="en-US" sz="850" dirty="0">
                <a:solidFill>
                  <a:srgbClr val="CE9178"/>
                </a:solidFill>
                <a:latin typeface="Courier New" pitchFamily="34" charset="0"/>
                <a:ea typeface="Courier New" pitchFamily="34" charset="-122"/>
                <a:cs typeface="Courier New" pitchFamily="34" charset="-120"/>
              </a:rPr>
              <a:t>"deny"</a:t>
            </a:r>
            <a:r>
              <a:rPr lang="en-US" sz="850" dirty="0">
                <a:solidFill>
                  <a:srgbClr val="D4D4D4"/>
                </a:solidFill>
                <a:latin typeface="Courier New" pitchFamily="34" charset="0"/>
                <a:ea typeface="Courier New" pitchFamily="34" charset="-122"/>
                <a:cs typeface="Courier New" pitchFamily="34" charset="-120"/>
              </a:rPr>
              <a:t>,</a:t>
            </a:r>
            <a:endParaRPr lang="en-US" sz="850" dirty="0"/>
          </a:p>
          <a:p>
            <a:pPr marL="0" indent="0">
              <a:lnSpc>
                <a:spcPts val="1100"/>
              </a:lnSpc>
              <a:buNone/>
            </a:pPr>
            <a:r>
              <a:rPr lang="en-US" sz="850" dirty="0">
                <a:solidFill>
                  <a:srgbClr val="D4D4D4"/>
                </a:solidFill>
                <a:latin typeface="Courier New" pitchFamily="34" charset="0"/>
                <a:ea typeface="Courier New" pitchFamily="34" charset="-122"/>
                <a:cs typeface="Courier New" pitchFamily="34" charset="-120"/>
              </a:rPr>
              <a:t>    "permissionDecisionReason": "use rg"</a:t>
            </a:r>
            <a:endParaRPr lang="en-US" sz="850" dirty="0"/>
          </a:p>
          <a:p>
            <a:pPr marL="0" indent="0">
              <a:lnSpc>
                <a:spcPts val="1100"/>
              </a:lnSpc>
              <a:buNone/>
            </a:pPr>
            <a:r>
              <a:rPr lang="en-US" sz="850" dirty="0">
                <a:solidFill>
                  <a:srgbClr val="D4D4D4"/>
                </a:solidFill>
                <a:latin typeface="Courier New" pitchFamily="34" charset="0"/>
                <a:ea typeface="Courier New" pitchFamily="34" charset="-122"/>
                <a:cs typeface="Courier New" pitchFamily="34" charset="-120"/>
              </a:rPr>
              <a:t>  }}</a:t>
            </a:r>
            <a:endParaRPr lang="en-US" sz="850" dirty="0"/>
          </a:p>
        </p:txBody>
      </p:sp>
      <p:sp>
        <p:nvSpPr>
          <p:cNvPr id="71" name="Shape 69">
            <a:extLst>
              <a:ext uri="{FF2B5EF4-FFF2-40B4-BE49-F238E27FC236}">
                <a16:creationId xmlns:a16="http://schemas.microsoft.com/office/drawing/2014/main" id="{110FBCCA-7C21-C6FA-28C1-CE8C51113D6B}"/>
              </a:ext>
            </a:extLst>
          </p:cNvPr>
          <p:cNvSpPr/>
          <p:nvPr/>
        </p:nvSpPr>
        <p:spPr>
          <a:xfrm>
            <a:off x="457200" y="6949440"/>
            <a:ext cx="11247120" cy="457200"/>
          </a:xfrm>
          <a:prstGeom prst="rect">
            <a:avLst/>
          </a:prstGeom>
          <a:solidFill>
            <a:srgbClr val="F7F5F0"/>
          </a:solidFill>
          <a:ln w="9525">
            <a:solidFill>
              <a:srgbClr val="E3E0D8"/>
            </a:solidFill>
            <a:prstDash val="solid"/>
          </a:ln>
        </p:spPr>
        <p:txBody>
          <a:bodyPr/>
          <a:lstStyle/>
          <a:p>
            <a:endParaRPr lang="en-US"/>
          </a:p>
        </p:txBody>
      </p:sp>
      <p:sp>
        <p:nvSpPr>
          <p:cNvPr id="72" name="Text 70">
            <a:extLst>
              <a:ext uri="{FF2B5EF4-FFF2-40B4-BE49-F238E27FC236}">
                <a16:creationId xmlns:a16="http://schemas.microsoft.com/office/drawing/2014/main" id="{3691EAB1-C040-54DA-5CC0-1C1DF639360C}"/>
              </a:ext>
            </a:extLst>
          </p:cNvPr>
          <p:cNvSpPr/>
          <p:nvPr/>
        </p:nvSpPr>
        <p:spPr>
          <a:xfrm>
            <a:off x="777240" y="6949440"/>
            <a:ext cx="10607040" cy="457200"/>
          </a:xfrm>
          <a:prstGeom prst="rect">
            <a:avLst/>
          </a:prstGeom>
          <a:noFill/>
          <a:ln/>
        </p:spPr>
        <p:txBody>
          <a:bodyPr wrap="square" lIns="0" tIns="0" rIns="0" bIns="0" rtlCol="0" anchor="ctr"/>
          <a:lstStyle/>
          <a:p>
            <a:pPr marL="0" indent="0">
              <a:buNone/>
            </a:pPr>
            <a:r>
              <a:rPr lang="en-US" sz="1100" b="1" dirty="0">
                <a:solidFill>
                  <a:srgbClr val="C9704F"/>
                </a:solidFill>
                <a:latin typeface="Calibri" pitchFamily="34" charset="0"/>
                <a:ea typeface="Calibri" pitchFamily="34" charset="-122"/>
                <a:cs typeface="Calibri" pitchFamily="34" charset="-120"/>
              </a:rPr>
              <a:t>Note:  </a:t>
            </a:r>
            <a:r>
              <a:rPr lang="en-US" sz="1100" dirty="0">
                <a:solidFill>
                  <a:srgbClr val="2B2B2B"/>
                </a:solidFill>
                <a:latin typeface="Calibri" pitchFamily="34" charset="0"/>
                <a:ea typeface="Calibri" pitchFamily="34" charset="-122"/>
                <a:cs typeface="Calibri" pitchFamily="34" charset="-120"/>
              </a:rPr>
              <a:t>Exit code 2 cannot block some events (SessionStart, Setup, Notification, SubagentStart/Stop, etc.) — it shows stderr to the user but execution continues. Check the reference for which events are blockable.</a:t>
            </a:r>
            <a:endParaRPr lang="en-US" sz="1100" dirty="0"/>
          </a:p>
        </p:txBody>
      </p:sp>
    </p:spTree>
    <p:extLst>
      <p:ext uri="{BB962C8B-B14F-4D97-AF65-F5344CB8AC3E}">
        <p14:creationId xmlns:p14="http://schemas.microsoft.com/office/powerpoint/2010/main" val="12250622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E7BF7A4-EA88-E4D4-EE84-5238F824D212}"/>
              </a:ext>
            </a:extLst>
          </p:cNvPr>
          <p:cNvSpPr/>
          <p:nvPr/>
        </p:nvSpPr>
        <p:spPr>
          <a:xfrm>
            <a:off x="457200" y="256032"/>
            <a:ext cx="11247120" cy="457200"/>
          </a:xfrm>
          <a:prstGeom prst="rect">
            <a:avLst/>
          </a:prstGeom>
          <a:noFill/>
          <a:ln/>
        </p:spPr>
        <p:txBody>
          <a:bodyPr wrap="square" lIns="0" tIns="0" rIns="0" bIns="0" rtlCol="0" anchor="ctr"/>
          <a:lstStyle/>
          <a:p>
            <a:pPr marL="0" indent="0">
              <a:buNone/>
            </a:pPr>
            <a:r>
              <a:rPr lang="en-US" sz="3200" b="1" dirty="0">
                <a:solidFill>
                  <a:srgbClr val="141414"/>
                </a:solidFill>
                <a:latin typeface="Cambria" pitchFamily="34" charset="0"/>
                <a:ea typeface="Cambria" pitchFamily="34" charset="-122"/>
                <a:cs typeface="Cambria" pitchFamily="34" charset="-120"/>
              </a:rPr>
              <a:t>Non-Command Hook Types</a:t>
            </a:r>
            <a:endParaRPr lang="en-US" sz="3200" dirty="0"/>
          </a:p>
        </p:txBody>
      </p:sp>
      <p:sp>
        <p:nvSpPr>
          <p:cNvPr id="3" name="Text 1">
            <a:extLst>
              <a:ext uri="{FF2B5EF4-FFF2-40B4-BE49-F238E27FC236}">
                <a16:creationId xmlns:a16="http://schemas.microsoft.com/office/drawing/2014/main" id="{C6C3487A-E1AC-F053-D34E-DA6071E049F8}"/>
              </a:ext>
            </a:extLst>
          </p:cNvPr>
          <p:cNvSpPr/>
          <p:nvPr/>
        </p:nvSpPr>
        <p:spPr>
          <a:xfrm>
            <a:off x="457200" y="731520"/>
            <a:ext cx="11247120" cy="365760"/>
          </a:xfrm>
          <a:prstGeom prst="rect">
            <a:avLst/>
          </a:prstGeom>
          <a:noFill/>
          <a:ln/>
        </p:spPr>
        <p:txBody>
          <a:bodyPr wrap="square" lIns="0" tIns="0" rIns="0" bIns="0" rtlCol="0" anchor="ctr"/>
          <a:lstStyle/>
          <a:p>
            <a:pPr marL="0" indent="0">
              <a:buNone/>
            </a:pPr>
            <a:r>
              <a:rPr lang="en-US" sz="1200" dirty="0">
                <a:solidFill>
                  <a:srgbClr val="6B6B6B"/>
                </a:solidFill>
                <a:latin typeface="Calibri" pitchFamily="34" charset="0"/>
                <a:ea typeface="Calibri" pitchFamily="34" charset="-122"/>
                <a:cs typeface="Calibri" pitchFamily="34" charset="-120"/>
              </a:rPr>
              <a:t>Beyond shell commands: POST to a URL, evaluate with a model, or run a multi-turn agent. Use these when deterministic shell scripts aren't enough.</a:t>
            </a:r>
            <a:endParaRPr lang="en-US" sz="1200" dirty="0"/>
          </a:p>
        </p:txBody>
      </p:sp>
      <p:sp>
        <p:nvSpPr>
          <p:cNvPr id="4" name="Shape 2">
            <a:extLst>
              <a:ext uri="{FF2B5EF4-FFF2-40B4-BE49-F238E27FC236}">
                <a16:creationId xmlns:a16="http://schemas.microsoft.com/office/drawing/2014/main" id="{C25C234A-B994-C61E-2424-9092821DE557}"/>
              </a:ext>
            </a:extLst>
          </p:cNvPr>
          <p:cNvSpPr/>
          <p:nvPr/>
        </p:nvSpPr>
        <p:spPr>
          <a:xfrm>
            <a:off x="457200" y="1261872"/>
            <a:ext cx="5577840" cy="4389120"/>
          </a:xfrm>
          <a:prstGeom prst="roundRect">
            <a:avLst>
              <a:gd name="adj" fmla="val 1250"/>
            </a:avLst>
          </a:prstGeom>
          <a:solidFill>
            <a:srgbClr val="FFFFFF"/>
          </a:solidFill>
          <a:ln w="12700">
            <a:solidFill>
              <a:srgbClr val="E3E0D8"/>
            </a:solidFill>
            <a:prstDash val="solid"/>
          </a:ln>
          <a:effectLst>
            <a:outerShdw blurRad="101600" dist="25400" dir="5400000" algn="bl" rotWithShape="0">
              <a:srgbClr val="000000">
                <a:alpha val="8000"/>
              </a:srgbClr>
            </a:outerShdw>
          </a:effectLst>
        </p:spPr>
        <p:txBody>
          <a:bodyPr/>
          <a:lstStyle/>
          <a:p>
            <a:endParaRPr lang="en-US"/>
          </a:p>
        </p:txBody>
      </p:sp>
      <p:sp>
        <p:nvSpPr>
          <p:cNvPr id="5" name="Shape 3">
            <a:extLst>
              <a:ext uri="{FF2B5EF4-FFF2-40B4-BE49-F238E27FC236}">
                <a16:creationId xmlns:a16="http://schemas.microsoft.com/office/drawing/2014/main" id="{8540B799-2325-C9A0-1198-F3D4B34BC874}"/>
              </a:ext>
            </a:extLst>
          </p:cNvPr>
          <p:cNvSpPr/>
          <p:nvPr/>
        </p:nvSpPr>
        <p:spPr>
          <a:xfrm>
            <a:off x="731520" y="1444752"/>
            <a:ext cx="54864" cy="329184"/>
          </a:xfrm>
          <a:prstGeom prst="rect">
            <a:avLst/>
          </a:prstGeom>
          <a:solidFill>
            <a:srgbClr val="6B5B95"/>
          </a:solidFill>
          <a:ln w="12700">
            <a:solidFill>
              <a:srgbClr val="6B5B95"/>
            </a:solidFill>
            <a:prstDash val="solid"/>
          </a:ln>
        </p:spPr>
        <p:txBody>
          <a:bodyPr/>
          <a:lstStyle/>
          <a:p>
            <a:endParaRPr lang="en-US"/>
          </a:p>
        </p:txBody>
      </p:sp>
      <p:sp>
        <p:nvSpPr>
          <p:cNvPr id="6" name="Text 4">
            <a:extLst>
              <a:ext uri="{FF2B5EF4-FFF2-40B4-BE49-F238E27FC236}">
                <a16:creationId xmlns:a16="http://schemas.microsoft.com/office/drawing/2014/main" id="{507B6B53-7D67-91BF-C572-B114705927D8}"/>
              </a:ext>
            </a:extLst>
          </p:cNvPr>
          <p:cNvSpPr/>
          <p:nvPr/>
        </p:nvSpPr>
        <p:spPr>
          <a:xfrm>
            <a:off x="896112" y="1444752"/>
            <a:ext cx="4864608" cy="329184"/>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"type": "http"  —  POST event data to a URL</a:t>
            </a:r>
            <a:endParaRPr lang="en-US" sz="1300" dirty="0"/>
          </a:p>
        </p:txBody>
      </p:sp>
      <p:sp>
        <p:nvSpPr>
          <p:cNvPr id="7" name="Text 5">
            <a:extLst>
              <a:ext uri="{FF2B5EF4-FFF2-40B4-BE49-F238E27FC236}">
                <a16:creationId xmlns:a16="http://schemas.microsoft.com/office/drawing/2014/main" id="{46E51F2A-E103-FD31-7098-A075714AA3FF}"/>
              </a:ext>
            </a:extLst>
          </p:cNvPr>
          <p:cNvSpPr/>
          <p:nvPr/>
        </p:nvSpPr>
        <p:spPr>
          <a:xfrm>
            <a:off x="731520" y="1856232"/>
            <a:ext cx="5029200" cy="411480"/>
          </a:xfrm>
          <a:prstGeom prst="rect">
            <a:avLst/>
          </a:prstGeom>
          <a:noFill/>
          <a:ln/>
        </p:spPr>
        <p:txBody>
          <a:bodyPr wrap="square" lIns="0" tIns="0" rIns="0" bIns="0" rtlCol="0" anchor="ctr"/>
          <a:lstStyle/>
          <a:p>
            <a:pPr marL="0" indent="0">
              <a:buNone/>
            </a:pPr>
            <a:r>
              <a:rPr lang="en-US" sz="1000" dirty="0">
                <a:solidFill>
                  <a:srgbClr val="2B2B2B"/>
                </a:solidFill>
                <a:latin typeface="Calibri" pitchFamily="34" charset="0"/>
                <a:ea typeface="Calibri" pitchFamily="34" charset="-122"/>
                <a:cs typeface="Calibri" pitchFamily="34" charset="-120"/>
              </a:rPr>
              <a:t>Every hook event fires a JSON POST to the URL you specify. Good for webhooks, audit logging to external systems, or triggering CI pipelines.</a:t>
            </a:r>
            <a:endParaRPr lang="en-US" sz="1000" dirty="0"/>
          </a:p>
        </p:txBody>
      </p:sp>
      <p:sp>
        <p:nvSpPr>
          <p:cNvPr id="8" name="Shape 6">
            <a:extLst>
              <a:ext uri="{FF2B5EF4-FFF2-40B4-BE49-F238E27FC236}">
                <a16:creationId xmlns:a16="http://schemas.microsoft.com/office/drawing/2014/main" id="{E7D5642F-1824-5804-FA31-AD23DC8886BA}"/>
              </a:ext>
            </a:extLst>
          </p:cNvPr>
          <p:cNvSpPr/>
          <p:nvPr/>
        </p:nvSpPr>
        <p:spPr>
          <a:xfrm>
            <a:off x="731520" y="2304288"/>
            <a:ext cx="5029200" cy="777240"/>
          </a:xfrm>
          <a:prstGeom prst="rect">
            <a:avLst/>
          </a:prstGeom>
          <a:solidFill>
            <a:srgbClr val="1E1E1E"/>
          </a:solidFill>
          <a:ln w="12700">
            <a:solidFill>
              <a:srgbClr val="1E1E1E"/>
            </a:solidFill>
            <a:prstDash val="solid"/>
          </a:ln>
        </p:spPr>
        <p:txBody>
          <a:bodyPr/>
          <a:lstStyle/>
          <a:p>
            <a:endParaRPr lang="en-US"/>
          </a:p>
        </p:txBody>
      </p:sp>
      <p:sp>
        <p:nvSpPr>
          <p:cNvPr id="9" name="Text 7">
            <a:extLst>
              <a:ext uri="{FF2B5EF4-FFF2-40B4-BE49-F238E27FC236}">
                <a16:creationId xmlns:a16="http://schemas.microsoft.com/office/drawing/2014/main" id="{D56323CA-906C-A875-CA7A-2E78AADA29FC}"/>
              </a:ext>
            </a:extLst>
          </p:cNvPr>
          <p:cNvSpPr/>
          <p:nvPr/>
        </p:nvSpPr>
        <p:spPr>
          <a:xfrm>
            <a:off x="868680" y="2368296"/>
            <a:ext cx="4754880" cy="658368"/>
          </a:xfrm>
          <a:prstGeom prst="rect">
            <a:avLst/>
          </a:prstGeom>
          <a:noFill/>
          <a:ln/>
        </p:spPr>
        <p:txBody>
          <a:bodyPr wrap="square" lIns="0" tIns="0" rIns="0" bIns="0" rtlCol="0" anchor="t"/>
          <a:lstStyle/>
          <a:p>
            <a:pPr marL="0" indent="0">
              <a:lnSpc>
                <a:spcPts val="1150"/>
              </a:lnSpc>
              <a:buNone/>
            </a:pPr>
            <a:r>
              <a:rPr lang="en-US" sz="900" dirty="0">
                <a:solidFill>
                  <a:srgbClr val="6B6B6B"/>
                </a:solidFill>
                <a:latin typeface="Courier New" pitchFamily="34" charset="0"/>
                <a:ea typeface="Courier New" pitchFamily="34" charset="-122"/>
                <a:cs typeface="Courier New" pitchFamily="34" charset="-120"/>
              </a:rPr>
              <a:t>// hook entry inside matcher group:
</a:t>
            </a:r>
            <a:r>
              <a:rPr lang="en-US" sz="900" dirty="0">
                <a:solidFill>
                  <a:srgbClr val="D4D4D4"/>
                </a:solidFill>
                <a:latin typeface="Courier New" pitchFamily="34" charset="0"/>
                <a:ea typeface="Courier New" pitchFamily="34" charset="-122"/>
                <a:cs typeface="Courier New" pitchFamily="34" charset="-120"/>
              </a:rPr>
              <a:t>{ "type": </a:t>
            </a:r>
            <a:r>
              <a:rPr lang="en-US" sz="900" dirty="0">
                <a:solidFill>
                  <a:srgbClr val="6A9955"/>
                </a:solidFill>
                <a:latin typeface="Courier New" pitchFamily="34" charset="0"/>
                <a:ea typeface="Courier New" pitchFamily="34" charset="-122"/>
                <a:cs typeface="Courier New" pitchFamily="34" charset="-120"/>
              </a:rPr>
              <a:t>"http"</a:t>
            </a:r>
            <a:r>
              <a:rPr lang="en-US" sz="900" dirty="0">
                <a:solidFill>
                  <a:srgbClr val="D4D4D4"/>
                </a:solidFill>
                <a:latin typeface="Courier New" pitchFamily="34" charset="0"/>
                <a:ea typeface="Courier New" pitchFamily="34" charset="-122"/>
                <a:cs typeface="Courier New" pitchFamily="34" charset="-120"/>
              </a:rPr>
              <a:t>,</a:t>
            </a:r>
            <a:endParaRPr lang="en-US" sz="900" dirty="0"/>
          </a:p>
          <a:p>
            <a:pPr marL="0" indent="0">
              <a:lnSpc>
                <a:spcPts val="1150"/>
              </a:lnSpc>
              <a:buNone/>
            </a:pPr>
            <a:r>
              <a:rPr lang="en-US" sz="900" dirty="0">
                <a:solidFill>
                  <a:srgbClr val="D4D4D4"/>
                </a:solidFill>
                <a:latin typeface="Courier New" pitchFamily="34" charset="0"/>
                <a:ea typeface="Courier New" pitchFamily="34" charset="-122"/>
                <a:cs typeface="Courier New" pitchFamily="34" charset="-120"/>
              </a:rPr>
              <a:t>  "url": </a:t>
            </a:r>
            <a:endParaRPr lang="en-US" sz="900" dirty="0"/>
          </a:p>
          <a:p>
            <a:pPr marL="0" indent="0">
              <a:lnSpc>
                <a:spcPts val="1150"/>
              </a:lnSpc>
              <a:buNone/>
            </a:pPr>
            <a:r>
              <a:rPr lang="en-US" sz="900" dirty="0">
                <a:solidFill>
                  <a:srgbClr val="6A9955"/>
                </a:solidFill>
                <a:latin typeface="Courier New" pitchFamily="34" charset="0"/>
                <a:ea typeface="Courier New" pitchFamily="34" charset="-122"/>
                <a:cs typeface="Courier New" pitchFamily="34" charset="-120"/>
              </a:rPr>
              <a:t>"https://my-audit.example.com/hooks" }</a:t>
            </a:r>
            <a:endParaRPr lang="en-US" sz="900" dirty="0"/>
          </a:p>
        </p:txBody>
      </p:sp>
      <p:sp>
        <p:nvSpPr>
          <p:cNvPr id="10" name="Text 8">
            <a:extLst>
              <a:ext uri="{FF2B5EF4-FFF2-40B4-BE49-F238E27FC236}">
                <a16:creationId xmlns:a16="http://schemas.microsoft.com/office/drawing/2014/main" id="{23DEFA44-3ACC-68BD-D665-634AAD9643BD}"/>
              </a:ext>
            </a:extLst>
          </p:cNvPr>
          <p:cNvSpPr/>
          <p:nvPr/>
        </p:nvSpPr>
        <p:spPr>
          <a:xfrm>
            <a:off x="731520" y="3136392"/>
            <a:ext cx="5029200" cy="347472"/>
          </a:xfrm>
          <a:prstGeom prst="rect">
            <a:avLst/>
          </a:prstGeom>
          <a:noFill/>
          <a:ln/>
        </p:spPr>
        <p:txBody>
          <a:bodyPr wrap="square" lIns="0" tIns="0" rIns="0" bIns="0" rtlCol="0" anchor="ctr"/>
          <a:lstStyle/>
          <a:p>
            <a:pPr marL="0" indent="0">
              <a:buNone/>
            </a:pPr>
            <a:r>
              <a:rPr lang="en-US" sz="900" i="1" dirty="0">
                <a:solidFill>
                  <a:srgbClr val="6B6B6B"/>
                </a:solidFill>
                <a:latin typeface="Calibri" pitchFamily="34" charset="0"/>
                <a:ea typeface="Calibri" pitchFamily="34" charset="-122"/>
                <a:cs typeface="Calibri" pitchFamily="34" charset="-120"/>
              </a:rPr>
              <a:t>Claude Code sends the full event JSON as the POST body. See the reference for header and timeout options.</a:t>
            </a:r>
            <a:endParaRPr lang="en-US" sz="900" dirty="0"/>
          </a:p>
        </p:txBody>
      </p:sp>
      <p:sp>
        <p:nvSpPr>
          <p:cNvPr id="11" name="Shape 9">
            <a:extLst>
              <a:ext uri="{FF2B5EF4-FFF2-40B4-BE49-F238E27FC236}">
                <a16:creationId xmlns:a16="http://schemas.microsoft.com/office/drawing/2014/main" id="{0F40B9E9-5148-FC4F-DCEF-3ED0001409F6}"/>
              </a:ext>
            </a:extLst>
          </p:cNvPr>
          <p:cNvSpPr/>
          <p:nvPr/>
        </p:nvSpPr>
        <p:spPr>
          <a:xfrm>
            <a:off x="731520" y="3593592"/>
            <a:ext cx="5029200" cy="0"/>
          </a:xfrm>
          <a:prstGeom prst="line">
            <a:avLst/>
          </a:prstGeom>
          <a:noFill/>
          <a:ln w="12700">
            <a:solidFill>
              <a:srgbClr val="E3E0D8"/>
            </a:solidFill>
            <a:prstDash val="solid"/>
          </a:ln>
        </p:spPr>
        <p:txBody>
          <a:bodyPr/>
          <a:lstStyle/>
          <a:p>
            <a:endParaRPr lang="en-US"/>
          </a:p>
        </p:txBody>
      </p:sp>
      <p:sp>
        <p:nvSpPr>
          <p:cNvPr id="12" name="Shape 10">
            <a:extLst>
              <a:ext uri="{FF2B5EF4-FFF2-40B4-BE49-F238E27FC236}">
                <a16:creationId xmlns:a16="http://schemas.microsoft.com/office/drawing/2014/main" id="{87072285-6BD5-C16C-44F5-250B88ACA2B8}"/>
              </a:ext>
            </a:extLst>
          </p:cNvPr>
          <p:cNvSpPr/>
          <p:nvPr/>
        </p:nvSpPr>
        <p:spPr>
          <a:xfrm>
            <a:off x="731520" y="3776472"/>
            <a:ext cx="54864" cy="329184"/>
          </a:xfrm>
          <a:prstGeom prst="rect">
            <a:avLst/>
          </a:prstGeom>
          <a:solidFill>
            <a:srgbClr val="8A6D3B"/>
          </a:solidFill>
          <a:ln w="12700">
            <a:solidFill>
              <a:srgbClr val="8A6D3B"/>
            </a:solidFill>
            <a:prstDash val="solid"/>
          </a:ln>
        </p:spPr>
        <p:txBody>
          <a:bodyPr/>
          <a:lstStyle/>
          <a:p>
            <a:endParaRPr lang="en-US"/>
          </a:p>
        </p:txBody>
      </p:sp>
      <p:sp>
        <p:nvSpPr>
          <p:cNvPr id="13" name="Text 11">
            <a:extLst>
              <a:ext uri="{FF2B5EF4-FFF2-40B4-BE49-F238E27FC236}">
                <a16:creationId xmlns:a16="http://schemas.microsoft.com/office/drawing/2014/main" id="{7739246F-D5B0-0012-6C6D-2B0C7F224031}"/>
              </a:ext>
            </a:extLst>
          </p:cNvPr>
          <p:cNvSpPr/>
          <p:nvPr/>
        </p:nvSpPr>
        <p:spPr>
          <a:xfrm>
            <a:off x="896112" y="3739896"/>
            <a:ext cx="4864608" cy="329184"/>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"type": "prompt"  —  Single-turn LLM evaluation</a:t>
            </a:r>
            <a:endParaRPr lang="en-US" sz="1300" dirty="0"/>
          </a:p>
        </p:txBody>
      </p:sp>
      <p:sp>
        <p:nvSpPr>
          <p:cNvPr id="14" name="Text 12">
            <a:extLst>
              <a:ext uri="{FF2B5EF4-FFF2-40B4-BE49-F238E27FC236}">
                <a16:creationId xmlns:a16="http://schemas.microsoft.com/office/drawing/2014/main" id="{CB7B7833-8523-1973-48BF-2F3B800818EA}"/>
              </a:ext>
            </a:extLst>
          </p:cNvPr>
          <p:cNvSpPr/>
          <p:nvPr/>
        </p:nvSpPr>
        <p:spPr>
          <a:xfrm>
            <a:off x="731520" y="4114800"/>
            <a:ext cx="5029200" cy="411480"/>
          </a:xfrm>
          <a:prstGeom prst="rect">
            <a:avLst/>
          </a:prstGeom>
          <a:noFill/>
          <a:ln/>
        </p:spPr>
        <p:txBody>
          <a:bodyPr wrap="square" lIns="0" tIns="0" rIns="0" bIns="0" rtlCol="0" anchor="ctr"/>
          <a:lstStyle/>
          <a:p>
            <a:pPr marL="0" indent="0">
              <a:buNone/>
            </a:pPr>
            <a:r>
              <a:rPr lang="en-US" sz="1000" dirty="0">
                <a:solidFill>
                  <a:srgbClr val="2B2B2B"/>
                </a:solidFill>
                <a:latin typeface="Calibri" pitchFamily="34" charset="0"/>
                <a:ea typeface="Calibri" pitchFamily="34" charset="-122"/>
                <a:cs typeface="Calibri" pitchFamily="34" charset="-120"/>
              </a:rPr>
              <a:t>Runs a model evaluation at hook time. Use when you need judgment rather than deterministic rules — e.g. classify whether a bash command looks risky.</a:t>
            </a:r>
            <a:endParaRPr lang="en-US" sz="1000" dirty="0"/>
          </a:p>
        </p:txBody>
      </p:sp>
      <p:sp>
        <p:nvSpPr>
          <p:cNvPr id="15" name="Shape 13">
            <a:extLst>
              <a:ext uri="{FF2B5EF4-FFF2-40B4-BE49-F238E27FC236}">
                <a16:creationId xmlns:a16="http://schemas.microsoft.com/office/drawing/2014/main" id="{4C487A84-5003-1225-A4DA-2868FFB56564}"/>
              </a:ext>
            </a:extLst>
          </p:cNvPr>
          <p:cNvSpPr/>
          <p:nvPr/>
        </p:nvSpPr>
        <p:spPr>
          <a:xfrm>
            <a:off x="731520" y="4572000"/>
            <a:ext cx="5029200" cy="822960"/>
          </a:xfrm>
          <a:prstGeom prst="rect">
            <a:avLst/>
          </a:prstGeom>
          <a:solidFill>
            <a:srgbClr val="1E1E1E"/>
          </a:solidFill>
          <a:ln w="12700">
            <a:solidFill>
              <a:srgbClr val="1E1E1E"/>
            </a:solidFill>
            <a:prstDash val="solid"/>
          </a:ln>
        </p:spPr>
        <p:txBody>
          <a:bodyPr/>
          <a:lstStyle/>
          <a:p>
            <a:endParaRPr lang="en-US"/>
          </a:p>
        </p:txBody>
      </p:sp>
      <p:sp>
        <p:nvSpPr>
          <p:cNvPr id="16" name="Text 14">
            <a:extLst>
              <a:ext uri="{FF2B5EF4-FFF2-40B4-BE49-F238E27FC236}">
                <a16:creationId xmlns:a16="http://schemas.microsoft.com/office/drawing/2014/main" id="{0BF45890-48F8-2EBE-1670-4A062DF725B7}"/>
              </a:ext>
            </a:extLst>
          </p:cNvPr>
          <p:cNvSpPr/>
          <p:nvPr/>
        </p:nvSpPr>
        <p:spPr>
          <a:xfrm>
            <a:off x="868680" y="4636008"/>
            <a:ext cx="4754880" cy="694944"/>
          </a:xfrm>
          <a:prstGeom prst="rect">
            <a:avLst/>
          </a:prstGeom>
          <a:noFill/>
          <a:ln/>
        </p:spPr>
        <p:txBody>
          <a:bodyPr wrap="square" lIns="0" tIns="0" rIns="0" bIns="0" rtlCol="0" anchor="t"/>
          <a:lstStyle/>
          <a:p>
            <a:pPr marL="0" indent="0">
              <a:lnSpc>
                <a:spcPts val="1100"/>
              </a:lnSpc>
              <a:buNone/>
            </a:pPr>
            <a:r>
              <a:rPr lang="en-US" sz="900" dirty="0">
                <a:solidFill>
                  <a:srgbClr val="6B6B6B"/>
                </a:solidFill>
                <a:latin typeface="Courier New" pitchFamily="34" charset="0"/>
                <a:ea typeface="Courier New" pitchFamily="34" charset="-122"/>
                <a:cs typeface="Courier New" pitchFamily="34" charset="-120"/>
              </a:rPr>
              <a:t>// hook entry inside matcher group:
</a:t>
            </a:r>
            <a:r>
              <a:rPr lang="en-US" sz="900" dirty="0">
                <a:solidFill>
                  <a:srgbClr val="D4D4D4"/>
                </a:solidFill>
                <a:latin typeface="Courier New" pitchFamily="34" charset="0"/>
                <a:ea typeface="Courier New" pitchFamily="34" charset="-122"/>
                <a:cs typeface="Courier New" pitchFamily="34" charset="-120"/>
              </a:rPr>
              <a:t>{ "type": </a:t>
            </a:r>
            <a:r>
              <a:rPr lang="en-US" sz="900" dirty="0">
                <a:solidFill>
                  <a:srgbClr val="6A9955"/>
                </a:solidFill>
                <a:latin typeface="Courier New" pitchFamily="34" charset="0"/>
                <a:ea typeface="Courier New" pitchFamily="34" charset="-122"/>
                <a:cs typeface="Courier New" pitchFamily="34" charset="-120"/>
              </a:rPr>
              <a:t>"prompt",</a:t>
            </a:r>
            <a:endParaRPr lang="en-US" sz="900" dirty="0"/>
          </a:p>
          <a:p>
            <a:pPr marL="0" indent="0">
              <a:lnSpc>
                <a:spcPts val="1100"/>
              </a:lnSpc>
              <a:buNone/>
            </a:pPr>
            <a:r>
              <a:rPr lang="en-US" sz="900" dirty="0">
                <a:solidFill>
                  <a:srgbClr val="6A9955"/>
                </a:solidFill>
                <a:latin typeface="Courier New" pitchFamily="34" charset="0"/>
                <a:ea typeface="Courier New" pitchFamily="34" charset="-122"/>
                <a:cs typeface="Courier New" pitchFamily="34" charset="-120"/>
              </a:rPr>
              <a:t>  "prompt": "Is this Bash command risky?</a:t>
            </a:r>
            <a:endParaRPr lang="en-US" sz="900" dirty="0"/>
          </a:p>
          <a:p>
            <a:pPr marL="0" indent="0">
              <a:lnSpc>
                <a:spcPts val="1100"/>
              </a:lnSpc>
              <a:buNone/>
            </a:pPr>
            <a:r>
              <a:rPr lang="en-US" sz="900" dirty="0">
                <a:solidFill>
                  <a:srgbClr val="6A9955"/>
                </a:solidFill>
                <a:latin typeface="Courier New" pitchFamily="34" charset="0"/>
                <a:ea typeface="Courier New" pitchFamily="34" charset="-122"/>
                <a:cs typeface="Courier New" pitchFamily="34" charset="-120"/>
              </a:rPr>
              <a:t>  Deny if yes, allow if safe." }</a:t>
            </a:r>
            <a:endParaRPr lang="en-US" sz="900" dirty="0"/>
          </a:p>
        </p:txBody>
      </p:sp>
      <p:sp>
        <p:nvSpPr>
          <p:cNvPr id="17" name="Shape 15">
            <a:extLst>
              <a:ext uri="{FF2B5EF4-FFF2-40B4-BE49-F238E27FC236}">
                <a16:creationId xmlns:a16="http://schemas.microsoft.com/office/drawing/2014/main" id="{14D72887-C99E-C626-BD5C-F0E3C78BC5E8}"/>
              </a:ext>
            </a:extLst>
          </p:cNvPr>
          <p:cNvSpPr/>
          <p:nvPr/>
        </p:nvSpPr>
        <p:spPr>
          <a:xfrm>
            <a:off x="6263640" y="1261872"/>
            <a:ext cx="5440680" cy="4572000"/>
          </a:xfrm>
          <a:prstGeom prst="roundRect">
            <a:avLst>
              <a:gd name="adj" fmla="val 1200"/>
            </a:avLst>
          </a:prstGeom>
          <a:solidFill>
            <a:srgbClr val="FFFFFF"/>
          </a:solidFill>
          <a:ln w="12700">
            <a:solidFill>
              <a:srgbClr val="E3E0D8"/>
            </a:solidFill>
            <a:prstDash val="solid"/>
          </a:ln>
          <a:effectLst>
            <a:outerShdw blurRad="101600" dist="25400" dir="5400000" algn="bl" rotWithShape="0">
              <a:srgbClr val="000000">
                <a:alpha val="8000"/>
              </a:srgbClr>
            </a:outerShdw>
          </a:effectLst>
        </p:spPr>
        <p:txBody>
          <a:bodyPr/>
          <a:lstStyle/>
          <a:p>
            <a:endParaRPr lang="en-US"/>
          </a:p>
        </p:txBody>
      </p:sp>
      <p:sp>
        <p:nvSpPr>
          <p:cNvPr id="18" name="Shape 16">
            <a:extLst>
              <a:ext uri="{FF2B5EF4-FFF2-40B4-BE49-F238E27FC236}">
                <a16:creationId xmlns:a16="http://schemas.microsoft.com/office/drawing/2014/main" id="{30EEA59F-188E-7BAD-3BDE-F14533179D08}"/>
              </a:ext>
            </a:extLst>
          </p:cNvPr>
          <p:cNvSpPr/>
          <p:nvPr/>
        </p:nvSpPr>
        <p:spPr>
          <a:xfrm>
            <a:off x="6537960" y="1444752"/>
            <a:ext cx="54864" cy="329184"/>
          </a:xfrm>
          <a:prstGeom prst="rect">
            <a:avLst/>
          </a:prstGeom>
          <a:solidFill>
            <a:srgbClr val="B04A3B"/>
          </a:solidFill>
          <a:ln w="12700">
            <a:solidFill>
              <a:srgbClr val="B04A3B"/>
            </a:solidFill>
            <a:prstDash val="solid"/>
          </a:ln>
        </p:spPr>
        <p:txBody>
          <a:bodyPr/>
          <a:lstStyle/>
          <a:p>
            <a:endParaRPr lang="en-US"/>
          </a:p>
        </p:txBody>
      </p:sp>
      <p:sp>
        <p:nvSpPr>
          <p:cNvPr id="19" name="Text 17">
            <a:extLst>
              <a:ext uri="{FF2B5EF4-FFF2-40B4-BE49-F238E27FC236}">
                <a16:creationId xmlns:a16="http://schemas.microsoft.com/office/drawing/2014/main" id="{0D7FAA4C-E5FF-8DBD-2DB3-47EFC4B71BD7}"/>
              </a:ext>
            </a:extLst>
          </p:cNvPr>
          <p:cNvSpPr/>
          <p:nvPr/>
        </p:nvSpPr>
        <p:spPr>
          <a:xfrm>
            <a:off x="6702552" y="1444752"/>
            <a:ext cx="4727448" cy="329184"/>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"type": "agent"  —  Multi-turn LLM with tools</a:t>
            </a:r>
            <a:endParaRPr lang="en-US" sz="1300" dirty="0"/>
          </a:p>
        </p:txBody>
      </p:sp>
      <p:sp>
        <p:nvSpPr>
          <p:cNvPr id="20" name="Shape 18">
            <a:extLst>
              <a:ext uri="{FF2B5EF4-FFF2-40B4-BE49-F238E27FC236}">
                <a16:creationId xmlns:a16="http://schemas.microsoft.com/office/drawing/2014/main" id="{891C567C-6B87-CD38-B841-1E122B29741D}"/>
              </a:ext>
            </a:extLst>
          </p:cNvPr>
          <p:cNvSpPr/>
          <p:nvPr/>
        </p:nvSpPr>
        <p:spPr>
          <a:xfrm>
            <a:off x="6537960" y="1856232"/>
            <a:ext cx="4892040" cy="292608"/>
          </a:xfrm>
          <a:prstGeom prst="rect">
            <a:avLst/>
          </a:prstGeom>
          <a:solidFill>
            <a:srgbClr val="FFF3CD"/>
          </a:solidFill>
          <a:ln w="12700">
            <a:solidFill>
              <a:srgbClr val="8A6D3B"/>
            </a:solidFill>
            <a:prstDash val="solid"/>
          </a:ln>
        </p:spPr>
        <p:txBody>
          <a:bodyPr/>
          <a:lstStyle/>
          <a:p>
            <a:endParaRPr lang="en-US"/>
          </a:p>
        </p:txBody>
      </p:sp>
      <p:sp>
        <p:nvSpPr>
          <p:cNvPr id="21" name="Text 19">
            <a:extLst>
              <a:ext uri="{FF2B5EF4-FFF2-40B4-BE49-F238E27FC236}">
                <a16:creationId xmlns:a16="http://schemas.microsoft.com/office/drawing/2014/main" id="{D05F3EDA-E705-AE10-E81A-9B325053907B}"/>
              </a:ext>
            </a:extLst>
          </p:cNvPr>
          <p:cNvSpPr/>
          <p:nvPr/>
        </p:nvSpPr>
        <p:spPr>
          <a:xfrm>
            <a:off x="6675120" y="1856232"/>
            <a:ext cx="4617720" cy="292608"/>
          </a:xfrm>
          <a:prstGeom prst="rect">
            <a:avLst/>
          </a:prstGeom>
          <a:noFill/>
          <a:ln/>
        </p:spPr>
        <p:txBody>
          <a:bodyPr wrap="square" lIns="0" tIns="0" rIns="0" bIns="0" rtlCol="0" anchor="ctr"/>
          <a:lstStyle/>
          <a:p>
            <a:pPr marL="0" indent="0">
              <a:buNone/>
            </a:pPr>
            <a:r>
              <a:rPr lang="en-US" sz="900" b="1" dirty="0">
                <a:solidFill>
                  <a:srgbClr val="8A6D3B"/>
                </a:solidFill>
                <a:latin typeface="Calibri" pitchFamily="34" charset="0"/>
                <a:ea typeface="Calibri" pitchFamily="34" charset="-122"/>
                <a:cs typeface="Calibri" pitchFamily="34" charset="-120"/>
              </a:rPr>
              <a:t>⚠  Experimental — may change in future releases.</a:t>
            </a:r>
            <a:endParaRPr lang="en-US" sz="900" dirty="0"/>
          </a:p>
        </p:txBody>
      </p:sp>
      <p:sp>
        <p:nvSpPr>
          <p:cNvPr id="22" name="Text 20">
            <a:extLst>
              <a:ext uri="{FF2B5EF4-FFF2-40B4-BE49-F238E27FC236}">
                <a16:creationId xmlns:a16="http://schemas.microsoft.com/office/drawing/2014/main" id="{71F1E38F-75ED-D94F-395D-80DEBA23064D}"/>
              </a:ext>
            </a:extLst>
          </p:cNvPr>
          <p:cNvSpPr/>
          <p:nvPr/>
        </p:nvSpPr>
        <p:spPr>
          <a:xfrm>
            <a:off x="6537960" y="2221992"/>
            <a:ext cx="4892040" cy="502920"/>
          </a:xfrm>
          <a:prstGeom prst="rect">
            <a:avLst/>
          </a:prstGeom>
          <a:noFill/>
          <a:ln/>
        </p:spPr>
        <p:txBody>
          <a:bodyPr wrap="square" lIns="0" tIns="0" rIns="0" bIns="0" rtlCol="0" anchor="ctr"/>
          <a:lstStyle/>
          <a:p>
            <a:pPr marL="0" indent="0">
              <a:buNone/>
            </a:pPr>
            <a:r>
              <a:rPr lang="en-US" sz="1000" dirty="0">
                <a:solidFill>
                  <a:srgbClr val="2B2B2B"/>
                </a:solidFill>
                <a:latin typeface="Calibri" pitchFamily="34" charset="0"/>
                <a:ea typeface="Calibri" pitchFamily="34" charset="-122"/>
                <a:cs typeface="Calibri" pitchFamily="34" charset="-120"/>
              </a:rPr>
              <a:t>Like prompt-based hooks, but runs multiple turns with tool access. Use for complex verification workflows — e.g. a security agent that reads related files before approving a write.</a:t>
            </a:r>
            <a:endParaRPr lang="en-US" sz="1000" dirty="0"/>
          </a:p>
        </p:txBody>
      </p:sp>
      <p:sp>
        <p:nvSpPr>
          <p:cNvPr id="23" name="Shape 21">
            <a:extLst>
              <a:ext uri="{FF2B5EF4-FFF2-40B4-BE49-F238E27FC236}">
                <a16:creationId xmlns:a16="http://schemas.microsoft.com/office/drawing/2014/main" id="{B4D43DE8-A4CF-09F6-F334-B4DBF0303863}"/>
              </a:ext>
            </a:extLst>
          </p:cNvPr>
          <p:cNvSpPr/>
          <p:nvPr/>
        </p:nvSpPr>
        <p:spPr>
          <a:xfrm>
            <a:off x="6537960" y="2770632"/>
            <a:ext cx="4892040" cy="685800"/>
          </a:xfrm>
          <a:prstGeom prst="rect">
            <a:avLst/>
          </a:prstGeom>
          <a:solidFill>
            <a:srgbClr val="1E1E1E"/>
          </a:solidFill>
          <a:ln w="12700">
            <a:solidFill>
              <a:srgbClr val="1E1E1E"/>
            </a:solidFill>
            <a:prstDash val="solid"/>
          </a:ln>
        </p:spPr>
        <p:txBody>
          <a:bodyPr/>
          <a:lstStyle/>
          <a:p>
            <a:endParaRPr lang="en-US"/>
          </a:p>
        </p:txBody>
      </p:sp>
      <p:sp>
        <p:nvSpPr>
          <p:cNvPr id="24" name="Text 22">
            <a:extLst>
              <a:ext uri="{FF2B5EF4-FFF2-40B4-BE49-F238E27FC236}">
                <a16:creationId xmlns:a16="http://schemas.microsoft.com/office/drawing/2014/main" id="{A0E02B5B-2F4C-2BD0-25AB-5D38863C8E8A}"/>
              </a:ext>
            </a:extLst>
          </p:cNvPr>
          <p:cNvSpPr/>
          <p:nvPr/>
        </p:nvSpPr>
        <p:spPr>
          <a:xfrm>
            <a:off x="6675120" y="2834640"/>
            <a:ext cx="4617720" cy="576072"/>
          </a:xfrm>
          <a:prstGeom prst="rect">
            <a:avLst/>
          </a:prstGeom>
          <a:noFill/>
          <a:ln/>
        </p:spPr>
        <p:txBody>
          <a:bodyPr wrap="square" lIns="0" tIns="0" rIns="0" bIns="0" rtlCol="0" anchor="t"/>
          <a:lstStyle/>
          <a:p>
            <a:pPr marL="0" indent="0">
              <a:lnSpc>
                <a:spcPts val="1100"/>
              </a:lnSpc>
              <a:buNone/>
            </a:pPr>
            <a:r>
              <a:rPr lang="en-US" sz="900" dirty="0">
                <a:solidFill>
                  <a:srgbClr val="6B6B6B"/>
                </a:solidFill>
                <a:latin typeface="Courier New" pitchFamily="34" charset="0"/>
                <a:ea typeface="Courier New" pitchFamily="34" charset="-122"/>
                <a:cs typeface="Courier New" pitchFamily="34" charset="-120"/>
              </a:rPr>
              <a:t>// hook entry inside matcher group:
</a:t>
            </a:r>
            <a:r>
              <a:rPr lang="en-US" sz="900" dirty="0">
                <a:solidFill>
                  <a:srgbClr val="D4D4D4"/>
                </a:solidFill>
                <a:latin typeface="Courier New" pitchFamily="34" charset="0"/>
                <a:ea typeface="Courier New" pitchFamily="34" charset="-122"/>
                <a:cs typeface="Courier New" pitchFamily="34" charset="-120"/>
              </a:rPr>
              <a:t>{ "type": </a:t>
            </a:r>
            <a:r>
              <a:rPr lang="en-US" sz="900" dirty="0">
                <a:solidFill>
                  <a:srgbClr val="6A9955"/>
                </a:solidFill>
                <a:latin typeface="Courier New" pitchFamily="34" charset="0"/>
                <a:ea typeface="Courier New" pitchFamily="34" charset="-122"/>
                <a:cs typeface="Courier New" pitchFamily="34" charset="-120"/>
              </a:rPr>
              <a:t>"agent", "prompt": "Review this</a:t>
            </a:r>
            <a:endParaRPr lang="en-US" sz="900" dirty="0"/>
          </a:p>
          <a:p>
            <a:pPr marL="0" indent="0">
              <a:lnSpc>
                <a:spcPts val="1100"/>
              </a:lnSpc>
              <a:buNone/>
            </a:pPr>
            <a:r>
              <a:rPr lang="en-US" sz="900" dirty="0">
                <a:solidFill>
                  <a:srgbClr val="6A9955"/>
                </a:solidFill>
                <a:latin typeface="Courier New" pitchFamily="34" charset="0"/>
                <a:ea typeface="Courier New" pitchFamily="34" charset="-122"/>
                <a:cs typeface="Courier New" pitchFamily="34" charset="-120"/>
              </a:rPr>
              <a:t>  file edit for security issues" }</a:t>
            </a:r>
            <a:endParaRPr lang="en-US" sz="900" dirty="0"/>
          </a:p>
        </p:txBody>
      </p:sp>
      <p:sp>
        <p:nvSpPr>
          <p:cNvPr id="25" name="Shape 23">
            <a:extLst>
              <a:ext uri="{FF2B5EF4-FFF2-40B4-BE49-F238E27FC236}">
                <a16:creationId xmlns:a16="http://schemas.microsoft.com/office/drawing/2014/main" id="{5BF843A3-B3E5-7618-57CB-6FF68CF33357}"/>
              </a:ext>
            </a:extLst>
          </p:cNvPr>
          <p:cNvSpPr/>
          <p:nvPr/>
        </p:nvSpPr>
        <p:spPr>
          <a:xfrm>
            <a:off x="6537960" y="3566160"/>
            <a:ext cx="4892040" cy="0"/>
          </a:xfrm>
          <a:prstGeom prst="line">
            <a:avLst/>
          </a:prstGeom>
          <a:noFill/>
          <a:ln w="12700">
            <a:solidFill>
              <a:srgbClr val="E3E0D8"/>
            </a:solidFill>
            <a:prstDash val="solid"/>
          </a:ln>
        </p:spPr>
        <p:txBody>
          <a:bodyPr/>
          <a:lstStyle/>
          <a:p>
            <a:endParaRPr lang="en-US"/>
          </a:p>
        </p:txBody>
      </p:sp>
      <p:sp>
        <p:nvSpPr>
          <p:cNvPr id="26" name="Text 24">
            <a:extLst>
              <a:ext uri="{FF2B5EF4-FFF2-40B4-BE49-F238E27FC236}">
                <a16:creationId xmlns:a16="http://schemas.microsoft.com/office/drawing/2014/main" id="{759CA73C-780B-7AE5-8F4F-665F1E7DD8F7}"/>
              </a:ext>
            </a:extLst>
          </p:cNvPr>
          <p:cNvSpPr/>
          <p:nvPr/>
        </p:nvSpPr>
        <p:spPr>
          <a:xfrm>
            <a:off x="6537960" y="3694176"/>
            <a:ext cx="4892040" cy="274320"/>
          </a:xfrm>
          <a:prstGeom prst="rect">
            <a:avLst/>
          </a:prstGeom>
          <a:noFill/>
          <a:ln/>
        </p:spPr>
        <p:txBody>
          <a:bodyPr wrap="square" lIns="0" tIns="0" rIns="0" bIns="0"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Combining multiple hooks on one event</a:t>
            </a:r>
            <a:endParaRPr lang="en-US" sz="1300" dirty="0"/>
          </a:p>
        </p:txBody>
      </p:sp>
      <p:sp>
        <p:nvSpPr>
          <p:cNvPr id="27" name="Text 25">
            <a:extLst>
              <a:ext uri="{FF2B5EF4-FFF2-40B4-BE49-F238E27FC236}">
                <a16:creationId xmlns:a16="http://schemas.microsoft.com/office/drawing/2014/main" id="{12FFC640-72CC-A7B2-B601-56D3917F88E6}"/>
              </a:ext>
            </a:extLst>
          </p:cNvPr>
          <p:cNvSpPr/>
          <p:nvPr/>
        </p:nvSpPr>
        <p:spPr>
          <a:xfrm>
            <a:off x="6537960" y="4005072"/>
            <a:ext cx="4892040" cy="438912"/>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All hooks for an event run in parallel — one denying doesn't stop the others. Results merge; most restrictive wins for PreToolUse (deny &gt; defer &gt; ask &gt; allow).</a:t>
            </a:r>
            <a:endParaRPr lang="en-US" sz="950" dirty="0"/>
          </a:p>
        </p:txBody>
      </p:sp>
      <p:sp>
        <p:nvSpPr>
          <p:cNvPr id="28" name="Shape 26">
            <a:extLst>
              <a:ext uri="{FF2B5EF4-FFF2-40B4-BE49-F238E27FC236}">
                <a16:creationId xmlns:a16="http://schemas.microsoft.com/office/drawing/2014/main" id="{13EA337B-5865-BEFB-80E9-D908A06A7727}"/>
              </a:ext>
            </a:extLst>
          </p:cNvPr>
          <p:cNvSpPr/>
          <p:nvPr/>
        </p:nvSpPr>
        <p:spPr>
          <a:xfrm>
            <a:off x="6537960" y="4489704"/>
            <a:ext cx="4892040" cy="1005840"/>
          </a:xfrm>
          <a:prstGeom prst="rect">
            <a:avLst/>
          </a:prstGeom>
          <a:solidFill>
            <a:srgbClr val="1E1E1E"/>
          </a:solidFill>
          <a:ln w="12700">
            <a:solidFill>
              <a:srgbClr val="1E1E1E"/>
            </a:solidFill>
            <a:prstDash val="solid"/>
          </a:ln>
        </p:spPr>
        <p:txBody>
          <a:bodyPr/>
          <a:lstStyle/>
          <a:p>
            <a:endParaRPr lang="en-US"/>
          </a:p>
        </p:txBody>
      </p:sp>
      <p:sp>
        <p:nvSpPr>
          <p:cNvPr id="29" name="Text 27">
            <a:extLst>
              <a:ext uri="{FF2B5EF4-FFF2-40B4-BE49-F238E27FC236}">
                <a16:creationId xmlns:a16="http://schemas.microsoft.com/office/drawing/2014/main" id="{42A49840-2005-1A11-34E5-3C9B051D6FF4}"/>
              </a:ext>
            </a:extLst>
          </p:cNvPr>
          <p:cNvSpPr/>
          <p:nvPr/>
        </p:nvSpPr>
        <p:spPr>
          <a:xfrm>
            <a:off x="6675120" y="4553712"/>
            <a:ext cx="4617720" cy="886968"/>
          </a:xfrm>
          <a:prstGeom prst="rect">
            <a:avLst/>
          </a:prstGeom>
          <a:noFill/>
          <a:ln/>
        </p:spPr>
        <p:txBody>
          <a:bodyPr wrap="square" lIns="0" tIns="0" rIns="0" bIns="0" rtlCol="0" anchor="t"/>
          <a:lstStyle/>
          <a:p>
            <a:pPr marL="0" indent="0">
              <a:lnSpc>
                <a:spcPts val="1050"/>
              </a:lnSpc>
              <a:buNone/>
            </a:pPr>
            <a:r>
              <a:rPr lang="en-US" sz="800" dirty="0">
                <a:solidFill>
                  <a:srgbClr val="CE9178"/>
                </a:solidFill>
                <a:latin typeface="Courier New" pitchFamily="34" charset="0"/>
                <a:ea typeface="Courier New" pitchFamily="34" charset="-122"/>
                <a:cs typeface="Courier New" pitchFamily="34" charset="-120"/>
              </a:rPr>
              <a:t>"PreToolUse"</a:t>
            </a:r>
            <a:r>
              <a:rPr lang="en-US" sz="800" dirty="0">
                <a:solidFill>
                  <a:srgbClr val="D4D4D4"/>
                </a:solidFill>
                <a:latin typeface="Courier New" pitchFamily="34" charset="0"/>
                <a:ea typeface="Courier New" pitchFamily="34" charset="-122"/>
                <a:cs typeface="Courier New" pitchFamily="34" charset="-120"/>
              </a:rPr>
              <a:t>: [{ "matcher": "Bash", "hooks": [</a:t>
            </a:r>
            <a:endParaRPr lang="en-US" sz="800" dirty="0"/>
          </a:p>
          <a:p>
            <a:pPr marL="0" indent="0">
              <a:lnSpc>
                <a:spcPts val="1050"/>
              </a:lnSpc>
              <a:buNone/>
            </a:pPr>
            <a:r>
              <a:rPr lang="en-US" sz="800" dirty="0">
                <a:solidFill>
                  <a:srgbClr val="D4D4D4"/>
                </a:solidFill>
                <a:latin typeface="Courier New" pitchFamily="34" charset="0"/>
                <a:ea typeface="Courier New" pitchFamily="34" charset="-122"/>
                <a:cs typeface="Courier New" pitchFamily="34" charset="-120"/>
              </a:rPr>
              <a:t>  </a:t>
            </a:r>
            <a:endParaRPr lang="en-US" sz="800" dirty="0"/>
          </a:p>
          <a:p>
            <a:pPr marL="0" indent="0">
              <a:lnSpc>
                <a:spcPts val="1050"/>
              </a:lnSpc>
              <a:buNone/>
            </a:pPr>
            <a:r>
              <a:rPr lang="en-US" sz="800" dirty="0">
                <a:solidFill>
                  <a:srgbClr val="6B6B6B"/>
                </a:solidFill>
                <a:latin typeface="Courier New" pitchFamily="34" charset="0"/>
                <a:ea typeface="Courier New" pitchFamily="34" charset="-122"/>
                <a:cs typeface="Courier New" pitchFamily="34" charset="-120"/>
              </a:rPr>
              <a:t>// hook 1 — log to file (exits 0, no decision)</a:t>
            </a:r>
            <a:endParaRPr lang="en-US" sz="800" dirty="0"/>
          </a:p>
          <a:p>
            <a:pPr marL="0" indent="0">
              <a:lnSpc>
                <a:spcPts val="1050"/>
              </a:lnSpc>
              <a:buNone/>
            </a:pPr>
            <a:r>
              <a:rPr lang="en-US" sz="800" dirty="0">
                <a:solidFill>
                  <a:srgbClr val="6B6B6B"/>
                </a:solidFill>
                <a:latin typeface="Courier New" pitchFamily="34" charset="0"/>
                <a:ea typeface="Courier New" pitchFamily="34" charset="-122"/>
                <a:cs typeface="Courier New" pitchFamily="34" charset="-120"/>
              </a:rPr>
              <a:t>  </a:t>
            </a:r>
            <a:endParaRPr lang="en-US" sz="800" dirty="0"/>
          </a:p>
          <a:p>
            <a:pPr marL="0" indent="0">
              <a:lnSpc>
                <a:spcPts val="1050"/>
              </a:lnSpc>
              <a:buNone/>
            </a:pPr>
            <a:r>
              <a:rPr lang="en-US" sz="800" dirty="0">
                <a:solidFill>
                  <a:srgbClr val="D4D4D4"/>
                </a:solidFill>
                <a:latin typeface="Courier New" pitchFamily="34" charset="0"/>
                <a:ea typeface="Courier New" pitchFamily="34" charset="-122"/>
                <a:cs typeface="Courier New" pitchFamily="34" charset="-120"/>
              </a:rPr>
              <a:t>{ "type": "command", "command": "jq -r</a:t>
            </a:r>
            <a:endParaRPr lang="en-US" sz="800" dirty="0"/>
          </a:p>
          <a:p>
            <a:pPr marL="0" indent="0">
              <a:lnSpc>
                <a:spcPts val="1050"/>
              </a:lnSpc>
              <a:buNone/>
            </a:pPr>
            <a:r>
              <a:rPr lang="en-US" sz="800" dirty="0">
                <a:solidFill>
                  <a:srgbClr val="D4D4D4"/>
                </a:solidFill>
                <a:latin typeface="Courier New" pitchFamily="34" charset="0"/>
                <a:ea typeface="Courier New" pitchFamily="34" charset="-122"/>
                <a:cs typeface="Courier New" pitchFamily="34" charset="-120"/>
              </a:rPr>
              <a:t>    .tool_input.command &gt;&gt; bash.log" },</a:t>
            </a:r>
            <a:endParaRPr lang="en-US" sz="800" dirty="0"/>
          </a:p>
          <a:p>
            <a:pPr marL="0" indent="0">
              <a:lnSpc>
                <a:spcPts val="1050"/>
              </a:lnSpc>
              <a:buNone/>
            </a:pPr>
            <a:r>
              <a:rPr lang="en-US" sz="800" dirty="0">
                <a:solidFill>
                  <a:srgbClr val="D4D4D4"/>
                </a:solidFill>
                <a:latin typeface="Courier New" pitchFamily="34" charset="0"/>
                <a:ea typeface="Courier New" pitchFamily="34" charset="-122"/>
                <a:cs typeface="Courier New" pitchFamily="34" charset="-120"/>
              </a:rPr>
              <a:t>  </a:t>
            </a:r>
            <a:endParaRPr lang="en-US" sz="800" dirty="0"/>
          </a:p>
          <a:p>
            <a:pPr marL="0" indent="0">
              <a:lnSpc>
                <a:spcPts val="1050"/>
              </a:lnSpc>
              <a:buNone/>
            </a:pPr>
            <a:r>
              <a:rPr lang="en-US" sz="800" dirty="0">
                <a:solidFill>
                  <a:srgbClr val="6B6B6B"/>
                </a:solidFill>
                <a:latin typeface="Courier New" pitchFamily="34" charset="0"/>
                <a:ea typeface="Courier New" pitchFamily="34" charset="-122"/>
                <a:cs typeface="Courier New" pitchFamily="34" charset="-120"/>
              </a:rPr>
              <a:t>// hook 2 — block rm -rf (exits 2)</a:t>
            </a:r>
            <a:endParaRPr lang="en-US" sz="800" dirty="0"/>
          </a:p>
          <a:p>
            <a:pPr marL="0" indent="0">
              <a:lnSpc>
                <a:spcPts val="1050"/>
              </a:lnSpc>
              <a:buNone/>
            </a:pPr>
            <a:r>
              <a:rPr lang="en-US" sz="800" dirty="0">
                <a:solidFill>
                  <a:srgbClr val="6B6B6B"/>
                </a:solidFill>
                <a:latin typeface="Courier New" pitchFamily="34" charset="0"/>
                <a:ea typeface="Courier New" pitchFamily="34" charset="-122"/>
                <a:cs typeface="Courier New" pitchFamily="34" charset="-120"/>
              </a:rPr>
              <a:t>  </a:t>
            </a:r>
            <a:endParaRPr lang="en-US" sz="800" dirty="0"/>
          </a:p>
          <a:p>
            <a:pPr marL="0" indent="0">
              <a:lnSpc>
                <a:spcPts val="1050"/>
              </a:lnSpc>
              <a:buNone/>
            </a:pPr>
            <a:r>
              <a:rPr lang="en-US" sz="800" dirty="0">
                <a:solidFill>
                  <a:srgbClr val="D4D4D4"/>
                </a:solidFill>
                <a:latin typeface="Courier New" pitchFamily="34" charset="0"/>
                <a:ea typeface="Courier New" pitchFamily="34" charset="-122"/>
                <a:cs typeface="Courier New" pitchFamily="34" charset="-120"/>
              </a:rPr>
              <a:t>{ "type": "command", "command": "./block-rm-rf.sh" }</a:t>
            </a:r>
            <a:endParaRPr lang="en-US" sz="800" dirty="0"/>
          </a:p>
          <a:p>
            <a:pPr marL="0" indent="0">
              <a:lnSpc>
                <a:spcPts val="1050"/>
              </a:lnSpc>
              <a:buNone/>
            </a:pPr>
            <a:r>
              <a:rPr lang="en-US" sz="800" dirty="0">
                <a:solidFill>
                  <a:srgbClr val="D4D4D4"/>
                </a:solidFill>
                <a:latin typeface="Courier New" pitchFamily="34" charset="0"/>
                <a:ea typeface="Courier New" pitchFamily="34" charset="-122"/>
                <a:cs typeface="Courier New" pitchFamily="34" charset="-120"/>
              </a:rPr>
              <a:t>]}]</a:t>
            </a:r>
            <a:endParaRPr lang="en-US" sz="800" dirty="0"/>
          </a:p>
        </p:txBody>
      </p:sp>
      <p:sp>
        <p:nvSpPr>
          <p:cNvPr id="30" name="Shape 28">
            <a:extLst>
              <a:ext uri="{FF2B5EF4-FFF2-40B4-BE49-F238E27FC236}">
                <a16:creationId xmlns:a16="http://schemas.microsoft.com/office/drawing/2014/main" id="{8EA35CFE-0978-57B4-BCBD-621510F72E25}"/>
              </a:ext>
            </a:extLst>
          </p:cNvPr>
          <p:cNvSpPr/>
          <p:nvPr/>
        </p:nvSpPr>
        <p:spPr>
          <a:xfrm>
            <a:off x="457200" y="5760720"/>
            <a:ext cx="11247120" cy="457200"/>
          </a:xfrm>
          <a:prstGeom prst="rect">
            <a:avLst/>
          </a:prstGeom>
          <a:solidFill>
            <a:srgbClr val="F7F5F0"/>
          </a:solidFill>
          <a:ln w="9525">
            <a:solidFill>
              <a:srgbClr val="E3E0D8"/>
            </a:solidFill>
            <a:prstDash val="solid"/>
          </a:ln>
        </p:spPr>
        <p:txBody>
          <a:bodyPr/>
          <a:lstStyle/>
          <a:p>
            <a:endParaRPr lang="en-US"/>
          </a:p>
        </p:txBody>
      </p:sp>
      <p:sp>
        <p:nvSpPr>
          <p:cNvPr id="31" name="Text 29">
            <a:extLst>
              <a:ext uri="{FF2B5EF4-FFF2-40B4-BE49-F238E27FC236}">
                <a16:creationId xmlns:a16="http://schemas.microsoft.com/office/drawing/2014/main" id="{DB2ABF03-D68C-15EA-45AB-222A9ADDEBB0}"/>
              </a:ext>
            </a:extLst>
          </p:cNvPr>
          <p:cNvSpPr/>
          <p:nvPr/>
        </p:nvSpPr>
        <p:spPr>
          <a:xfrm>
            <a:off x="777240" y="5760720"/>
            <a:ext cx="10607040" cy="457200"/>
          </a:xfrm>
          <a:prstGeom prst="rect">
            <a:avLst/>
          </a:prstGeom>
          <a:noFill/>
          <a:ln/>
        </p:spPr>
        <p:txBody>
          <a:bodyPr wrap="square" lIns="0" tIns="0" rIns="0" bIns="0" rtlCol="0" anchor="ctr"/>
          <a:lstStyle/>
          <a:p>
            <a:pPr marL="0" indent="0">
              <a:buNone/>
            </a:pPr>
            <a:r>
              <a:rPr lang="en-US" sz="1100" b="1" dirty="0">
                <a:solidFill>
                  <a:srgbClr val="C9704F"/>
                </a:solidFill>
                <a:latin typeface="Calibri" pitchFamily="34" charset="0"/>
                <a:ea typeface="Calibri" pitchFamily="34" charset="-122"/>
                <a:cs typeface="Calibri" pitchFamily="34" charset="-120"/>
              </a:rPr>
              <a:t>Choosing a type:  </a:t>
            </a:r>
            <a:r>
              <a:rPr lang="en-US" sz="1100" dirty="0">
                <a:solidFill>
                  <a:srgbClr val="2B2B2B"/>
                </a:solidFill>
                <a:latin typeface="Calibri" pitchFamily="34" charset="0"/>
                <a:ea typeface="Calibri" pitchFamily="34" charset="-122"/>
                <a:cs typeface="Calibri" pitchFamily="34" charset="-120"/>
              </a:rPr>
              <a:t>command for deterministic rules (always fast, no model cost) → http for external systems → prompt for judgment calls → agent for multi-step verification with file access.</a:t>
            </a:r>
            <a:endParaRPr lang="en-US" sz="1100" dirty="0"/>
          </a:p>
        </p:txBody>
      </p:sp>
    </p:spTree>
    <p:extLst>
      <p:ext uri="{BB962C8B-B14F-4D97-AF65-F5344CB8AC3E}">
        <p14:creationId xmlns:p14="http://schemas.microsoft.com/office/powerpoint/2010/main" val="35720695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DC458B9-C7D0-16F5-A01F-C3ADA80378F6}"/>
              </a:ext>
            </a:extLst>
          </p:cNvPr>
          <p:cNvSpPr/>
          <p:nvPr/>
        </p:nvSpPr>
        <p:spPr>
          <a:xfrm>
            <a:off x="457200" y="256032"/>
            <a:ext cx="11247120" cy="457200"/>
          </a:xfrm>
          <a:prstGeom prst="rect">
            <a:avLst/>
          </a:prstGeom>
          <a:noFill/>
          <a:ln/>
        </p:spPr>
        <p:txBody>
          <a:bodyPr wrap="square" lIns="0" tIns="0" rIns="0" bIns="0" rtlCol="0" anchor="ctr"/>
          <a:lstStyle/>
          <a:p>
            <a:pPr marL="0" indent="0">
              <a:buNone/>
            </a:pPr>
            <a:r>
              <a:rPr lang="en-US" sz="3200" b="1" dirty="0">
                <a:solidFill>
                  <a:srgbClr val="141414"/>
                </a:solidFill>
                <a:latin typeface="Cambrian" pitchFamily="34" charset="0"/>
                <a:ea typeface="Cambrian" pitchFamily="34" charset="-122"/>
                <a:cs typeface="Cambrian" pitchFamily="34" charset="-120"/>
              </a:rPr>
              <a:t>Hook Examples</a:t>
            </a:r>
            <a:endParaRPr lang="en-US" sz="3200" dirty="0"/>
          </a:p>
        </p:txBody>
      </p:sp>
      <p:sp>
        <p:nvSpPr>
          <p:cNvPr id="3" name="Text 1">
            <a:extLst>
              <a:ext uri="{FF2B5EF4-FFF2-40B4-BE49-F238E27FC236}">
                <a16:creationId xmlns:a16="http://schemas.microsoft.com/office/drawing/2014/main" id="{2E360741-8B53-7308-81A9-15C5320E27D6}"/>
              </a:ext>
            </a:extLst>
          </p:cNvPr>
          <p:cNvSpPr/>
          <p:nvPr/>
        </p:nvSpPr>
        <p:spPr>
          <a:xfrm>
            <a:off x="457200" y="731520"/>
            <a:ext cx="11247120" cy="365760"/>
          </a:xfrm>
          <a:prstGeom prst="rect">
            <a:avLst/>
          </a:prstGeom>
          <a:noFill/>
          <a:ln/>
        </p:spPr>
        <p:txBody>
          <a:bodyPr wrap="square" lIns="0" tIns="0" rIns="0" bIns="0" rtlCol="0" anchor="ctr"/>
          <a:lstStyle/>
          <a:p>
            <a:pPr marL="0" indent="0">
              <a:buNone/>
            </a:pPr>
            <a:r>
              <a:rPr lang="en-US" sz="1200" dirty="0">
                <a:solidFill>
                  <a:srgbClr val="6B6B6B"/>
                </a:solidFill>
                <a:latin typeface="Calibri" pitchFamily="34" charset="0"/>
                <a:ea typeface="Calibri" pitchFamily="34" charset="-122"/>
                <a:cs typeface="Calibri" pitchFamily="34" charset="-120"/>
              </a:rPr>
              <a:t>Seven practical patterns from the docs — each is a ready-to-paste configuration block. Add to settings.json directly or ask Claude to write it for you.</a:t>
            </a:r>
            <a:endParaRPr lang="en-US" sz="1200" dirty="0"/>
          </a:p>
        </p:txBody>
      </p:sp>
      <p:sp>
        <p:nvSpPr>
          <p:cNvPr id="4" name="Shape 2">
            <a:extLst>
              <a:ext uri="{FF2B5EF4-FFF2-40B4-BE49-F238E27FC236}">
                <a16:creationId xmlns:a16="http://schemas.microsoft.com/office/drawing/2014/main" id="{CADE016F-76EB-387F-C251-F9D761948A80}"/>
              </a:ext>
            </a:extLst>
          </p:cNvPr>
          <p:cNvSpPr/>
          <p:nvPr/>
        </p:nvSpPr>
        <p:spPr>
          <a:xfrm>
            <a:off x="457200" y="1261872"/>
            <a:ext cx="2697480" cy="1874520"/>
          </a:xfrm>
          <a:prstGeom prst="roundRect">
            <a:avLst>
              <a:gd name="adj" fmla="val 2439"/>
            </a:avLst>
          </a:prstGeom>
          <a:solidFill>
            <a:srgbClr val="FFFFFF"/>
          </a:solidFill>
          <a:ln w="12700">
            <a:solidFill>
              <a:srgbClr val="E3E0D8"/>
            </a:solidFill>
            <a:prstDash val="solid"/>
          </a:ln>
          <a:effectLst>
            <a:outerShdw blurRad="76200" dist="25400" dir="5400000" algn="bl" rotWithShape="0">
              <a:srgbClr val="000000">
                <a:alpha val="8000"/>
              </a:srgbClr>
            </a:outerShdw>
          </a:effectLst>
        </p:spPr>
        <p:txBody>
          <a:bodyPr/>
          <a:lstStyle/>
          <a:p>
            <a:endParaRPr lang="en-US"/>
          </a:p>
        </p:txBody>
      </p:sp>
      <p:sp>
        <p:nvSpPr>
          <p:cNvPr id="5" name="Shape 3">
            <a:extLst>
              <a:ext uri="{FF2B5EF4-FFF2-40B4-BE49-F238E27FC236}">
                <a16:creationId xmlns:a16="http://schemas.microsoft.com/office/drawing/2014/main" id="{69BEC71F-0F8D-9545-4732-A87FE16BBCE4}"/>
              </a:ext>
            </a:extLst>
          </p:cNvPr>
          <p:cNvSpPr/>
          <p:nvPr/>
        </p:nvSpPr>
        <p:spPr>
          <a:xfrm>
            <a:off x="457200" y="1261872"/>
            <a:ext cx="2697480" cy="320040"/>
          </a:xfrm>
          <a:prstGeom prst="rect">
            <a:avLst/>
          </a:prstGeom>
          <a:solidFill>
            <a:srgbClr val="3B7A75"/>
          </a:solidFill>
          <a:ln w="12700">
            <a:solidFill>
              <a:srgbClr val="3B7A75"/>
            </a:solidFill>
            <a:prstDash val="solid"/>
          </a:ln>
        </p:spPr>
        <p:txBody>
          <a:bodyPr/>
          <a:lstStyle/>
          <a:p>
            <a:endParaRPr lang="en-US"/>
          </a:p>
        </p:txBody>
      </p:sp>
      <p:sp>
        <p:nvSpPr>
          <p:cNvPr id="6" name="Text 4">
            <a:extLst>
              <a:ext uri="{FF2B5EF4-FFF2-40B4-BE49-F238E27FC236}">
                <a16:creationId xmlns:a16="http://schemas.microsoft.com/office/drawing/2014/main" id="{278F0A1C-2F09-F6A7-168C-B8B722D286CE}"/>
              </a:ext>
            </a:extLst>
          </p:cNvPr>
          <p:cNvSpPr/>
          <p:nvPr/>
        </p:nvSpPr>
        <p:spPr>
          <a:xfrm>
            <a:off x="566928" y="1261872"/>
            <a:ext cx="2478024"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Desktop notification</a:t>
            </a:r>
            <a:endParaRPr lang="en-US" sz="1100" dirty="0"/>
          </a:p>
        </p:txBody>
      </p:sp>
      <p:sp>
        <p:nvSpPr>
          <p:cNvPr id="7" name="Text 5">
            <a:extLst>
              <a:ext uri="{FF2B5EF4-FFF2-40B4-BE49-F238E27FC236}">
                <a16:creationId xmlns:a16="http://schemas.microsoft.com/office/drawing/2014/main" id="{B235CA44-2CE0-0E8F-4609-BF9978651AC9}"/>
              </a:ext>
            </a:extLst>
          </p:cNvPr>
          <p:cNvSpPr/>
          <p:nvPr/>
        </p:nvSpPr>
        <p:spPr>
          <a:xfrm>
            <a:off x="566928" y="1609344"/>
            <a:ext cx="2478024" cy="201168"/>
          </a:xfrm>
          <a:prstGeom prst="rect">
            <a:avLst/>
          </a:prstGeom>
          <a:noFill/>
          <a:ln/>
        </p:spPr>
        <p:txBody>
          <a:bodyPr wrap="square" lIns="0" tIns="0" rIns="0" bIns="0" rtlCol="0" anchor="ctr"/>
          <a:lstStyle/>
          <a:p>
            <a:pPr marL="0" indent="0">
              <a:buNone/>
            </a:pPr>
            <a:r>
              <a:rPr lang="en-US" sz="850" b="1" dirty="0">
                <a:solidFill>
                  <a:srgbClr val="3B7A75"/>
                </a:solidFill>
                <a:latin typeface="Courier New" pitchFamily="34" charset="0"/>
                <a:ea typeface="Courier New" pitchFamily="34" charset="-122"/>
                <a:cs typeface="Courier New" pitchFamily="34" charset="-120"/>
              </a:rPr>
              <a:t>Notification</a:t>
            </a:r>
            <a:r>
              <a:rPr lang="en-US" sz="850" dirty="0">
                <a:solidFill>
                  <a:srgbClr val="6B6B6B"/>
                </a:solidFill>
                <a:latin typeface="Calibri" pitchFamily="34" charset="0"/>
                <a:ea typeface="Calibri" pitchFamily="34" charset="-122"/>
                <a:cs typeface="Calibri" pitchFamily="34" charset="-120"/>
              </a:rPr>
              <a:t>  matcher: ""</a:t>
            </a:r>
            <a:endParaRPr lang="en-US" sz="850" dirty="0"/>
          </a:p>
        </p:txBody>
      </p:sp>
      <p:sp>
        <p:nvSpPr>
          <p:cNvPr id="8" name="Text 6">
            <a:extLst>
              <a:ext uri="{FF2B5EF4-FFF2-40B4-BE49-F238E27FC236}">
                <a16:creationId xmlns:a16="http://schemas.microsoft.com/office/drawing/2014/main" id="{AFA9CA3D-E6D6-DE87-7E92-06243482DF2C}"/>
              </a:ext>
            </a:extLst>
          </p:cNvPr>
          <p:cNvSpPr/>
          <p:nvPr/>
        </p:nvSpPr>
        <p:spPr>
          <a:xfrm>
            <a:off x="566928" y="1810512"/>
            <a:ext cx="2478024" cy="347472"/>
          </a:xfrm>
          <a:prstGeom prst="rect">
            <a:avLst/>
          </a:prstGeom>
          <a:noFill/>
          <a:ln/>
        </p:spPr>
        <p:txBody>
          <a:bodyPr wrap="square" lIns="0" tIns="0" rIns="0" bIns="0" rtlCol="0" anchor="ctr"/>
          <a:lstStyle/>
          <a:p>
            <a:pPr marL="0" indent="0">
              <a:buNone/>
            </a:pPr>
            <a:r>
              <a:rPr lang="en-US" sz="850" dirty="0">
                <a:solidFill>
                  <a:srgbClr val="2B2B2B"/>
                </a:solidFill>
                <a:latin typeface="Calibri" pitchFamily="34" charset="0"/>
                <a:ea typeface="Calibri" pitchFamily="34" charset="-122"/>
                <a:cs typeface="Calibri" pitchFamily="34" charset="-120"/>
              </a:rPr>
              <a:t>Alert when Claude needs your input so you can switch tasks.</a:t>
            </a:r>
            <a:endParaRPr lang="en-US" sz="850" dirty="0"/>
          </a:p>
        </p:txBody>
      </p:sp>
      <p:sp>
        <p:nvSpPr>
          <p:cNvPr id="9" name="Shape 7">
            <a:extLst>
              <a:ext uri="{FF2B5EF4-FFF2-40B4-BE49-F238E27FC236}">
                <a16:creationId xmlns:a16="http://schemas.microsoft.com/office/drawing/2014/main" id="{32B657D9-247E-0AEB-627B-FAB75F3BBDD0}"/>
              </a:ext>
            </a:extLst>
          </p:cNvPr>
          <p:cNvSpPr/>
          <p:nvPr/>
        </p:nvSpPr>
        <p:spPr>
          <a:xfrm>
            <a:off x="566928" y="2194560"/>
            <a:ext cx="2478024" cy="777240"/>
          </a:xfrm>
          <a:prstGeom prst="rect">
            <a:avLst/>
          </a:prstGeom>
          <a:solidFill>
            <a:srgbClr val="1E1E1E"/>
          </a:solidFill>
          <a:ln w="12700">
            <a:solidFill>
              <a:srgbClr val="1E1E1E"/>
            </a:solidFill>
            <a:prstDash val="solid"/>
          </a:ln>
        </p:spPr>
        <p:txBody>
          <a:bodyPr/>
          <a:lstStyle/>
          <a:p>
            <a:endParaRPr lang="en-US"/>
          </a:p>
        </p:txBody>
      </p:sp>
      <p:sp>
        <p:nvSpPr>
          <p:cNvPr id="10" name="Text 8">
            <a:extLst>
              <a:ext uri="{FF2B5EF4-FFF2-40B4-BE49-F238E27FC236}">
                <a16:creationId xmlns:a16="http://schemas.microsoft.com/office/drawing/2014/main" id="{A718B67A-4A03-D2B9-BB3A-E9B69161C88B}"/>
              </a:ext>
            </a:extLst>
          </p:cNvPr>
          <p:cNvSpPr/>
          <p:nvPr/>
        </p:nvSpPr>
        <p:spPr>
          <a:xfrm>
            <a:off x="621792" y="2240280"/>
            <a:ext cx="2368296" cy="685800"/>
          </a:xfrm>
          <a:prstGeom prst="rect">
            <a:avLst/>
          </a:prstGeom>
          <a:noFill/>
          <a:ln/>
        </p:spPr>
        <p:txBody>
          <a:bodyPr wrap="square" lIns="0" tIns="0" rIns="0" bIns="0" rtlCol="0" anchor="t"/>
          <a:lstStyle/>
          <a:p>
            <a:pPr marL="0" indent="0">
              <a:lnSpc>
                <a:spcPts val="1050"/>
              </a:lnSpc>
              <a:buNone/>
            </a:pPr>
            <a:r>
              <a:rPr lang="en-US" sz="750" dirty="0">
                <a:solidFill>
                  <a:srgbClr val="6A9955"/>
                </a:solidFill>
                <a:latin typeface="Courier New" pitchFamily="34" charset="0"/>
                <a:ea typeface="Courier New" pitchFamily="34" charset="-122"/>
                <a:cs typeface="Courier New" pitchFamily="34" charset="-120"/>
              </a:rPr>
              <a:t>"command": "osascript -e 'display</a:t>
            </a:r>
            <a:endParaRPr lang="en-US" sz="750" dirty="0"/>
          </a:p>
          <a:p>
            <a:pPr marL="0" indent="0">
              <a:lnSpc>
                <a:spcPts val="1050"/>
              </a:lnSpc>
              <a:buNone/>
            </a:pPr>
            <a:r>
              <a:rPr lang="en-US" sz="750" dirty="0">
                <a:solidFill>
                  <a:srgbClr val="6A9955"/>
                </a:solidFill>
                <a:latin typeface="Courier New" pitchFamily="34" charset="0"/>
                <a:ea typeface="Courier New" pitchFamily="34" charset="-122"/>
                <a:cs typeface="Courier New" pitchFamily="34" charset="-120"/>
              </a:rPr>
              <a:t> notification "Claude needs you"'"</a:t>
            </a:r>
            <a:endParaRPr lang="en-US" sz="750" dirty="0"/>
          </a:p>
        </p:txBody>
      </p:sp>
      <p:sp>
        <p:nvSpPr>
          <p:cNvPr id="11" name="Shape 9">
            <a:extLst>
              <a:ext uri="{FF2B5EF4-FFF2-40B4-BE49-F238E27FC236}">
                <a16:creationId xmlns:a16="http://schemas.microsoft.com/office/drawing/2014/main" id="{F5FE69A0-2ACC-086D-6ABA-88C051F07C99}"/>
              </a:ext>
            </a:extLst>
          </p:cNvPr>
          <p:cNvSpPr/>
          <p:nvPr/>
        </p:nvSpPr>
        <p:spPr>
          <a:xfrm>
            <a:off x="3246120" y="1261872"/>
            <a:ext cx="2697480" cy="1874520"/>
          </a:xfrm>
          <a:prstGeom prst="roundRect">
            <a:avLst>
              <a:gd name="adj" fmla="val 2439"/>
            </a:avLst>
          </a:prstGeom>
          <a:solidFill>
            <a:srgbClr val="FFFFFF"/>
          </a:solidFill>
          <a:ln w="12700">
            <a:solidFill>
              <a:srgbClr val="E3E0D8"/>
            </a:solidFill>
            <a:prstDash val="solid"/>
          </a:ln>
          <a:effectLst>
            <a:outerShdw blurRad="76200" dist="25400" dir="5400000" algn="bl" rotWithShape="0">
              <a:srgbClr val="000000">
                <a:alpha val="8000"/>
              </a:srgbClr>
            </a:outerShdw>
          </a:effectLst>
        </p:spPr>
        <p:txBody>
          <a:bodyPr/>
          <a:lstStyle/>
          <a:p>
            <a:endParaRPr lang="en-US"/>
          </a:p>
        </p:txBody>
      </p:sp>
      <p:sp>
        <p:nvSpPr>
          <p:cNvPr id="12" name="Shape 10">
            <a:extLst>
              <a:ext uri="{FF2B5EF4-FFF2-40B4-BE49-F238E27FC236}">
                <a16:creationId xmlns:a16="http://schemas.microsoft.com/office/drawing/2014/main" id="{5B60853F-47CB-25A1-3CA1-F931EADCFE0C}"/>
              </a:ext>
            </a:extLst>
          </p:cNvPr>
          <p:cNvSpPr/>
          <p:nvPr/>
        </p:nvSpPr>
        <p:spPr>
          <a:xfrm>
            <a:off x="3246120" y="1261872"/>
            <a:ext cx="2697480" cy="320040"/>
          </a:xfrm>
          <a:prstGeom prst="rect">
            <a:avLst/>
          </a:prstGeom>
          <a:solidFill>
            <a:srgbClr val="6B5B95"/>
          </a:solidFill>
          <a:ln w="12700">
            <a:solidFill>
              <a:srgbClr val="6B5B95"/>
            </a:solidFill>
            <a:prstDash val="solid"/>
          </a:ln>
        </p:spPr>
        <p:txBody>
          <a:bodyPr/>
          <a:lstStyle/>
          <a:p>
            <a:endParaRPr lang="en-US"/>
          </a:p>
        </p:txBody>
      </p:sp>
      <p:sp>
        <p:nvSpPr>
          <p:cNvPr id="13" name="Text 11">
            <a:extLst>
              <a:ext uri="{FF2B5EF4-FFF2-40B4-BE49-F238E27FC236}">
                <a16:creationId xmlns:a16="http://schemas.microsoft.com/office/drawing/2014/main" id="{8DCF7788-7B1E-5744-EFCB-47A04BAF03F4}"/>
              </a:ext>
            </a:extLst>
          </p:cNvPr>
          <p:cNvSpPr/>
          <p:nvPr/>
        </p:nvSpPr>
        <p:spPr>
          <a:xfrm>
            <a:off x="3355848" y="1261872"/>
            <a:ext cx="2478024"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Auto-format after edits</a:t>
            </a:r>
            <a:endParaRPr lang="en-US" sz="1100" dirty="0"/>
          </a:p>
        </p:txBody>
      </p:sp>
      <p:sp>
        <p:nvSpPr>
          <p:cNvPr id="14" name="Text 12">
            <a:extLst>
              <a:ext uri="{FF2B5EF4-FFF2-40B4-BE49-F238E27FC236}">
                <a16:creationId xmlns:a16="http://schemas.microsoft.com/office/drawing/2014/main" id="{A55E6358-7BB1-971C-185F-280D6BFB30CE}"/>
              </a:ext>
            </a:extLst>
          </p:cNvPr>
          <p:cNvSpPr/>
          <p:nvPr/>
        </p:nvSpPr>
        <p:spPr>
          <a:xfrm>
            <a:off x="3355848" y="1609344"/>
            <a:ext cx="2478024" cy="201168"/>
          </a:xfrm>
          <a:prstGeom prst="rect">
            <a:avLst/>
          </a:prstGeom>
          <a:noFill/>
          <a:ln/>
        </p:spPr>
        <p:txBody>
          <a:bodyPr wrap="square" lIns="0" tIns="0" rIns="0" bIns="0" rtlCol="0" anchor="ctr"/>
          <a:lstStyle/>
          <a:p>
            <a:pPr marL="0" indent="0">
              <a:buNone/>
            </a:pPr>
            <a:r>
              <a:rPr lang="en-US" sz="850" b="1" dirty="0">
                <a:solidFill>
                  <a:srgbClr val="6B5B95"/>
                </a:solidFill>
                <a:latin typeface="Courier New" pitchFamily="34" charset="0"/>
                <a:ea typeface="Courier New" pitchFamily="34" charset="-122"/>
                <a:cs typeface="Courier New" pitchFamily="34" charset="-120"/>
              </a:rPr>
              <a:t>PostToolUse</a:t>
            </a:r>
            <a:r>
              <a:rPr lang="en-US" sz="850" dirty="0">
                <a:solidFill>
                  <a:srgbClr val="6B6B6B"/>
                </a:solidFill>
                <a:latin typeface="Calibri" pitchFamily="34" charset="0"/>
                <a:ea typeface="Calibri" pitchFamily="34" charset="-122"/>
                <a:cs typeface="Calibri" pitchFamily="34" charset="-120"/>
              </a:rPr>
              <a:t>  matcher: "Edit|Write"</a:t>
            </a:r>
            <a:endParaRPr lang="en-US" sz="850" dirty="0"/>
          </a:p>
        </p:txBody>
      </p:sp>
      <p:sp>
        <p:nvSpPr>
          <p:cNvPr id="15" name="Text 13">
            <a:extLst>
              <a:ext uri="{FF2B5EF4-FFF2-40B4-BE49-F238E27FC236}">
                <a16:creationId xmlns:a16="http://schemas.microsoft.com/office/drawing/2014/main" id="{391F2DBB-5E84-586E-DD69-A9CBB3FF98A0}"/>
              </a:ext>
            </a:extLst>
          </p:cNvPr>
          <p:cNvSpPr/>
          <p:nvPr/>
        </p:nvSpPr>
        <p:spPr>
          <a:xfrm>
            <a:off x="3355848" y="1810512"/>
            <a:ext cx="2478024" cy="347472"/>
          </a:xfrm>
          <a:prstGeom prst="rect">
            <a:avLst/>
          </a:prstGeom>
          <a:noFill/>
          <a:ln/>
        </p:spPr>
        <p:txBody>
          <a:bodyPr wrap="square" lIns="0" tIns="0" rIns="0" bIns="0" rtlCol="0" anchor="ctr"/>
          <a:lstStyle/>
          <a:p>
            <a:pPr marL="0" indent="0">
              <a:buNone/>
            </a:pPr>
            <a:r>
              <a:rPr lang="en-US" sz="850" dirty="0">
                <a:solidFill>
                  <a:srgbClr val="2B2B2B"/>
                </a:solidFill>
                <a:latin typeface="Calibri" pitchFamily="34" charset="0"/>
                <a:ea typeface="Calibri" pitchFamily="34" charset="-122"/>
                <a:cs typeface="Calibri" pitchFamily="34" charset="-120"/>
              </a:rPr>
              <a:t>Run Prettier on every file Claude edits.</a:t>
            </a:r>
            <a:endParaRPr lang="en-US" sz="850" dirty="0"/>
          </a:p>
        </p:txBody>
      </p:sp>
      <p:sp>
        <p:nvSpPr>
          <p:cNvPr id="16" name="Shape 14">
            <a:extLst>
              <a:ext uri="{FF2B5EF4-FFF2-40B4-BE49-F238E27FC236}">
                <a16:creationId xmlns:a16="http://schemas.microsoft.com/office/drawing/2014/main" id="{BD586A70-E346-C2E3-0155-1AE19940A0FE}"/>
              </a:ext>
            </a:extLst>
          </p:cNvPr>
          <p:cNvSpPr/>
          <p:nvPr/>
        </p:nvSpPr>
        <p:spPr>
          <a:xfrm>
            <a:off x="3355848" y="2194560"/>
            <a:ext cx="2478024" cy="777240"/>
          </a:xfrm>
          <a:prstGeom prst="rect">
            <a:avLst/>
          </a:prstGeom>
          <a:solidFill>
            <a:srgbClr val="1E1E1E"/>
          </a:solidFill>
          <a:ln w="12700">
            <a:solidFill>
              <a:srgbClr val="1E1E1E"/>
            </a:solidFill>
            <a:prstDash val="solid"/>
          </a:ln>
        </p:spPr>
        <p:txBody>
          <a:bodyPr/>
          <a:lstStyle/>
          <a:p>
            <a:endParaRPr lang="en-US"/>
          </a:p>
        </p:txBody>
      </p:sp>
      <p:sp>
        <p:nvSpPr>
          <p:cNvPr id="17" name="Text 15">
            <a:extLst>
              <a:ext uri="{FF2B5EF4-FFF2-40B4-BE49-F238E27FC236}">
                <a16:creationId xmlns:a16="http://schemas.microsoft.com/office/drawing/2014/main" id="{1723E38E-0B24-10AB-8861-0BD273FD06D2}"/>
              </a:ext>
            </a:extLst>
          </p:cNvPr>
          <p:cNvSpPr/>
          <p:nvPr/>
        </p:nvSpPr>
        <p:spPr>
          <a:xfrm>
            <a:off x="3410712" y="2240280"/>
            <a:ext cx="2368296" cy="685800"/>
          </a:xfrm>
          <a:prstGeom prst="rect">
            <a:avLst/>
          </a:prstGeom>
          <a:noFill/>
          <a:ln/>
        </p:spPr>
        <p:txBody>
          <a:bodyPr wrap="square" lIns="0" tIns="0" rIns="0" bIns="0" rtlCol="0" anchor="t"/>
          <a:lstStyle/>
          <a:p>
            <a:pPr marL="0" indent="0">
              <a:lnSpc>
                <a:spcPts val="1050"/>
              </a:lnSpc>
              <a:buNone/>
            </a:pPr>
            <a:r>
              <a:rPr lang="en-US" sz="750" dirty="0">
                <a:solidFill>
                  <a:srgbClr val="6A9955"/>
                </a:solidFill>
                <a:latin typeface="Courier New" pitchFamily="34" charset="0"/>
                <a:ea typeface="Courier New" pitchFamily="34" charset="-122"/>
                <a:cs typeface="Courier New" pitchFamily="34" charset="-120"/>
              </a:rPr>
              <a:t>"command": "jq -r '.tool_input.file_path'</a:t>
            </a:r>
            <a:endParaRPr lang="en-US" sz="750" dirty="0"/>
          </a:p>
          <a:p>
            <a:pPr marL="0" indent="0">
              <a:lnSpc>
                <a:spcPts val="1050"/>
              </a:lnSpc>
              <a:buNone/>
            </a:pPr>
            <a:r>
              <a:rPr lang="en-US" sz="750" dirty="0">
                <a:solidFill>
                  <a:srgbClr val="6A9955"/>
                </a:solidFill>
                <a:latin typeface="Courier New" pitchFamily="34" charset="0"/>
                <a:ea typeface="Courier New" pitchFamily="34" charset="-122"/>
                <a:cs typeface="Courier New" pitchFamily="34" charset="-120"/>
              </a:rPr>
              <a:t> | xargs npx prettier --write"</a:t>
            </a:r>
            <a:endParaRPr lang="en-US" sz="750" dirty="0"/>
          </a:p>
        </p:txBody>
      </p:sp>
      <p:sp>
        <p:nvSpPr>
          <p:cNvPr id="18" name="Shape 16">
            <a:extLst>
              <a:ext uri="{FF2B5EF4-FFF2-40B4-BE49-F238E27FC236}">
                <a16:creationId xmlns:a16="http://schemas.microsoft.com/office/drawing/2014/main" id="{E1D534C8-23C3-46B7-84A5-F939733B8D1A}"/>
              </a:ext>
            </a:extLst>
          </p:cNvPr>
          <p:cNvSpPr/>
          <p:nvPr/>
        </p:nvSpPr>
        <p:spPr>
          <a:xfrm>
            <a:off x="6035040" y="1261872"/>
            <a:ext cx="2697480" cy="1874520"/>
          </a:xfrm>
          <a:prstGeom prst="roundRect">
            <a:avLst>
              <a:gd name="adj" fmla="val 2439"/>
            </a:avLst>
          </a:prstGeom>
          <a:solidFill>
            <a:srgbClr val="FFFFFF"/>
          </a:solidFill>
          <a:ln w="12700">
            <a:solidFill>
              <a:srgbClr val="E3E0D8"/>
            </a:solidFill>
            <a:prstDash val="solid"/>
          </a:ln>
          <a:effectLst>
            <a:outerShdw blurRad="76200" dist="25400" dir="5400000" algn="bl" rotWithShape="0">
              <a:srgbClr val="000000">
                <a:alpha val="8000"/>
              </a:srgbClr>
            </a:outerShdw>
          </a:effectLst>
        </p:spPr>
        <p:txBody>
          <a:bodyPr/>
          <a:lstStyle/>
          <a:p>
            <a:endParaRPr lang="en-US"/>
          </a:p>
        </p:txBody>
      </p:sp>
      <p:sp>
        <p:nvSpPr>
          <p:cNvPr id="19" name="Shape 17">
            <a:extLst>
              <a:ext uri="{FF2B5EF4-FFF2-40B4-BE49-F238E27FC236}">
                <a16:creationId xmlns:a16="http://schemas.microsoft.com/office/drawing/2014/main" id="{749CF52C-6923-E9BC-712E-6FCA6583DDEA}"/>
              </a:ext>
            </a:extLst>
          </p:cNvPr>
          <p:cNvSpPr/>
          <p:nvPr/>
        </p:nvSpPr>
        <p:spPr>
          <a:xfrm>
            <a:off x="6035040" y="1261872"/>
            <a:ext cx="2697480" cy="320040"/>
          </a:xfrm>
          <a:prstGeom prst="rect">
            <a:avLst/>
          </a:prstGeom>
          <a:solidFill>
            <a:srgbClr val="B04A3B"/>
          </a:solidFill>
          <a:ln w="12700">
            <a:solidFill>
              <a:srgbClr val="B04A3B"/>
            </a:solidFill>
            <a:prstDash val="solid"/>
          </a:ln>
        </p:spPr>
        <p:txBody>
          <a:bodyPr/>
          <a:lstStyle/>
          <a:p>
            <a:endParaRPr lang="en-US"/>
          </a:p>
        </p:txBody>
      </p:sp>
      <p:sp>
        <p:nvSpPr>
          <p:cNvPr id="20" name="Text 18">
            <a:extLst>
              <a:ext uri="{FF2B5EF4-FFF2-40B4-BE49-F238E27FC236}">
                <a16:creationId xmlns:a16="http://schemas.microsoft.com/office/drawing/2014/main" id="{8764B82F-67B4-8040-D9B6-1EC5A30CB02E}"/>
              </a:ext>
            </a:extLst>
          </p:cNvPr>
          <p:cNvSpPr/>
          <p:nvPr/>
        </p:nvSpPr>
        <p:spPr>
          <a:xfrm>
            <a:off x="6144768" y="1261872"/>
            <a:ext cx="2478024"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Block protected files</a:t>
            </a:r>
            <a:endParaRPr lang="en-US" sz="1100" dirty="0"/>
          </a:p>
        </p:txBody>
      </p:sp>
      <p:sp>
        <p:nvSpPr>
          <p:cNvPr id="21" name="Text 19">
            <a:extLst>
              <a:ext uri="{FF2B5EF4-FFF2-40B4-BE49-F238E27FC236}">
                <a16:creationId xmlns:a16="http://schemas.microsoft.com/office/drawing/2014/main" id="{A7DBDCC7-07F0-E182-57FB-835627C59FCA}"/>
              </a:ext>
            </a:extLst>
          </p:cNvPr>
          <p:cNvSpPr/>
          <p:nvPr/>
        </p:nvSpPr>
        <p:spPr>
          <a:xfrm>
            <a:off x="6144768" y="1609344"/>
            <a:ext cx="2478024" cy="201168"/>
          </a:xfrm>
          <a:prstGeom prst="rect">
            <a:avLst/>
          </a:prstGeom>
          <a:noFill/>
          <a:ln/>
        </p:spPr>
        <p:txBody>
          <a:bodyPr wrap="square" lIns="0" tIns="0" rIns="0" bIns="0" rtlCol="0" anchor="ctr"/>
          <a:lstStyle/>
          <a:p>
            <a:pPr marL="0" indent="0">
              <a:buNone/>
            </a:pPr>
            <a:r>
              <a:rPr lang="en-US" sz="850" b="1" dirty="0">
                <a:solidFill>
                  <a:srgbClr val="B04A3B"/>
                </a:solidFill>
                <a:latin typeface="Courier New" pitchFamily="34" charset="0"/>
                <a:ea typeface="Courier New" pitchFamily="34" charset="-122"/>
                <a:cs typeface="Courier New" pitchFamily="34" charset="-120"/>
              </a:rPr>
              <a:t>PreToolUse</a:t>
            </a:r>
            <a:r>
              <a:rPr lang="en-US" sz="850" dirty="0">
                <a:solidFill>
                  <a:srgbClr val="6B6B6B"/>
                </a:solidFill>
                <a:latin typeface="Calibri" pitchFamily="34" charset="0"/>
                <a:ea typeface="Calibri" pitchFamily="34" charset="-122"/>
                <a:cs typeface="Calibri" pitchFamily="34" charset="-120"/>
              </a:rPr>
              <a:t>  matcher: "Edit|Write"</a:t>
            </a:r>
            <a:endParaRPr lang="en-US" sz="850" dirty="0"/>
          </a:p>
        </p:txBody>
      </p:sp>
      <p:sp>
        <p:nvSpPr>
          <p:cNvPr id="22" name="Text 20">
            <a:extLst>
              <a:ext uri="{FF2B5EF4-FFF2-40B4-BE49-F238E27FC236}">
                <a16:creationId xmlns:a16="http://schemas.microsoft.com/office/drawing/2014/main" id="{A8D82CF7-C3EB-5126-58C7-11A37C8808FD}"/>
              </a:ext>
            </a:extLst>
          </p:cNvPr>
          <p:cNvSpPr/>
          <p:nvPr/>
        </p:nvSpPr>
        <p:spPr>
          <a:xfrm>
            <a:off x="6144768" y="1810512"/>
            <a:ext cx="2478024" cy="347472"/>
          </a:xfrm>
          <a:prstGeom prst="rect">
            <a:avLst/>
          </a:prstGeom>
          <a:noFill/>
          <a:ln/>
        </p:spPr>
        <p:txBody>
          <a:bodyPr wrap="square" lIns="0" tIns="0" rIns="0" bIns="0" rtlCol="0" anchor="ctr"/>
          <a:lstStyle/>
          <a:p>
            <a:pPr marL="0" indent="0">
              <a:buNone/>
            </a:pPr>
            <a:r>
              <a:rPr lang="en-US" sz="850" dirty="0">
                <a:solidFill>
                  <a:srgbClr val="2B2B2B"/>
                </a:solidFill>
                <a:latin typeface="Calibri" pitchFamily="34" charset="0"/>
                <a:ea typeface="Calibri" pitchFamily="34" charset="-122"/>
                <a:cs typeface="Calibri" pitchFamily="34" charset="-120"/>
              </a:rPr>
              <a:t>Prevent edits to .env, package-lock.json, .git/. Exit 2 with reason.</a:t>
            </a:r>
            <a:endParaRPr lang="en-US" sz="850" dirty="0"/>
          </a:p>
        </p:txBody>
      </p:sp>
      <p:sp>
        <p:nvSpPr>
          <p:cNvPr id="23" name="Shape 21">
            <a:extLst>
              <a:ext uri="{FF2B5EF4-FFF2-40B4-BE49-F238E27FC236}">
                <a16:creationId xmlns:a16="http://schemas.microsoft.com/office/drawing/2014/main" id="{4E4DE9C0-D101-2FDB-7522-17EB8EF20DCD}"/>
              </a:ext>
            </a:extLst>
          </p:cNvPr>
          <p:cNvSpPr/>
          <p:nvPr/>
        </p:nvSpPr>
        <p:spPr>
          <a:xfrm>
            <a:off x="6144768" y="2194560"/>
            <a:ext cx="2478024" cy="777240"/>
          </a:xfrm>
          <a:prstGeom prst="rect">
            <a:avLst/>
          </a:prstGeom>
          <a:solidFill>
            <a:srgbClr val="1E1E1E"/>
          </a:solidFill>
          <a:ln w="12700">
            <a:solidFill>
              <a:srgbClr val="1E1E1E"/>
            </a:solidFill>
            <a:prstDash val="solid"/>
          </a:ln>
        </p:spPr>
        <p:txBody>
          <a:bodyPr/>
          <a:lstStyle/>
          <a:p>
            <a:endParaRPr lang="en-US"/>
          </a:p>
        </p:txBody>
      </p:sp>
      <p:sp>
        <p:nvSpPr>
          <p:cNvPr id="24" name="Text 22">
            <a:extLst>
              <a:ext uri="{FF2B5EF4-FFF2-40B4-BE49-F238E27FC236}">
                <a16:creationId xmlns:a16="http://schemas.microsoft.com/office/drawing/2014/main" id="{725FECD6-C02C-C808-885A-4AAE10FAA0AC}"/>
              </a:ext>
            </a:extLst>
          </p:cNvPr>
          <p:cNvSpPr/>
          <p:nvPr/>
        </p:nvSpPr>
        <p:spPr>
          <a:xfrm>
            <a:off x="6199632" y="2240280"/>
            <a:ext cx="2368296" cy="685800"/>
          </a:xfrm>
          <a:prstGeom prst="rect">
            <a:avLst/>
          </a:prstGeom>
          <a:noFill/>
          <a:ln/>
        </p:spPr>
        <p:txBody>
          <a:bodyPr wrap="square" lIns="0" tIns="0" rIns="0" bIns="0" rtlCol="0" anchor="t"/>
          <a:lstStyle/>
          <a:p>
            <a:pPr marL="0" indent="0">
              <a:lnSpc>
                <a:spcPts val="1050"/>
              </a:lnSpc>
              <a:buNone/>
            </a:pPr>
            <a:r>
              <a:rPr lang="en-US" sz="750" dirty="0">
                <a:solidFill>
                  <a:srgbClr val="6A9955"/>
                </a:solidFill>
                <a:latin typeface="Courier New" pitchFamily="34" charset="0"/>
                <a:ea typeface="Courier New" pitchFamily="34" charset="-122"/>
                <a:cs typeface="Courier New" pitchFamily="34" charset="-120"/>
              </a:rPr>
              <a:t>"command": "\"$CLAUDE_PROJECT_DIR\"/.claude</a:t>
            </a:r>
            <a:endParaRPr lang="en-US" sz="750" dirty="0"/>
          </a:p>
          <a:p>
            <a:pPr marL="0" indent="0">
              <a:lnSpc>
                <a:spcPts val="1050"/>
              </a:lnSpc>
              <a:buNone/>
            </a:pPr>
            <a:r>
              <a:rPr lang="en-US" sz="750" dirty="0">
                <a:solidFill>
                  <a:srgbClr val="6A9955"/>
                </a:solidFill>
                <a:latin typeface="Courier New" pitchFamily="34" charset="0"/>
                <a:ea typeface="Courier New" pitchFamily="34" charset="-122"/>
                <a:cs typeface="Courier New" pitchFamily="34" charset="-120"/>
              </a:rPr>
              <a:t> /hooks/protect-files.sh"</a:t>
            </a:r>
            <a:endParaRPr lang="en-US" sz="750" dirty="0"/>
          </a:p>
        </p:txBody>
      </p:sp>
      <p:sp>
        <p:nvSpPr>
          <p:cNvPr id="25" name="Shape 23">
            <a:extLst>
              <a:ext uri="{FF2B5EF4-FFF2-40B4-BE49-F238E27FC236}">
                <a16:creationId xmlns:a16="http://schemas.microsoft.com/office/drawing/2014/main" id="{C50FEFC2-1EE8-1E80-A888-B4EC86C6D206}"/>
              </a:ext>
            </a:extLst>
          </p:cNvPr>
          <p:cNvSpPr/>
          <p:nvPr/>
        </p:nvSpPr>
        <p:spPr>
          <a:xfrm>
            <a:off x="8823960" y="1261872"/>
            <a:ext cx="2697480" cy="1874520"/>
          </a:xfrm>
          <a:prstGeom prst="roundRect">
            <a:avLst>
              <a:gd name="adj" fmla="val 2439"/>
            </a:avLst>
          </a:prstGeom>
          <a:solidFill>
            <a:srgbClr val="FFFFFF"/>
          </a:solidFill>
          <a:ln w="12700">
            <a:solidFill>
              <a:srgbClr val="E3E0D8"/>
            </a:solidFill>
            <a:prstDash val="solid"/>
          </a:ln>
          <a:effectLst>
            <a:outerShdw blurRad="76200" dist="25400" dir="5400000" algn="bl" rotWithShape="0">
              <a:srgbClr val="000000">
                <a:alpha val="8000"/>
              </a:srgbClr>
            </a:outerShdw>
          </a:effectLst>
        </p:spPr>
        <p:txBody>
          <a:bodyPr/>
          <a:lstStyle/>
          <a:p>
            <a:endParaRPr lang="en-US"/>
          </a:p>
        </p:txBody>
      </p:sp>
      <p:sp>
        <p:nvSpPr>
          <p:cNvPr id="26" name="Shape 24">
            <a:extLst>
              <a:ext uri="{FF2B5EF4-FFF2-40B4-BE49-F238E27FC236}">
                <a16:creationId xmlns:a16="http://schemas.microsoft.com/office/drawing/2014/main" id="{EB635E80-327C-1F4F-669C-72221BCFD258}"/>
              </a:ext>
            </a:extLst>
          </p:cNvPr>
          <p:cNvSpPr/>
          <p:nvPr/>
        </p:nvSpPr>
        <p:spPr>
          <a:xfrm>
            <a:off x="8823960" y="1261872"/>
            <a:ext cx="2697480" cy="320040"/>
          </a:xfrm>
          <a:prstGeom prst="rect">
            <a:avLst/>
          </a:prstGeom>
          <a:solidFill>
            <a:srgbClr val="8A6D3B"/>
          </a:solidFill>
          <a:ln w="12700">
            <a:solidFill>
              <a:srgbClr val="8A6D3B"/>
            </a:solidFill>
            <a:prstDash val="solid"/>
          </a:ln>
        </p:spPr>
        <p:txBody>
          <a:bodyPr/>
          <a:lstStyle/>
          <a:p>
            <a:endParaRPr lang="en-US"/>
          </a:p>
        </p:txBody>
      </p:sp>
      <p:sp>
        <p:nvSpPr>
          <p:cNvPr id="27" name="Text 25">
            <a:extLst>
              <a:ext uri="{FF2B5EF4-FFF2-40B4-BE49-F238E27FC236}">
                <a16:creationId xmlns:a16="http://schemas.microsoft.com/office/drawing/2014/main" id="{8C445190-B2FE-7C0B-E85B-BDD9E22B4082}"/>
              </a:ext>
            </a:extLst>
          </p:cNvPr>
          <p:cNvSpPr/>
          <p:nvPr/>
        </p:nvSpPr>
        <p:spPr>
          <a:xfrm>
            <a:off x="8933688" y="1261872"/>
            <a:ext cx="2478024"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Re-inject after compaction</a:t>
            </a:r>
            <a:endParaRPr lang="en-US" sz="1100" dirty="0"/>
          </a:p>
        </p:txBody>
      </p:sp>
      <p:sp>
        <p:nvSpPr>
          <p:cNvPr id="28" name="Text 26">
            <a:extLst>
              <a:ext uri="{FF2B5EF4-FFF2-40B4-BE49-F238E27FC236}">
                <a16:creationId xmlns:a16="http://schemas.microsoft.com/office/drawing/2014/main" id="{6C9705DD-5B79-AF6C-0468-C609C860A097}"/>
              </a:ext>
            </a:extLst>
          </p:cNvPr>
          <p:cNvSpPr/>
          <p:nvPr/>
        </p:nvSpPr>
        <p:spPr>
          <a:xfrm>
            <a:off x="8933688" y="1609344"/>
            <a:ext cx="2478024" cy="201168"/>
          </a:xfrm>
          <a:prstGeom prst="rect">
            <a:avLst/>
          </a:prstGeom>
          <a:noFill/>
          <a:ln/>
        </p:spPr>
        <p:txBody>
          <a:bodyPr wrap="square" lIns="0" tIns="0" rIns="0" bIns="0" rtlCol="0" anchor="ctr"/>
          <a:lstStyle/>
          <a:p>
            <a:pPr marL="0" indent="0">
              <a:buNone/>
            </a:pPr>
            <a:r>
              <a:rPr lang="en-US" sz="850" b="1" dirty="0">
                <a:solidFill>
                  <a:srgbClr val="8A6D3B"/>
                </a:solidFill>
                <a:latin typeface="Courier New" pitchFamily="34" charset="0"/>
                <a:ea typeface="Courier New" pitchFamily="34" charset="-122"/>
                <a:cs typeface="Courier New" pitchFamily="34" charset="-120"/>
              </a:rPr>
              <a:t>SessionStart</a:t>
            </a:r>
            <a:r>
              <a:rPr lang="en-US" sz="850" dirty="0">
                <a:solidFill>
                  <a:srgbClr val="6B6B6B"/>
                </a:solidFill>
                <a:latin typeface="Calibri" pitchFamily="34" charset="0"/>
                <a:ea typeface="Calibri" pitchFamily="34" charset="-122"/>
                <a:cs typeface="Calibri" pitchFamily="34" charset="-120"/>
              </a:rPr>
              <a:t>  matcher: "compact"</a:t>
            </a:r>
            <a:endParaRPr lang="en-US" sz="850" dirty="0"/>
          </a:p>
        </p:txBody>
      </p:sp>
      <p:sp>
        <p:nvSpPr>
          <p:cNvPr id="29" name="Text 27">
            <a:extLst>
              <a:ext uri="{FF2B5EF4-FFF2-40B4-BE49-F238E27FC236}">
                <a16:creationId xmlns:a16="http://schemas.microsoft.com/office/drawing/2014/main" id="{6B20E765-489F-0C5B-5264-DAD9396CE578}"/>
              </a:ext>
            </a:extLst>
          </p:cNvPr>
          <p:cNvSpPr/>
          <p:nvPr/>
        </p:nvSpPr>
        <p:spPr>
          <a:xfrm>
            <a:off x="8933688" y="1810512"/>
            <a:ext cx="2478024" cy="347472"/>
          </a:xfrm>
          <a:prstGeom prst="rect">
            <a:avLst/>
          </a:prstGeom>
          <a:noFill/>
          <a:ln/>
        </p:spPr>
        <p:txBody>
          <a:bodyPr wrap="square" lIns="0" tIns="0" rIns="0" bIns="0" rtlCol="0" anchor="ctr"/>
          <a:lstStyle/>
          <a:p>
            <a:pPr marL="0" indent="0">
              <a:buNone/>
            </a:pPr>
            <a:r>
              <a:rPr lang="en-US" sz="850" dirty="0">
                <a:solidFill>
                  <a:srgbClr val="2B2B2B"/>
                </a:solidFill>
                <a:latin typeface="Calibri" pitchFamily="34" charset="0"/>
                <a:ea typeface="Calibri" pitchFamily="34" charset="-122"/>
                <a:cs typeface="Calibri" pitchFamily="34" charset="-120"/>
              </a:rPr>
              <a:t>Restore critical context when compaction summarises the conversation.</a:t>
            </a:r>
            <a:endParaRPr lang="en-US" sz="850" dirty="0"/>
          </a:p>
        </p:txBody>
      </p:sp>
      <p:sp>
        <p:nvSpPr>
          <p:cNvPr id="30" name="Shape 28">
            <a:extLst>
              <a:ext uri="{FF2B5EF4-FFF2-40B4-BE49-F238E27FC236}">
                <a16:creationId xmlns:a16="http://schemas.microsoft.com/office/drawing/2014/main" id="{7B114DD7-40D0-2434-466A-4FCD7138AE5D}"/>
              </a:ext>
            </a:extLst>
          </p:cNvPr>
          <p:cNvSpPr/>
          <p:nvPr/>
        </p:nvSpPr>
        <p:spPr>
          <a:xfrm>
            <a:off x="8933688" y="2194560"/>
            <a:ext cx="2478024" cy="777240"/>
          </a:xfrm>
          <a:prstGeom prst="rect">
            <a:avLst/>
          </a:prstGeom>
          <a:solidFill>
            <a:srgbClr val="1E1E1E"/>
          </a:solidFill>
          <a:ln w="12700">
            <a:solidFill>
              <a:srgbClr val="1E1E1E"/>
            </a:solidFill>
            <a:prstDash val="solid"/>
          </a:ln>
        </p:spPr>
        <p:txBody>
          <a:bodyPr/>
          <a:lstStyle/>
          <a:p>
            <a:endParaRPr lang="en-US"/>
          </a:p>
        </p:txBody>
      </p:sp>
      <p:sp>
        <p:nvSpPr>
          <p:cNvPr id="31" name="Text 29">
            <a:extLst>
              <a:ext uri="{FF2B5EF4-FFF2-40B4-BE49-F238E27FC236}">
                <a16:creationId xmlns:a16="http://schemas.microsoft.com/office/drawing/2014/main" id="{D915B5D7-FAC0-8FB7-A147-DBBD5EC7BAF5}"/>
              </a:ext>
            </a:extLst>
          </p:cNvPr>
          <p:cNvSpPr/>
          <p:nvPr/>
        </p:nvSpPr>
        <p:spPr>
          <a:xfrm>
            <a:off x="8988552" y="2240280"/>
            <a:ext cx="2368296" cy="685800"/>
          </a:xfrm>
          <a:prstGeom prst="rect">
            <a:avLst/>
          </a:prstGeom>
          <a:noFill/>
          <a:ln/>
        </p:spPr>
        <p:txBody>
          <a:bodyPr wrap="square" lIns="0" tIns="0" rIns="0" bIns="0" rtlCol="0" anchor="t"/>
          <a:lstStyle/>
          <a:p>
            <a:pPr marL="0" indent="0">
              <a:lnSpc>
                <a:spcPts val="1050"/>
              </a:lnSpc>
              <a:buNone/>
            </a:pPr>
            <a:r>
              <a:rPr lang="en-US" sz="750" dirty="0">
                <a:solidFill>
                  <a:srgbClr val="6A9955"/>
                </a:solidFill>
                <a:latin typeface="Courier New" pitchFamily="34" charset="0"/>
                <a:ea typeface="Courier New" pitchFamily="34" charset="-122"/>
                <a:cs typeface="Courier New" pitchFamily="34" charset="-120"/>
              </a:rPr>
              <a:t>"command": "echo 'Use Bun, not npm.</a:t>
            </a:r>
            <a:endParaRPr lang="en-US" sz="750" dirty="0"/>
          </a:p>
          <a:p>
            <a:pPr marL="0" indent="0">
              <a:lnSpc>
                <a:spcPts val="1050"/>
              </a:lnSpc>
              <a:buNone/>
            </a:pPr>
            <a:r>
              <a:rPr lang="en-US" sz="750" dirty="0">
                <a:solidFill>
                  <a:srgbClr val="6A9955"/>
                </a:solidFill>
                <a:latin typeface="Courier New" pitchFamily="34" charset="0"/>
                <a:ea typeface="Courier New" pitchFamily="34" charset="-122"/>
                <a:cs typeface="Courier New" pitchFamily="34" charset="-120"/>
              </a:rPr>
              <a:t> Run bun test before committing.'"</a:t>
            </a:r>
            <a:endParaRPr lang="en-US" sz="750" dirty="0"/>
          </a:p>
        </p:txBody>
      </p:sp>
      <p:sp>
        <p:nvSpPr>
          <p:cNvPr id="32" name="Shape 30">
            <a:extLst>
              <a:ext uri="{FF2B5EF4-FFF2-40B4-BE49-F238E27FC236}">
                <a16:creationId xmlns:a16="http://schemas.microsoft.com/office/drawing/2014/main" id="{BA60017B-FB6F-9CED-D7FA-A646E81D6DB8}"/>
              </a:ext>
            </a:extLst>
          </p:cNvPr>
          <p:cNvSpPr/>
          <p:nvPr/>
        </p:nvSpPr>
        <p:spPr>
          <a:xfrm>
            <a:off x="457200" y="3246120"/>
            <a:ext cx="2697480" cy="1874520"/>
          </a:xfrm>
          <a:prstGeom prst="roundRect">
            <a:avLst>
              <a:gd name="adj" fmla="val 2439"/>
            </a:avLst>
          </a:prstGeom>
          <a:solidFill>
            <a:srgbClr val="FFFFFF"/>
          </a:solidFill>
          <a:ln w="12700">
            <a:solidFill>
              <a:srgbClr val="E3E0D8"/>
            </a:solidFill>
            <a:prstDash val="solid"/>
          </a:ln>
          <a:effectLst>
            <a:outerShdw blurRad="76200" dist="25400" dir="5400000" algn="bl" rotWithShape="0">
              <a:srgbClr val="000000">
                <a:alpha val="8000"/>
              </a:srgbClr>
            </a:outerShdw>
          </a:effectLst>
        </p:spPr>
        <p:txBody>
          <a:bodyPr/>
          <a:lstStyle/>
          <a:p>
            <a:endParaRPr lang="en-US"/>
          </a:p>
        </p:txBody>
      </p:sp>
      <p:sp>
        <p:nvSpPr>
          <p:cNvPr id="33" name="Shape 31">
            <a:extLst>
              <a:ext uri="{FF2B5EF4-FFF2-40B4-BE49-F238E27FC236}">
                <a16:creationId xmlns:a16="http://schemas.microsoft.com/office/drawing/2014/main" id="{7544A500-F2D2-53EC-C91F-788C8C0D313F}"/>
              </a:ext>
            </a:extLst>
          </p:cNvPr>
          <p:cNvSpPr/>
          <p:nvPr/>
        </p:nvSpPr>
        <p:spPr>
          <a:xfrm>
            <a:off x="457200" y="3246120"/>
            <a:ext cx="2697480" cy="320040"/>
          </a:xfrm>
          <a:prstGeom prst="rect">
            <a:avLst/>
          </a:prstGeom>
          <a:solidFill>
            <a:srgbClr val="3B6E8F"/>
          </a:solidFill>
          <a:ln w="12700">
            <a:solidFill>
              <a:srgbClr val="3B6E8F"/>
            </a:solidFill>
            <a:prstDash val="solid"/>
          </a:ln>
        </p:spPr>
        <p:txBody>
          <a:bodyPr/>
          <a:lstStyle/>
          <a:p>
            <a:endParaRPr lang="en-US"/>
          </a:p>
        </p:txBody>
      </p:sp>
      <p:sp>
        <p:nvSpPr>
          <p:cNvPr id="34" name="Text 32">
            <a:extLst>
              <a:ext uri="{FF2B5EF4-FFF2-40B4-BE49-F238E27FC236}">
                <a16:creationId xmlns:a16="http://schemas.microsoft.com/office/drawing/2014/main" id="{98FF7B8C-83B1-1767-9F7D-B107B116A23D}"/>
              </a:ext>
            </a:extLst>
          </p:cNvPr>
          <p:cNvSpPr/>
          <p:nvPr/>
        </p:nvSpPr>
        <p:spPr>
          <a:xfrm>
            <a:off x="566928" y="3246120"/>
            <a:ext cx="2478024"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Audit config changes</a:t>
            </a:r>
            <a:endParaRPr lang="en-US" sz="1100" dirty="0"/>
          </a:p>
        </p:txBody>
      </p:sp>
      <p:sp>
        <p:nvSpPr>
          <p:cNvPr id="35" name="Text 33">
            <a:extLst>
              <a:ext uri="{FF2B5EF4-FFF2-40B4-BE49-F238E27FC236}">
                <a16:creationId xmlns:a16="http://schemas.microsoft.com/office/drawing/2014/main" id="{B62AE66C-410D-3E0A-02D6-EE4205C10C72}"/>
              </a:ext>
            </a:extLst>
          </p:cNvPr>
          <p:cNvSpPr/>
          <p:nvPr/>
        </p:nvSpPr>
        <p:spPr>
          <a:xfrm>
            <a:off x="566928" y="3593592"/>
            <a:ext cx="2478024" cy="201168"/>
          </a:xfrm>
          <a:prstGeom prst="rect">
            <a:avLst/>
          </a:prstGeom>
          <a:noFill/>
          <a:ln/>
        </p:spPr>
        <p:txBody>
          <a:bodyPr wrap="square" lIns="0" tIns="0" rIns="0" bIns="0" rtlCol="0" anchor="ctr"/>
          <a:lstStyle/>
          <a:p>
            <a:pPr marL="0" indent="0">
              <a:buNone/>
            </a:pPr>
            <a:r>
              <a:rPr lang="en-US" sz="850" b="1" dirty="0">
                <a:solidFill>
                  <a:srgbClr val="3B6E8F"/>
                </a:solidFill>
                <a:latin typeface="Courier New" pitchFamily="34" charset="0"/>
                <a:ea typeface="Courier New" pitchFamily="34" charset="-122"/>
                <a:cs typeface="Courier New" pitchFamily="34" charset="-120"/>
              </a:rPr>
              <a:t>ConfigChange</a:t>
            </a:r>
            <a:r>
              <a:rPr lang="en-US" sz="850" dirty="0">
                <a:solidFill>
                  <a:srgbClr val="6B6B6B"/>
                </a:solidFill>
                <a:latin typeface="Calibri" pitchFamily="34" charset="0"/>
                <a:ea typeface="Calibri" pitchFamily="34" charset="-122"/>
                <a:cs typeface="Calibri" pitchFamily="34" charset="-120"/>
              </a:rPr>
              <a:t>  matcher: ""</a:t>
            </a:r>
            <a:endParaRPr lang="en-US" sz="850" dirty="0"/>
          </a:p>
        </p:txBody>
      </p:sp>
      <p:sp>
        <p:nvSpPr>
          <p:cNvPr id="36" name="Text 34">
            <a:extLst>
              <a:ext uri="{FF2B5EF4-FFF2-40B4-BE49-F238E27FC236}">
                <a16:creationId xmlns:a16="http://schemas.microsoft.com/office/drawing/2014/main" id="{AF53A9FA-DA83-8B42-33A7-43267F76C4A0}"/>
              </a:ext>
            </a:extLst>
          </p:cNvPr>
          <p:cNvSpPr/>
          <p:nvPr/>
        </p:nvSpPr>
        <p:spPr>
          <a:xfrm>
            <a:off x="566928" y="3794760"/>
            <a:ext cx="2478024" cy="347472"/>
          </a:xfrm>
          <a:prstGeom prst="rect">
            <a:avLst/>
          </a:prstGeom>
          <a:noFill/>
          <a:ln/>
        </p:spPr>
        <p:txBody>
          <a:bodyPr wrap="square" lIns="0" tIns="0" rIns="0" bIns="0" rtlCol="0" anchor="ctr"/>
          <a:lstStyle/>
          <a:p>
            <a:pPr marL="0" indent="0">
              <a:buNone/>
            </a:pPr>
            <a:r>
              <a:rPr lang="en-US" sz="850" dirty="0">
                <a:solidFill>
                  <a:srgbClr val="2B2B2B"/>
                </a:solidFill>
                <a:latin typeface="Calibri" pitchFamily="34" charset="0"/>
                <a:ea typeface="Calibri" pitchFamily="34" charset="-122"/>
                <a:cs typeface="Calibri" pitchFamily="34" charset="-120"/>
              </a:rPr>
              <a:t>Log every settings/skills change for compliance. Can also block (exit 2).</a:t>
            </a:r>
            <a:endParaRPr lang="en-US" sz="850" dirty="0"/>
          </a:p>
        </p:txBody>
      </p:sp>
      <p:sp>
        <p:nvSpPr>
          <p:cNvPr id="37" name="Shape 35">
            <a:extLst>
              <a:ext uri="{FF2B5EF4-FFF2-40B4-BE49-F238E27FC236}">
                <a16:creationId xmlns:a16="http://schemas.microsoft.com/office/drawing/2014/main" id="{DC9E4BF8-0317-88E2-BA7B-1DE4A3C05B12}"/>
              </a:ext>
            </a:extLst>
          </p:cNvPr>
          <p:cNvSpPr/>
          <p:nvPr/>
        </p:nvSpPr>
        <p:spPr>
          <a:xfrm>
            <a:off x="566928" y="4178808"/>
            <a:ext cx="2478024" cy="777240"/>
          </a:xfrm>
          <a:prstGeom prst="rect">
            <a:avLst/>
          </a:prstGeom>
          <a:solidFill>
            <a:srgbClr val="1E1E1E"/>
          </a:solidFill>
          <a:ln w="12700">
            <a:solidFill>
              <a:srgbClr val="1E1E1E"/>
            </a:solidFill>
            <a:prstDash val="solid"/>
          </a:ln>
        </p:spPr>
        <p:txBody>
          <a:bodyPr/>
          <a:lstStyle/>
          <a:p>
            <a:endParaRPr lang="en-US"/>
          </a:p>
        </p:txBody>
      </p:sp>
      <p:sp>
        <p:nvSpPr>
          <p:cNvPr id="38" name="Text 36">
            <a:extLst>
              <a:ext uri="{FF2B5EF4-FFF2-40B4-BE49-F238E27FC236}">
                <a16:creationId xmlns:a16="http://schemas.microsoft.com/office/drawing/2014/main" id="{86900722-9718-F64B-F95C-2B90DEAFB5A3}"/>
              </a:ext>
            </a:extLst>
          </p:cNvPr>
          <p:cNvSpPr/>
          <p:nvPr/>
        </p:nvSpPr>
        <p:spPr>
          <a:xfrm>
            <a:off x="621792" y="4224528"/>
            <a:ext cx="2368296" cy="685800"/>
          </a:xfrm>
          <a:prstGeom prst="rect">
            <a:avLst/>
          </a:prstGeom>
          <a:noFill/>
          <a:ln/>
        </p:spPr>
        <p:txBody>
          <a:bodyPr wrap="square" lIns="0" tIns="0" rIns="0" bIns="0" rtlCol="0" anchor="t"/>
          <a:lstStyle/>
          <a:p>
            <a:pPr marL="0" indent="0">
              <a:lnSpc>
                <a:spcPts val="1050"/>
              </a:lnSpc>
              <a:buNone/>
            </a:pPr>
            <a:r>
              <a:rPr lang="en-US" sz="750" dirty="0">
                <a:solidFill>
                  <a:srgbClr val="6A9955"/>
                </a:solidFill>
                <a:latin typeface="Courier New" pitchFamily="34" charset="0"/>
                <a:ea typeface="Courier New" pitchFamily="34" charset="-122"/>
                <a:cs typeface="Courier New" pitchFamily="34" charset="-120"/>
              </a:rPr>
              <a:t>"command": "jq -c '{ts: now|todate,</a:t>
            </a:r>
            <a:endParaRPr lang="en-US" sz="750" dirty="0"/>
          </a:p>
          <a:p>
            <a:pPr marL="0" indent="0">
              <a:lnSpc>
                <a:spcPts val="1050"/>
              </a:lnSpc>
              <a:buNone/>
            </a:pPr>
            <a:r>
              <a:rPr lang="en-US" sz="750" dirty="0">
                <a:solidFill>
                  <a:srgbClr val="6A9955"/>
                </a:solidFill>
                <a:latin typeface="Courier New" pitchFamily="34" charset="0"/>
                <a:ea typeface="Courier New" pitchFamily="34" charset="-122"/>
                <a:cs typeface="Courier New" pitchFamily="34" charset="-120"/>
              </a:rPr>
              <a:t> file:.file_path}' &gt;&gt; audit.log"</a:t>
            </a:r>
            <a:endParaRPr lang="en-US" sz="750" dirty="0"/>
          </a:p>
        </p:txBody>
      </p:sp>
      <p:sp>
        <p:nvSpPr>
          <p:cNvPr id="39" name="Shape 37">
            <a:extLst>
              <a:ext uri="{FF2B5EF4-FFF2-40B4-BE49-F238E27FC236}">
                <a16:creationId xmlns:a16="http://schemas.microsoft.com/office/drawing/2014/main" id="{8BDD3243-696C-7BAF-2B26-D01D08026943}"/>
              </a:ext>
            </a:extLst>
          </p:cNvPr>
          <p:cNvSpPr/>
          <p:nvPr/>
        </p:nvSpPr>
        <p:spPr>
          <a:xfrm>
            <a:off x="3246120" y="3246120"/>
            <a:ext cx="2697480" cy="1874520"/>
          </a:xfrm>
          <a:prstGeom prst="roundRect">
            <a:avLst>
              <a:gd name="adj" fmla="val 2439"/>
            </a:avLst>
          </a:prstGeom>
          <a:solidFill>
            <a:srgbClr val="FFFFFF"/>
          </a:solidFill>
          <a:ln w="12700">
            <a:solidFill>
              <a:srgbClr val="E3E0D8"/>
            </a:solidFill>
            <a:prstDash val="solid"/>
          </a:ln>
          <a:effectLst>
            <a:outerShdw blurRad="76200" dist="25400" dir="5400000" algn="bl" rotWithShape="0">
              <a:srgbClr val="000000">
                <a:alpha val="8000"/>
              </a:srgbClr>
            </a:outerShdw>
          </a:effectLst>
        </p:spPr>
        <p:txBody>
          <a:bodyPr/>
          <a:lstStyle/>
          <a:p>
            <a:endParaRPr lang="en-US"/>
          </a:p>
        </p:txBody>
      </p:sp>
      <p:sp>
        <p:nvSpPr>
          <p:cNvPr id="40" name="Shape 38">
            <a:extLst>
              <a:ext uri="{FF2B5EF4-FFF2-40B4-BE49-F238E27FC236}">
                <a16:creationId xmlns:a16="http://schemas.microsoft.com/office/drawing/2014/main" id="{8ECF6C29-B3FE-D5E7-D792-F6B0C0CDD284}"/>
              </a:ext>
            </a:extLst>
          </p:cNvPr>
          <p:cNvSpPr/>
          <p:nvPr/>
        </p:nvSpPr>
        <p:spPr>
          <a:xfrm>
            <a:off x="3246120" y="3246120"/>
            <a:ext cx="2697480" cy="320040"/>
          </a:xfrm>
          <a:prstGeom prst="rect">
            <a:avLst/>
          </a:prstGeom>
          <a:solidFill>
            <a:srgbClr val="3B7A75"/>
          </a:solidFill>
          <a:ln w="12700">
            <a:solidFill>
              <a:srgbClr val="3B7A75"/>
            </a:solidFill>
            <a:prstDash val="solid"/>
          </a:ln>
        </p:spPr>
        <p:txBody>
          <a:bodyPr/>
          <a:lstStyle/>
          <a:p>
            <a:endParaRPr lang="en-US"/>
          </a:p>
        </p:txBody>
      </p:sp>
      <p:sp>
        <p:nvSpPr>
          <p:cNvPr id="41" name="Text 39">
            <a:extLst>
              <a:ext uri="{FF2B5EF4-FFF2-40B4-BE49-F238E27FC236}">
                <a16:creationId xmlns:a16="http://schemas.microsoft.com/office/drawing/2014/main" id="{817A0082-90F8-DC3A-9E00-58BCB6773FD3}"/>
              </a:ext>
            </a:extLst>
          </p:cNvPr>
          <p:cNvSpPr/>
          <p:nvPr/>
        </p:nvSpPr>
        <p:spPr>
          <a:xfrm>
            <a:off x="3355848" y="3246120"/>
            <a:ext cx="2478024"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Reload direnv on cd</a:t>
            </a:r>
            <a:endParaRPr lang="en-US" sz="1100" dirty="0"/>
          </a:p>
        </p:txBody>
      </p:sp>
      <p:sp>
        <p:nvSpPr>
          <p:cNvPr id="42" name="Text 40">
            <a:extLst>
              <a:ext uri="{FF2B5EF4-FFF2-40B4-BE49-F238E27FC236}">
                <a16:creationId xmlns:a16="http://schemas.microsoft.com/office/drawing/2014/main" id="{8BF31EF9-BE8A-9C74-1ADE-F42EB51EC8A6}"/>
              </a:ext>
            </a:extLst>
          </p:cNvPr>
          <p:cNvSpPr/>
          <p:nvPr/>
        </p:nvSpPr>
        <p:spPr>
          <a:xfrm>
            <a:off x="3355848" y="3593592"/>
            <a:ext cx="2478024" cy="201168"/>
          </a:xfrm>
          <a:prstGeom prst="rect">
            <a:avLst/>
          </a:prstGeom>
          <a:noFill/>
          <a:ln/>
        </p:spPr>
        <p:txBody>
          <a:bodyPr wrap="square" lIns="0" tIns="0" rIns="0" bIns="0" rtlCol="0" anchor="ctr"/>
          <a:lstStyle/>
          <a:p>
            <a:pPr marL="0" indent="0">
              <a:buNone/>
            </a:pPr>
            <a:r>
              <a:rPr lang="en-US" sz="850" b="1" dirty="0">
                <a:solidFill>
                  <a:srgbClr val="3B7A75"/>
                </a:solidFill>
                <a:latin typeface="Courier New" pitchFamily="34" charset="0"/>
                <a:ea typeface="Courier New" pitchFamily="34" charset="-122"/>
                <a:cs typeface="Courier New" pitchFamily="34" charset="-120"/>
              </a:rPr>
              <a:t>CwdChanged</a:t>
            </a:r>
            <a:r>
              <a:rPr lang="en-US" sz="850" dirty="0">
                <a:solidFill>
                  <a:srgbClr val="6B6B6B"/>
                </a:solidFill>
                <a:latin typeface="Calibri" pitchFamily="34" charset="0"/>
                <a:ea typeface="Calibri" pitchFamily="34" charset="-122"/>
                <a:cs typeface="Calibri" pitchFamily="34" charset="-120"/>
              </a:rPr>
              <a:t>  matcher: ""</a:t>
            </a:r>
            <a:endParaRPr lang="en-US" sz="850" dirty="0"/>
          </a:p>
        </p:txBody>
      </p:sp>
      <p:sp>
        <p:nvSpPr>
          <p:cNvPr id="43" name="Text 41">
            <a:extLst>
              <a:ext uri="{FF2B5EF4-FFF2-40B4-BE49-F238E27FC236}">
                <a16:creationId xmlns:a16="http://schemas.microsoft.com/office/drawing/2014/main" id="{40FFD175-483C-36BF-F9AA-AD077F0E6166}"/>
              </a:ext>
            </a:extLst>
          </p:cNvPr>
          <p:cNvSpPr/>
          <p:nvPr/>
        </p:nvSpPr>
        <p:spPr>
          <a:xfrm>
            <a:off x="3355848" y="3794760"/>
            <a:ext cx="2478024" cy="347472"/>
          </a:xfrm>
          <a:prstGeom prst="rect">
            <a:avLst/>
          </a:prstGeom>
          <a:noFill/>
          <a:ln/>
        </p:spPr>
        <p:txBody>
          <a:bodyPr wrap="square" lIns="0" tIns="0" rIns="0" bIns="0" rtlCol="0" anchor="ctr"/>
          <a:lstStyle/>
          <a:p>
            <a:pPr marL="0" indent="0">
              <a:buNone/>
            </a:pPr>
            <a:r>
              <a:rPr lang="en-US" sz="850" dirty="0">
                <a:solidFill>
                  <a:srgbClr val="2B2B2B"/>
                </a:solidFill>
                <a:latin typeface="Calibri" pitchFamily="34" charset="0"/>
                <a:ea typeface="Calibri" pitchFamily="34" charset="-122"/>
                <a:cs typeface="Calibri" pitchFamily="34" charset="-120"/>
              </a:rPr>
              <a:t>Keep env vars in sync when Claude changes directory.</a:t>
            </a:r>
            <a:endParaRPr lang="en-US" sz="850" dirty="0"/>
          </a:p>
        </p:txBody>
      </p:sp>
      <p:sp>
        <p:nvSpPr>
          <p:cNvPr id="44" name="Shape 42">
            <a:extLst>
              <a:ext uri="{FF2B5EF4-FFF2-40B4-BE49-F238E27FC236}">
                <a16:creationId xmlns:a16="http://schemas.microsoft.com/office/drawing/2014/main" id="{6DF07D96-35A4-A6C0-F944-4603621177D2}"/>
              </a:ext>
            </a:extLst>
          </p:cNvPr>
          <p:cNvSpPr/>
          <p:nvPr/>
        </p:nvSpPr>
        <p:spPr>
          <a:xfrm>
            <a:off x="3355848" y="4178808"/>
            <a:ext cx="2478024" cy="777240"/>
          </a:xfrm>
          <a:prstGeom prst="rect">
            <a:avLst/>
          </a:prstGeom>
          <a:solidFill>
            <a:srgbClr val="1E1E1E"/>
          </a:solidFill>
          <a:ln w="12700">
            <a:solidFill>
              <a:srgbClr val="1E1E1E"/>
            </a:solidFill>
            <a:prstDash val="solid"/>
          </a:ln>
        </p:spPr>
        <p:txBody>
          <a:bodyPr/>
          <a:lstStyle/>
          <a:p>
            <a:endParaRPr lang="en-US"/>
          </a:p>
        </p:txBody>
      </p:sp>
      <p:sp>
        <p:nvSpPr>
          <p:cNvPr id="45" name="Text 43">
            <a:extLst>
              <a:ext uri="{FF2B5EF4-FFF2-40B4-BE49-F238E27FC236}">
                <a16:creationId xmlns:a16="http://schemas.microsoft.com/office/drawing/2014/main" id="{58D4E968-1D5C-DCC4-0EAF-A9C0DE883C2E}"/>
              </a:ext>
            </a:extLst>
          </p:cNvPr>
          <p:cNvSpPr/>
          <p:nvPr/>
        </p:nvSpPr>
        <p:spPr>
          <a:xfrm>
            <a:off x="3410712" y="4224528"/>
            <a:ext cx="2368296" cy="685800"/>
          </a:xfrm>
          <a:prstGeom prst="rect">
            <a:avLst/>
          </a:prstGeom>
          <a:noFill/>
          <a:ln/>
        </p:spPr>
        <p:txBody>
          <a:bodyPr wrap="square" lIns="0" tIns="0" rIns="0" bIns="0" rtlCol="0" anchor="t"/>
          <a:lstStyle/>
          <a:p>
            <a:pPr marL="0" indent="0">
              <a:lnSpc>
                <a:spcPts val="1050"/>
              </a:lnSpc>
              <a:buNone/>
            </a:pPr>
            <a:r>
              <a:rPr lang="en-US" sz="750" dirty="0">
                <a:solidFill>
                  <a:srgbClr val="6A9955"/>
                </a:solidFill>
                <a:latin typeface="Courier New" pitchFamily="34" charset="0"/>
                <a:ea typeface="Courier New" pitchFamily="34" charset="-122"/>
                <a:cs typeface="Courier New" pitchFamily="34" charset="-120"/>
              </a:rPr>
              <a:t>"command": "direnv export bash</a:t>
            </a:r>
            <a:endParaRPr lang="en-US" sz="750" dirty="0"/>
          </a:p>
          <a:p>
            <a:pPr marL="0" indent="0">
              <a:lnSpc>
                <a:spcPts val="1050"/>
              </a:lnSpc>
              <a:buNone/>
            </a:pPr>
            <a:r>
              <a:rPr lang="en-US" sz="750" dirty="0">
                <a:solidFill>
                  <a:srgbClr val="6A9955"/>
                </a:solidFill>
                <a:latin typeface="Courier New" pitchFamily="34" charset="0"/>
                <a:ea typeface="Courier New" pitchFamily="34" charset="-122"/>
                <a:cs typeface="Courier New" pitchFamily="34" charset="-120"/>
              </a:rPr>
              <a:t> &gt; \"$CLAUDE_ENV_FILE\""</a:t>
            </a:r>
            <a:endParaRPr lang="en-US" sz="750" dirty="0"/>
          </a:p>
        </p:txBody>
      </p:sp>
      <p:sp>
        <p:nvSpPr>
          <p:cNvPr id="46" name="Shape 44">
            <a:extLst>
              <a:ext uri="{FF2B5EF4-FFF2-40B4-BE49-F238E27FC236}">
                <a16:creationId xmlns:a16="http://schemas.microsoft.com/office/drawing/2014/main" id="{F305BE9C-4206-FC94-3508-099938CF39E3}"/>
              </a:ext>
            </a:extLst>
          </p:cNvPr>
          <p:cNvSpPr/>
          <p:nvPr/>
        </p:nvSpPr>
        <p:spPr>
          <a:xfrm>
            <a:off x="6035040" y="3246120"/>
            <a:ext cx="2697480" cy="1874520"/>
          </a:xfrm>
          <a:prstGeom prst="roundRect">
            <a:avLst>
              <a:gd name="adj" fmla="val 2439"/>
            </a:avLst>
          </a:prstGeom>
          <a:solidFill>
            <a:srgbClr val="FFFFFF"/>
          </a:solidFill>
          <a:ln w="12700">
            <a:solidFill>
              <a:srgbClr val="E3E0D8"/>
            </a:solidFill>
            <a:prstDash val="solid"/>
          </a:ln>
          <a:effectLst>
            <a:outerShdw blurRad="76200" dist="25400" dir="5400000" algn="bl" rotWithShape="0">
              <a:srgbClr val="000000">
                <a:alpha val="8000"/>
              </a:srgbClr>
            </a:outerShdw>
          </a:effectLst>
        </p:spPr>
        <p:txBody>
          <a:bodyPr/>
          <a:lstStyle/>
          <a:p>
            <a:endParaRPr lang="en-US"/>
          </a:p>
        </p:txBody>
      </p:sp>
      <p:sp>
        <p:nvSpPr>
          <p:cNvPr id="47" name="Shape 45">
            <a:extLst>
              <a:ext uri="{FF2B5EF4-FFF2-40B4-BE49-F238E27FC236}">
                <a16:creationId xmlns:a16="http://schemas.microsoft.com/office/drawing/2014/main" id="{947D8DDD-BDDE-DA18-E95A-21A4F353B4CE}"/>
              </a:ext>
            </a:extLst>
          </p:cNvPr>
          <p:cNvSpPr/>
          <p:nvPr/>
        </p:nvSpPr>
        <p:spPr>
          <a:xfrm>
            <a:off x="6035040" y="3246120"/>
            <a:ext cx="2697480" cy="320040"/>
          </a:xfrm>
          <a:prstGeom prst="rect">
            <a:avLst/>
          </a:prstGeom>
          <a:solidFill>
            <a:srgbClr val="6B5B95"/>
          </a:solidFill>
          <a:ln w="12700">
            <a:solidFill>
              <a:srgbClr val="6B5B95"/>
            </a:solidFill>
            <a:prstDash val="solid"/>
          </a:ln>
        </p:spPr>
        <p:txBody>
          <a:bodyPr/>
          <a:lstStyle/>
          <a:p>
            <a:endParaRPr lang="en-US"/>
          </a:p>
        </p:txBody>
      </p:sp>
      <p:sp>
        <p:nvSpPr>
          <p:cNvPr id="48" name="Text 46">
            <a:extLst>
              <a:ext uri="{FF2B5EF4-FFF2-40B4-BE49-F238E27FC236}">
                <a16:creationId xmlns:a16="http://schemas.microsoft.com/office/drawing/2014/main" id="{6D297903-1973-AD58-919F-D39DA7823E98}"/>
              </a:ext>
            </a:extLst>
          </p:cNvPr>
          <p:cNvSpPr/>
          <p:nvPr/>
        </p:nvSpPr>
        <p:spPr>
          <a:xfrm>
            <a:off x="6144768" y="3246120"/>
            <a:ext cx="2478024"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Auto-approve ExitPlanMode</a:t>
            </a:r>
            <a:endParaRPr lang="en-US" sz="1100" dirty="0"/>
          </a:p>
        </p:txBody>
      </p:sp>
      <p:sp>
        <p:nvSpPr>
          <p:cNvPr id="49" name="Text 47">
            <a:extLst>
              <a:ext uri="{FF2B5EF4-FFF2-40B4-BE49-F238E27FC236}">
                <a16:creationId xmlns:a16="http://schemas.microsoft.com/office/drawing/2014/main" id="{1601EB91-D9B2-03C6-96F2-C1D22538AC0D}"/>
              </a:ext>
            </a:extLst>
          </p:cNvPr>
          <p:cNvSpPr/>
          <p:nvPr/>
        </p:nvSpPr>
        <p:spPr>
          <a:xfrm>
            <a:off x="6144768" y="3593592"/>
            <a:ext cx="2478024" cy="201168"/>
          </a:xfrm>
          <a:prstGeom prst="rect">
            <a:avLst/>
          </a:prstGeom>
          <a:noFill/>
          <a:ln/>
        </p:spPr>
        <p:txBody>
          <a:bodyPr wrap="square" lIns="0" tIns="0" rIns="0" bIns="0" rtlCol="0" anchor="ctr"/>
          <a:lstStyle/>
          <a:p>
            <a:pPr marL="0" indent="0">
              <a:buNone/>
            </a:pPr>
            <a:r>
              <a:rPr lang="en-US" sz="850" b="1" dirty="0">
                <a:solidFill>
                  <a:srgbClr val="6B5B95"/>
                </a:solidFill>
                <a:latin typeface="Courier New" pitchFamily="34" charset="0"/>
                <a:ea typeface="Courier New" pitchFamily="34" charset="-122"/>
                <a:cs typeface="Courier New" pitchFamily="34" charset="-120"/>
              </a:rPr>
              <a:t>PermissionRequest</a:t>
            </a:r>
            <a:r>
              <a:rPr lang="en-US" sz="850" dirty="0">
                <a:solidFill>
                  <a:srgbClr val="6B6B6B"/>
                </a:solidFill>
                <a:latin typeface="Calibri" pitchFamily="34" charset="0"/>
                <a:ea typeface="Calibri" pitchFamily="34" charset="-122"/>
                <a:cs typeface="Calibri" pitchFamily="34" charset="-120"/>
              </a:rPr>
              <a:t>  matcher: "ExitPlanMode"</a:t>
            </a:r>
            <a:endParaRPr lang="en-US" sz="850" dirty="0"/>
          </a:p>
        </p:txBody>
      </p:sp>
      <p:sp>
        <p:nvSpPr>
          <p:cNvPr id="50" name="Text 48">
            <a:extLst>
              <a:ext uri="{FF2B5EF4-FFF2-40B4-BE49-F238E27FC236}">
                <a16:creationId xmlns:a16="http://schemas.microsoft.com/office/drawing/2014/main" id="{EB43BDF0-199C-10BB-0679-B493C4B38225}"/>
              </a:ext>
            </a:extLst>
          </p:cNvPr>
          <p:cNvSpPr/>
          <p:nvPr/>
        </p:nvSpPr>
        <p:spPr>
          <a:xfrm>
            <a:off x="6144768" y="3794760"/>
            <a:ext cx="2478024" cy="347472"/>
          </a:xfrm>
          <a:prstGeom prst="rect">
            <a:avLst/>
          </a:prstGeom>
          <a:noFill/>
          <a:ln/>
        </p:spPr>
        <p:txBody>
          <a:bodyPr wrap="square" lIns="0" tIns="0" rIns="0" bIns="0" rtlCol="0" anchor="ctr"/>
          <a:lstStyle/>
          <a:p>
            <a:pPr marL="0" indent="0">
              <a:buNone/>
            </a:pPr>
            <a:r>
              <a:rPr lang="en-US" sz="850" dirty="0">
                <a:solidFill>
                  <a:srgbClr val="2B2B2B"/>
                </a:solidFill>
                <a:latin typeface="Calibri" pitchFamily="34" charset="0"/>
                <a:ea typeface="Calibri" pitchFamily="34" charset="-122"/>
                <a:cs typeface="Calibri" pitchFamily="34" charset="-120"/>
              </a:rPr>
              <a:t>Skip the approval dialog when Claude finishes presenting a plan.</a:t>
            </a:r>
            <a:endParaRPr lang="en-US" sz="850" dirty="0"/>
          </a:p>
        </p:txBody>
      </p:sp>
      <p:sp>
        <p:nvSpPr>
          <p:cNvPr id="51" name="Shape 49">
            <a:extLst>
              <a:ext uri="{FF2B5EF4-FFF2-40B4-BE49-F238E27FC236}">
                <a16:creationId xmlns:a16="http://schemas.microsoft.com/office/drawing/2014/main" id="{9D44ADA7-D979-06A1-803D-10987615CD30}"/>
              </a:ext>
            </a:extLst>
          </p:cNvPr>
          <p:cNvSpPr/>
          <p:nvPr/>
        </p:nvSpPr>
        <p:spPr>
          <a:xfrm>
            <a:off x="6144768" y="4178808"/>
            <a:ext cx="2478024" cy="777240"/>
          </a:xfrm>
          <a:prstGeom prst="rect">
            <a:avLst/>
          </a:prstGeom>
          <a:solidFill>
            <a:srgbClr val="1E1E1E"/>
          </a:solidFill>
          <a:ln w="12700">
            <a:solidFill>
              <a:srgbClr val="1E1E1E"/>
            </a:solidFill>
            <a:prstDash val="solid"/>
          </a:ln>
        </p:spPr>
        <p:txBody>
          <a:bodyPr/>
          <a:lstStyle/>
          <a:p>
            <a:endParaRPr lang="en-US"/>
          </a:p>
        </p:txBody>
      </p:sp>
      <p:sp>
        <p:nvSpPr>
          <p:cNvPr id="52" name="Text 50">
            <a:extLst>
              <a:ext uri="{FF2B5EF4-FFF2-40B4-BE49-F238E27FC236}">
                <a16:creationId xmlns:a16="http://schemas.microsoft.com/office/drawing/2014/main" id="{BB5D7756-C772-0815-C59F-0D32E6F6129C}"/>
              </a:ext>
            </a:extLst>
          </p:cNvPr>
          <p:cNvSpPr/>
          <p:nvPr/>
        </p:nvSpPr>
        <p:spPr>
          <a:xfrm>
            <a:off x="6199632" y="4224528"/>
            <a:ext cx="2368296" cy="685800"/>
          </a:xfrm>
          <a:prstGeom prst="rect">
            <a:avLst/>
          </a:prstGeom>
          <a:noFill/>
          <a:ln/>
        </p:spPr>
        <p:txBody>
          <a:bodyPr wrap="square" lIns="0" tIns="0" rIns="0" bIns="0" rtlCol="0" anchor="t"/>
          <a:lstStyle/>
          <a:p>
            <a:pPr marL="0" indent="0">
              <a:lnSpc>
                <a:spcPts val="1050"/>
              </a:lnSpc>
              <a:buNone/>
            </a:pPr>
            <a:r>
              <a:rPr lang="en-US" sz="750" dirty="0">
                <a:solidFill>
                  <a:srgbClr val="6A9955"/>
                </a:solidFill>
                <a:latin typeface="Courier New" pitchFamily="34" charset="0"/>
                <a:ea typeface="Courier New" pitchFamily="34" charset="-122"/>
                <a:cs typeface="Courier New" pitchFamily="34" charset="-120"/>
              </a:rPr>
              <a:t>"command": "echo '{\"hookSpecificOutput\":</a:t>
            </a:r>
            <a:endParaRPr lang="en-US" sz="750" dirty="0"/>
          </a:p>
          <a:p>
            <a:pPr marL="0" indent="0">
              <a:lnSpc>
                <a:spcPts val="1050"/>
              </a:lnSpc>
              <a:buNone/>
            </a:pPr>
            <a:r>
              <a:rPr lang="en-US" sz="750" dirty="0">
                <a:solidFill>
                  <a:srgbClr val="6A9955"/>
                </a:solidFill>
                <a:latin typeface="Courier New" pitchFamily="34" charset="0"/>
                <a:ea typeface="Courier New" pitchFamily="34" charset="-122"/>
                <a:cs typeface="Courier New" pitchFamily="34" charset="-120"/>
              </a:rPr>
              <a:t> {\"decision\":{\"behavior\":\"allow\"}}}'"</a:t>
            </a:r>
            <a:endParaRPr lang="en-US" sz="750" dirty="0"/>
          </a:p>
        </p:txBody>
      </p:sp>
      <p:sp>
        <p:nvSpPr>
          <p:cNvPr id="53" name="Shape 51">
            <a:extLst>
              <a:ext uri="{FF2B5EF4-FFF2-40B4-BE49-F238E27FC236}">
                <a16:creationId xmlns:a16="http://schemas.microsoft.com/office/drawing/2014/main" id="{B56D8648-53FC-B823-A50D-71D8535976B5}"/>
              </a:ext>
            </a:extLst>
          </p:cNvPr>
          <p:cNvSpPr/>
          <p:nvPr/>
        </p:nvSpPr>
        <p:spPr>
          <a:xfrm>
            <a:off x="457200" y="5257800"/>
            <a:ext cx="11247120" cy="548640"/>
          </a:xfrm>
          <a:prstGeom prst="rect">
            <a:avLst/>
          </a:prstGeom>
          <a:solidFill>
            <a:srgbClr val="F7F5F0"/>
          </a:solidFill>
          <a:ln w="9525">
            <a:solidFill>
              <a:srgbClr val="E3E0D8"/>
            </a:solidFill>
            <a:prstDash val="solid"/>
          </a:ln>
        </p:spPr>
        <p:txBody>
          <a:bodyPr/>
          <a:lstStyle/>
          <a:p>
            <a:endParaRPr lang="en-US"/>
          </a:p>
        </p:txBody>
      </p:sp>
      <p:sp>
        <p:nvSpPr>
          <p:cNvPr id="54" name="Text 52">
            <a:extLst>
              <a:ext uri="{FF2B5EF4-FFF2-40B4-BE49-F238E27FC236}">
                <a16:creationId xmlns:a16="http://schemas.microsoft.com/office/drawing/2014/main" id="{03D164AF-7AC5-0C90-F5A2-502E0DC9CC8E}"/>
              </a:ext>
            </a:extLst>
          </p:cNvPr>
          <p:cNvSpPr/>
          <p:nvPr/>
        </p:nvSpPr>
        <p:spPr>
          <a:xfrm>
            <a:off x="777240" y="5257800"/>
            <a:ext cx="10607040" cy="548640"/>
          </a:xfrm>
          <a:prstGeom prst="rect">
            <a:avLst/>
          </a:prstGeom>
          <a:noFill/>
          <a:ln/>
        </p:spPr>
        <p:txBody>
          <a:bodyPr wrap="square" lIns="0" tIns="0" rIns="0" bIns="0" rtlCol="0" anchor="ctr"/>
          <a:lstStyle/>
          <a:p>
            <a:pPr marL="0" indent="0">
              <a:buNone/>
            </a:pPr>
            <a:r>
              <a:rPr lang="en-US" sz="1100" b="1" dirty="0">
                <a:solidFill>
                  <a:srgbClr val="C9704F"/>
                </a:solidFill>
                <a:latin typeface="Calibri" pitchFamily="34" charset="0"/>
                <a:ea typeface="Calibri" pitchFamily="34" charset="-122"/>
                <a:cs typeface="Calibri" pitchFamily="34" charset="-120"/>
              </a:rPr>
              <a:t>For the 4th card with no neighbour: </a:t>
            </a:r>
            <a:r>
              <a:rPr lang="en-US" sz="1100" dirty="0">
                <a:solidFill>
                  <a:srgbClr val="2B2B2B"/>
                </a:solidFill>
                <a:latin typeface="Calibri" pitchFamily="34" charset="0"/>
                <a:ea typeface="Calibri" pitchFamily="34" charset="-122"/>
                <a:cs typeface="Calibri" pitchFamily="34" charset="-120"/>
              </a:rPr>
              <a:t>FileChanged also works for env reload — use </a:t>
            </a:r>
            <a:r>
              <a:rPr lang="en-US" sz="1100" dirty="0">
                <a:solidFill>
                  <a:srgbClr val="6B5B95"/>
                </a:solidFill>
                <a:latin typeface="Courier New" pitchFamily="34" charset="0"/>
                <a:ea typeface="Courier New" pitchFamily="34" charset="-122"/>
                <a:cs typeface="Courier New" pitchFamily="34" charset="-120"/>
              </a:rPr>
              <a:t>matcher: ".envrc|.env"</a:t>
            </a:r>
            <a:r>
              <a:rPr lang="en-US" sz="1100" dirty="0">
                <a:solidFill>
                  <a:srgbClr val="2B2B2B"/>
                </a:solidFill>
                <a:latin typeface="Calibri" pitchFamily="34" charset="0"/>
                <a:ea typeface="Calibri" pitchFamily="34" charset="-122"/>
                <a:cs typeface="Calibri" pitchFamily="34" charset="-120"/>
              </a:rPr>
              <a:t> to trigger only when those specific files change, not on every directory change.</a:t>
            </a:r>
            <a:endParaRPr lang="en-US" sz="1100" dirty="0"/>
          </a:p>
        </p:txBody>
      </p:sp>
    </p:spTree>
    <p:extLst>
      <p:ext uri="{BB962C8B-B14F-4D97-AF65-F5344CB8AC3E}">
        <p14:creationId xmlns:p14="http://schemas.microsoft.com/office/powerpoint/2010/main" val="17546257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41413"/>
        </a:solidFill>
        <a:effectLst/>
      </p:bgPr>
    </p:bg>
    <p:spTree>
      <p:nvGrpSpPr>
        <p:cNvPr id="1" name="">
          <a:extLst>
            <a:ext uri="{FF2B5EF4-FFF2-40B4-BE49-F238E27FC236}">
              <a16:creationId xmlns:a16="http://schemas.microsoft.com/office/drawing/2014/main" id="{91639AE2-A927-40D7-8C87-9DCD409BA89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D54E84A-CF36-B347-EF16-FFBFBD177EED}"/>
              </a:ext>
            </a:extLst>
          </p:cNvPr>
          <p:cNvSpPr/>
          <p:nvPr/>
        </p:nvSpPr>
        <p:spPr>
          <a:xfrm>
            <a:off x="457200" y="320040"/>
            <a:ext cx="1371600" cy="1371600"/>
          </a:xfrm>
          <a:prstGeom prst="rect">
            <a:avLst/>
          </a:prstGeom>
          <a:noFill/>
          <a:ln/>
        </p:spPr>
        <p:txBody>
          <a:bodyPr wrap="square" rtlCol="0" anchor="ctr"/>
          <a:lstStyle/>
          <a:p>
            <a:pPr marL="0" indent="0">
              <a:buNone/>
            </a:pPr>
            <a:r>
              <a:rPr lang="en-US" sz="9000" b="1" dirty="0">
                <a:solidFill>
                  <a:srgbClr val="232220"/>
                </a:solidFill>
                <a:latin typeface="Poppins" pitchFamily="34" charset="0"/>
                <a:ea typeface="Poppins" pitchFamily="34" charset="-122"/>
                <a:cs typeface="Poppins" pitchFamily="34" charset="-120"/>
              </a:rPr>
              <a:t>{</a:t>
            </a:r>
            <a:endParaRPr lang="en-US" sz="9000" dirty="0"/>
          </a:p>
        </p:txBody>
      </p:sp>
      <p:sp>
        <p:nvSpPr>
          <p:cNvPr id="3" name="Text 1">
            <a:extLst>
              <a:ext uri="{FF2B5EF4-FFF2-40B4-BE49-F238E27FC236}">
                <a16:creationId xmlns:a16="http://schemas.microsoft.com/office/drawing/2014/main" id="{12717357-2BB8-FB93-315A-77548C454D68}"/>
              </a:ext>
            </a:extLst>
          </p:cNvPr>
          <p:cNvSpPr/>
          <p:nvPr/>
        </p:nvSpPr>
        <p:spPr>
          <a:xfrm>
            <a:off x="10424160" y="5120640"/>
            <a:ext cx="1371600" cy="1371600"/>
          </a:xfrm>
          <a:prstGeom prst="rect">
            <a:avLst/>
          </a:prstGeom>
          <a:noFill/>
          <a:ln/>
        </p:spPr>
        <p:txBody>
          <a:bodyPr wrap="square" rtlCol="0" anchor="ctr"/>
          <a:lstStyle/>
          <a:p>
            <a:pPr marL="0" indent="0" algn="r">
              <a:buNone/>
            </a:pPr>
            <a:r>
              <a:rPr lang="en-US" sz="9000" b="1" dirty="0">
                <a:solidFill>
                  <a:srgbClr val="232220"/>
                </a:solidFill>
                <a:latin typeface="Poppins" pitchFamily="34" charset="0"/>
                <a:ea typeface="Poppins" pitchFamily="34" charset="-122"/>
                <a:cs typeface="Poppins" pitchFamily="34" charset="-120"/>
              </a:rPr>
              <a:t>}</a:t>
            </a:r>
            <a:endParaRPr lang="en-US" sz="9000" dirty="0"/>
          </a:p>
        </p:txBody>
      </p:sp>
      <p:sp>
        <p:nvSpPr>
          <p:cNvPr id="5" name="Text 3">
            <a:extLst>
              <a:ext uri="{FF2B5EF4-FFF2-40B4-BE49-F238E27FC236}">
                <a16:creationId xmlns:a16="http://schemas.microsoft.com/office/drawing/2014/main" id="{BADC77B5-698D-5F3B-1F51-A9A55FBFFB43}"/>
              </a:ext>
            </a:extLst>
          </p:cNvPr>
          <p:cNvSpPr/>
          <p:nvPr/>
        </p:nvSpPr>
        <p:spPr>
          <a:xfrm>
            <a:off x="822960" y="2331720"/>
            <a:ext cx="10515600" cy="1188720"/>
          </a:xfrm>
          <a:prstGeom prst="rect">
            <a:avLst/>
          </a:prstGeom>
          <a:noFill/>
          <a:ln/>
        </p:spPr>
        <p:txBody>
          <a:bodyPr wrap="square" lIns="0" tIns="0" rIns="0" bIns="0" rtlCol="0" anchor="ctr"/>
          <a:lstStyle/>
          <a:p>
            <a:pPr marL="0" indent="0">
              <a:buNone/>
            </a:pPr>
            <a:r>
              <a:rPr lang="en-US" sz="4400" b="1" dirty="0">
                <a:solidFill>
                  <a:srgbClr val="FAF9F5"/>
                </a:solidFill>
                <a:latin typeface="Poppins" pitchFamily="34" charset="0"/>
                <a:cs typeface="Poppins" pitchFamily="34" charset="-120"/>
              </a:rPr>
              <a:t>Superpowers</a:t>
            </a:r>
          </a:p>
          <a:p>
            <a:r>
              <a:rPr lang="en-US" sz="3000" b="1" dirty="0">
                <a:solidFill>
                  <a:srgbClr val="FAF9F5"/>
                </a:solidFill>
                <a:latin typeface="Poppins" pitchFamily="34" charset="0"/>
                <a:cs typeface="Poppins" pitchFamily="34" charset="-120"/>
              </a:rPr>
              <a:t>https://github.com/obra/superpowers</a:t>
            </a:r>
          </a:p>
        </p:txBody>
      </p:sp>
      <p:sp>
        <p:nvSpPr>
          <p:cNvPr id="10" name="Text 8">
            <a:extLst>
              <a:ext uri="{FF2B5EF4-FFF2-40B4-BE49-F238E27FC236}">
                <a16:creationId xmlns:a16="http://schemas.microsoft.com/office/drawing/2014/main" id="{EE41E558-112D-4504-EE45-D99360F1D6A8}"/>
              </a:ext>
            </a:extLst>
          </p:cNvPr>
          <p:cNvSpPr/>
          <p:nvPr/>
        </p:nvSpPr>
        <p:spPr>
          <a:xfrm>
            <a:off x="822960" y="6263640"/>
            <a:ext cx="7315200" cy="274320"/>
          </a:xfrm>
          <a:prstGeom prst="rect">
            <a:avLst/>
          </a:prstGeom>
          <a:noFill/>
          <a:ln/>
        </p:spPr>
        <p:txBody>
          <a:bodyPr wrap="square" rtlCol="0" anchor="ctr"/>
          <a:lstStyle/>
          <a:p>
            <a:pPr marL="0" indent="0">
              <a:buNone/>
            </a:pPr>
            <a:endParaRPr lang="en-US" sz="1100" dirty="0"/>
          </a:p>
        </p:txBody>
      </p:sp>
    </p:spTree>
    <p:extLst>
      <p:ext uri="{BB962C8B-B14F-4D97-AF65-F5344CB8AC3E}">
        <p14:creationId xmlns:p14="http://schemas.microsoft.com/office/powerpoint/2010/main" val="23893347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 0">
            <a:extLst>
              <a:ext uri="{FF2B5EF4-FFF2-40B4-BE49-F238E27FC236}">
                <a16:creationId xmlns:a16="http://schemas.microsoft.com/office/drawing/2014/main" id="{3951333F-FF78-E3D2-7599-6C263F145CF9}"/>
              </a:ext>
            </a:extLst>
          </p:cNvPr>
          <p:cNvSpPr/>
          <p:nvPr/>
        </p:nvSpPr>
        <p:spPr>
          <a:xfrm>
            <a:off x="457200" y="256032"/>
            <a:ext cx="8229600" cy="5943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What Is Superpowers?</a:t>
            </a:r>
            <a:endParaRPr lang="en-US" sz="3200" dirty="0"/>
          </a:p>
        </p:txBody>
      </p:sp>
      <p:sp>
        <p:nvSpPr>
          <p:cNvPr id="20" name="Text 1">
            <a:extLst>
              <a:ext uri="{FF2B5EF4-FFF2-40B4-BE49-F238E27FC236}">
                <a16:creationId xmlns:a16="http://schemas.microsoft.com/office/drawing/2014/main" id="{F3CF3141-36D4-EAC5-5370-42C973379DB9}"/>
              </a:ext>
            </a:extLst>
          </p:cNvPr>
          <p:cNvSpPr/>
          <p:nvPr/>
        </p:nvSpPr>
        <p:spPr>
          <a:xfrm>
            <a:off x="457199" y="1005839"/>
            <a:ext cx="5131837" cy="4219303"/>
          </a:xfrm>
          <a:prstGeom prst="rect">
            <a:avLst/>
          </a:prstGeom>
          <a:noFill/>
          <a:ln/>
        </p:spPr>
        <p:txBody>
          <a:bodyPr wrap="square" rtlCol="0" anchor="t"/>
          <a:lstStyle/>
          <a:p>
            <a:pPr marL="0" indent="0">
              <a:buNone/>
            </a:pPr>
            <a:r>
              <a:rPr lang="en-US" sz="1600" dirty="0">
                <a:solidFill>
                  <a:srgbClr val="1A202C"/>
                </a:solidFill>
                <a:latin typeface="Calibri" pitchFamily="34" charset="0"/>
                <a:ea typeface="Calibri" pitchFamily="34" charset="-122"/>
                <a:cs typeface="Calibri" pitchFamily="34" charset="-120"/>
              </a:rPr>
              <a:t>Superpowers is a workflow methodology and skills library for coding agents — Claude Code, Codex, Cursor, and more.</a:t>
            </a:r>
            <a:endParaRPr lang="en-US" sz="1600" dirty="0"/>
          </a:p>
          <a:p>
            <a:pPr marL="0" indent="0">
              <a:buNone/>
            </a:pPr>
            <a:r>
              <a:rPr lang="en-US" sz="1600" dirty="0">
                <a:solidFill>
                  <a:srgbClr val="1A202C"/>
                </a:solidFill>
                <a:latin typeface="Calibri" pitchFamily="34" charset="0"/>
                <a:ea typeface="Calibri" pitchFamily="34" charset="-122"/>
                <a:cs typeface="Calibri" pitchFamily="34" charset="-120"/>
              </a:rPr>
              <a:t> </a:t>
            </a:r>
            <a:endParaRPr lang="en-US" sz="1600" dirty="0"/>
          </a:p>
          <a:p>
            <a:pPr marL="0" indent="0">
              <a:buNone/>
            </a:pPr>
            <a:r>
              <a:rPr lang="en-US" sz="1600" dirty="0">
                <a:solidFill>
                  <a:srgbClr val="1A202C"/>
                </a:solidFill>
                <a:latin typeface="Calibri" pitchFamily="34" charset="0"/>
                <a:ea typeface="Calibri" pitchFamily="34" charset="-122"/>
                <a:cs typeface="Calibri" pitchFamily="34" charset="-120"/>
              </a:rPr>
              <a:t>It ships 14 composable skills that activate automatically at the right moment in a coding session — before writing code, when a bug appears, before merging a branch.</a:t>
            </a:r>
            <a:endParaRPr lang="en-US" sz="1600" dirty="0"/>
          </a:p>
          <a:p>
            <a:pPr marL="0" indent="0">
              <a:buNone/>
            </a:pPr>
            <a:r>
              <a:rPr lang="en-US" sz="1600" dirty="0">
                <a:solidFill>
                  <a:srgbClr val="1A202C"/>
                </a:solidFill>
                <a:latin typeface="Calibri" pitchFamily="34" charset="0"/>
                <a:ea typeface="Calibri" pitchFamily="34" charset="-122"/>
                <a:cs typeface="Calibri" pitchFamily="34" charset="-120"/>
              </a:rPr>
              <a:t> </a:t>
            </a:r>
            <a:endParaRPr lang="en-US" sz="1600" dirty="0"/>
          </a:p>
          <a:p>
            <a:pPr marL="0" indent="0">
              <a:buNone/>
            </a:pPr>
            <a:r>
              <a:rPr lang="en-US" sz="1600" dirty="0">
                <a:solidFill>
                  <a:srgbClr val="1A202C"/>
                </a:solidFill>
                <a:latin typeface="Calibri" pitchFamily="34" charset="0"/>
                <a:ea typeface="Calibri" pitchFamily="34" charset="-122"/>
                <a:cs typeface="Calibri" pitchFamily="34" charset="-120"/>
              </a:rPr>
              <a:t>The framework is injected via a session-start hook so agents follow proven engineering workflows without any manual setup per session.</a:t>
            </a:r>
            <a:endParaRPr lang="en-US" sz="1600" dirty="0"/>
          </a:p>
        </p:txBody>
      </p:sp>
      <p:sp>
        <p:nvSpPr>
          <p:cNvPr id="21" name="Shape 2">
            <a:extLst>
              <a:ext uri="{FF2B5EF4-FFF2-40B4-BE49-F238E27FC236}">
                <a16:creationId xmlns:a16="http://schemas.microsoft.com/office/drawing/2014/main" id="{07F7ED16-B8F7-BC7B-44B7-0A927609177E}"/>
              </a:ext>
            </a:extLst>
          </p:cNvPr>
          <p:cNvSpPr/>
          <p:nvPr/>
        </p:nvSpPr>
        <p:spPr>
          <a:xfrm>
            <a:off x="7007289" y="868680"/>
            <a:ext cx="4727511" cy="1261872"/>
          </a:xfrm>
          <a:prstGeom prst="roundRect">
            <a:avLst>
              <a:gd name="adj" fmla="val 8333"/>
            </a:avLst>
          </a:prstGeom>
          <a:solidFill>
            <a:srgbClr val="EBF4FF"/>
          </a:solidFill>
          <a:ln w="12700">
            <a:solidFill>
              <a:srgbClr val="DBEAFE"/>
            </a:solidFill>
            <a:prstDash val="solid"/>
          </a:ln>
          <a:effectLst>
            <a:outerShdw blurRad="76200" dist="25400" dir="2700000" algn="bl" rotWithShape="0">
              <a:srgbClr val="000000">
                <a:alpha val="9000"/>
              </a:srgbClr>
            </a:outerShdw>
          </a:effectLst>
        </p:spPr>
        <p:txBody>
          <a:bodyPr/>
          <a:lstStyle/>
          <a:p>
            <a:endParaRPr lang="en-US"/>
          </a:p>
        </p:txBody>
      </p:sp>
      <p:sp>
        <p:nvSpPr>
          <p:cNvPr id="22" name="Shape 3">
            <a:extLst>
              <a:ext uri="{FF2B5EF4-FFF2-40B4-BE49-F238E27FC236}">
                <a16:creationId xmlns:a16="http://schemas.microsoft.com/office/drawing/2014/main" id="{EAC2FFF8-B2F2-9BBD-597A-980C469CF211}"/>
              </a:ext>
            </a:extLst>
          </p:cNvPr>
          <p:cNvSpPr/>
          <p:nvPr/>
        </p:nvSpPr>
        <p:spPr>
          <a:xfrm>
            <a:off x="7210044" y="978408"/>
            <a:ext cx="365760" cy="365760"/>
          </a:xfrm>
          <a:prstGeom prst="ellipse">
            <a:avLst/>
          </a:prstGeom>
          <a:solidFill>
            <a:srgbClr val="1E2761"/>
          </a:solidFill>
          <a:ln w="12700">
            <a:solidFill>
              <a:srgbClr val="1E2761"/>
            </a:solidFill>
            <a:prstDash val="solid"/>
          </a:ln>
        </p:spPr>
        <p:txBody>
          <a:bodyPr/>
          <a:lstStyle/>
          <a:p>
            <a:endParaRPr lang="en-US"/>
          </a:p>
        </p:txBody>
      </p:sp>
      <p:sp>
        <p:nvSpPr>
          <p:cNvPr id="23" name="Text 4">
            <a:extLst>
              <a:ext uri="{FF2B5EF4-FFF2-40B4-BE49-F238E27FC236}">
                <a16:creationId xmlns:a16="http://schemas.microsoft.com/office/drawing/2014/main" id="{65C70219-B44B-E2AC-22BC-D0C31FAA1CBB}"/>
              </a:ext>
            </a:extLst>
          </p:cNvPr>
          <p:cNvSpPr/>
          <p:nvPr/>
        </p:nvSpPr>
        <p:spPr>
          <a:xfrm>
            <a:off x="7210044" y="978408"/>
            <a:ext cx="36576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01</a:t>
            </a:r>
            <a:endParaRPr lang="en-US" sz="1000" dirty="0"/>
          </a:p>
        </p:txBody>
      </p:sp>
      <p:sp>
        <p:nvSpPr>
          <p:cNvPr id="24" name="Text 5">
            <a:extLst>
              <a:ext uri="{FF2B5EF4-FFF2-40B4-BE49-F238E27FC236}">
                <a16:creationId xmlns:a16="http://schemas.microsoft.com/office/drawing/2014/main" id="{4B98E47F-D87D-496D-54E3-08792AE3EA35}"/>
              </a:ext>
            </a:extLst>
          </p:cNvPr>
          <p:cNvSpPr/>
          <p:nvPr/>
        </p:nvSpPr>
        <p:spPr>
          <a:xfrm>
            <a:off x="7703820" y="923544"/>
            <a:ext cx="2898648" cy="329184"/>
          </a:xfrm>
          <a:prstGeom prst="rect">
            <a:avLst/>
          </a:prstGeom>
          <a:noFill/>
          <a:ln/>
        </p:spPr>
        <p:txBody>
          <a:bodyPr wrap="square" lIns="0" tIns="0" rIns="0" bIns="0" rtlCol="0" anchor="ctr"/>
          <a:lstStyle/>
          <a:p>
            <a:pPr marL="0" indent="0">
              <a:buNone/>
            </a:pPr>
            <a:r>
              <a:rPr lang="en-US" sz="1300" b="1" dirty="0">
                <a:solidFill>
                  <a:srgbClr val="1E2761"/>
                </a:solidFill>
                <a:latin typeface="Cambria" pitchFamily="34" charset="0"/>
                <a:ea typeface="Cambria" pitchFamily="34" charset="-122"/>
                <a:cs typeface="Cambria" pitchFamily="34" charset="-120"/>
              </a:rPr>
              <a:t>Skills</a:t>
            </a:r>
            <a:endParaRPr lang="en-US" sz="1300" dirty="0"/>
          </a:p>
        </p:txBody>
      </p:sp>
      <p:sp>
        <p:nvSpPr>
          <p:cNvPr id="25" name="Text 6">
            <a:extLst>
              <a:ext uri="{FF2B5EF4-FFF2-40B4-BE49-F238E27FC236}">
                <a16:creationId xmlns:a16="http://schemas.microsoft.com/office/drawing/2014/main" id="{3A446A62-5683-BE3E-4DDA-54D0DF0EBDAF}"/>
              </a:ext>
            </a:extLst>
          </p:cNvPr>
          <p:cNvSpPr/>
          <p:nvPr/>
        </p:nvSpPr>
        <p:spPr>
          <a:xfrm>
            <a:off x="7703820" y="1427584"/>
            <a:ext cx="3884800" cy="530352"/>
          </a:xfrm>
          <a:prstGeom prst="rect">
            <a:avLst/>
          </a:prstGeom>
          <a:noFill/>
          <a:ln/>
        </p:spPr>
        <p:txBody>
          <a:bodyPr wrap="square" lIns="0" tIns="0" rIns="0" bIns="0" rtlCol="0" anchor="ctr"/>
          <a:lstStyle/>
          <a:p>
            <a:pPr marL="0" indent="0">
              <a:buNone/>
            </a:pPr>
            <a:r>
              <a:rPr lang="en-US" sz="1300" dirty="0">
                <a:solidFill>
                  <a:srgbClr val="4A5568"/>
                </a:solidFill>
                <a:latin typeface="Calibri" pitchFamily="34" charset="0"/>
                <a:ea typeface="Calibri" pitchFamily="34" charset="-122"/>
                <a:cs typeface="Calibri" pitchFamily="34" charset="-120"/>
              </a:rPr>
              <a:t>14 reference guides encoding proven engineering processes: TDD, systematic debugging, brainstorming, code review, git worktrees, and more.</a:t>
            </a:r>
            <a:endParaRPr lang="en-US" sz="1300" dirty="0"/>
          </a:p>
        </p:txBody>
      </p:sp>
      <p:sp>
        <p:nvSpPr>
          <p:cNvPr id="26" name="Shape 7">
            <a:extLst>
              <a:ext uri="{FF2B5EF4-FFF2-40B4-BE49-F238E27FC236}">
                <a16:creationId xmlns:a16="http://schemas.microsoft.com/office/drawing/2014/main" id="{EFF2C4FA-3BF6-469E-7B70-0A5AD82F2B12}"/>
              </a:ext>
            </a:extLst>
          </p:cNvPr>
          <p:cNvSpPr/>
          <p:nvPr/>
        </p:nvSpPr>
        <p:spPr>
          <a:xfrm>
            <a:off x="7007290" y="2331720"/>
            <a:ext cx="4727510" cy="1188720"/>
          </a:xfrm>
          <a:prstGeom prst="roundRect">
            <a:avLst>
              <a:gd name="adj" fmla="val 8333"/>
            </a:avLst>
          </a:prstGeom>
          <a:solidFill>
            <a:srgbClr val="EBF4FF"/>
          </a:solidFill>
          <a:ln w="12700">
            <a:solidFill>
              <a:srgbClr val="DBEAFE"/>
            </a:solidFill>
            <a:prstDash val="solid"/>
          </a:ln>
          <a:effectLst>
            <a:outerShdw blurRad="76200" dist="25400" dir="2700000" algn="bl" rotWithShape="0">
              <a:srgbClr val="000000">
                <a:alpha val="9000"/>
              </a:srgbClr>
            </a:outerShdw>
          </a:effectLst>
        </p:spPr>
        <p:txBody>
          <a:bodyPr/>
          <a:lstStyle/>
          <a:p>
            <a:endParaRPr lang="en-US"/>
          </a:p>
        </p:txBody>
      </p:sp>
      <p:sp>
        <p:nvSpPr>
          <p:cNvPr id="27" name="Shape 8">
            <a:extLst>
              <a:ext uri="{FF2B5EF4-FFF2-40B4-BE49-F238E27FC236}">
                <a16:creationId xmlns:a16="http://schemas.microsoft.com/office/drawing/2014/main" id="{D032E71A-A185-092C-C655-1BFEC342A5D8}"/>
              </a:ext>
            </a:extLst>
          </p:cNvPr>
          <p:cNvSpPr/>
          <p:nvPr/>
        </p:nvSpPr>
        <p:spPr>
          <a:xfrm>
            <a:off x="7219312" y="2470000"/>
            <a:ext cx="365760" cy="365760"/>
          </a:xfrm>
          <a:prstGeom prst="ellipse">
            <a:avLst/>
          </a:prstGeom>
          <a:solidFill>
            <a:srgbClr val="1E2761"/>
          </a:solidFill>
          <a:ln w="12700">
            <a:solidFill>
              <a:srgbClr val="1E2761"/>
            </a:solidFill>
            <a:prstDash val="solid"/>
          </a:ln>
        </p:spPr>
        <p:txBody>
          <a:bodyPr/>
          <a:lstStyle/>
          <a:p>
            <a:endParaRPr lang="en-US"/>
          </a:p>
        </p:txBody>
      </p:sp>
      <p:sp>
        <p:nvSpPr>
          <p:cNvPr id="28" name="Text 9">
            <a:extLst>
              <a:ext uri="{FF2B5EF4-FFF2-40B4-BE49-F238E27FC236}">
                <a16:creationId xmlns:a16="http://schemas.microsoft.com/office/drawing/2014/main" id="{BE6B9892-9461-0730-E52E-B8E849C7523B}"/>
              </a:ext>
            </a:extLst>
          </p:cNvPr>
          <p:cNvSpPr/>
          <p:nvPr/>
        </p:nvSpPr>
        <p:spPr>
          <a:xfrm>
            <a:off x="7219312" y="2470000"/>
            <a:ext cx="36576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02</a:t>
            </a:r>
            <a:endParaRPr lang="en-US" sz="1000" dirty="0"/>
          </a:p>
        </p:txBody>
      </p:sp>
      <p:sp>
        <p:nvSpPr>
          <p:cNvPr id="29" name="Text 10">
            <a:extLst>
              <a:ext uri="{FF2B5EF4-FFF2-40B4-BE49-F238E27FC236}">
                <a16:creationId xmlns:a16="http://schemas.microsoft.com/office/drawing/2014/main" id="{1AD1C0F6-FBDA-F2AB-2A92-129AAA2E57D9}"/>
              </a:ext>
            </a:extLst>
          </p:cNvPr>
          <p:cNvSpPr/>
          <p:nvPr/>
        </p:nvSpPr>
        <p:spPr>
          <a:xfrm>
            <a:off x="7713088" y="2415136"/>
            <a:ext cx="2898648" cy="329184"/>
          </a:xfrm>
          <a:prstGeom prst="rect">
            <a:avLst/>
          </a:prstGeom>
          <a:noFill/>
          <a:ln/>
        </p:spPr>
        <p:txBody>
          <a:bodyPr wrap="square" lIns="0" tIns="0" rIns="0" bIns="0" rtlCol="0" anchor="ctr"/>
          <a:lstStyle/>
          <a:p>
            <a:pPr marL="0" indent="0">
              <a:buNone/>
            </a:pPr>
            <a:r>
              <a:rPr lang="en-US" sz="1300" b="1" dirty="0">
                <a:solidFill>
                  <a:srgbClr val="1E2761"/>
                </a:solidFill>
                <a:latin typeface="Cambria" pitchFamily="34" charset="0"/>
                <a:ea typeface="Cambria" pitchFamily="34" charset="-122"/>
                <a:cs typeface="Cambria" pitchFamily="34" charset="-120"/>
              </a:rPr>
              <a:t>Bootstrap</a:t>
            </a:r>
            <a:endParaRPr lang="en-US" sz="1300" dirty="0"/>
          </a:p>
        </p:txBody>
      </p:sp>
      <p:sp>
        <p:nvSpPr>
          <p:cNvPr id="30" name="Text 11">
            <a:extLst>
              <a:ext uri="{FF2B5EF4-FFF2-40B4-BE49-F238E27FC236}">
                <a16:creationId xmlns:a16="http://schemas.microsoft.com/office/drawing/2014/main" id="{B72C9F4E-A871-994E-E0B2-1913CA734A92}"/>
              </a:ext>
            </a:extLst>
          </p:cNvPr>
          <p:cNvSpPr/>
          <p:nvPr/>
        </p:nvSpPr>
        <p:spPr>
          <a:xfrm>
            <a:off x="7731252" y="2867204"/>
            <a:ext cx="4040248" cy="530352"/>
          </a:xfrm>
          <a:prstGeom prst="rect">
            <a:avLst/>
          </a:prstGeom>
          <a:noFill/>
          <a:ln/>
        </p:spPr>
        <p:txBody>
          <a:bodyPr wrap="square" lIns="0" tIns="0" rIns="0" bIns="0" rtlCol="0" anchor="ctr"/>
          <a:lstStyle/>
          <a:p>
            <a:pPr marL="0" indent="0">
              <a:buNone/>
            </a:pPr>
            <a:r>
              <a:rPr lang="en-US" sz="1400" dirty="0">
                <a:solidFill>
                  <a:srgbClr val="4A5568"/>
                </a:solidFill>
                <a:latin typeface="Calibri" pitchFamily="34" charset="0"/>
                <a:ea typeface="Calibri" pitchFamily="34" charset="-122"/>
                <a:cs typeface="Calibri" pitchFamily="34" charset="-120"/>
              </a:rPr>
              <a:t>Session-start hook auto-injects the framework at conversation start. Works across 9 harnesses. Zero per-session setup.</a:t>
            </a:r>
            <a:endParaRPr lang="en-US" sz="1400" dirty="0"/>
          </a:p>
        </p:txBody>
      </p:sp>
      <p:sp>
        <p:nvSpPr>
          <p:cNvPr id="31" name="Shape 12">
            <a:extLst>
              <a:ext uri="{FF2B5EF4-FFF2-40B4-BE49-F238E27FC236}">
                <a16:creationId xmlns:a16="http://schemas.microsoft.com/office/drawing/2014/main" id="{6FFB7401-D0AE-9A5A-86D4-85A652370B06}"/>
              </a:ext>
            </a:extLst>
          </p:cNvPr>
          <p:cNvSpPr/>
          <p:nvPr/>
        </p:nvSpPr>
        <p:spPr>
          <a:xfrm>
            <a:off x="7007290" y="3794760"/>
            <a:ext cx="4727510" cy="1188720"/>
          </a:xfrm>
          <a:prstGeom prst="roundRect">
            <a:avLst>
              <a:gd name="adj" fmla="val 8333"/>
            </a:avLst>
          </a:prstGeom>
          <a:solidFill>
            <a:srgbClr val="EBF4FF"/>
          </a:solidFill>
          <a:ln w="12700">
            <a:solidFill>
              <a:srgbClr val="DBEAFE"/>
            </a:solidFill>
            <a:prstDash val="solid"/>
          </a:ln>
          <a:effectLst>
            <a:outerShdw blurRad="76200" dist="25400" dir="2700000" algn="bl" rotWithShape="0">
              <a:srgbClr val="000000">
                <a:alpha val="9000"/>
              </a:srgbClr>
            </a:outerShdw>
          </a:effectLst>
        </p:spPr>
        <p:txBody>
          <a:bodyPr/>
          <a:lstStyle/>
          <a:p>
            <a:endParaRPr lang="en-US"/>
          </a:p>
        </p:txBody>
      </p:sp>
      <p:sp>
        <p:nvSpPr>
          <p:cNvPr id="32" name="Shape 13">
            <a:extLst>
              <a:ext uri="{FF2B5EF4-FFF2-40B4-BE49-F238E27FC236}">
                <a16:creationId xmlns:a16="http://schemas.microsoft.com/office/drawing/2014/main" id="{8F8BC68E-5F52-95AE-8C16-AF23F9668F92}"/>
              </a:ext>
            </a:extLst>
          </p:cNvPr>
          <p:cNvSpPr/>
          <p:nvPr/>
        </p:nvSpPr>
        <p:spPr>
          <a:xfrm>
            <a:off x="7219312" y="3933040"/>
            <a:ext cx="365760" cy="365760"/>
          </a:xfrm>
          <a:prstGeom prst="ellipse">
            <a:avLst/>
          </a:prstGeom>
          <a:solidFill>
            <a:srgbClr val="1E2761"/>
          </a:solidFill>
          <a:ln w="12700">
            <a:solidFill>
              <a:srgbClr val="1E2761"/>
            </a:solidFill>
            <a:prstDash val="solid"/>
          </a:ln>
        </p:spPr>
        <p:txBody>
          <a:bodyPr/>
          <a:lstStyle/>
          <a:p>
            <a:endParaRPr lang="en-US"/>
          </a:p>
        </p:txBody>
      </p:sp>
      <p:sp>
        <p:nvSpPr>
          <p:cNvPr id="33" name="Text 14">
            <a:extLst>
              <a:ext uri="{FF2B5EF4-FFF2-40B4-BE49-F238E27FC236}">
                <a16:creationId xmlns:a16="http://schemas.microsoft.com/office/drawing/2014/main" id="{725DBC21-B6BE-CDD7-3C21-D4FCF3B50AE5}"/>
              </a:ext>
            </a:extLst>
          </p:cNvPr>
          <p:cNvSpPr/>
          <p:nvPr/>
        </p:nvSpPr>
        <p:spPr>
          <a:xfrm>
            <a:off x="7219312" y="3933040"/>
            <a:ext cx="36576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03</a:t>
            </a:r>
            <a:endParaRPr lang="en-US" sz="1000" dirty="0"/>
          </a:p>
        </p:txBody>
      </p:sp>
      <p:sp>
        <p:nvSpPr>
          <p:cNvPr id="34" name="Text 15">
            <a:extLst>
              <a:ext uri="{FF2B5EF4-FFF2-40B4-BE49-F238E27FC236}">
                <a16:creationId xmlns:a16="http://schemas.microsoft.com/office/drawing/2014/main" id="{F8D297A0-1B92-0224-1F73-6B4B77545972}"/>
              </a:ext>
            </a:extLst>
          </p:cNvPr>
          <p:cNvSpPr/>
          <p:nvPr/>
        </p:nvSpPr>
        <p:spPr>
          <a:xfrm>
            <a:off x="7713088" y="3878176"/>
            <a:ext cx="2898648" cy="329184"/>
          </a:xfrm>
          <a:prstGeom prst="rect">
            <a:avLst/>
          </a:prstGeom>
          <a:noFill/>
          <a:ln/>
        </p:spPr>
        <p:txBody>
          <a:bodyPr wrap="square" lIns="0" tIns="0" rIns="0" bIns="0" rtlCol="0" anchor="ctr"/>
          <a:lstStyle/>
          <a:p>
            <a:pPr marL="0" indent="0">
              <a:buNone/>
            </a:pPr>
            <a:r>
              <a:rPr lang="en-US" sz="1300" b="1" dirty="0">
                <a:solidFill>
                  <a:srgbClr val="1E2761"/>
                </a:solidFill>
                <a:latin typeface="Cambria" pitchFamily="34" charset="0"/>
                <a:ea typeface="Cambria" pitchFamily="34" charset="-122"/>
                <a:cs typeface="Cambria" pitchFamily="34" charset="-120"/>
              </a:rPr>
              <a:t>Hard Gates</a:t>
            </a:r>
            <a:endParaRPr lang="en-US" sz="1300" dirty="0"/>
          </a:p>
        </p:txBody>
      </p:sp>
      <p:sp>
        <p:nvSpPr>
          <p:cNvPr id="35" name="Text 16">
            <a:extLst>
              <a:ext uri="{FF2B5EF4-FFF2-40B4-BE49-F238E27FC236}">
                <a16:creationId xmlns:a16="http://schemas.microsoft.com/office/drawing/2014/main" id="{8167122F-A543-8A70-44EA-3B8B1B0DE9A5}"/>
              </a:ext>
            </a:extLst>
          </p:cNvPr>
          <p:cNvSpPr/>
          <p:nvPr/>
        </p:nvSpPr>
        <p:spPr>
          <a:xfrm>
            <a:off x="7703820" y="4310837"/>
            <a:ext cx="3884800" cy="530352"/>
          </a:xfrm>
          <a:prstGeom prst="rect">
            <a:avLst/>
          </a:prstGeom>
          <a:noFill/>
          <a:ln/>
        </p:spPr>
        <p:txBody>
          <a:bodyPr wrap="square" lIns="0" tIns="0" rIns="0" bIns="0" rtlCol="0" anchor="ctr"/>
          <a:lstStyle/>
          <a:p>
            <a:pPr marL="0" indent="0">
              <a:buNone/>
            </a:pPr>
            <a:r>
              <a:rPr lang="en-US" sz="1450" dirty="0">
                <a:solidFill>
                  <a:srgbClr val="4A5568"/>
                </a:solidFill>
                <a:latin typeface="Calibri" pitchFamily="34" charset="0"/>
                <a:ea typeface="Calibri" pitchFamily="34" charset="-122"/>
                <a:cs typeface="Calibri" pitchFamily="34" charset="-120"/>
              </a:rPr>
              <a:t>Mandatory steps enforced: no production code without a failing test, no fix without root cause, no PR without human review.</a:t>
            </a:r>
            <a:endParaRPr lang="en-US" sz="1450" dirty="0"/>
          </a:p>
        </p:txBody>
      </p:sp>
    </p:spTree>
    <p:extLst>
      <p:ext uri="{BB962C8B-B14F-4D97-AF65-F5344CB8AC3E}">
        <p14:creationId xmlns:p14="http://schemas.microsoft.com/office/powerpoint/2010/main" val="42907474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B3EF4B0F-1252-5CBA-4810-C91A1F400CE7}"/>
              </a:ext>
            </a:extLst>
          </p:cNvPr>
          <p:cNvSpPr/>
          <p:nvPr/>
        </p:nvSpPr>
        <p:spPr>
          <a:xfrm>
            <a:off x="457200" y="256032"/>
            <a:ext cx="8229600" cy="594360"/>
          </a:xfrm>
          <a:prstGeom prst="rect">
            <a:avLst/>
          </a:prstGeom>
          <a:noFill/>
          <a:ln/>
        </p:spPr>
        <p:txBody>
          <a:bodyPr wrap="square" lIns="0" tIns="0" rIns="0" bIns="0" rtlCol="0" anchor="ctr"/>
          <a:lstStyle/>
          <a:p>
            <a:pPr marL="0" indent="0">
              <a:buNone/>
            </a:pPr>
            <a:r>
              <a:rPr lang="en-US" sz="4000" b="1" dirty="0">
                <a:solidFill>
                  <a:srgbClr val="1E2761"/>
                </a:solidFill>
                <a:latin typeface="Cambria" pitchFamily="34" charset="0"/>
                <a:ea typeface="Cambria" pitchFamily="34" charset="-122"/>
                <a:cs typeface="Cambria" pitchFamily="34" charset="-120"/>
              </a:rPr>
              <a:t>What It Provides — The 14 Skills</a:t>
            </a:r>
            <a:endParaRPr lang="en-US" sz="4000" dirty="0"/>
          </a:p>
        </p:txBody>
      </p:sp>
      <p:sp>
        <p:nvSpPr>
          <p:cNvPr id="3" name="Shape 1">
            <a:extLst>
              <a:ext uri="{FF2B5EF4-FFF2-40B4-BE49-F238E27FC236}">
                <a16:creationId xmlns:a16="http://schemas.microsoft.com/office/drawing/2014/main" id="{DDA5C083-7F46-E19F-E2D3-FBF3779FCAB7}"/>
              </a:ext>
            </a:extLst>
          </p:cNvPr>
          <p:cNvSpPr/>
          <p:nvPr/>
        </p:nvSpPr>
        <p:spPr>
          <a:xfrm>
            <a:off x="205740" y="1005840"/>
            <a:ext cx="2378840" cy="4303278"/>
          </a:xfrm>
          <a:prstGeom prst="roundRect">
            <a:avLst>
              <a:gd name="adj" fmla="val 4545"/>
            </a:avLst>
          </a:prstGeom>
          <a:solidFill>
            <a:srgbClr val="EBF4FF"/>
          </a:solidFill>
          <a:ln w="12700">
            <a:solidFill>
              <a:srgbClr val="EBF4FF"/>
            </a:solidFill>
            <a:prstDash val="solid"/>
          </a:ln>
        </p:spPr>
        <p:txBody>
          <a:bodyPr/>
          <a:lstStyle/>
          <a:p>
            <a:endParaRPr lang="en-US" dirty="0"/>
          </a:p>
        </p:txBody>
      </p:sp>
      <p:sp>
        <p:nvSpPr>
          <p:cNvPr id="4" name="Text 2">
            <a:extLst>
              <a:ext uri="{FF2B5EF4-FFF2-40B4-BE49-F238E27FC236}">
                <a16:creationId xmlns:a16="http://schemas.microsoft.com/office/drawing/2014/main" id="{12F1D558-9453-3F48-4BDE-FA8DDD46578E}"/>
              </a:ext>
            </a:extLst>
          </p:cNvPr>
          <p:cNvSpPr/>
          <p:nvPr/>
        </p:nvSpPr>
        <p:spPr>
          <a:xfrm>
            <a:off x="297180" y="1097280"/>
            <a:ext cx="1828800" cy="320040"/>
          </a:xfrm>
          <a:prstGeom prst="rect">
            <a:avLst/>
          </a:prstGeom>
          <a:noFill/>
          <a:ln/>
        </p:spPr>
        <p:txBody>
          <a:bodyPr wrap="square" lIns="0" tIns="0" rIns="0" bIns="0" rtlCol="0" anchor="ctr"/>
          <a:lstStyle/>
          <a:p>
            <a:pPr marL="0" indent="0" algn="ctr">
              <a:buNone/>
            </a:pPr>
            <a:r>
              <a:rPr lang="en-US" b="1" dirty="0">
                <a:solidFill>
                  <a:srgbClr val="3A7CC7"/>
                </a:solidFill>
                <a:latin typeface="Cambria" pitchFamily="34" charset="0"/>
                <a:ea typeface="Cambria" pitchFamily="34" charset="-122"/>
                <a:cs typeface="Cambria" pitchFamily="34" charset="-120"/>
              </a:rPr>
              <a:t>Workflow</a:t>
            </a:r>
            <a:endParaRPr lang="en-US" dirty="0"/>
          </a:p>
        </p:txBody>
      </p:sp>
      <p:sp>
        <p:nvSpPr>
          <p:cNvPr id="5" name="Text 3">
            <a:extLst>
              <a:ext uri="{FF2B5EF4-FFF2-40B4-BE49-F238E27FC236}">
                <a16:creationId xmlns:a16="http://schemas.microsoft.com/office/drawing/2014/main" id="{F3FB7C82-3DD0-5E78-05C0-67C1E556B01D}"/>
              </a:ext>
            </a:extLst>
          </p:cNvPr>
          <p:cNvSpPr/>
          <p:nvPr/>
        </p:nvSpPr>
        <p:spPr>
          <a:xfrm>
            <a:off x="297180" y="1444752"/>
            <a:ext cx="1828800" cy="274320"/>
          </a:xfrm>
          <a:prstGeom prst="rect">
            <a:avLst/>
          </a:prstGeom>
          <a:noFill/>
          <a:ln/>
        </p:spPr>
        <p:txBody>
          <a:bodyPr wrap="square" lIns="0" tIns="0" rIns="0" bIns="0" rtlCol="0" anchor="ctr"/>
          <a:lstStyle/>
          <a:p>
            <a:pPr marL="0" indent="0" algn="ctr">
              <a:buNone/>
            </a:pPr>
            <a:r>
              <a:rPr lang="en-US" sz="900" i="1" dirty="0">
                <a:solidFill>
                  <a:srgbClr val="718096"/>
                </a:solidFill>
                <a:latin typeface="Calibri" pitchFamily="34" charset="0"/>
                <a:ea typeface="Calibri" pitchFamily="34" charset="-122"/>
                <a:cs typeface="Calibri" pitchFamily="34" charset="-120"/>
              </a:rPr>
              <a:t>Plan before you build</a:t>
            </a:r>
            <a:endParaRPr lang="en-US" sz="900" dirty="0"/>
          </a:p>
        </p:txBody>
      </p:sp>
      <p:sp>
        <p:nvSpPr>
          <p:cNvPr id="6" name="Text 4">
            <a:extLst>
              <a:ext uri="{FF2B5EF4-FFF2-40B4-BE49-F238E27FC236}">
                <a16:creationId xmlns:a16="http://schemas.microsoft.com/office/drawing/2014/main" id="{398B7658-A3C9-2CF0-E0B6-2F201D8D0E71}"/>
              </a:ext>
            </a:extLst>
          </p:cNvPr>
          <p:cNvSpPr/>
          <p:nvPr/>
        </p:nvSpPr>
        <p:spPr>
          <a:xfrm>
            <a:off x="315468" y="1810512"/>
            <a:ext cx="1810512" cy="475488"/>
          </a:xfrm>
          <a:prstGeom prst="rect">
            <a:avLst/>
          </a:prstGeom>
          <a:noFill/>
          <a:ln/>
        </p:spPr>
        <p:txBody>
          <a:bodyPr wrap="square" lIns="0" tIns="0" rIns="0" bIns="0" rtlCol="0" anchor="ctr"/>
          <a:lstStyle/>
          <a:p>
            <a:pPr marL="0" indent="0" algn="l">
              <a:buNone/>
            </a:pPr>
            <a:r>
              <a:rPr lang="en-US" sz="1400" dirty="0">
                <a:solidFill>
                  <a:srgbClr val="1A202C"/>
                </a:solidFill>
                <a:latin typeface="Calibri" pitchFamily="34" charset="0"/>
                <a:ea typeface="Calibri" pitchFamily="34" charset="-122"/>
                <a:cs typeface="Calibri" pitchFamily="34" charset="-120"/>
              </a:rPr>
              <a:t>brainstorming</a:t>
            </a:r>
            <a:endParaRPr lang="en-US" sz="1400" dirty="0"/>
          </a:p>
        </p:txBody>
      </p:sp>
      <p:sp>
        <p:nvSpPr>
          <p:cNvPr id="7" name="Text 5">
            <a:extLst>
              <a:ext uri="{FF2B5EF4-FFF2-40B4-BE49-F238E27FC236}">
                <a16:creationId xmlns:a16="http://schemas.microsoft.com/office/drawing/2014/main" id="{DFF4DAB0-9EBC-E79D-A690-A3CD6E018E4F}"/>
              </a:ext>
            </a:extLst>
          </p:cNvPr>
          <p:cNvSpPr/>
          <p:nvPr/>
        </p:nvSpPr>
        <p:spPr>
          <a:xfrm>
            <a:off x="315468" y="2377440"/>
            <a:ext cx="1810512" cy="475488"/>
          </a:xfrm>
          <a:prstGeom prst="rect">
            <a:avLst/>
          </a:prstGeom>
          <a:noFill/>
          <a:ln/>
        </p:spPr>
        <p:txBody>
          <a:bodyPr wrap="square" lIns="0" tIns="0" rIns="0" bIns="0" rtlCol="0" anchor="ctr"/>
          <a:lstStyle/>
          <a:p>
            <a:pPr marL="0" indent="0" algn="l">
              <a:buNone/>
            </a:pPr>
            <a:r>
              <a:rPr lang="en-US" sz="1400" dirty="0">
                <a:solidFill>
                  <a:srgbClr val="1A202C"/>
                </a:solidFill>
                <a:latin typeface="Calibri" pitchFamily="34" charset="0"/>
                <a:ea typeface="Calibri" pitchFamily="34" charset="-122"/>
                <a:cs typeface="Calibri" pitchFamily="34" charset="-120"/>
              </a:rPr>
              <a:t>writing-plans</a:t>
            </a:r>
            <a:endParaRPr lang="en-US" sz="1400" dirty="0"/>
          </a:p>
        </p:txBody>
      </p:sp>
      <p:sp>
        <p:nvSpPr>
          <p:cNvPr id="8" name="Text 6">
            <a:extLst>
              <a:ext uri="{FF2B5EF4-FFF2-40B4-BE49-F238E27FC236}">
                <a16:creationId xmlns:a16="http://schemas.microsoft.com/office/drawing/2014/main" id="{ACF4D7F6-2914-471D-A749-30EA1DFA7B51}"/>
              </a:ext>
            </a:extLst>
          </p:cNvPr>
          <p:cNvSpPr/>
          <p:nvPr/>
        </p:nvSpPr>
        <p:spPr>
          <a:xfrm>
            <a:off x="315468" y="2944368"/>
            <a:ext cx="1810512" cy="475488"/>
          </a:xfrm>
          <a:prstGeom prst="rect">
            <a:avLst/>
          </a:prstGeom>
          <a:noFill/>
          <a:ln/>
        </p:spPr>
        <p:txBody>
          <a:bodyPr wrap="square" lIns="0" tIns="0" rIns="0" bIns="0" rtlCol="0" anchor="ctr"/>
          <a:lstStyle/>
          <a:p>
            <a:pPr marL="0" indent="0" algn="l">
              <a:buNone/>
            </a:pPr>
            <a:r>
              <a:rPr lang="en-US" sz="1400" dirty="0">
                <a:solidFill>
                  <a:srgbClr val="1A202C"/>
                </a:solidFill>
                <a:latin typeface="Calibri" pitchFamily="34" charset="0"/>
                <a:ea typeface="Calibri" pitchFamily="34" charset="-122"/>
                <a:cs typeface="Calibri" pitchFamily="34" charset="-120"/>
              </a:rPr>
              <a:t>executing-plans</a:t>
            </a:r>
            <a:endParaRPr lang="en-US" sz="1400" dirty="0"/>
          </a:p>
        </p:txBody>
      </p:sp>
      <p:sp>
        <p:nvSpPr>
          <p:cNvPr id="9" name="Text 7">
            <a:extLst>
              <a:ext uri="{FF2B5EF4-FFF2-40B4-BE49-F238E27FC236}">
                <a16:creationId xmlns:a16="http://schemas.microsoft.com/office/drawing/2014/main" id="{A33345A2-59F8-72BD-2700-B25ACD604117}"/>
              </a:ext>
            </a:extLst>
          </p:cNvPr>
          <p:cNvSpPr/>
          <p:nvPr/>
        </p:nvSpPr>
        <p:spPr>
          <a:xfrm>
            <a:off x="315468" y="3511296"/>
            <a:ext cx="2269112" cy="475488"/>
          </a:xfrm>
          <a:prstGeom prst="rect">
            <a:avLst/>
          </a:prstGeom>
          <a:noFill/>
          <a:ln/>
        </p:spPr>
        <p:txBody>
          <a:bodyPr wrap="square" lIns="0" tIns="0" rIns="0" bIns="0" rtlCol="0" anchor="ctr"/>
          <a:lstStyle/>
          <a:p>
            <a:pPr marL="0" indent="0" algn="l">
              <a:buNone/>
            </a:pPr>
            <a:r>
              <a:rPr lang="en-US" sz="1400" dirty="0">
                <a:solidFill>
                  <a:srgbClr val="1A202C"/>
                </a:solidFill>
                <a:latin typeface="Calibri" pitchFamily="34" charset="0"/>
                <a:ea typeface="Calibri" pitchFamily="34" charset="-122"/>
                <a:cs typeface="Calibri" pitchFamily="34" charset="-120"/>
              </a:rPr>
              <a:t>finishing-a-development-branch</a:t>
            </a:r>
            <a:endParaRPr lang="en-US" sz="1400" dirty="0"/>
          </a:p>
        </p:txBody>
      </p:sp>
      <p:sp>
        <p:nvSpPr>
          <p:cNvPr id="10" name="Shape 8">
            <a:extLst>
              <a:ext uri="{FF2B5EF4-FFF2-40B4-BE49-F238E27FC236}">
                <a16:creationId xmlns:a16="http://schemas.microsoft.com/office/drawing/2014/main" id="{D6ED298A-BB67-C786-2986-339E0B375C6D}"/>
              </a:ext>
            </a:extLst>
          </p:cNvPr>
          <p:cNvSpPr/>
          <p:nvPr/>
        </p:nvSpPr>
        <p:spPr>
          <a:xfrm>
            <a:off x="3296413" y="933713"/>
            <a:ext cx="2507228" cy="4397705"/>
          </a:xfrm>
          <a:prstGeom prst="roundRect">
            <a:avLst>
              <a:gd name="adj" fmla="val 4545"/>
            </a:avLst>
          </a:prstGeom>
          <a:solidFill>
            <a:srgbClr val="ECFDF5"/>
          </a:solidFill>
          <a:ln w="12700">
            <a:solidFill>
              <a:srgbClr val="ECFDF5"/>
            </a:solidFill>
            <a:prstDash val="solid"/>
          </a:ln>
        </p:spPr>
        <p:txBody>
          <a:bodyPr/>
          <a:lstStyle/>
          <a:p>
            <a:endParaRPr lang="en-US"/>
          </a:p>
        </p:txBody>
      </p:sp>
      <p:sp>
        <p:nvSpPr>
          <p:cNvPr id="11" name="Text 9">
            <a:extLst>
              <a:ext uri="{FF2B5EF4-FFF2-40B4-BE49-F238E27FC236}">
                <a16:creationId xmlns:a16="http://schemas.microsoft.com/office/drawing/2014/main" id="{A0A2CD2A-62F8-4029-7B30-0BE0BF82D2FB}"/>
              </a:ext>
            </a:extLst>
          </p:cNvPr>
          <p:cNvSpPr/>
          <p:nvPr/>
        </p:nvSpPr>
        <p:spPr>
          <a:xfrm>
            <a:off x="3387853" y="1025154"/>
            <a:ext cx="1828800" cy="320040"/>
          </a:xfrm>
          <a:prstGeom prst="rect">
            <a:avLst/>
          </a:prstGeom>
          <a:noFill/>
          <a:ln/>
        </p:spPr>
        <p:txBody>
          <a:bodyPr wrap="square" lIns="0" tIns="0" rIns="0" bIns="0" rtlCol="0" anchor="ctr"/>
          <a:lstStyle/>
          <a:p>
            <a:pPr marL="0" indent="0" algn="ctr">
              <a:buNone/>
            </a:pPr>
            <a:r>
              <a:rPr lang="en-US" b="1" dirty="0">
                <a:solidFill>
                  <a:srgbClr val="047857"/>
                </a:solidFill>
                <a:latin typeface="Cambria" pitchFamily="34" charset="0"/>
                <a:ea typeface="Cambria" pitchFamily="34" charset="-122"/>
                <a:cs typeface="Cambria" pitchFamily="34" charset="-120"/>
              </a:rPr>
              <a:t>Testing</a:t>
            </a:r>
            <a:endParaRPr lang="en-US" dirty="0"/>
          </a:p>
        </p:txBody>
      </p:sp>
      <p:sp>
        <p:nvSpPr>
          <p:cNvPr id="12" name="Text 10">
            <a:extLst>
              <a:ext uri="{FF2B5EF4-FFF2-40B4-BE49-F238E27FC236}">
                <a16:creationId xmlns:a16="http://schemas.microsoft.com/office/drawing/2014/main" id="{55BEC634-DE9D-1A31-6F97-C6F02F55A774}"/>
              </a:ext>
            </a:extLst>
          </p:cNvPr>
          <p:cNvSpPr/>
          <p:nvPr/>
        </p:nvSpPr>
        <p:spPr>
          <a:xfrm>
            <a:off x="3387853" y="1372626"/>
            <a:ext cx="1828800" cy="274320"/>
          </a:xfrm>
          <a:prstGeom prst="rect">
            <a:avLst/>
          </a:prstGeom>
          <a:noFill/>
          <a:ln/>
        </p:spPr>
        <p:txBody>
          <a:bodyPr wrap="square" lIns="0" tIns="0" rIns="0" bIns="0" rtlCol="0" anchor="ctr"/>
          <a:lstStyle/>
          <a:p>
            <a:pPr marL="0" indent="0" algn="ctr">
              <a:buNone/>
            </a:pPr>
            <a:r>
              <a:rPr lang="en-US" sz="900" i="1" dirty="0">
                <a:solidFill>
                  <a:srgbClr val="718096"/>
                </a:solidFill>
                <a:latin typeface="Calibri" pitchFamily="34" charset="0"/>
                <a:ea typeface="Calibri" pitchFamily="34" charset="-122"/>
                <a:cs typeface="Calibri" pitchFamily="34" charset="-120"/>
              </a:rPr>
              <a:t>Write the test first</a:t>
            </a:r>
            <a:endParaRPr lang="en-US" sz="900" dirty="0"/>
          </a:p>
        </p:txBody>
      </p:sp>
      <p:sp>
        <p:nvSpPr>
          <p:cNvPr id="13" name="Text 11">
            <a:extLst>
              <a:ext uri="{FF2B5EF4-FFF2-40B4-BE49-F238E27FC236}">
                <a16:creationId xmlns:a16="http://schemas.microsoft.com/office/drawing/2014/main" id="{133C16F7-EA45-DADB-2B08-63F71A8ECFF7}"/>
              </a:ext>
            </a:extLst>
          </p:cNvPr>
          <p:cNvSpPr/>
          <p:nvPr/>
        </p:nvSpPr>
        <p:spPr>
          <a:xfrm>
            <a:off x="3406141" y="1738386"/>
            <a:ext cx="1810512" cy="475488"/>
          </a:xfrm>
          <a:prstGeom prst="rect">
            <a:avLst/>
          </a:prstGeom>
          <a:noFill/>
          <a:ln/>
        </p:spPr>
        <p:txBody>
          <a:bodyPr wrap="square" lIns="0" tIns="0" rIns="0" bIns="0" rtlCol="0" anchor="ctr"/>
          <a:lstStyle/>
          <a:p>
            <a:pPr marL="0" indent="0" algn="l">
              <a:buNone/>
            </a:pPr>
            <a:r>
              <a:rPr lang="en-US" sz="1400" dirty="0">
                <a:solidFill>
                  <a:srgbClr val="1A202C"/>
                </a:solidFill>
                <a:latin typeface="Calibri" pitchFamily="34" charset="0"/>
                <a:ea typeface="Calibri" pitchFamily="34" charset="-122"/>
                <a:cs typeface="Calibri" pitchFamily="34" charset="-120"/>
              </a:rPr>
              <a:t>test-driven-development</a:t>
            </a:r>
            <a:endParaRPr lang="en-US" sz="1400" dirty="0"/>
          </a:p>
        </p:txBody>
      </p:sp>
      <p:sp>
        <p:nvSpPr>
          <p:cNvPr id="14" name="Text 12">
            <a:extLst>
              <a:ext uri="{FF2B5EF4-FFF2-40B4-BE49-F238E27FC236}">
                <a16:creationId xmlns:a16="http://schemas.microsoft.com/office/drawing/2014/main" id="{64C69BD7-20A1-F429-82F0-68E82BD73B02}"/>
              </a:ext>
            </a:extLst>
          </p:cNvPr>
          <p:cNvSpPr/>
          <p:nvPr/>
        </p:nvSpPr>
        <p:spPr>
          <a:xfrm>
            <a:off x="3406141" y="2305314"/>
            <a:ext cx="2285532" cy="475488"/>
          </a:xfrm>
          <a:prstGeom prst="rect">
            <a:avLst/>
          </a:prstGeom>
          <a:noFill/>
          <a:ln/>
        </p:spPr>
        <p:txBody>
          <a:bodyPr wrap="square" lIns="0" tIns="0" rIns="0" bIns="0" rtlCol="0" anchor="ctr"/>
          <a:lstStyle/>
          <a:p>
            <a:pPr marL="0" indent="0" algn="l">
              <a:buNone/>
            </a:pPr>
            <a:r>
              <a:rPr lang="en-US" sz="1400" dirty="0">
                <a:solidFill>
                  <a:srgbClr val="1A202C"/>
                </a:solidFill>
                <a:latin typeface="Calibri" pitchFamily="34" charset="0"/>
                <a:ea typeface="Calibri" pitchFamily="34" charset="-122"/>
                <a:cs typeface="Calibri" pitchFamily="34" charset="-120"/>
              </a:rPr>
              <a:t>verification-before-completion</a:t>
            </a:r>
            <a:endParaRPr lang="en-US" sz="1400" dirty="0"/>
          </a:p>
        </p:txBody>
      </p:sp>
      <p:sp>
        <p:nvSpPr>
          <p:cNvPr id="15" name="Shape 13">
            <a:extLst>
              <a:ext uri="{FF2B5EF4-FFF2-40B4-BE49-F238E27FC236}">
                <a16:creationId xmlns:a16="http://schemas.microsoft.com/office/drawing/2014/main" id="{CC2072B1-DC25-E4AB-D44C-3A97BB0B5E64}"/>
              </a:ext>
            </a:extLst>
          </p:cNvPr>
          <p:cNvSpPr/>
          <p:nvPr/>
        </p:nvSpPr>
        <p:spPr>
          <a:xfrm>
            <a:off x="6388360" y="1005839"/>
            <a:ext cx="2507228" cy="4325579"/>
          </a:xfrm>
          <a:prstGeom prst="roundRect">
            <a:avLst>
              <a:gd name="adj" fmla="val 4545"/>
            </a:avLst>
          </a:prstGeom>
          <a:solidFill>
            <a:srgbClr val="FFFBEB"/>
          </a:solidFill>
          <a:ln w="12700">
            <a:solidFill>
              <a:srgbClr val="FFFBEB"/>
            </a:solidFill>
            <a:prstDash val="solid"/>
          </a:ln>
        </p:spPr>
        <p:txBody>
          <a:bodyPr/>
          <a:lstStyle/>
          <a:p>
            <a:endParaRPr lang="en-US"/>
          </a:p>
        </p:txBody>
      </p:sp>
      <p:sp>
        <p:nvSpPr>
          <p:cNvPr id="16" name="Text 14">
            <a:extLst>
              <a:ext uri="{FF2B5EF4-FFF2-40B4-BE49-F238E27FC236}">
                <a16:creationId xmlns:a16="http://schemas.microsoft.com/office/drawing/2014/main" id="{E51B1D77-410B-83AB-84FD-F9850C315654}"/>
              </a:ext>
            </a:extLst>
          </p:cNvPr>
          <p:cNvSpPr/>
          <p:nvPr/>
        </p:nvSpPr>
        <p:spPr>
          <a:xfrm>
            <a:off x="6727574" y="1088136"/>
            <a:ext cx="1828800" cy="320040"/>
          </a:xfrm>
          <a:prstGeom prst="rect">
            <a:avLst/>
          </a:prstGeom>
          <a:noFill/>
          <a:ln/>
        </p:spPr>
        <p:txBody>
          <a:bodyPr wrap="square" lIns="0" tIns="0" rIns="0" bIns="0" rtlCol="0" anchor="ctr"/>
          <a:lstStyle/>
          <a:p>
            <a:pPr marL="0" indent="0" algn="ctr">
              <a:buNone/>
            </a:pPr>
            <a:r>
              <a:rPr lang="en-US" b="1" dirty="0">
                <a:solidFill>
                  <a:srgbClr val="B45309"/>
                </a:solidFill>
                <a:latin typeface="Cambria" pitchFamily="34" charset="0"/>
                <a:ea typeface="Cambria" pitchFamily="34" charset="-122"/>
                <a:cs typeface="Cambria" pitchFamily="34" charset="-120"/>
              </a:rPr>
              <a:t>Debugging</a:t>
            </a:r>
            <a:endParaRPr lang="en-US" dirty="0"/>
          </a:p>
        </p:txBody>
      </p:sp>
      <p:sp>
        <p:nvSpPr>
          <p:cNvPr id="17" name="Text 15">
            <a:extLst>
              <a:ext uri="{FF2B5EF4-FFF2-40B4-BE49-F238E27FC236}">
                <a16:creationId xmlns:a16="http://schemas.microsoft.com/office/drawing/2014/main" id="{7B5366FC-E4E9-80EC-F9D3-95180F6BD2CC}"/>
              </a:ext>
            </a:extLst>
          </p:cNvPr>
          <p:cNvSpPr/>
          <p:nvPr/>
        </p:nvSpPr>
        <p:spPr>
          <a:xfrm>
            <a:off x="6743125" y="1444752"/>
            <a:ext cx="1828800" cy="274320"/>
          </a:xfrm>
          <a:prstGeom prst="rect">
            <a:avLst/>
          </a:prstGeom>
          <a:noFill/>
          <a:ln/>
        </p:spPr>
        <p:txBody>
          <a:bodyPr wrap="square" lIns="0" tIns="0" rIns="0" bIns="0" rtlCol="0" anchor="ctr"/>
          <a:lstStyle/>
          <a:p>
            <a:pPr marL="0" indent="0" algn="ctr">
              <a:buNone/>
            </a:pPr>
            <a:r>
              <a:rPr lang="en-US" sz="900" i="1" dirty="0">
                <a:solidFill>
                  <a:srgbClr val="718096"/>
                </a:solidFill>
                <a:latin typeface="Calibri" pitchFamily="34" charset="0"/>
                <a:ea typeface="Calibri" pitchFamily="34" charset="-122"/>
                <a:cs typeface="Calibri" pitchFamily="34" charset="-120"/>
              </a:rPr>
              <a:t>Root cause before fixing</a:t>
            </a:r>
            <a:endParaRPr lang="en-US" sz="900" dirty="0"/>
          </a:p>
        </p:txBody>
      </p:sp>
      <p:sp>
        <p:nvSpPr>
          <p:cNvPr id="18" name="Text 16">
            <a:extLst>
              <a:ext uri="{FF2B5EF4-FFF2-40B4-BE49-F238E27FC236}">
                <a16:creationId xmlns:a16="http://schemas.microsoft.com/office/drawing/2014/main" id="{139A9391-BD09-FDB7-3037-F4164182D1FA}"/>
              </a:ext>
            </a:extLst>
          </p:cNvPr>
          <p:cNvSpPr/>
          <p:nvPr/>
        </p:nvSpPr>
        <p:spPr>
          <a:xfrm>
            <a:off x="6770557" y="1811538"/>
            <a:ext cx="1810512" cy="475488"/>
          </a:xfrm>
          <a:prstGeom prst="rect">
            <a:avLst/>
          </a:prstGeom>
          <a:noFill/>
          <a:ln/>
        </p:spPr>
        <p:txBody>
          <a:bodyPr wrap="square" lIns="0" tIns="0" rIns="0" bIns="0" rtlCol="0" anchor="ctr"/>
          <a:lstStyle/>
          <a:p>
            <a:pPr marL="0" indent="0" algn="l">
              <a:buNone/>
            </a:pPr>
            <a:r>
              <a:rPr lang="en-US" sz="1400" dirty="0">
                <a:solidFill>
                  <a:srgbClr val="1A202C"/>
                </a:solidFill>
                <a:latin typeface="Calibri" pitchFamily="34" charset="0"/>
                <a:ea typeface="Calibri" pitchFamily="34" charset="-122"/>
                <a:cs typeface="Calibri" pitchFamily="34" charset="-120"/>
              </a:rPr>
              <a:t>systematic-debugging</a:t>
            </a:r>
            <a:endParaRPr lang="en-US" sz="1400" dirty="0"/>
          </a:p>
        </p:txBody>
      </p:sp>
      <p:sp>
        <p:nvSpPr>
          <p:cNvPr id="19" name="Shape 17">
            <a:extLst>
              <a:ext uri="{FF2B5EF4-FFF2-40B4-BE49-F238E27FC236}">
                <a16:creationId xmlns:a16="http://schemas.microsoft.com/office/drawing/2014/main" id="{8E63A9A9-AE95-F4C9-8436-3920409C32DF}"/>
              </a:ext>
            </a:extLst>
          </p:cNvPr>
          <p:cNvSpPr/>
          <p:nvPr/>
        </p:nvSpPr>
        <p:spPr>
          <a:xfrm>
            <a:off x="9619861" y="1001268"/>
            <a:ext cx="2256671" cy="4307850"/>
          </a:xfrm>
          <a:prstGeom prst="roundRect">
            <a:avLst>
              <a:gd name="adj" fmla="val 4545"/>
            </a:avLst>
          </a:prstGeom>
          <a:solidFill>
            <a:srgbClr val="F5F3FF"/>
          </a:solidFill>
          <a:ln w="12700">
            <a:solidFill>
              <a:srgbClr val="F5F3FF"/>
            </a:solidFill>
            <a:prstDash val="solid"/>
          </a:ln>
        </p:spPr>
        <p:txBody>
          <a:bodyPr/>
          <a:lstStyle/>
          <a:p>
            <a:endParaRPr lang="en-US" dirty="0"/>
          </a:p>
        </p:txBody>
      </p:sp>
      <p:sp>
        <p:nvSpPr>
          <p:cNvPr id="20" name="Text 18">
            <a:extLst>
              <a:ext uri="{FF2B5EF4-FFF2-40B4-BE49-F238E27FC236}">
                <a16:creationId xmlns:a16="http://schemas.microsoft.com/office/drawing/2014/main" id="{4A471704-C5F9-E01B-E9AD-73ECC380327A}"/>
              </a:ext>
            </a:extLst>
          </p:cNvPr>
          <p:cNvSpPr/>
          <p:nvPr/>
        </p:nvSpPr>
        <p:spPr>
          <a:xfrm>
            <a:off x="9843796" y="1092708"/>
            <a:ext cx="1828800" cy="320040"/>
          </a:xfrm>
          <a:prstGeom prst="rect">
            <a:avLst/>
          </a:prstGeom>
          <a:noFill/>
          <a:ln/>
        </p:spPr>
        <p:txBody>
          <a:bodyPr wrap="square" lIns="0" tIns="0" rIns="0" bIns="0" rtlCol="0" anchor="ctr"/>
          <a:lstStyle/>
          <a:p>
            <a:pPr marL="0" indent="0" algn="ctr">
              <a:buNone/>
            </a:pPr>
            <a:r>
              <a:rPr lang="en-US" b="1" dirty="0">
                <a:solidFill>
                  <a:srgbClr val="6D28D9"/>
                </a:solidFill>
                <a:latin typeface="Cambria" pitchFamily="34" charset="0"/>
                <a:ea typeface="Cambria" pitchFamily="34" charset="-122"/>
                <a:cs typeface="Cambria" pitchFamily="34" charset="-120"/>
              </a:rPr>
              <a:t>Collaboration</a:t>
            </a:r>
            <a:endParaRPr lang="en-US" dirty="0"/>
          </a:p>
        </p:txBody>
      </p:sp>
      <p:sp>
        <p:nvSpPr>
          <p:cNvPr id="21" name="Text 19">
            <a:extLst>
              <a:ext uri="{FF2B5EF4-FFF2-40B4-BE49-F238E27FC236}">
                <a16:creationId xmlns:a16="http://schemas.microsoft.com/office/drawing/2014/main" id="{7A337021-4BB7-8385-987C-03C49FFDA8E1}"/>
              </a:ext>
            </a:extLst>
          </p:cNvPr>
          <p:cNvSpPr/>
          <p:nvPr/>
        </p:nvSpPr>
        <p:spPr>
          <a:xfrm>
            <a:off x="9956292" y="1440180"/>
            <a:ext cx="1828800" cy="274320"/>
          </a:xfrm>
          <a:prstGeom prst="rect">
            <a:avLst/>
          </a:prstGeom>
          <a:noFill/>
          <a:ln/>
        </p:spPr>
        <p:txBody>
          <a:bodyPr wrap="square" lIns="0" tIns="0" rIns="0" bIns="0" rtlCol="0" anchor="ctr"/>
          <a:lstStyle/>
          <a:p>
            <a:pPr marL="0" indent="0" algn="ctr">
              <a:buNone/>
            </a:pPr>
            <a:r>
              <a:rPr lang="en-US" sz="900" i="1" dirty="0">
                <a:solidFill>
                  <a:srgbClr val="718096"/>
                </a:solidFill>
                <a:latin typeface="Calibri" pitchFamily="34" charset="0"/>
                <a:ea typeface="Calibri" pitchFamily="34" charset="-122"/>
                <a:cs typeface="Calibri" pitchFamily="34" charset="-120"/>
              </a:rPr>
              <a:t>Review, dispatch, merge safely</a:t>
            </a:r>
            <a:endParaRPr lang="en-US" sz="900" dirty="0"/>
          </a:p>
        </p:txBody>
      </p:sp>
      <p:sp>
        <p:nvSpPr>
          <p:cNvPr id="22" name="Text 20">
            <a:extLst>
              <a:ext uri="{FF2B5EF4-FFF2-40B4-BE49-F238E27FC236}">
                <a16:creationId xmlns:a16="http://schemas.microsoft.com/office/drawing/2014/main" id="{D6AE43DF-23B0-A578-1CF7-D4E7BE394861}"/>
              </a:ext>
            </a:extLst>
          </p:cNvPr>
          <p:cNvSpPr/>
          <p:nvPr/>
        </p:nvSpPr>
        <p:spPr>
          <a:xfrm>
            <a:off x="9843796" y="1805940"/>
            <a:ext cx="1941296" cy="475488"/>
          </a:xfrm>
          <a:prstGeom prst="rect">
            <a:avLst/>
          </a:prstGeom>
          <a:noFill/>
          <a:ln/>
        </p:spPr>
        <p:txBody>
          <a:bodyPr wrap="square" lIns="0" tIns="0" rIns="0" bIns="0" rtlCol="0" anchor="ctr"/>
          <a:lstStyle/>
          <a:p>
            <a:pPr marL="0" indent="0" algn="l">
              <a:buNone/>
            </a:pPr>
            <a:r>
              <a:rPr lang="en-US" sz="1500" dirty="0">
                <a:solidFill>
                  <a:srgbClr val="1A202C"/>
                </a:solidFill>
                <a:latin typeface="Calibri" pitchFamily="34" charset="0"/>
                <a:ea typeface="Calibri" pitchFamily="34" charset="-122"/>
                <a:cs typeface="Calibri" pitchFamily="34" charset="-120"/>
              </a:rPr>
              <a:t>requesting-code-review</a:t>
            </a:r>
            <a:endParaRPr lang="en-US" sz="1500" dirty="0"/>
          </a:p>
        </p:txBody>
      </p:sp>
      <p:sp>
        <p:nvSpPr>
          <p:cNvPr id="23" name="Text 21">
            <a:extLst>
              <a:ext uri="{FF2B5EF4-FFF2-40B4-BE49-F238E27FC236}">
                <a16:creationId xmlns:a16="http://schemas.microsoft.com/office/drawing/2014/main" id="{080E1A65-E45E-7602-C618-8C70E6E87035}"/>
              </a:ext>
            </a:extLst>
          </p:cNvPr>
          <p:cNvSpPr/>
          <p:nvPr/>
        </p:nvSpPr>
        <p:spPr>
          <a:xfrm>
            <a:off x="9843796" y="2372868"/>
            <a:ext cx="1941296" cy="475488"/>
          </a:xfrm>
          <a:prstGeom prst="rect">
            <a:avLst/>
          </a:prstGeom>
          <a:noFill/>
          <a:ln/>
        </p:spPr>
        <p:txBody>
          <a:bodyPr wrap="square" lIns="0" tIns="0" rIns="0" bIns="0" rtlCol="0" anchor="ctr"/>
          <a:lstStyle/>
          <a:p>
            <a:pPr marL="0" indent="0" algn="l">
              <a:buNone/>
            </a:pPr>
            <a:r>
              <a:rPr lang="en-US" sz="1400" dirty="0">
                <a:solidFill>
                  <a:srgbClr val="1A202C"/>
                </a:solidFill>
                <a:latin typeface="Calibri" pitchFamily="34" charset="0"/>
                <a:ea typeface="Calibri" pitchFamily="34" charset="-122"/>
                <a:cs typeface="Calibri" pitchFamily="34" charset="-120"/>
              </a:rPr>
              <a:t>receiving-code-review</a:t>
            </a:r>
            <a:endParaRPr lang="en-US" sz="1400" dirty="0"/>
          </a:p>
        </p:txBody>
      </p:sp>
      <p:sp>
        <p:nvSpPr>
          <p:cNvPr id="24" name="Text 22">
            <a:extLst>
              <a:ext uri="{FF2B5EF4-FFF2-40B4-BE49-F238E27FC236}">
                <a16:creationId xmlns:a16="http://schemas.microsoft.com/office/drawing/2014/main" id="{B99719B3-D6E2-0EED-2285-2027A54E67E4}"/>
              </a:ext>
            </a:extLst>
          </p:cNvPr>
          <p:cNvSpPr/>
          <p:nvPr/>
        </p:nvSpPr>
        <p:spPr>
          <a:xfrm>
            <a:off x="9843796" y="2939796"/>
            <a:ext cx="1941296" cy="475488"/>
          </a:xfrm>
          <a:prstGeom prst="rect">
            <a:avLst/>
          </a:prstGeom>
          <a:noFill/>
          <a:ln/>
        </p:spPr>
        <p:txBody>
          <a:bodyPr wrap="square" lIns="0" tIns="0" rIns="0" bIns="0" rtlCol="0" anchor="ctr"/>
          <a:lstStyle/>
          <a:p>
            <a:pPr marL="0" indent="0" algn="l">
              <a:buNone/>
            </a:pPr>
            <a:r>
              <a:rPr lang="en-US" sz="1400" dirty="0">
                <a:solidFill>
                  <a:srgbClr val="1A202C"/>
                </a:solidFill>
                <a:latin typeface="Calibri" pitchFamily="34" charset="0"/>
                <a:ea typeface="Calibri" pitchFamily="34" charset="-122"/>
                <a:cs typeface="Calibri" pitchFamily="34" charset="-120"/>
              </a:rPr>
              <a:t>subagent-driven-development</a:t>
            </a:r>
            <a:endParaRPr lang="en-US" sz="1400" dirty="0"/>
          </a:p>
        </p:txBody>
      </p:sp>
      <p:sp>
        <p:nvSpPr>
          <p:cNvPr id="25" name="Text 23">
            <a:extLst>
              <a:ext uri="{FF2B5EF4-FFF2-40B4-BE49-F238E27FC236}">
                <a16:creationId xmlns:a16="http://schemas.microsoft.com/office/drawing/2014/main" id="{5543B3C0-4E5C-7958-7FA7-25EACC6AD3C1}"/>
              </a:ext>
            </a:extLst>
          </p:cNvPr>
          <p:cNvSpPr/>
          <p:nvPr/>
        </p:nvSpPr>
        <p:spPr>
          <a:xfrm>
            <a:off x="9843796" y="3626063"/>
            <a:ext cx="1941296" cy="475488"/>
          </a:xfrm>
          <a:prstGeom prst="rect">
            <a:avLst/>
          </a:prstGeom>
          <a:noFill/>
          <a:ln/>
        </p:spPr>
        <p:txBody>
          <a:bodyPr wrap="square" lIns="0" tIns="0" rIns="0" bIns="0" rtlCol="0" anchor="ctr"/>
          <a:lstStyle/>
          <a:p>
            <a:pPr marL="0" indent="0" algn="l">
              <a:buNone/>
            </a:pPr>
            <a:r>
              <a:rPr lang="en-US" sz="1400" dirty="0">
                <a:solidFill>
                  <a:srgbClr val="1A202C"/>
                </a:solidFill>
                <a:latin typeface="Calibri" pitchFamily="34" charset="0"/>
                <a:ea typeface="Calibri" pitchFamily="34" charset="-122"/>
                <a:cs typeface="Calibri" pitchFamily="34" charset="-120"/>
              </a:rPr>
              <a:t>dispatching-parallel-agents</a:t>
            </a:r>
            <a:endParaRPr lang="en-US" sz="1400" dirty="0"/>
          </a:p>
        </p:txBody>
      </p:sp>
      <p:sp>
        <p:nvSpPr>
          <p:cNvPr id="26" name="Text 24">
            <a:extLst>
              <a:ext uri="{FF2B5EF4-FFF2-40B4-BE49-F238E27FC236}">
                <a16:creationId xmlns:a16="http://schemas.microsoft.com/office/drawing/2014/main" id="{B55DA9AA-A958-2F5E-660E-A5381DEE3597}"/>
              </a:ext>
            </a:extLst>
          </p:cNvPr>
          <p:cNvSpPr/>
          <p:nvPr/>
        </p:nvSpPr>
        <p:spPr>
          <a:xfrm>
            <a:off x="9842940" y="4280605"/>
            <a:ext cx="1810512" cy="475488"/>
          </a:xfrm>
          <a:prstGeom prst="rect">
            <a:avLst/>
          </a:prstGeom>
          <a:noFill/>
          <a:ln/>
        </p:spPr>
        <p:txBody>
          <a:bodyPr wrap="square" lIns="0" tIns="0" rIns="0" bIns="0" rtlCol="0" anchor="ctr"/>
          <a:lstStyle/>
          <a:p>
            <a:pPr marL="0" indent="0" algn="l">
              <a:buNone/>
            </a:pPr>
            <a:r>
              <a:rPr lang="en-US" sz="1400" dirty="0">
                <a:solidFill>
                  <a:srgbClr val="1A202C"/>
                </a:solidFill>
                <a:latin typeface="Calibri" pitchFamily="34" charset="0"/>
                <a:ea typeface="Calibri" pitchFamily="34" charset="-122"/>
                <a:cs typeface="Calibri" pitchFamily="34" charset="-120"/>
              </a:rPr>
              <a:t>using-git-worktrees</a:t>
            </a:r>
            <a:endParaRPr lang="en-US" sz="1400" dirty="0"/>
          </a:p>
        </p:txBody>
      </p:sp>
      <p:sp>
        <p:nvSpPr>
          <p:cNvPr id="27" name="Text 25">
            <a:extLst>
              <a:ext uri="{FF2B5EF4-FFF2-40B4-BE49-F238E27FC236}">
                <a16:creationId xmlns:a16="http://schemas.microsoft.com/office/drawing/2014/main" id="{06ADBBEF-3D02-6D8E-573F-0FE9B910347D}"/>
              </a:ext>
            </a:extLst>
          </p:cNvPr>
          <p:cNvSpPr/>
          <p:nvPr/>
        </p:nvSpPr>
        <p:spPr>
          <a:xfrm>
            <a:off x="2273560" y="5500302"/>
            <a:ext cx="8229600" cy="274320"/>
          </a:xfrm>
          <a:prstGeom prst="rect">
            <a:avLst/>
          </a:prstGeom>
          <a:noFill/>
          <a:ln/>
        </p:spPr>
        <p:txBody>
          <a:bodyPr wrap="square" lIns="0" tIns="0" rIns="0" bIns="0" rtlCol="0" anchor="ctr"/>
          <a:lstStyle/>
          <a:p>
            <a:pPr marL="0" indent="0" algn="ctr">
              <a:buNone/>
            </a:pPr>
            <a:r>
              <a:rPr lang="en-US" sz="1400" i="1" dirty="0">
                <a:solidFill>
                  <a:srgbClr val="718096"/>
                </a:solidFill>
                <a:latin typeface="Calibri" pitchFamily="34" charset="0"/>
                <a:ea typeface="Calibri" pitchFamily="34" charset="-122"/>
                <a:cs typeface="Calibri" pitchFamily="34" charset="-120"/>
              </a:rPr>
              <a:t>Meta skills: using-superpowers  ·  writing-skills</a:t>
            </a:r>
            <a:endParaRPr lang="en-US" sz="1400" dirty="0"/>
          </a:p>
        </p:txBody>
      </p:sp>
    </p:spTree>
    <p:extLst>
      <p:ext uri="{BB962C8B-B14F-4D97-AF65-F5344CB8AC3E}">
        <p14:creationId xmlns:p14="http://schemas.microsoft.com/office/powerpoint/2010/main" val="9220764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Shape 3">
            <a:extLst>
              <a:ext uri="{FF2B5EF4-FFF2-40B4-BE49-F238E27FC236}">
                <a16:creationId xmlns:a16="http://schemas.microsoft.com/office/drawing/2014/main" id="{DBB94759-679F-4D02-2DC1-78903252A1EC}"/>
              </a:ext>
            </a:extLst>
          </p:cNvPr>
          <p:cNvSpPr/>
          <p:nvPr/>
        </p:nvSpPr>
        <p:spPr>
          <a:xfrm>
            <a:off x="797954" y="3310128"/>
            <a:ext cx="0" cy="845820"/>
          </a:xfrm>
          <a:prstGeom prst="line">
            <a:avLst/>
          </a:prstGeom>
          <a:noFill/>
          <a:ln w="25400">
            <a:solidFill>
              <a:srgbClr val="8BACD4"/>
            </a:solidFill>
            <a:prstDash val="solid"/>
          </a:ln>
        </p:spPr>
        <p:txBody>
          <a:bodyPr/>
          <a:lstStyle/>
          <a:p>
            <a:endParaRPr lang="en-US"/>
          </a:p>
        </p:txBody>
      </p:sp>
      <p:sp>
        <p:nvSpPr>
          <p:cNvPr id="2" name="Text 0">
            <a:extLst>
              <a:ext uri="{FF2B5EF4-FFF2-40B4-BE49-F238E27FC236}">
                <a16:creationId xmlns:a16="http://schemas.microsoft.com/office/drawing/2014/main" id="{F6134F28-E721-26BF-5CB0-C454EC7C06F7}"/>
              </a:ext>
            </a:extLst>
          </p:cNvPr>
          <p:cNvSpPr/>
          <p:nvPr/>
        </p:nvSpPr>
        <p:spPr>
          <a:xfrm>
            <a:off x="457200" y="256032"/>
            <a:ext cx="8229600" cy="5943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How to Use It</a:t>
            </a:r>
            <a:endParaRPr lang="en-US" sz="3200" dirty="0"/>
          </a:p>
        </p:txBody>
      </p:sp>
      <p:sp>
        <p:nvSpPr>
          <p:cNvPr id="3" name="Shape 1">
            <a:extLst>
              <a:ext uri="{FF2B5EF4-FFF2-40B4-BE49-F238E27FC236}">
                <a16:creationId xmlns:a16="http://schemas.microsoft.com/office/drawing/2014/main" id="{6687DE35-FEDB-10E9-5D4A-308637CD55BA}"/>
              </a:ext>
            </a:extLst>
          </p:cNvPr>
          <p:cNvSpPr/>
          <p:nvPr/>
        </p:nvSpPr>
        <p:spPr>
          <a:xfrm>
            <a:off x="365759" y="1220724"/>
            <a:ext cx="852229" cy="621792"/>
          </a:xfrm>
          <a:prstGeom prst="ellipse">
            <a:avLst/>
          </a:prstGeom>
          <a:solidFill>
            <a:srgbClr val="1E2761"/>
          </a:solidFill>
          <a:ln w="12700">
            <a:solidFill>
              <a:srgbClr val="1E2761"/>
            </a:solidFill>
            <a:prstDash val="solid"/>
          </a:ln>
        </p:spPr>
        <p:txBody>
          <a:bodyPr/>
          <a:lstStyle/>
          <a:p>
            <a:endParaRPr lang="en-US"/>
          </a:p>
        </p:txBody>
      </p:sp>
      <p:sp>
        <p:nvSpPr>
          <p:cNvPr id="4" name="Text 2">
            <a:extLst>
              <a:ext uri="{FF2B5EF4-FFF2-40B4-BE49-F238E27FC236}">
                <a16:creationId xmlns:a16="http://schemas.microsoft.com/office/drawing/2014/main" id="{BD33A03E-E5F1-AC93-BF0F-3972ECAF1A7C}"/>
              </a:ext>
            </a:extLst>
          </p:cNvPr>
          <p:cNvSpPr/>
          <p:nvPr/>
        </p:nvSpPr>
        <p:spPr>
          <a:xfrm>
            <a:off x="365759" y="1220724"/>
            <a:ext cx="852229" cy="62179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5" name="Shape 3">
            <a:extLst>
              <a:ext uri="{FF2B5EF4-FFF2-40B4-BE49-F238E27FC236}">
                <a16:creationId xmlns:a16="http://schemas.microsoft.com/office/drawing/2014/main" id="{02385938-B9DD-5A24-C8E6-C5F2FB627FFF}"/>
              </a:ext>
            </a:extLst>
          </p:cNvPr>
          <p:cNvSpPr/>
          <p:nvPr/>
        </p:nvSpPr>
        <p:spPr>
          <a:xfrm>
            <a:off x="797954" y="1842516"/>
            <a:ext cx="0" cy="845820"/>
          </a:xfrm>
          <a:prstGeom prst="line">
            <a:avLst/>
          </a:prstGeom>
          <a:noFill/>
          <a:ln w="25400">
            <a:solidFill>
              <a:srgbClr val="8BACD4"/>
            </a:solidFill>
            <a:prstDash val="solid"/>
          </a:ln>
        </p:spPr>
        <p:txBody>
          <a:bodyPr/>
          <a:lstStyle/>
          <a:p>
            <a:endParaRPr lang="en-US"/>
          </a:p>
        </p:txBody>
      </p:sp>
      <p:sp>
        <p:nvSpPr>
          <p:cNvPr id="6" name="Shape 4">
            <a:extLst>
              <a:ext uri="{FF2B5EF4-FFF2-40B4-BE49-F238E27FC236}">
                <a16:creationId xmlns:a16="http://schemas.microsoft.com/office/drawing/2014/main" id="{1889450B-B098-0DB3-6DEE-BEEFC28316F5}"/>
              </a:ext>
            </a:extLst>
          </p:cNvPr>
          <p:cNvSpPr/>
          <p:nvPr/>
        </p:nvSpPr>
        <p:spPr>
          <a:xfrm>
            <a:off x="1234439" y="1005840"/>
            <a:ext cx="10214221" cy="1051560"/>
          </a:xfrm>
          <a:prstGeom prst="roundRect">
            <a:avLst>
              <a:gd name="adj" fmla="val 8696"/>
            </a:avLst>
          </a:prstGeom>
          <a:solidFill>
            <a:srgbClr val="EBF4FF"/>
          </a:solidFill>
          <a:ln w="12700">
            <a:solidFill>
              <a:srgbClr val="DBEAFE"/>
            </a:solidFill>
            <a:prstDash val="solid"/>
          </a:ln>
          <a:effectLst>
            <a:outerShdw blurRad="63500" dist="12700" dir="2700000" algn="bl" rotWithShape="0">
              <a:srgbClr val="000000">
                <a:alpha val="7000"/>
              </a:srgbClr>
            </a:outerShdw>
          </a:effectLst>
        </p:spPr>
        <p:txBody>
          <a:bodyPr/>
          <a:lstStyle/>
          <a:p>
            <a:endParaRPr lang="en-US"/>
          </a:p>
        </p:txBody>
      </p:sp>
      <p:sp>
        <p:nvSpPr>
          <p:cNvPr id="7" name="Text 5">
            <a:extLst>
              <a:ext uri="{FF2B5EF4-FFF2-40B4-BE49-F238E27FC236}">
                <a16:creationId xmlns:a16="http://schemas.microsoft.com/office/drawing/2014/main" id="{F2C32920-D512-AEC3-AE3E-173F319D461B}"/>
              </a:ext>
            </a:extLst>
          </p:cNvPr>
          <p:cNvSpPr/>
          <p:nvPr/>
        </p:nvSpPr>
        <p:spPr>
          <a:xfrm>
            <a:off x="1463040" y="1097280"/>
            <a:ext cx="9650246" cy="320040"/>
          </a:xfrm>
          <a:prstGeom prst="rect">
            <a:avLst/>
          </a:prstGeom>
          <a:noFill/>
          <a:ln/>
        </p:spPr>
        <p:txBody>
          <a:bodyPr wrap="square" lIns="0" tIns="0" rIns="0" bIns="0"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Install the Plugin</a:t>
            </a:r>
            <a:endParaRPr lang="en-US" sz="1400" dirty="0"/>
          </a:p>
        </p:txBody>
      </p:sp>
      <p:sp>
        <p:nvSpPr>
          <p:cNvPr id="8" name="Text 6">
            <a:extLst>
              <a:ext uri="{FF2B5EF4-FFF2-40B4-BE49-F238E27FC236}">
                <a16:creationId xmlns:a16="http://schemas.microsoft.com/office/drawing/2014/main" id="{35F69BA2-FAC6-31B6-5E20-7D43E91CC80C}"/>
              </a:ext>
            </a:extLst>
          </p:cNvPr>
          <p:cNvSpPr/>
          <p:nvPr/>
        </p:nvSpPr>
        <p:spPr>
          <a:xfrm>
            <a:off x="1463040" y="1444752"/>
            <a:ext cx="9650246" cy="566928"/>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Add via the Claude Code marketplace (one click) or clone the repo and point your harness at the plugin config. Supports Claude Code, Codex, Cursor, Copilot CLI, Kimi Code, OpenCode, Pi, and Antigravity.</a:t>
            </a:r>
            <a:endParaRPr lang="en-US" sz="1100" dirty="0"/>
          </a:p>
        </p:txBody>
      </p:sp>
      <p:sp>
        <p:nvSpPr>
          <p:cNvPr id="12" name="Shape 10">
            <a:extLst>
              <a:ext uri="{FF2B5EF4-FFF2-40B4-BE49-F238E27FC236}">
                <a16:creationId xmlns:a16="http://schemas.microsoft.com/office/drawing/2014/main" id="{77D96746-FF74-098D-06A7-10A2ABB60B98}"/>
              </a:ext>
            </a:extLst>
          </p:cNvPr>
          <p:cNvSpPr/>
          <p:nvPr/>
        </p:nvSpPr>
        <p:spPr>
          <a:xfrm>
            <a:off x="1234439" y="2377440"/>
            <a:ext cx="10214219" cy="1051560"/>
          </a:xfrm>
          <a:prstGeom prst="roundRect">
            <a:avLst>
              <a:gd name="adj" fmla="val 8696"/>
            </a:avLst>
          </a:prstGeom>
          <a:solidFill>
            <a:srgbClr val="EBF4FF"/>
          </a:solidFill>
          <a:ln w="12700">
            <a:solidFill>
              <a:srgbClr val="DBEAFE"/>
            </a:solidFill>
            <a:prstDash val="solid"/>
          </a:ln>
          <a:effectLst>
            <a:outerShdw blurRad="63500" dist="12700" dir="2700000" algn="bl" rotWithShape="0">
              <a:srgbClr val="000000">
                <a:alpha val="7000"/>
              </a:srgbClr>
            </a:outerShdw>
          </a:effectLst>
        </p:spPr>
        <p:txBody>
          <a:bodyPr/>
          <a:lstStyle/>
          <a:p>
            <a:endParaRPr lang="en-US"/>
          </a:p>
        </p:txBody>
      </p:sp>
      <p:sp>
        <p:nvSpPr>
          <p:cNvPr id="13" name="Text 11">
            <a:extLst>
              <a:ext uri="{FF2B5EF4-FFF2-40B4-BE49-F238E27FC236}">
                <a16:creationId xmlns:a16="http://schemas.microsoft.com/office/drawing/2014/main" id="{A1C360DC-8AEA-A9E9-5A39-F49BAC5618E2}"/>
              </a:ext>
            </a:extLst>
          </p:cNvPr>
          <p:cNvSpPr/>
          <p:nvPr/>
        </p:nvSpPr>
        <p:spPr>
          <a:xfrm>
            <a:off x="1463040" y="2468880"/>
            <a:ext cx="7040880" cy="320040"/>
          </a:xfrm>
          <a:prstGeom prst="rect">
            <a:avLst/>
          </a:prstGeom>
          <a:noFill/>
          <a:ln/>
        </p:spPr>
        <p:txBody>
          <a:bodyPr wrap="square" lIns="0" tIns="0" rIns="0" bIns="0"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Bootstrap Auto-Activates at Session Start</a:t>
            </a:r>
            <a:endParaRPr lang="en-US" sz="1400" dirty="0"/>
          </a:p>
        </p:txBody>
      </p:sp>
      <p:sp>
        <p:nvSpPr>
          <p:cNvPr id="14" name="Text 12">
            <a:extLst>
              <a:ext uri="{FF2B5EF4-FFF2-40B4-BE49-F238E27FC236}">
                <a16:creationId xmlns:a16="http://schemas.microsoft.com/office/drawing/2014/main" id="{E0DA5F8C-2C18-E837-E51E-FEF0F40C3766}"/>
              </a:ext>
            </a:extLst>
          </p:cNvPr>
          <p:cNvSpPr/>
          <p:nvPr/>
        </p:nvSpPr>
        <p:spPr>
          <a:xfrm>
            <a:off x="1463040" y="2816352"/>
            <a:ext cx="9650246" cy="566928"/>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A session-start hook reads the using-superpowers skill and injects it as context automatically. No per-session setup needed by the developer or the user.</a:t>
            </a:r>
            <a:endParaRPr lang="en-US" sz="1100" dirty="0"/>
          </a:p>
        </p:txBody>
      </p:sp>
      <p:sp>
        <p:nvSpPr>
          <p:cNvPr id="17" name="Shape 15">
            <a:extLst>
              <a:ext uri="{FF2B5EF4-FFF2-40B4-BE49-F238E27FC236}">
                <a16:creationId xmlns:a16="http://schemas.microsoft.com/office/drawing/2014/main" id="{C2EF3F59-7706-E86E-2637-BD12C85737B7}"/>
              </a:ext>
            </a:extLst>
          </p:cNvPr>
          <p:cNvSpPr/>
          <p:nvPr/>
        </p:nvSpPr>
        <p:spPr>
          <a:xfrm>
            <a:off x="1234439" y="3749040"/>
            <a:ext cx="10214217" cy="1051560"/>
          </a:xfrm>
          <a:prstGeom prst="roundRect">
            <a:avLst>
              <a:gd name="adj" fmla="val 8696"/>
            </a:avLst>
          </a:prstGeom>
          <a:solidFill>
            <a:srgbClr val="EBF4FF"/>
          </a:solidFill>
          <a:ln w="12700">
            <a:solidFill>
              <a:srgbClr val="DBEAFE"/>
            </a:solidFill>
            <a:prstDash val="solid"/>
          </a:ln>
          <a:effectLst>
            <a:outerShdw blurRad="63500" dist="12700" dir="2700000" algn="bl" rotWithShape="0">
              <a:srgbClr val="000000">
                <a:alpha val="7000"/>
              </a:srgbClr>
            </a:outerShdw>
          </a:effectLst>
        </p:spPr>
        <p:txBody>
          <a:bodyPr/>
          <a:lstStyle/>
          <a:p>
            <a:endParaRPr lang="en-US"/>
          </a:p>
        </p:txBody>
      </p:sp>
      <p:sp>
        <p:nvSpPr>
          <p:cNvPr id="18" name="Text 16">
            <a:extLst>
              <a:ext uri="{FF2B5EF4-FFF2-40B4-BE49-F238E27FC236}">
                <a16:creationId xmlns:a16="http://schemas.microsoft.com/office/drawing/2014/main" id="{FE80A9E0-9697-5910-A54D-29A619194024}"/>
              </a:ext>
            </a:extLst>
          </p:cNvPr>
          <p:cNvSpPr/>
          <p:nvPr/>
        </p:nvSpPr>
        <p:spPr>
          <a:xfrm>
            <a:off x="1463040" y="3840480"/>
            <a:ext cx="7040880" cy="320040"/>
          </a:xfrm>
          <a:prstGeom prst="rect">
            <a:avLst/>
          </a:prstGeom>
          <a:noFill/>
          <a:ln/>
        </p:spPr>
        <p:txBody>
          <a:bodyPr wrap="square" lIns="0" tIns="0" rIns="0" bIns="0"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Skills Trigger and Guide the Agent</a:t>
            </a:r>
            <a:endParaRPr lang="en-US" sz="1400" dirty="0"/>
          </a:p>
        </p:txBody>
      </p:sp>
      <p:sp>
        <p:nvSpPr>
          <p:cNvPr id="19" name="Text 17">
            <a:extLst>
              <a:ext uri="{FF2B5EF4-FFF2-40B4-BE49-F238E27FC236}">
                <a16:creationId xmlns:a16="http://schemas.microsoft.com/office/drawing/2014/main" id="{7BBCB1B3-2B2A-9185-221C-6FF7B9D7B2C2}"/>
              </a:ext>
            </a:extLst>
          </p:cNvPr>
          <p:cNvSpPr/>
          <p:nvPr/>
        </p:nvSpPr>
        <p:spPr>
          <a:xfrm>
            <a:off x="1463040" y="4187952"/>
            <a:ext cx="9650246" cy="566928"/>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Starting a new feature? brainstorming activates before code. Writing code? test-driven-development gates production output. Hitting a bug? systematic-debugging enforces root-cause analysis first.</a:t>
            </a:r>
            <a:endParaRPr lang="en-US" sz="1100" dirty="0"/>
          </a:p>
        </p:txBody>
      </p:sp>
      <p:sp>
        <p:nvSpPr>
          <p:cNvPr id="20" name="Shape 1">
            <a:extLst>
              <a:ext uri="{FF2B5EF4-FFF2-40B4-BE49-F238E27FC236}">
                <a16:creationId xmlns:a16="http://schemas.microsoft.com/office/drawing/2014/main" id="{CE72183A-D010-96C1-02B1-D7E8CE8EF7F5}"/>
              </a:ext>
            </a:extLst>
          </p:cNvPr>
          <p:cNvSpPr/>
          <p:nvPr/>
        </p:nvSpPr>
        <p:spPr>
          <a:xfrm>
            <a:off x="371839" y="2688336"/>
            <a:ext cx="852229" cy="621792"/>
          </a:xfrm>
          <a:prstGeom prst="ellipse">
            <a:avLst/>
          </a:prstGeom>
          <a:solidFill>
            <a:srgbClr val="1E2761"/>
          </a:solidFill>
          <a:ln w="12700">
            <a:solidFill>
              <a:srgbClr val="1E2761"/>
            </a:solidFill>
            <a:prstDash val="solid"/>
          </a:ln>
        </p:spPr>
        <p:txBody>
          <a:bodyPr/>
          <a:lstStyle/>
          <a:p>
            <a:endParaRPr lang="en-US"/>
          </a:p>
        </p:txBody>
      </p:sp>
      <p:sp>
        <p:nvSpPr>
          <p:cNvPr id="21" name="Text 2">
            <a:extLst>
              <a:ext uri="{FF2B5EF4-FFF2-40B4-BE49-F238E27FC236}">
                <a16:creationId xmlns:a16="http://schemas.microsoft.com/office/drawing/2014/main" id="{6C46B3EB-37C9-3290-37BA-C76B28EBDA1C}"/>
              </a:ext>
            </a:extLst>
          </p:cNvPr>
          <p:cNvSpPr/>
          <p:nvPr/>
        </p:nvSpPr>
        <p:spPr>
          <a:xfrm>
            <a:off x="371839" y="2688336"/>
            <a:ext cx="852229" cy="62179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22" name="Shape 1">
            <a:extLst>
              <a:ext uri="{FF2B5EF4-FFF2-40B4-BE49-F238E27FC236}">
                <a16:creationId xmlns:a16="http://schemas.microsoft.com/office/drawing/2014/main" id="{0FFB82B6-61A3-A8E6-9255-4109F7270F60}"/>
              </a:ext>
            </a:extLst>
          </p:cNvPr>
          <p:cNvSpPr/>
          <p:nvPr/>
        </p:nvSpPr>
        <p:spPr>
          <a:xfrm>
            <a:off x="365759" y="3975960"/>
            <a:ext cx="852229" cy="621792"/>
          </a:xfrm>
          <a:prstGeom prst="ellipse">
            <a:avLst/>
          </a:prstGeom>
          <a:solidFill>
            <a:srgbClr val="1E2761"/>
          </a:solidFill>
          <a:ln w="12700">
            <a:solidFill>
              <a:srgbClr val="1E2761"/>
            </a:solidFill>
            <a:prstDash val="solid"/>
          </a:ln>
        </p:spPr>
        <p:txBody>
          <a:bodyPr/>
          <a:lstStyle/>
          <a:p>
            <a:endParaRPr lang="en-US"/>
          </a:p>
        </p:txBody>
      </p:sp>
      <p:sp>
        <p:nvSpPr>
          <p:cNvPr id="23" name="Text 2">
            <a:extLst>
              <a:ext uri="{FF2B5EF4-FFF2-40B4-BE49-F238E27FC236}">
                <a16:creationId xmlns:a16="http://schemas.microsoft.com/office/drawing/2014/main" id="{3375F26B-758F-E065-92E4-27FE2A9DA339}"/>
              </a:ext>
            </a:extLst>
          </p:cNvPr>
          <p:cNvSpPr/>
          <p:nvPr/>
        </p:nvSpPr>
        <p:spPr>
          <a:xfrm>
            <a:off x="365759" y="3975960"/>
            <a:ext cx="852229" cy="62179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Tree>
    <p:extLst>
      <p:ext uri="{BB962C8B-B14F-4D97-AF65-F5344CB8AC3E}">
        <p14:creationId xmlns:p14="http://schemas.microsoft.com/office/powerpoint/2010/main" val="15823953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tx2">
            <a:lumMod val="60000"/>
            <a:lumOff val="40000"/>
          </a:schemeClr>
        </a:solidFill>
        <a:effectLst/>
      </p:bgPr>
    </p:bg>
    <p:spTree>
      <p:nvGrpSpPr>
        <p:cNvPr id="1" name="">
          <a:extLst>
            <a:ext uri="{FF2B5EF4-FFF2-40B4-BE49-F238E27FC236}">
              <a16:creationId xmlns:a16="http://schemas.microsoft.com/office/drawing/2014/main" id="{43D8C6E8-F309-F332-99D0-EF80D2699EE4}"/>
            </a:ext>
          </a:extLst>
        </p:cNvPr>
        <p:cNvGrpSpPr/>
        <p:nvPr/>
      </p:nvGrpSpPr>
      <p:grpSpPr>
        <a:xfrm>
          <a:off x="0" y="0"/>
          <a:ext cx="0" cy="0"/>
          <a:chOff x="0" y="0"/>
          <a:chExt cx="0" cy="0"/>
        </a:xfrm>
      </p:grpSpPr>
      <p:sp>
        <p:nvSpPr>
          <p:cNvPr id="10" name="Text 8">
            <a:extLst>
              <a:ext uri="{FF2B5EF4-FFF2-40B4-BE49-F238E27FC236}">
                <a16:creationId xmlns:a16="http://schemas.microsoft.com/office/drawing/2014/main" id="{15BADC04-18EF-A67B-21AE-3B3AD774A488}"/>
              </a:ext>
            </a:extLst>
          </p:cNvPr>
          <p:cNvSpPr/>
          <p:nvPr/>
        </p:nvSpPr>
        <p:spPr>
          <a:xfrm>
            <a:off x="822960" y="6263640"/>
            <a:ext cx="7315200" cy="274320"/>
          </a:xfrm>
          <a:prstGeom prst="rect">
            <a:avLst/>
          </a:prstGeom>
          <a:noFill/>
          <a:ln/>
        </p:spPr>
        <p:txBody>
          <a:bodyPr wrap="square" rtlCol="0" anchor="ctr"/>
          <a:lstStyle/>
          <a:p>
            <a:pPr marL="0" indent="0">
              <a:buNone/>
            </a:pPr>
            <a:endParaRPr lang="en-US" sz="1100" dirty="0"/>
          </a:p>
        </p:txBody>
      </p:sp>
      <p:sp>
        <p:nvSpPr>
          <p:cNvPr id="4" name="Text 0">
            <a:extLst>
              <a:ext uri="{FF2B5EF4-FFF2-40B4-BE49-F238E27FC236}">
                <a16:creationId xmlns:a16="http://schemas.microsoft.com/office/drawing/2014/main" id="{ADF282A1-D518-BFE0-4188-C4056F28B44C}"/>
              </a:ext>
            </a:extLst>
          </p:cNvPr>
          <p:cNvSpPr/>
          <p:nvPr/>
        </p:nvSpPr>
        <p:spPr>
          <a:xfrm>
            <a:off x="457200" y="256032"/>
            <a:ext cx="8229600" cy="5943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Key Philosophy</a:t>
            </a:r>
            <a:endParaRPr lang="en-US" sz="3200" dirty="0"/>
          </a:p>
        </p:txBody>
      </p:sp>
      <p:sp>
        <p:nvSpPr>
          <p:cNvPr id="6" name="Shape 1">
            <a:extLst>
              <a:ext uri="{FF2B5EF4-FFF2-40B4-BE49-F238E27FC236}">
                <a16:creationId xmlns:a16="http://schemas.microsoft.com/office/drawing/2014/main" id="{3EE26FB5-DDD8-45CC-F2B3-B02D42D658F2}"/>
              </a:ext>
            </a:extLst>
          </p:cNvPr>
          <p:cNvSpPr/>
          <p:nvPr/>
        </p:nvSpPr>
        <p:spPr>
          <a:xfrm>
            <a:off x="457200" y="960120"/>
            <a:ext cx="4513634" cy="2039112"/>
          </a:xfrm>
          <a:prstGeom prst="roundRect">
            <a:avLst>
              <a:gd name="adj" fmla="val 5618"/>
            </a:avLst>
          </a:prstGeom>
          <a:solidFill>
            <a:srgbClr val="FFFFFF">
              <a:alpha val="12000"/>
            </a:srgbClr>
          </a:solidFill>
          <a:ln w="12700">
            <a:solidFill>
              <a:srgbClr val="FFFFFF">
                <a:alpha val="30000"/>
              </a:srgbClr>
            </a:solidFill>
            <a:prstDash val="solid"/>
          </a:ln>
        </p:spPr>
        <p:txBody>
          <a:bodyPr/>
          <a:lstStyle/>
          <a:p>
            <a:endParaRPr lang="en-US"/>
          </a:p>
        </p:txBody>
      </p:sp>
      <p:sp>
        <p:nvSpPr>
          <p:cNvPr id="7" name="Shape 2">
            <a:extLst>
              <a:ext uri="{FF2B5EF4-FFF2-40B4-BE49-F238E27FC236}">
                <a16:creationId xmlns:a16="http://schemas.microsoft.com/office/drawing/2014/main" id="{DEC0AC49-A9A1-815A-0AB1-131C4664D7FF}"/>
              </a:ext>
            </a:extLst>
          </p:cNvPr>
          <p:cNvSpPr/>
          <p:nvPr/>
        </p:nvSpPr>
        <p:spPr>
          <a:xfrm>
            <a:off x="685800" y="1188720"/>
            <a:ext cx="182880" cy="182880"/>
          </a:xfrm>
          <a:prstGeom prst="ellipse">
            <a:avLst/>
          </a:prstGeom>
          <a:solidFill>
            <a:srgbClr val="00C9A7"/>
          </a:solidFill>
          <a:ln w="12700">
            <a:solidFill>
              <a:srgbClr val="00C9A7"/>
            </a:solidFill>
            <a:prstDash val="solid"/>
          </a:ln>
        </p:spPr>
        <p:txBody>
          <a:bodyPr/>
          <a:lstStyle/>
          <a:p>
            <a:endParaRPr lang="en-US"/>
          </a:p>
        </p:txBody>
      </p:sp>
      <p:sp>
        <p:nvSpPr>
          <p:cNvPr id="8" name="Text 3">
            <a:extLst>
              <a:ext uri="{FF2B5EF4-FFF2-40B4-BE49-F238E27FC236}">
                <a16:creationId xmlns:a16="http://schemas.microsoft.com/office/drawing/2014/main" id="{3134A20D-157A-6434-E721-3A61CB9F2822}"/>
              </a:ext>
            </a:extLst>
          </p:cNvPr>
          <p:cNvSpPr/>
          <p:nvPr/>
        </p:nvSpPr>
        <p:spPr>
          <a:xfrm>
            <a:off x="987552" y="1097280"/>
            <a:ext cx="3319272" cy="384048"/>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Systematic over Ad-Hoc</a:t>
            </a:r>
            <a:endParaRPr lang="en-US" sz="1300" dirty="0"/>
          </a:p>
        </p:txBody>
      </p:sp>
      <p:sp>
        <p:nvSpPr>
          <p:cNvPr id="9" name="Text 4">
            <a:extLst>
              <a:ext uri="{FF2B5EF4-FFF2-40B4-BE49-F238E27FC236}">
                <a16:creationId xmlns:a16="http://schemas.microsoft.com/office/drawing/2014/main" id="{A5E0A0CF-BBA1-3AC2-EED0-DFC0FF125E67}"/>
              </a:ext>
            </a:extLst>
          </p:cNvPr>
          <p:cNvSpPr/>
          <p:nvPr/>
        </p:nvSpPr>
        <p:spPr>
          <a:xfrm>
            <a:off x="685800" y="1554480"/>
            <a:ext cx="3520440" cy="914400"/>
          </a:xfrm>
          <a:prstGeom prst="rect">
            <a:avLst/>
          </a:prstGeom>
          <a:noFill/>
          <a:ln/>
        </p:spPr>
        <p:txBody>
          <a:bodyPr wrap="square" lIns="0" tIns="0" rIns="0" bIns="0" rtlCol="0" anchor="ctr"/>
          <a:lstStyle/>
          <a:p>
            <a:pPr marL="0" indent="0">
              <a:buNone/>
            </a:pPr>
            <a:r>
              <a:rPr lang="en-US" sz="1150" dirty="0">
                <a:solidFill>
                  <a:srgbClr val="CADCFC"/>
                </a:solidFill>
                <a:latin typeface="Calibri" pitchFamily="34" charset="0"/>
                <a:ea typeface="Calibri" pitchFamily="34" charset="-122"/>
                <a:cs typeface="Calibri" pitchFamily="34" charset="-120"/>
              </a:rPr>
              <a:t>Every skill encodes a proven engineering process. Agents follow the process, not intuition or guessing.</a:t>
            </a:r>
            <a:endParaRPr lang="en-US" sz="1150" dirty="0"/>
          </a:p>
        </p:txBody>
      </p:sp>
      <p:sp>
        <p:nvSpPr>
          <p:cNvPr id="11" name="Shape 5">
            <a:extLst>
              <a:ext uri="{FF2B5EF4-FFF2-40B4-BE49-F238E27FC236}">
                <a16:creationId xmlns:a16="http://schemas.microsoft.com/office/drawing/2014/main" id="{020144F7-8451-899F-CBEA-F86B2793A86C}"/>
              </a:ext>
            </a:extLst>
          </p:cNvPr>
          <p:cNvSpPr/>
          <p:nvPr/>
        </p:nvSpPr>
        <p:spPr>
          <a:xfrm>
            <a:off x="6721813" y="960120"/>
            <a:ext cx="5012989" cy="2039112"/>
          </a:xfrm>
          <a:prstGeom prst="roundRect">
            <a:avLst>
              <a:gd name="adj" fmla="val 5618"/>
            </a:avLst>
          </a:prstGeom>
          <a:solidFill>
            <a:srgbClr val="FFFFFF">
              <a:alpha val="12000"/>
            </a:srgbClr>
          </a:solidFill>
          <a:ln w="12700">
            <a:solidFill>
              <a:srgbClr val="FFFFFF">
                <a:alpha val="30000"/>
              </a:srgbClr>
            </a:solidFill>
            <a:prstDash val="solid"/>
          </a:ln>
        </p:spPr>
        <p:txBody>
          <a:bodyPr/>
          <a:lstStyle/>
          <a:p>
            <a:endParaRPr lang="en-US"/>
          </a:p>
        </p:txBody>
      </p:sp>
      <p:sp>
        <p:nvSpPr>
          <p:cNvPr id="12" name="Shape 6">
            <a:extLst>
              <a:ext uri="{FF2B5EF4-FFF2-40B4-BE49-F238E27FC236}">
                <a16:creationId xmlns:a16="http://schemas.microsoft.com/office/drawing/2014/main" id="{8EA0C9FC-A31A-986D-CBC3-79F4549CF747}"/>
              </a:ext>
            </a:extLst>
          </p:cNvPr>
          <p:cNvSpPr/>
          <p:nvPr/>
        </p:nvSpPr>
        <p:spPr>
          <a:xfrm>
            <a:off x="6950412" y="1234440"/>
            <a:ext cx="182880" cy="182880"/>
          </a:xfrm>
          <a:prstGeom prst="ellipse">
            <a:avLst/>
          </a:prstGeom>
          <a:solidFill>
            <a:srgbClr val="00C9A7"/>
          </a:solidFill>
          <a:ln w="12700">
            <a:solidFill>
              <a:srgbClr val="00C9A7"/>
            </a:solidFill>
            <a:prstDash val="solid"/>
          </a:ln>
        </p:spPr>
        <p:txBody>
          <a:bodyPr/>
          <a:lstStyle/>
          <a:p>
            <a:endParaRPr lang="en-US"/>
          </a:p>
        </p:txBody>
      </p:sp>
      <p:sp>
        <p:nvSpPr>
          <p:cNvPr id="13" name="Text 7">
            <a:extLst>
              <a:ext uri="{FF2B5EF4-FFF2-40B4-BE49-F238E27FC236}">
                <a16:creationId xmlns:a16="http://schemas.microsoft.com/office/drawing/2014/main" id="{15D0062F-A749-5FED-E1DD-D4896D3939CF}"/>
              </a:ext>
            </a:extLst>
          </p:cNvPr>
          <p:cNvSpPr/>
          <p:nvPr/>
        </p:nvSpPr>
        <p:spPr>
          <a:xfrm>
            <a:off x="7252164" y="1143000"/>
            <a:ext cx="3319272" cy="384048"/>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Human Partner Oversight</a:t>
            </a:r>
            <a:endParaRPr lang="en-US" sz="1300" dirty="0"/>
          </a:p>
        </p:txBody>
      </p:sp>
      <p:sp>
        <p:nvSpPr>
          <p:cNvPr id="14" name="Text 8">
            <a:extLst>
              <a:ext uri="{FF2B5EF4-FFF2-40B4-BE49-F238E27FC236}">
                <a16:creationId xmlns:a16="http://schemas.microsoft.com/office/drawing/2014/main" id="{D2A269F8-696C-7941-2808-0A911C20FD14}"/>
              </a:ext>
            </a:extLst>
          </p:cNvPr>
          <p:cNvSpPr/>
          <p:nvPr/>
        </p:nvSpPr>
        <p:spPr>
          <a:xfrm>
            <a:off x="6950412" y="1600200"/>
            <a:ext cx="3520440" cy="914400"/>
          </a:xfrm>
          <a:prstGeom prst="rect">
            <a:avLst/>
          </a:prstGeom>
          <a:noFill/>
          <a:ln/>
        </p:spPr>
        <p:txBody>
          <a:bodyPr wrap="square" lIns="0" tIns="0" rIns="0" bIns="0" rtlCol="0" anchor="ctr"/>
          <a:lstStyle/>
          <a:p>
            <a:pPr marL="0" indent="0">
              <a:buNone/>
            </a:pPr>
            <a:r>
              <a:rPr lang="en-US" sz="1150" dirty="0">
                <a:solidFill>
                  <a:srgbClr val="CADCFC"/>
                </a:solidFill>
                <a:latin typeface="Calibri" pitchFamily="34" charset="0"/>
                <a:ea typeface="Calibri" pitchFamily="34" charset="-122"/>
                <a:cs typeface="Calibri" pitchFamily="34" charset="-120"/>
              </a:rPr>
              <a:t>Every skill includes human approval gates. The agent proposes; the human partner decides.</a:t>
            </a:r>
            <a:endParaRPr lang="en-US" sz="1150" dirty="0"/>
          </a:p>
        </p:txBody>
      </p:sp>
      <p:sp>
        <p:nvSpPr>
          <p:cNvPr id="15" name="Shape 9">
            <a:extLst>
              <a:ext uri="{FF2B5EF4-FFF2-40B4-BE49-F238E27FC236}">
                <a16:creationId xmlns:a16="http://schemas.microsoft.com/office/drawing/2014/main" id="{0395D62D-AF0F-A0CD-B66D-B787B6561C7B}"/>
              </a:ext>
            </a:extLst>
          </p:cNvPr>
          <p:cNvSpPr/>
          <p:nvPr/>
        </p:nvSpPr>
        <p:spPr>
          <a:xfrm>
            <a:off x="457200" y="3383280"/>
            <a:ext cx="4513634" cy="2050396"/>
          </a:xfrm>
          <a:prstGeom prst="roundRect">
            <a:avLst>
              <a:gd name="adj" fmla="val 5618"/>
            </a:avLst>
          </a:prstGeom>
          <a:solidFill>
            <a:srgbClr val="FFFFFF">
              <a:alpha val="12000"/>
            </a:srgbClr>
          </a:solidFill>
          <a:ln w="12700">
            <a:solidFill>
              <a:srgbClr val="FFFFFF">
                <a:alpha val="30000"/>
              </a:srgbClr>
            </a:solidFill>
            <a:prstDash val="solid"/>
          </a:ln>
        </p:spPr>
        <p:txBody>
          <a:bodyPr/>
          <a:lstStyle/>
          <a:p>
            <a:endParaRPr lang="en-US"/>
          </a:p>
        </p:txBody>
      </p:sp>
      <p:sp>
        <p:nvSpPr>
          <p:cNvPr id="16" name="Shape 10">
            <a:extLst>
              <a:ext uri="{FF2B5EF4-FFF2-40B4-BE49-F238E27FC236}">
                <a16:creationId xmlns:a16="http://schemas.microsoft.com/office/drawing/2014/main" id="{48B40F67-E5A3-E546-2194-C795FD667A19}"/>
              </a:ext>
            </a:extLst>
          </p:cNvPr>
          <p:cNvSpPr/>
          <p:nvPr/>
        </p:nvSpPr>
        <p:spPr>
          <a:xfrm>
            <a:off x="685800" y="3611880"/>
            <a:ext cx="182880" cy="182880"/>
          </a:xfrm>
          <a:prstGeom prst="ellipse">
            <a:avLst/>
          </a:prstGeom>
          <a:solidFill>
            <a:srgbClr val="00C9A7"/>
          </a:solidFill>
          <a:ln w="12700">
            <a:solidFill>
              <a:srgbClr val="00C9A7"/>
            </a:solidFill>
            <a:prstDash val="solid"/>
          </a:ln>
        </p:spPr>
        <p:txBody>
          <a:bodyPr/>
          <a:lstStyle/>
          <a:p>
            <a:endParaRPr lang="en-US"/>
          </a:p>
        </p:txBody>
      </p:sp>
      <p:sp>
        <p:nvSpPr>
          <p:cNvPr id="17" name="Text 11">
            <a:extLst>
              <a:ext uri="{FF2B5EF4-FFF2-40B4-BE49-F238E27FC236}">
                <a16:creationId xmlns:a16="http://schemas.microsoft.com/office/drawing/2014/main" id="{219B7A74-4F73-5D9D-0782-90EBF7C854F6}"/>
              </a:ext>
            </a:extLst>
          </p:cNvPr>
          <p:cNvSpPr/>
          <p:nvPr/>
        </p:nvSpPr>
        <p:spPr>
          <a:xfrm>
            <a:off x="987552" y="3520440"/>
            <a:ext cx="3319272" cy="384048"/>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TDD for Code and Skills</a:t>
            </a:r>
            <a:endParaRPr lang="en-US" sz="1300" dirty="0"/>
          </a:p>
        </p:txBody>
      </p:sp>
      <p:sp>
        <p:nvSpPr>
          <p:cNvPr id="18" name="Text 12">
            <a:extLst>
              <a:ext uri="{FF2B5EF4-FFF2-40B4-BE49-F238E27FC236}">
                <a16:creationId xmlns:a16="http://schemas.microsoft.com/office/drawing/2014/main" id="{39FEC119-E5EB-BBE8-CF09-AEB00734BADA}"/>
              </a:ext>
            </a:extLst>
          </p:cNvPr>
          <p:cNvSpPr/>
          <p:nvPr/>
        </p:nvSpPr>
        <p:spPr>
          <a:xfrm>
            <a:off x="685800" y="3977640"/>
            <a:ext cx="3520440" cy="914400"/>
          </a:xfrm>
          <a:prstGeom prst="rect">
            <a:avLst/>
          </a:prstGeom>
          <a:noFill/>
          <a:ln/>
        </p:spPr>
        <p:txBody>
          <a:bodyPr wrap="square" lIns="0" tIns="0" rIns="0" bIns="0" rtlCol="0" anchor="ctr"/>
          <a:lstStyle/>
          <a:p>
            <a:pPr marL="0" indent="0">
              <a:buNone/>
            </a:pPr>
            <a:r>
              <a:rPr lang="en-US" sz="1150" dirty="0">
                <a:solidFill>
                  <a:srgbClr val="CADCFC"/>
                </a:solidFill>
                <a:latin typeface="Calibri" pitchFamily="34" charset="0"/>
                <a:ea typeface="Calibri" pitchFamily="34" charset="-122"/>
                <a:cs typeface="Calibri" pitchFamily="34" charset="-120"/>
              </a:rPr>
              <a:t>Production code requires a failing test first. Skill changes require eval evidence showing improvement.</a:t>
            </a:r>
            <a:endParaRPr lang="en-US" sz="1150" dirty="0"/>
          </a:p>
        </p:txBody>
      </p:sp>
      <p:sp>
        <p:nvSpPr>
          <p:cNvPr id="19" name="Shape 13">
            <a:extLst>
              <a:ext uri="{FF2B5EF4-FFF2-40B4-BE49-F238E27FC236}">
                <a16:creationId xmlns:a16="http://schemas.microsoft.com/office/drawing/2014/main" id="{982D0178-C4D1-7861-1AFC-F01CBA024811}"/>
              </a:ext>
            </a:extLst>
          </p:cNvPr>
          <p:cNvSpPr/>
          <p:nvPr/>
        </p:nvSpPr>
        <p:spPr>
          <a:xfrm>
            <a:off x="6721812" y="3429000"/>
            <a:ext cx="5012989" cy="2004676"/>
          </a:xfrm>
          <a:prstGeom prst="roundRect">
            <a:avLst>
              <a:gd name="adj" fmla="val 5618"/>
            </a:avLst>
          </a:prstGeom>
          <a:solidFill>
            <a:srgbClr val="FFFFFF">
              <a:alpha val="12000"/>
            </a:srgbClr>
          </a:solidFill>
          <a:ln w="12700">
            <a:solidFill>
              <a:srgbClr val="FFFFFF">
                <a:alpha val="30000"/>
              </a:srgbClr>
            </a:solidFill>
            <a:prstDash val="solid"/>
          </a:ln>
        </p:spPr>
        <p:txBody>
          <a:bodyPr/>
          <a:lstStyle/>
          <a:p>
            <a:endParaRPr lang="en-US"/>
          </a:p>
        </p:txBody>
      </p:sp>
      <p:sp>
        <p:nvSpPr>
          <p:cNvPr id="20" name="Shape 14">
            <a:extLst>
              <a:ext uri="{FF2B5EF4-FFF2-40B4-BE49-F238E27FC236}">
                <a16:creationId xmlns:a16="http://schemas.microsoft.com/office/drawing/2014/main" id="{5BB350EC-6F0D-D9D8-864B-573CE370F9DA}"/>
              </a:ext>
            </a:extLst>
          </p:cNvPr>
          <p:cNvSpPr/>
          <p:nvPr/>
        </p:nvSpPr>
        <p:spPr>
          <a:xfrm>
            <a:off x="6950413" y="3657600"/>
            <a:ext cx="230482" cy="225244"/>
          </a:xfrm>
          <a:prstGeom prst="ellipse">
            <a:avLst/>
          </a:prstGeom>
          <a:solidFill>
            <a:srgbClr val="00C9A7"/>
          </a:solidFill>
          <a:ln w="12700">
            <a:solidFill>
              <a:srgbClr val="00C9A7"/>
            </a:solidFill>
            <a:prstDash val="solid"/>
          </a:ln>
        </p:spPr>
        <p:txBody>
          <a:bodyPr/>
          <a:lstStyle/>
          <a:p>
            <a:endParaRPr lang="en-US"/>
          </a:p>
        </p:txBody>
      </p:sp>
      <p:sp>
        <p:nvSpPr>
          <p:cNvPr id="21" name="Text 15">
            <a:extLst>
              <a:ext uri="{FF2B5EF4-FFF2-40B4-BE49-F238E27FC236}">
                <a16:creationId xmlns:a16="http://schemas.microsoft.com/office/drawing/2014/main" id="{F9AAEE80-79C5-8868-6867-837ACBEF1C8F}"/>
              </a:ext>
            </a:extLst>
          </p:cNvPr>
          <p:cNvSpPr/>
          <p:nvPr/>
        </p:nvSpPr>
        <p:spPr>
          <a:xfrm>
            <a:off x="7252164" y="3566159"/>
            <a:ext cx="4183253" cy="473013"/>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Evidence over Claims</a:t>
            </a:r>
            <a:endParaRPr lang="en-US" sz="1300" dirty="0"/>
          </a:p>
        </p:txBody>
      </p:sp>
      <p:sp>
        <p:nvSpPr>
          <p:cNvPr id="22" name="Text 16">
            <a:extLst>
              <a:ext uri="{FF2B5EF4-FFF2-40B4-BE49-F238E27FC236}">
                <a16:creationId xmlns:a16="http://schemas.microsoft.com/office/drawing/2014/main" id="{97D1E66E-DD10-9151-8571-4094312E9F05}"/>
              </a:ext>
            </a:extLst>
          </p:cNvPr>
          <p:cNvSpPr/>
          <p:nvPr/>
        </p:nvSpPr>
        <p:spPr>
          <a:xfrm>
            <a:off x="6950412" y="4023360"/>
            <a:ext cx="4436783" cy="1126222"/>
          </a:xfrm>
          <a:prstGeom prst="rect">
            <a:avLst/>
          </a:prstGeom>
          <a:noFill/>
          <a:ln/>
        </p:spPr>
        <p:txBody>
          <a:bodyPr wrap="square" lIns="0" tIns="0" rIns="0" bIns="0" rtlCol="0" anchor="ctr"/>
          <a:lstStyle/>
          <a:p>
            <a:pPr marL="0" indent="0">
              <a:buNone/>
            </a:pPr>
            <a:r>
              <a:rPr lang="en-US" sz="1150" dirty="0">
                <a:solidFill>
                  <a:srgbClr val="CADCFC"/>
                </a:solidFill>
                <a:latin typeface="Calibri" pitchFamily="34" charset="0"/>
                <a:ea typeface="Calibri" pitchFamily="34" charset="-122"/>
                <a:cs typeface="Calibri" pitchFamily="34" charset="-120"/>
              </a:rPr>
              <a:t>No fix without a root cause. No PR without running tests. Verify before declaring completion.</a:t>
            </a:r>
            <a:endParaRPr lang="en-US" sz="1150" dirty="0"/>
          </a:p>
        </p:txBody>
      </p:sp>
    </p:spTree>
    <p:extLst>
      <p:ext uri="{BB962C8B-B14F-4D97-AF65-F5344CB8AC3E}">
        <p14:creationId xmlns:p14="http://schemas.microsoft.com/office/powerpoint/2010/main" val="192437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141413"/>
        </a:solidFill>
        <a:effectLst/>
      </p:bgPr>
    </p:bg>
    <p:spTree>
      <p:nvGrpSpPr>
        <p:cNvPr id="1" name="">
          <a:extLst>
            <a:ext uri="{FF2B5EF4-FFF2-40B4-BE49-F238E27FC236}">
              <a16:creationId xmlns:a16="http://schemas.microsoft.com/office/drawing/2014/main" id="{A0647182-3279-3884-3543-231BC980B54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40C3A3B-519D-4AB0-A02F-46C0328FC3D7}"/>
              </a:ext>
            </a:extLst>
          </p:cNvPr>
          <p:cNvSpPr/>
          <p:nvPr/>
        </p:nvSpPr>
        <p:spPr>
          <a:xfrm>
            <a:off x="457200" y="320040"/>
            <a:ext cx="1371600" cy="1371600"/>
          </a:xfrm>
          <a:prstGeom prst="rect">
            <a:avLst/>
          </a:prstGeom>
          <a:noFill/>
          <a:ln/>
        </p:spPr>
        <p:txBody>
          <a:bodyPr wrap="square" rtlCol="0" anchor="ctr"/>
          <a:lstStyle/>
          <a:p>
            <a:pPr marL="0" indent="0">
              <a:buNone/>
            </a:pPr>
            <a:r>
              <a:rPr lang="en-US" sz="9000" b="1" dirty="0">
                <a:solidFill>
                  <a:srgbClr val="232220"/>
                </a:solidFill>
                <a:latin typeface="Poppins" pitchFamily="34" charset="0"/>
                <a:ea typeface="Poppins" pitchFamily="34" charset="-122"/>
                <a:cs typeface="Poppins" pitchFamily="34" charset="-120"/>
              </a:rPr>
              <a:t>{</a:t>
            </a:r>
            <a:endParaRPr lang="en-US" sz="9000" dirty="0"/>
          </a:p>
        </p:txBody>
      </p:sp>
      <p:sp>
        <p:nvSpPr>
          <p:cNvPr id="3" name="Text 1">
            <a:extLst>
              <a:ext uri="{FF2B5EF4-FFF2-40B4-BE49-F238E27FC236}">
                <a16:creationId xmlns:a16="http://schemas.microsoft.com/office/drawing/2014/main" id="{5330E8D4-7616-7111-A5F7-461D05185419}"/>
              </a:ext>
            </a:extLst>
          </p:cNvPr>
          <p:cNvSpPr/>
          <p:nvPr/>
        </p:nvSpPr>
        <p:spPr>
          <a:xfrm>
            <a:off x="10424160" y="5120640"/>
            <a:ext cx="1371600" cy="1371600"/>
          </a:xfrm>
          <a:prstGeom prst="rect">
            <a:avLst/>
          </a:prstGeom>
          <a:noFill/>
          <a:ln/>
        </p:spPr>
        <p:txBody>
          <a:bodyPr wrap="square" rtlCol="0" anchor="ctr"/>
          <a:lstStyle/>
          <a:p>
            <a:pPr marL="0" indent="0" algn="r">
              <a:buNone/>
            </a:pPr>
            <a:r>
              <a:rPr lang="en-US" sz="9000" b="1" dirty="0">
                <a:solidFill>
                  <a:srgbClr val="232220"/>
                </a:solidFill>
                <a:latin typeface="Poppins" pitchFamily="34" charset="0"/>
                <a:ea typeface="Poppins" pitchFamily="34" charset="-122"/>
                <a:cs typeface="Poppins" pitchFamily="34" charset="-120"/>
              </a:rPr>
              <a:t>}</a:t>
            </a:r>
            <a:endParaRPr lang="en-US" sz="9000" dirty="0"/>
          </a:p>
        </p:txBody>
      </p:sp>
      <p:sp>
        <p:nvSpPr>
          <p:cNvPr id="5" name="Text 3">
            <a:extLst>
              <a:ext uri="{FF2B5EF4-FFF2-40B4-BE49-F238E27FC236}">
                <a16:creationId xmlns:a16="http://schemas.microsoft.com/office/drawing/2014/main" id="{F90861A4-84A9-A975-FBA6-AB78025BE9E1}"/>
              </a:ext>
            </a:extLst>
          </p:cNvPr>
          <p:cNvSpPr/>
          <p:nvPr/>
        </p:nvSpPr>
        <p:spPr>
          <a:xfrm>
            <a:off x="822960" y="2331720"/>
            <a:ext cx="10515600" cy="1188720"/>
          </a:xfrm>
          <a:prstGeom prst="rect">
            <a:avLst/>
          </a:prstGeom>
          <a:noFill/>
          <a:ln/>
        </p:spPr>
        <p:txBody>
          <a:bodyPr wrap="square" lIns="0" tIns="0" rIns="0" bIns="0" rtlCol="0" anchor="ctr"/>
          <a:lstStyle/>
          <a:p>
            <a:r>
              <a:rPr lang="en-US" sz="4400" dirty="0">
                <a:solidFill>
                  <a:srgbClr val="C8D8F0"/>
                </a:solidFill>
                <a:latin typeface="Calibri" pitchFamily="34" charset="0"/>
                <a:ea typeface="Calibri" pitchFamily="34" charset="-122"/>
                <a:cs typeface="Calibri" pitchFamily="34" charset="-120"/>
              </a:rPr>
              <a:t>The Agent Loop</a:t>
            </a:r>
            <a:endParaRPr lang="en-US" sz="4400" dirty="0"/>
          </a:p>
        </p:txBody>
      </p:sp>
      <p:sp>
        <p:nvSpPr>
          <p:cNvPr id="10" name="Text 8">
            <a:extLst>
              <a:ext uri="{FF2B5EF4-FFF2-40B4-BE49-F238E27FC236}">
                <a16:creationId xmlns:a16="http://schemas.microsoft.com/office/drawing/2014/main" id="{1D544051-9D6F-342E-74AD-B16C4948D4CC}"/>
              </a:ext>
            </a:extLst>
          </p:cNvPr>
          <p:cNvSpPr/>
          <p:nvPr/>
        </p:nvSpPr>
        <p:spPr>
          <a:xfrm>
            <a:off x="822960" y="6263640"/>
            <a:ext cx="7315200" cy="274320"/>
          </a:xfrm>
          <a:prstGeom prst="rect">
            <a:avLst/>
          </a:prstGeom>
          <a:noFill/>
          <a:ln/>
        </p:spPr>
        <p:txBody>
          <a:bodyPr wrap="square" rtlCol="0" anchor="ctr"/>
          <a:lstStyle/>
          <a:p>
            <a:pPr marL="0" indent="0">
              <a:buNone/>
            </a:pPr>
            <a:endParaRPr lang="en-US" sz="1100" dirty="0"/>
          </a:p>
        </p:txBody>
      </p:sp>
    </p:spTree>
    <p:extLst>
      <p:ext uri="{BB962C8B-B14F-4D97-AF65-F5344CB8AC3E}">
        <p14:creationId xmlns:p14="http://schemas.microsoft.com/office/powerpoint/2010/main" val="26947426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219456"/>
            <a:ext cx="10972800" cy="792480"/>
          </a:xfrm>
          <a:prstGeom prst="rect">
            <a:avLst/>
          </a:prstGeom>
          <a:noFill/>
          <a:ln/>
        </p:spPr>
        <p:txBody>
          <a:bodyPr wrap="square" lIns="0" tIns="0" rIns="0" bIns="0" rtlCol="0" anchor="ctr"/>
          <a:lstStyle/>
          <a:p>
            <a:r>
              <a:rPr lang="en-US" sz="4533" b="1" dirty="0">
                <a:solidFill>
                  <a:srgbClr val="1A2B5E"/>
                </a:solidFill>
                <a:latin typeface="Calibri" pitchFamily="34" charset="0"/>
                <a:ea typeface="Calibri" pitchFamily="34" charset="-122"/>
                <a:cs typeface="Calibri" pitchFamily="34" charset="-120"/>
              </a:rPr>
              <a:t>What is the Agent SDK?</a:t>
            </a:r>
            <a:endParaRPr lang="en-US" sz="4533" dirty="0"/>
          </a:p>
        </p:txBody>
      </p:sp>
      <p:sp>
        <p:nvSpPr>
          <p:cNvPr id="3" name="Shape 1"/>
          <p:cNvSpPr/>
          <p:nvPr/>
        </p:nvSpPr>
        <p:spPr>
          <a:xfrm>
            <a:off x="487680" y="1219200"/>
            <a:ext cx="6217920" cy="5303520"/>
          </a:xfrm>
          <a:prstGeom prst="roundRect">
            <a:avLst>
              <a:gd name="adj" fmla="val 2299"/>
            </a:avLst>
          </a:prstGeom>
          <a:solidFill>
            <a:srgbClr val="FFFFFF"/>
          </a:solidFill>
          <a:ln w="12700">
            <a:solidFill>
              <a:srgbClr val="E0EAF4"/>
            </a:solidFill>
            <a:prstDash val="solid"/>
          </a:ln>
          <a:effectLst>
            <a:outerShdw blurRad="101600" dist="25400" dir="2700000" algn="bl" rotWithShape="0">
              <a:srgbClr val="000000">
                <a:alpha val="10000"/>
              </a:srgbClr>
            </a:outerShdw>
          </a:effectLst>
        </p:spPr>
        <p:txBody>
          <a:bodyPr/>
          <a:lstStyle/>
          <a:p>
            <a:endParaRPr lang="en-US"/>
          </a:p>
        </p:txBody>
      </p:sp>
      <p:sp>
        <p:nvSpPr>
          <p:cNvPr id="4" name="Text 2"/>
          <p:cNvSpPr/>
          <p:nvPr/>
        </p:nvSpPr>
        <p:spPr>
          <a:xfrm>
            <a:off x="755904" y="1365504"/>
            <a:ext cx="5730240" cy="4998720"/>
          </a:xfrm>
          <a:prstGeom prst="rect">
            <a:avLst/>
          </a:prstGeom>
          <a:noFill/>
          <a:ln/>
        </p:spPr>
        <p:txBody>
          <a:bodyPr wrap="square" lIns="0" tIns="0" rIns="0" bIns="0" rtlCol="0" anchor="t"/>
          <a:lstStyle/>
          <a:p>
            <a:r>
              <a:rPr lang="en-US" sz="2133" b="1" dirty="0">
                <a:solidFill>
                  <a:srgbClr val="0D6EAD"/>
                </a:solidFill>
                <a:latin typeface="Courier New" pitchFamily="34" charset="0"/>
                <a:ea typeface="Courier New" pitchFamily="34" charset="-122"/>
                <a:cs typeface="Courier New" pitchFamily="34" charset="-120"/>
              </a:rPr>
              <a:t>query()</a:t>
            </a:r>
            <a:endParaRPr lang="en-US" sz="2133" dirty="0"/>
          </a:p>
          <a:p>
            <a:r>
              <a:rPr lang="en-US" dirty="0">
                <a:solidFill>
                  <a:srgbClr val="2D4060"/>
                </a:solidFill>
                <a:latin typeface="Calibri" pitchFamily="34" charset="0"/>
                <a:ea typeface="Calibri" pitchFamily="34" charset="-122"/>
                <a:cs typeface="Calibri" pitchFamily="34" charset="-120"/>
              </a:rPr>
              <a:t>embeds Claude Code's full agent loop in your code.</a:t>
            </a:r>
            <a:endParaRPr lang="en-US" sz="2133" dirty="0"/>
          </a:p>
          <a:p>
            <a:r>
              <a:rPr lang="en-US" sz="933" dirty="0">
                <a:solidFill>
                  <a:srgbClr val="2D4060"/>
                </a:solidFill>
                <a:latin typeface="Calibri" pitchFamily="34" charset="0"/>
                <a:ea typeface="Calibri" pitchFamily="34" charset="-122"/>
                <a:cs typeface="Calibri" pitchFamily="34" charset="-120"/>
              </a:rPr>
              <a:t> </a:t>
            </a:r>
            <a:endParaRPr lang="en-US" sz="2133" dirty="0"/>
          </a:p>
          <a:p>
            <a:r>
              <a:rPr lang="en-US" dirty="0">
                <a:solidFill>
                  <a:srgbClr val="2D4060"/>
                </a:solidFill>
                <a:latin typeface="Calibri" pitchFamily="34" charset="0"/>
                <a:ea typeface="Calibri" pitchFamily="34" charset="-122"/>
                <a:cs typeface="Calibri" pitchFamily="34" charset="-120"/>
              </a:rPr>
              <a:t>A human at a terminal types commands. You call </a:t>
            </a:r>
            <a:r>
              <a:rPr lang="en-US" b="1" dirty="0">
                <a:solidFill>
                  <a:srgbClr val="2D4060"/>
                </a:solidFill>
                <a:latin typeface="Courier New" pitchFamily="34" charset="0"/>
                <a:ea typeface="Courier New" pitchFamily="34" charset="-122"/>
                <a:cs typeface="Courier New" pitchFamily="34" charset="-120"/>
              </a:rPr>
              <a:t>query()</a:t>
            </a:r>
            <a:r>
              <a:rPr lang="en-US" dirty="0">
                <a:solidFill>
                  <a:srgbClr val="2D4060"/>
                </a:solidFill>
                <a:latin typeface="Calibri" pitchFamily="34" charset="0"/>
                <a:ea typeface="Calibri" pitchFamily="34" charset="-122"/>
                <a:cs typeface="Calibri" pitchFamily="34" charset="-120"/>
              </a:rPr>
              <a:t> and iterate over a message stream.</a:t>
            </a:r>
            <a:endParaRPr lang="en-US" sz="2133" dirty="0"/>
          </a:p>
          <a:p>
            <a:r>
              <a:rPr lang="en-US" sz="933" dirty="0">
                <a:solidFill>
                  <a:srgbClr val="2D4060"/>
                </a:solidFill>
                <a:latin typeface="Calibri" pitchFamily="34" charset="0"/>
                <a:ea typeface="Calibri" pitchFamily="34" charset="-122"/>
                <a:cs typeface="Calibri" pitchFamily="34" charset="-120"/>
              </a:rPr>
              <a:t> </a:t>
            </a:r>
            <a:endParaRPr lang="en-US" sz="2133" dirty="0"/>
          </a:p>
          <a:p>
            <a:r>
              <a:rPr lang="en-US" sz="1733" b="1" dirty="0">
                <a:solidFill>
                  <a:srgbClr val="2D4060"/>
                </a:solidFill>
                <a:latin typeface="Calibri" pitchFamily="34" charset="0"/>
                <a:ea typeface="Calibri" pitchFamily="34" charset="-122"/>
                <a:cs typeface="Calibri" pitchFamily="34" charset="-120"/>
              </a:rPr>
              <a:t>Key capabilities:</a:t>
            </a:r>
            <a:endParaRPr lang="en-US" sz="2133" dirty="0"/>
          </a:p>
          <a:p>
            <a:pPr marL="457189" indent="-457189">
              <a:buSzPct val="100000"/>
              <a:buChar char="•"/>
            </a:pPr>
            <a:r>
              <a:rPr lang="en-US" sz="1733" dirty="0">
                <a:solidFill>
                  <a:srgbClr val="2D4060"/>
                </a:solidFill>
                <a:latin typeface="Calibri" pitchFamily="34" charset="0"/>
                <a:ea typeface="Calibri" pitchFamily="34" charset="-122"/>
                <a:cs typeface="Calibri" pitchFamily="34" charset="-120"/>
              </a:rPr>
              <a:t>Control which tools are available</a:t>
            </a:r>
            <a:endParaRPr lang="en-US" sz="2133" dirty="0"/>
          </a:p>
          <a:p>
            <a:pPr marL="457189" indent="-457189">
              <a:buSzPct val="100000"/>
              <a:buChar char="•"/>
            </a:pPr>
            <a:r>
              <a:rPr lang="en-US" sz="1733" dirty="0">
                <a:solidFill>
                  <a:srgbClr val="2D4060"/>
                </a:solidFill>
                <a:latin typeface="Calibri" pitchFamily="34" charset="0"/>
                <a:ea typeface="Calibri" pitchFamily="34" charset="-122"/>
                <a:cs typeface="Calibri" pitchFamily="34" charset="-120"/>
              </a:rPr>
              <a:t>Set a hard spend ceiling (max_budget_usd)</a:t>
            </a:r>
            <a:endParaRPr lang="en-US" sz="2133" dirty="0"/>
          </a:p>
          <a:p>
            <a:pPr marL="457189" indent="-457189">
              <a:buSzPct val="100000"/>
              <a:buChar char="•"/>
            </a:pPr>
            <a:r>
              <a:rPr lang="en-US" sz="1733" dirty="0">
                <a:solidFill>
                  <a:srgbClr val="2D4060"/>
                </a:solidFill>
                <a:latin typeface="Calibri" pitchFamily="34" charset="0"/>
                <a:ea typeface="Calibri" pitchFamily="34" charset="-122"/>
                <a:cs typeface="Calibri" pitchFamily="34" charset="-120"/>
              </a:rPr>
              <a:t>Load project context (CLAUDE.md, skills, hooks)</a:t>
            </a:r>
            <a:endParaRPr lang="en-US" sz="2133" dirty="0"/>
          </a:p>
          <a:p>
            <a:pPr marL="457189" indent="-457189">
              <a:buSzPct val="100000"/>
              <a:buChar char="•"/>
            </a:pPr>
            <a:r>
              <a:rPr lang="en-US" sz="1733" dirty="0">
                <a:solidFill>
                  <a:srgbClr val="2D4060"/>
                </a:solidFill>
                <a:latin typeface="Calibri" pitchFamily="34" charset="0"/>
                <a:ea typeface="Calibri" pitchFamily="34" charset="-122"/>
                <a:cs typeface="Calibri" pitchFamily="34" charset="-120"/>
              </a:rPr>
              <a:t>Capture session ID — resume partial runs</a:t>
            </a:r>
            <a:endParaRPr lang="en-US" sz="2133" dirty="0"/>
          </a:p>
          <a:p>
            <a:pPr marL="457189" indent="-457189">
              <a:buSzPct val="100000"/>
              <a:buChar char="•"/>
            </a:pPr>
            <a:r>
              <a:rPr lang="en-US" sz="1733" dirty="0">
                <a:solidFill>
                  <a:srgbClr val="2D4060"/>
                </a:solidFill>
                <a:latin typeface="Calibri" pitchFamily="34" charset="0"/>
                <a:ea typeface="Calibri" pitchFamily="34" charset="-122"/>
                <a:cs typeface="Calibri" pitchFamily="34" charset="-120"/>
              </a:rPr>
              <a:t>Run headlessly in CI / scheduled automation</a:t>
            </a:r>
            <a:endParaRPr lang="en-US" sz="2133" dirty="0"/>
          </a:p>
          <a:p>
            <a:r>
              <a:rPr lang="en-US" sz="933" dirty="0">
                <a:solidFill>
                  <a:srgbClr val="2D4060"/>
                </a:solidFill>
                <a:latin typeface="Calibri" pitchFamily="34" charset="0"/>
                <a:ea typeface="Calibri" pitchFamily="34" charset="-122"/>
                <a:cs typeface="Calibri" pitchFamily="34" charset="-120"/>
              </a:rPr>
              <a:t> </a:t>
            </a:r>
            <a:endParaRPr lang="en-US" sz="2133" dirty="0"/>
          </a:p>
          <a:p>
            <a:r>
              <a:rPr lang="en-US" sz="1600" i="1" dirty="0">
                <a:solidFill>
                  <a:srgbClr val="6B82A0"/>
                </a:solidFill>
                <a:latin typeface="Calibri" pitchFamily="34" charset="0"/>
                <a:ea typeface="Calibri" pitchFamily="34" charset="-122"/>
                <a:cs typeface="Calibri" pitchFamily="34" charset="-120"/>
              </a:rPr>
              <a:t>Available for Python and TypeScript.</a:t>
            </a:r>
            <a:endParaRPr lang="en-US" sz="2133" dirty="0"/>
          </a:p>
        </p:txBody>
      </p:sp>
      <p:sp>
        <p:nvSpPr>
          <p:cNvPr id="5" name="Shape 3"/>
          <p:cNvSpPr/>
          <p:nvPr/>
        </p:nvSpPr>
        <p:spPr>
          <a:xfrm>
            <a:off x="6949440" y="1219200"/>
            <a:ext cx="4937760" cy="5303520"/>
          </a:xfrm>
          <a:prstGeom prst="roundRect">
            <a:avLst>
              <a:gd name="adj" fmla="val 2469"/>
            </a:avLst>
          </a:prstGeom>
          <a:solidFill>
            <a:srgbClr val="1E2D45"/>
          </a:solidFill>
          <a:ln w="12700">
            <a:solidFill>
              <a:srgbClr val="1E2D45"/>
            </a:solidFill>
            <a:prstDash val="solid"/>
          </a:ln>
          <a:effectLst>
            <a:outerShdw blurRad="101600" dist="25400" dir="2700000" algn="bl" rotWithShape="0">
              <a:srgbClr val="000000">
                <a:alpha val="10000"/>
              </a:srgbClr>
            </a:outerShdw>
          </a:effectLst>
        </p:spPr>
        <p:txBody>
          <a:bodyPr/>
          <a:lstStyle/>
          <a:p>
            <a:endParaRPr lang="en-US"/>
          </a:p>
        </p:txBody>
      </p:sp>
      <p:sp>
        <p:nvSpPr>
          <p:cNvPr id="6" name="Text 4"/>
          <p:cNvSpPr/>
          <p:nvPr/>
        </p:nvSpPr>
        <p:spPr>
          <a:xfrm>
            <a:off x="7168896" y="1389888"/>
            <a:ext cx="4535424" cy="4998720"/>
          </a:xfrm>
          <a:prstGeom prst="rect">
            <a:avLst/>
          </a:prstGeom>
          <a:noFill/>
          <a:ln/>
        </p:spPr>
        <p:txBody>
          <a:bodyPr wrap="square" lIns="0" tIns="0" rIns="0" bIns="0" rtlCol="0" anchor="t"/>
          <a:lstStyle/>
          <a:p>
            <a:r>
              <a:rPr lang="en-US" sz="1333" dirty="0">
                <a:solidFill>
                  <a:srgbClr val="A8D0F0"/>
                </a:solidFill>
                <a:latin typeface="Courier New" pitchFamily="34" charset="0"/>
                <a:ea typeface="Courier New" pitchFamily="34" charset="-122"/>
                <a:cs typeface="Courier New" pitchFamily="34" charset="-120"/>
              </a:rPr>
              <a:t>from claude_agent_sdk import (</a:t>
            </a:r>
            <a:endParaRPr lang="en-US" sz="1333" dirty="0"/>
          </a:p>
          <a:p>
            <a:r>
              <a:rPr lang="en-US" sz="1333" dirty="0">
                <a:solidFill>
                  <a:srgbClr val="A8D0F0"/>
                </a:solidFill>
                <a:latin typeface="Courier New" pitchFamily="34" charset="0"/>
                <a:ea typeface="Courier New" pitchFamily="34" charset="-122"/>
                <a:cs typeface="Courier New" pitchFamily="34" charset="-120"/>
              </a:rPr>
              <a:t>    query, ClaudeAgentOptions,</a:t>
            </a:r>
            <a:endParaRPr lang="en-US" sz="1333" dirty="0"/>
          </a:p>
          <a:p>
            <a:r>
              <a:rPr lang="en-US" sz="1333" dirty="0">
                <a:solidFill>
                  <a:srgbClr val="A8D0F0"/>
                </a:solidFill>
                <a:latin typeface="Courier New" pitchFamily="34" charset="0"/>
                <a:ea typeface="Courier New" pitchFamily="34" charset="-122"/>
                <a:cs typeface="Courier New" pitchFamily="34" charset="-120"/>
              </a:rPr>
              <a:t>    ResultMessage</a:t>
            </a:r>
            <a:endParaRPr lang="en-US" sz="1333" dirty="0"/>
          </a:p>
          <a:p>
            <a:r>
              <a:rPr lang="en-US" sz="1333" dirty="0">
                <a:solidFill>
                  <a:srgbClr val="A8D0F0"/>
                </a:solidFill>
                <a:latin typeface="Courier New" pitchFamily="34" charset="0"/>
                <a:ea typeface="Courier New" pitchFamily="34" charset="-122"/>
                <a:cs typeface="Courier New" pitchFamily="34" charset="-120"/>
              </a:rPr>
              <a:t>)</a:t>
            </a:r>
            <a:endParaRPr lang="en-US" sz="1333" dirty="0"/>
          </a:p>
          <a:p>
            <a:r>
              <a:rPr lang="en-US" sz="1333" dirty="0">
                <a:solidFill>
                  <a:srgbClr val="A8D0F0"/>
                </a:solidFill>
                <a:latin typeface="Courier New" pitchFamily="34" charset="0"/>
                <a:ea typeface="Courier New" pitchFamily="34" charset="-122"/>
                <a:cs typeface="Courier New" pitchFamily="34" charset="-120"/>
              </a:rPr>
              <a:t> </a:t>
            </a:r>
            <a:endParaRPr lang="en-US" sz="1333" dirty="0"/>
          </a:p>
          <a:p>
            <a:r>
              <a:rPr lang="en-US" sz="1333" dirty="0">
                <a:solidFill>
                  <a:srgbClr val="A8D0F0"/>
                </a:solidFill>
                <a:latin typeface="Courier New" pitchFamily="34" charset="0"/>
                <a:ea typeface="Courier New" pitchFamily="34" charset="-122"/>
                <a:cs typeface="Courier New" pitchFamily="34" charset="-120"/>
              </a:rPr>
              <a:t>async for msg in query(</a:t>
            </a:r>
            <a:endParaRPr lang="en-US" sz="1333" dirty="0"/>
          </a:p>
          <a:p>
            <a:r>
              <a:rPr lang="en-US" sz="1333" dirty="0">
                <a:solidFill>
                  <a:srgbClr val="A8D0F0"/>
                </a:solidFill>
                <a:latin typeface="Courier New" pitchFamily="34" charset="0"/>
                <a:ea typeface="Courier New" pitchFamily="34" charset="-122"/>
                <a:cs typeface="Courier New" pitchFamily="34" charset="-120"/>
              </a:rPr>
              <a:t>    prompt="/reverse-engineer .",</a:t>
            </a:r>
            <a:endParaRPr lang="en-US" sz="1333" dirty="0"/>
          </a:p>
          <a:p>
            <a:r>
              <a:rPr lang="en-US" sz="1333" dirty="0">
                <a:solidFill>
                  <a:srgbClr val="A8D0F0"/>
                </a:solidFill>
                <a:latin typeface="Courier New" pitchFamily="34" charset="0"/>
                <a:ea typeface="Courier New" pitchFamily="34" charset="-122"/>
                <a:cs typeface="Courier New" pitchFamily="34" charset="-120"/>
              </a:rPr>
              <a:t>    options=ClaudeAgentOptions(</a:t>
            </a:r>
            <a:endParaRPr lang="en-US" sz="1333" dirty="0"/>
          </a:p>
          <a:p>
            <a:r>
              <a:rPr lang="en-US" sz="1333" dirty="0">
                <a:solidFill>
                  <a:srgbClr val="A8D0F0"/>
                </a:solidFill>
                <a:latin typeface="Courier New" pitchFamily="34" charset="0"/>
                <a:ea typeface="Courier New" pitchFamily="34" charset="-122"/>
                <a:cs typeface="Courier New" pitchFamily="34" charset="-120"/>
              </a:rPr>
              <a:t>        allowed_tools=[</a:t>
            </a:r>
            <a:endParaRPr lang="en-US" sz="1333" dirty="0"/>
          </a:p>
          <a:p>
            <a:r>
              <a:rPr lang="en-US" sz="1333" dirty="0">
                <a:solidFill>
                  <a:srgbClr val="A8D0F0"/>
                </a:solidFill>
                <a:latin typeface="Courier New" pitchFamily="34" charset="0"/>
                <a:ea typeface="Courier New" pitchFamily="34" charset="-122"/>
                <a:cs typeface="Courier New" pitchFamily="34" charset="-120"/>
              </a:rPr>
              <a:t>            "Read","Glob","Grep",</a:t>
            </a:r>
            <a:endParaRPr lang="en-US" sz="1333" dirty="0"/>
          </a:p>
          <a:p>
            <a:r>
              <a:rPr lang="en-US" sz="1333" dirty="0">
                <a:solidFill>
                  <a:srgbClr val="A8D0F0"/>
                </a:solidFill>
                <a:latin typeface="Courier New" pitchFamily="34" charset="0"/>
                <a:ea typeface="Courier New" pitchFamily="34" charset="-122"/>
                <a:cs typeface="Courier New" pitchFamily="34" charset="-120"/>
              </a:rPr>
              <a:t>            "Write","Agent","Skill",</a:t>
            </a:r>
            <a:endParaRPr lang="en-US" sz="1333" dirty="0"/>
          </a:p>
          <a:p>
            <a:r>
              <a:rPr lang="en-US" sz="1333" dirty="0">
                <a:solidFill>
                  <a:srgbClr val="A8D0F0"/>
                </a:solidFill>
                <a:latin typeface="Courier New" pitchFamily="34" charset="0"/>
                <a:ea typeface="Courier New" pitchFamily="34" charset="-122"/>
                <a:cs typeface="Courier New" pitchFamily="34" charset="-120"/>
              </a:rPr>
              <a:t>        ],</a:t>
            </a:r>
            <a:endParaRPr lang="en-US" sz="1333" dirty="0"/>
          </a:p>
          <a:p>
            <a:r>
              <a:rPr lang="en-US" sz="1333" dirty="0">
                <a:solidFill>
                  <a:srgbClr val="A8D0F0"/>
                </a:solidFill>
                <a:latin typeface="Courier New" pitchFamily="34" charset="0"/>
                <a:ea typeface="Courier New" pitchFamily="34" charset="-122"/>
                <a:cs typeface="Courier New" pitchFamily="34" charset="-120"/>
              </a:rPr>
              <a:t>        setting_sources=["project"],</a:t>
            </a:r>
            <a:endParaRPr lang="en-US" sz="1333" dirty="0"/>
          </a:p>
          <a:p>
            <a:r>
              <a:rPr lang="en-US" sz="1333" dirty="0">
                <a:solidFill>
                  <a:srgbClr val="A8D0F0"/>
                </a:solidFill>
                <a:latin typeface="Courier New" pitchFamily="34" charset="0"/>
                <a:ea typeface="Courier New" pitchFamily="34" charset="-122"/>
                <a:cs typeface="Courier New" pitchFamily="34" charset="-120"/>
              </a:rPr>
              <a:t>        max_budget_usd=6.00,</a:t>
            </a:r>
            <a:endParaRPr lang="en-US" sz="1333" dirty="0"/>
          </a:p>
          <a:p>
            <a:r>
              <a:rPr lang="en-US" sz="1333" dirty="0">
                <a:solidFill>
                  <a:srgbClr val="A8D0F0"/>
                </a:solidFill>
                <a:latin typeface="Courier New" pitchFamily="34" charset="0"/>
                <a:ea typeface="Courier New" pitchFamily="34" charset="-122"/>
                <a:cs typeface="Courier New" pitchFamily="34" charset="-120"/>
              </a:rPr>
              <a:t>        effort="medium",</a:t>
            </a:r>
            <a:endParaRPr lang="en-US" sz="1333" dirty="0"/>
          </a:p>
          <a:p>
            <a:r>
              <a:rPr lang="en-US" sz="1333" dirty="0">
                <a:solidFill>
                  <a:srgbClr val="A8D0F0"/>
                </a:solidFill>
                <a:latin typeface="Courier New" pitchFamily="34" charset="0"/>
                <a:ea typeface="Courier New" pitchFamily="34" charset="-122"/>
                <a:cs typeface="Courier New" pitchFamily="34" charset="-120"/>
              </a:rPr>
              <a:t>    ),</a:t>
            </a:r>
            <a:endParaRPr lang="en-US" sz="1333" dirty="0"/>
          </a:p>
          <a:p>
            <a:r>
              <a:rPr lang="en-US" sz="1333" dirty="0">
                <a:solidFill>
                  <a:srgbClr val="A8D0F0"/>
                </a:solidFill>
                <a:latin typeface="Courier New" pitchFamily="34" charset="0"/>
                <a:ea typeface="Courier New" pitchFamily="34" charset="-122"/>
                <a:cs typeface="Courier New" pitchFamily="34" charset="-120"/>
              </a:rPr>
              <a:t>):</a:t>
            </a:r>
            <a:endParaRPr lang="en-US" sz="1333" dirty="0"/>
          </a:p>
          <a:p>
            <a:r>
              <a:rPr lang="en-US" sz="1333" dirty="0">
                <a:solidFill>
                  <a:srgbClr val="A8D0F0"/>
                </a:solidFill>
                <a:latin typeface="Courier New" pitchFamily="34" charset="0"/>
                <a:ea typeface="Courier New" pitchFamily="34" charset="-122"/>
                <a:cs typeface="Courier New" pitchFamily="34" charset="-120"/>
              </a:rPr>
              <a:t>    if isinstance(msg, ResultMessage):</a:t>
            </a:r>
            <a:endParaRPr lang="en-US" sz="1333" dirty="0"/>
          </a:p>
          <a:p>
            <a:r>
              <a:rPr lang="en-US" sz="1333" dirty="0">
                <a:solidFill>
                  <a:srgbClr val="A8D0F0"/>
                </a:solidFill>
                <a:latin typeface="Courier New" pitchFamily="34" charset="0"/>
                <a:ea typeface="Courier New" pitchFamily="34" charset="-122"/>
                <a:cs typeface="Courier New" pitchFamily="34" charset="-120"/>
              </a:rPr>
              <a:t>        print(msg.total_cost_usd)</a:t>
            </a:r>
            <a:endParaRPr lang="en-US" sz="1333"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219456"/>
            <a:ext cx="10972800" cy="792480"/>
          </a:xfrm>
          <a:prstGeom prst="rect">
            <a:avLst/>
          </a:prstGeom>
          <a:noFill/>
          <a:ln/>
        </p:spPr>
        <p:txBody>
          <a:bodyPr wrap="square" lIns="0" tIns="0" rIns="0" bIns="0" rtlCol="0" anchor="ctr"/>
          <a:lstStyle/>
          <a:p>
            <a:r>
              <a:rPr lang="en-US" sz="4533" b="1" dirty="0">
                <a:solidFill>
                  <a:srgbClr val="1A2B5E"/>
                </a:solidFill>
                <a:latin typeface="Calibri" pitchFamily="34" charset="0"/>
                <a:ea typeface="Calibri" pitchFamily="34" charset="-122"/>
                <a:cs typeface="Calibri" pitchFamily="34" charset="-120"/>
              </a:rPr>
              <a:t>The Agent Loop — 5 Steps</a:t>
            </a:r>
            <a:endParaRPr lang="en-US" sz="4533" dirty="0"/>
          </a:p>
        </p:txBody>
      </p:sp>
      <p:sp>
        <p:nvSpPr>
          <p:cNvPr id="3" name="Shape 1"/>
          <p:cNvSpPr/>
          <p:nvPr/>
        </p:nvSpPr>
        <p:spPr>
          <a:xfrm>
            <a:off x="365760" y="1194816"/>
            <a:ext cx="2133600" cy="4389120"/>
          </a:xfrm>
          <a:prstGeom prst="roundRect">
            <a:avLst>
              <a:gd name="adj" fmla="val 5714"/>
            </a:avLst>
          </a:prstGeom>
          <a:solidFill>
            <a:srgbClr val="FFFFFF"/>
          </a:solidFill>
          <a:ln w="12700">
            <a:solidFill>
              <a:srgbClr val="E0EAF4"/>
            </a:solidFill>
            <a:prstDash val="solid"/>
          </a:ln>
          <a:effectLst>
            <a:outerShdw blurRad="101600" dist="25400" dir="2700000" algn="bl" rotWithShape="0">
              <a:srgbClr val="000000">
                <a:alpha val="10000"/>
              </a:srgbClr>
            </a:outerShdw>
          </a:effectLst>
        </p:spPr>
        <p:txBody>
          <a:bodyPr/>
          <a:lstStyle/>
          <a:p>
            <a:endParaRPr lang="en-US"/>
          </a:p>
        </p:txBody>
      </p:sp>
      <p:sp>
        <p:nvSpPr>
          <p:cNvPr id="4" name="Shape 2"/>
          <p:cNvSpPr/>
          <p:nvPr/>
        </p:nvSpPr>
        <p:spPr>
          <a:xfrm>
            <a:off x="1042416" y="1377696"/>
            <a:ext cx="780288" cy="780288"/>
          </a:xfrm>
          <a:prstGeom prst="ellipse">
            <a:avLst/>
          </a:prstGeom>
          <a:solidFill>
            <a:srgbClr val="00B4A0"/>
          </a:solidFill>
          <a:ln w="12700">
            <a:solidFill>
              <a:srgbClr val="00B4A0"/>
            </a:solidFill>
            <a:prstDash val="solid"/>
          </a:ln>
        </p:spPr>
        <p:txBody>
          <a:bodyPr/>
          <a:lstStyle/>
          <a:p>
            <a:endParaRPr lang="en-US"/>
          </a:p>
        </p:txBody>
      </p:sp>
      <p:sp>
        <p:nvSpPr>
          <p:cNvPr id="5" name="Text 3"/>
          <p:cNvSpPr/>
          <p:nvPr/>
        </p:nvSpPr>
        <p:spPr>
          <a:xfrm>
            <a:off x="1042416" y="1377696"/>
            <a:ext cx="780288" cy="780288"/>
          </a:xfrm>
          <a:prstGeom prst="rect">
            <a:avLst/>
          </a:prstGeom>
          <a:noFill/>
          <a:ln/>
        </p:spPr>
        <p:txBody>
          <a:bodyPr wrap="square" lIns="0" tIns="0" rIns="0" bIns="0" rtlCol="0" anchor="ctr"/>
          <a:lstStyle/>
          <a:p>
            <a:pPr algn="ctr"/>
            <a:r>
              <a:rPr lang="en-US" sz="2667" b="1" dirty="0">
                <a:solidFill>
                  <a:srgbClr val="FFFFFF"/>
                </a:solidFill>
                <a:latin typeface="Calibri" pitchFamily="34" charset="0"/>
                <a:ea typeface="Calibri" pitchFamily="34" charset="-122"/>
                <a:cs typeface="Calibri" pitchFamily="34" charset="-120"/>
              </a:rPr>
              <a:t>1</a:t>
            </a:r>
            <a:endParaRPr lang="en-US" sz="2667" dirty="0"/>
          </a:p>
        </p:txBody>
      </p:sp>
      <p:sp>
        <p:nvSpPr>
          <p:cNvPr id="6" name="Text 4"/>
          <p:cNvSpPr/>
          <p:nvPr/>
        </p:nvSpPr>
        <p:spPr>
          <a:xfrm>
            <a:off x="487680" y="2316480"/>
            <a:ext cx="1889760" cy="609600"/>
          </a:xfrm>
          <a:prstGeom prst="rect">
            <a:avLst/>
          </a:prstGeom>
          <a:noFill/>
          <a:ln/>
        </p:spPr>
        <p:txBody>
          <a:bodyPr wrap="square" lIns="0" tIns="0" rIns="0" bIns="0" rtlCol="0" anchor="ctr"/>
          <a:lstStyle/>
          <a:p>
            <a:pPr algn="ctr"/>
            <a:r>
              <a:rPr lang="en-US" sz="1667" b="1" dirty="0">
                <a:solidFill>
                  <a:srgbClr val="1A2B5E"/>
                </a:solidFill>
                <a:latin typeface="Calibri" pitchFamily="34" charset="0"/>
                <a:ea typeface="Calibri" pitchFamily="34" charset="-122"/>
                <a:cs typeface="Calibri" pitchFamily="34" charset="-120"/>
              </a:rPr>
              <a:t>Receive Prompt</a:t>
            </a:r>
            <a:endParaRPr lang="en-US" sz="1667" dirty="0"/>
          </a:p>
        </p:txBody>
      </p:sp>
      <p:sp>
        <p:nvSpPr>
          <p:cNvPr id="7" name="Text 5"/>
          <p:cNvSpPr/>
          <p:nvPr/>
        </p:nvSpPr>
        <p:spPr>
          <a:xfrm>
            <a:off x="512064" y="3048000"/>
            <a:ext cx="1840992" cy="2316480"/>
          </a:xfrm>
          <a:prstGeom prst="rect">
            <a:avLst/>
          </a:prstGeom>
          <a:noFill/>
          <a:ln/>
        </p:spPr>
        <p:txBody>
          <a:bodyPr wrap="square" lIns="0" tIns="0" rIns="0" bIns="0" rtlCol="0" anchor="t"/>
          <a:lstStyle/>
          <a:p>
            <a:r>
              <a:rPr lang="en-US" sz="1467" dirty="0">
                <a:solidFill>
                  <a:srgbClr val="2D4060"/>
                </a:solidFill>
                <a:latin typeface="Calibri" pitchFamily="34" charset="0"/>
                <a:ea typeface="Calibri" pitchFamily="34" charset="-122"/>
                <a:cs typeface="Calibri" pitchFamily="34" charset="-120"/>
              </a:rPr>
              <a:t>Claude receives your prompt, system prompt, tool definitions, and conversation history.</a:t>
            </a:r>
            <a:endParaRPr lang="en-US" sz="1467" dirty="0"/>
          </a:p>
        </p:txBody>
      </p:sp>
      <p:sp>
        <p:nvSpPr>
          <p:cNvPr id="8" name="Shape 6"/>
          <p:cNvSpPr/>
          <p:nvPr/>
        </p:nvSpPr>
        <p:spPr>
          <a:xfrm>
            <a:off x="2670048" y="1194816"/>
            <a:ext cx="2133600" cy="4389120"/>
          </a:xfrm>
          <a:prstGeom prst="roundRect">
            <a:avLst>
              <a:gd name="adj" fmla="val 5714"/>
            </a:avLst>
          </a:prstGeom>
          <a:solidFill>
            <a:srgbClr val="FFFFFF"/>
          </a:solidFill>
          <a:ln w="12700">
            <a:solidFill>
              <a:srgbClr val="E0EAF4"/>
            </a:solidFill>
            <a:prstDash val="solid"/>
          </a:ln>
          <a:effectLst>
            <a:outerShdw blurRad="101600" dist="25400" dir="2700000" algn="bl" rotWithShape="0">
              <a:srgbClr val="000000">
                <a:alpha val="10000"/>
              </a:srgbClr>
            </a:outerShdw>
          </a:effectLst>
        </p:spPr>
        <p:txBody>
          <a:bodyPr/>
          <a:lstStyle/>
          <a:p>
            <a:endParaRPr lang="en-US"/>
          </a:p>
        </p:txBody>
      </p:sp>
      <p:sp>
        <p:nvSpPr>
          <p:cNvPr id="9" name="Shape 7"/>
          <p:cNvSpPr/>
          <p:nvPr/>
        </p:nvSpPr>
        <p:spPr>
          <a:xfrm>
            <a:off x="3346704" y="1377696"/>
            <a:ext cx="780288" cy="780288"/>
          </a:xfrm>
          <a:prstGeom prst="ellipse">
            <a:avLst/>
          </a:prstGeom>
          <a:solidFill>
            <a:srgbClr val="00B4A0"/>
          </a:solidFill>
          <a:ln w="12700">
            <a:solidFill>
              <a:srgbClr val="00B4A0"/>
            </a:solidFill>
            <a:prstDash val="solid"/>
          </a:ln>
        </p:spPr>
        <p:txBody>
          <a:bodyPr/>
          <a:lstStyle/>
          <a:p>
            <a:endParaRPr lang="en-US"/>
          </a:p>
        </p:txBody>
      </p:sp>
      <p:sp>
        <p:nvSpPr>
          <p:cNvPr id="10" name="Text 8"/>
          <p:cNvSpPr/>
          <p:nvPr/>
        </p:nvSpPr>
        <p:spPr>
          <a:xfrm>
            <a:off x="3346704" y="1377696"/>
            <a:ext cx="780288" cy="780288"/>
          </a:xfrm>
          <a:prstGeom prst="rect">
            <a:avLst/>
          </a:prstGeom>
          <a:noFill/>
          <a:ln/>
        </p:spPr>
        <p:txBody>
          <a:bodyPr wrap="square" lIns="0" tIns="0" rIns="0" bIns="0" rtlCol="0" anchor="ctr"/>
          <a:lstStyle/>
          <a:p>
            <a:pPr algn="ctr"/>
            <a:r>
              <a:rPr lang="en-US" sz="2667" b="1" dirty="0">
                <a:solidFill>
                  <a:srgbClr val="FFFFFF"/>
                </a:solidFill>
                <a:latin typeface="Calibri" pitchFamily="34" charset="0"/>
                <a:ea typeface="Calibri" pitchFamily="34" charset="-122"/>
                <a:cs typeface="Calibri" pitchFamily="34" charset="-120"/>
              </a:rPr>
              <a:t>2</a:t>
            </a:r>
            <a:endParaRPr lang="en-US" sz="2667" dirty="0"/>
          </a:p>
        </p:txBody>
      </p:sp>
      <p:sp>
        <p:nvSpPr>
          <p:cNvPr id="11" name="Text 9"/>
          <p:cNvSpPr/>
          <p:nvPr/>
        </p:nvSpPr>
        <p:spPr>
          <a:xfrm>
            <a:off x="2791968" y="2316480"/>
            <a:ext cx="1889760" cy="609600"/>
          </a:xfrm>
          <a:prstGeom prst="rect">
            <a:avLst/>
          </a:prstGeom>
          <a:noFill/>
          <a:ln/>
        </p:spPr>
        <p:txBody>
          <a:bodyPr wrap="square" lIns="0" tIns="0" rIns="0" bIns="0" rtlCol="0" anchor="ctr"/>
          <a:lstStyle/>
          <a:p>
            <a:pPr algn="ctr"/>
            <a:r>
              <a:rPr lang="en-US" sz="1667" b="1" dirty="0">
                <a:solidFill>
                  <a:srgbClr val="1A2B5E"/>
                </a:solidFill>
                <a:latin typeface="Calibri" pitchFamily="34" charset="0"/>
                <a:ea typeface="Calibri" pitchFamily="34" charset="-122"/>
                <a:cs typeface="Calibri" pitchFamily="34" charset="-120"/>
              </a:rPr>
              <a:t>Evaluate</a:t>
            </a:r>
            <a:endParaRPr lang="en-US" sz="1667" dirty="0"/>
          </a:p>
        </p:txBody>
      </p:sp>
      <p:sp>
        <p:nvSpPr>
          <p:cNvPr id="12" name="Text 10"/>
          <p:cNvSpPr/>
          <p:nvPr/>
        </p:nvSpPr>
        <p:spPr>
          <a:xfrm>
            <a:off x="2816352" y="3048000"/>
            <a:ext cx="1840992" cy="2316480"/>
          </a:xfrm>
          <a:prstGeom prst="rect">
            <a:avLst/>
          </a:prstGeom>
          <a:noFill/>
          <a:ln/>
        </p:spPr>
        <p:txBody>
          <a:bodyPr wrap="square" lIns="0" tIns="0" rIns="0" bIns="0" rtlCol="0" anchor="t"/>
          <a:lstStyle/>
          <a:p>
            <a:r>
              <a:rPr lang="en-US" sz="1467" dirty="0">
                <a:solidFill>
                  <a:srgbClr val="2D4060"/>
                </a:solidFill>
                <a:latin typeface="Calibri" pitchFamily="34" charset="0"/>
                <a:ea typeface="Calibri" pitchFamily="34" charset="-122"/>
                <a:cs typeface="Calibri" pitchFamily="34" charset="-120"/>
              </a:rPr>
              <a:t>Claude decides: reply with text, request tool calls, or both. Emits AssistantMessage.</a:t>
            </a:r>
            <a:endParaRPr lang="en-US" sz="1467" dirty="0"/>
          </a:p>
        </p:txBody>
      </p:sp>
      <p:sp>
        <p:nvSpPr>
          <p:cNvPr id="13" name="Shape 11"/>
          <p:cNvSpPr/>
          <p:nvPr/>
        </p:nvSpPr>
        <p:spPr>
          <a:xfrm>
            <a:off x="4974336" y="1194816"/>
            <a:ext cx="2133600" cy="4389120"/>
          </a:xfrm>
          <a:prstGeom prst="roundRect">
            <a:avLst>
              <a:gd name="adj" fmla="val 5714"/>
            </a:avLst>
          </a:prstGeom>
          <a:solidFill>
            <a:srgbClr val="FFFFFF"/>
          </a:solidFill>
          <a:ln w="12700">
            <a:solidFill>
              <a:srgbClr val="E0EAF4"/>
            </a:solidFill>
            <a:prstDash val="solid"/>
          </a:ln>
          <a:effectLst>
            <a:outerShdw blurRad="101600" dist="25400" dir="2700000" algn="bl" rotWithShape="0">
              <a:srgbClr val="000000">
                <a:alpha val="10000"/>
              </a:srgbClr>
            </a:outerShdw>
          </a:effectLst>
        </p:spPr>
        <p:txBody>
          <a:bodyPr/>
          <a:lstStyle/>
          <a:p>
            <a:endParaRPr lang="en-US"/>
          </a:p>
        </p:txBody>
      </p:sp>
      <p:sp>
        <p:nvSpPr>
          <p:cNvPr id="14" name="Shape 12"/>
          <p:cNvSpPr/>
          <p:nvPr/>
        </p:nvSpPr>
        <p:spPr>
          <a:xfrm>
            <a:off x="5650992" y="1377696"/>
            <a:ext cx="780288" cy="780288"/>
          </a:xfrm>
          <a:prstGeom prst="ellipse">
            <a:avLst/>
          </a:prstGeom>
          <a:solidFill>
            <a:srgbClr val="00B4A0"/>
          </a:solidFill>
          <a:ln w="12700">
            <a:solidFill>
              <a:srgbClr val="00B4A0"/>
            </a:solidFill>
            <a:prstDash val="solid"/>
          </a:ln>
        </p:spPr>
        <p:txBody>
          <a:bodyPr/>
          <a:lstStyle/>
          <a:p>
            <a:endParaRPr lang="en-US"/>
          </a:p>
        </p:txBody>
      </p:sp>
      <p:sp>
        <p:nvSpPr>
          <p:cNvPr id="15" name="Text 13"/>
          <p:cNvSpPr/>
          <p:nvPr/>
        </p:nvSpPr>
        <p:spPr>
          <a:xfrm>
            <a:off x="5650992" y="1377696"/>
            <a:ext cx="780288" cy="780288"/>
          </a:xfrm>
          <a:prstGeom prst="rect">
            <a:avLst/>
          </a:prstGeom>
          <a:noFill/>
          <a:ln/>
        </p:spPr>
        <p:txBody>
          <a:bodyPr wrap="square" lIns="0" tIns="0" rIns="0" bIns="0" rtlCol="0" anchor="ctr"/>
          <a:lstStyle/>
          <a:p>
            <a:pPr algn="ctr"/>
            <a:r>
              <a:rPr lang="en-US" sz="2667" b="1" dirty="0">
                <a:solidFill>
                  <a:srgbClr val="FFFFFF"/>
                </a:solidFill>
                <a:latin typeface="Calibri" pitchFamily="34" charset="0"/>
                <a:ea typeface="Calibri" pitchFamily="34" charset="-122"/>
                <a:cs typeface="Calibri" pitchFamily="34" charset="-120"/>
              </a:rPr>
              <a:t>3</a:t>
            </a:r>
            <a:endParaRPr lang="en-US" sz="2667" dirty="0"/>
          </a:p>
        </p:txBody>
      </p:sp>
      <p:sp>
        <p:nvSpPr>
          <p:cNvPr id="16" name="Text 14"/>
          <p:cNvSpPr/>
          <p:nvPr/>
        </p:nvSpPr>
        <p:spPr>
          <a:xfrm>
            <a:off x="5096256" y="2316480"/>
            <a:ext cx="1889760" cy="609600"/>
          </a:xfrm>
          <a:prstGeom prst="rect">
            <a:avLst/>
          </a:prstGeom>
          <a:noFill/>
          <a:ln/>
        </p:spPr>
        <p:txBody>
          <a:bodyPr wrap="square" lIns="0" tIns="0" rIns="0" bIns="0" rtlCol="0" anchor="ctr"/>
          <a:lstStyle/>
          <a:p>
            <a:pPr algn="ctr"/>
            <a:r>
              <a:rPr lang="en-US" sz="1667" b="1" dirty="0">
                <a:solidFill>
                  <a:srgbClr val="1A2B5E"/>
                </a:solidFill>
                <a:latin typeface="Calibri" pitchFamily="34" charset="0"/>
                <a:ea typeface="Calibri" pitchFamily="34" charset="-122"/>
                <a:cs typeface="Calibri" pitchFamily="34" charset="-120"/>
              </a:rPr>
              <a:t>Execute Tools</a:t>
            </a:r>
            <a:endParaRPr lang="en-US" sz="1667" dirty="0"/>
          </a:p>
        </p:txBody>
      </p:sp>
      <p:sp>
        <p:nvSpPr>
          <p:cNvPr id="17" name="Text 15"/>
          <p:cNvSpPr/>
          <p:nvPr/>
        </p:nvSpPr>
        <p:spPr>
          <a:xfrm>
            <a:off x="5120640" y="3048000"/>
            <a:ext cx="1840992" cy="2316480"/>
          </a:xfrm>
          <a:prstGeom prst="rect">
            <a:avLst/>
          </a:prstGeom>
          <a:noFill/>
          <a:ln/>
        </p:spPr>
        <p:txBody>
          <a:bodyPr wrap="square" lIns="0" tIns="0" rIns="0" bIns="0" rtlCol="0" anchor="t"/>
          <a:lstStyle/>
          <a:p>
            <a:r>
              <a:rPr lang="en-US" sz="1467" dirty="0">
                <a:solidFill>
                  <a:srgbClr val="2D4060"/>
                </a:solidFill>
                <a:latin typeface="Calibri" pitchFamily="34" charset="0"/>
                <a:ea typeface="Calibri" pitchFamily="34" charset="-122"/>
                <a:cs typeface="Calibri" pitchFamily="34" charset="-120"/>
              </a:rPr>
              <a:t>SDK runs each tool. Results feed back to Claude. PreToolUse hooks can intercept.</a:t>
            </a:r>
            <a:endParaRPr lang="en-US" sz="1467" dirty="0"/>
          </a:p>
        </p:txBody>
      </p:sp>
      <p:sp>
        <p:nvSpPr>
          <p:cNvPr id="18" name="Shape 16"/>
          <p:cNvSpPr/>
          <p:nvPr/>
        </p:nvSpPr>
        <p:spPr>
          <a:xfrm>
            <a:off x="7278624" y="1194816"/>
            <a:ext cx="2133600" cy="4389120"/>
          </a:xfrm>
          <a:prstGeom prst="roundRect">
            <a:avLst>
              <a:gd name="adj" fmla="val 5714"/>
            </a:avLst>
          </a:prstGeom>
          <a:solidFill>
            <a:srgbClr val="FFFFFF"/>
          </a:solidFill>
          <a:ln w="12700">
            <a:solidFill>
              <a:srgbClr val="E0EAF4"/>
            </a:solidFill>
            <a:prstDash val="solid"/>
          </a:ln>
          <a:effectLst>
            <a:outerShdw blurRad="101600" dist="25400" dir="2700000" algn="bl" rotWithShape="0">
              <a:srgbClr val="000000">
                <a:alpha val="10000"/>
              </a:srgbClr>
            </a:outerShdw>
          </a:effectLst>
        </p:spPr>
        <p:txBody>
          <a:bodyPr/>
          <a:lstStyle/>
          <a:p>
            <a:endParaRPr lang="en-US"/>
          </a:p>
        </p:txBody>
      </p:sp>
      <p:sp>
        <p:nvSpPr>
          <p:cNvPr id="19" name="Shape 17"/>
          <p:cNvSpPr/>
          <p:nvPr/>
        </p:nvSpPr>
        <p:spPr>
          <a:xfrm>
            <a:off x="7955280" y="1377696"/>
            <a:ext cx="780288" cy="780288"/>
          </a:xfrm>
          <a:prstGeom prst="ellipse">
            <a:avLst/>
          </a:prstGeom>
          <a:solidFill>
            <a:srgbClr val="00B4A0"/>
          </a:solidFill>
          <a:ln w="12700">
            <a:solidFill>
              <a:srgbClr val="00B4A0"/>
            </a:solidFill>
            <a:prstDash val="solid"/>
          </a:ln>
        </p:spPr>
        <p:txBody>
          <a:bodyPr/>
          <a:lstStyle/>
          <a:p>
            <a:endParaRPr lang="en-US"/>
          </a:p>
        </p:txBody>
      </p:sp>
      <p:sp>
        <p:nvSpPr>
          <p:cNvPr id="20" name="Text 18"/>
          <p:cNvSpPr/>
          <p:nvPr/>
        </p:nvSpPr>
        <p:spPr>
          <a:xfrm>
            <a:off x="7955280" y="1377696"/>
            <a:ext cx="780288" cy="780288"/>
          </a:xfrm>
          <a:prstGeom prst="rect">
            <a:avLst/>
          </a:prstGeom>
          <a:noFill/>
          <a:ln/>
        </p:spPr>
        <p:txBody>
          <a:bodyPr wrap="square" lIns="0" tIns="0" rIns="0" bIns="0" rtlCol="0" anchor="ctr"/>
          <a:lstStyle/>
          <a:p>
            <a:pPr algn="ctr"/>
            <a:r>
              <a:rPr lang="en-US" sz="2667" b="1" dirty="0">
                <a:solidFill>
                  <a:srgbClr val="FFFFFF"/>
                </a:solidFill>
                <a:latin typeface="Calibri" pitchFamily="34" charset="0"/>
                <a:ea typeface="Calibri" pitchFamily="34" charset="-122"/>
                <a:cs typeface="Calibri" pitchFamily="34" charset="-120"/>
              </a:rPr>
              <a:t>4</a:t>
            </a:r>
            <a:endParaRPr lang="en-US" sz="2667" dirty="0"/>
          </a:p>
        </p:txBody>
      </p:sp>
      <p:sp>
        <p:nvSpPr>
          <p:cNvPr id="21" name="Text 19"/>
          <p:cNvSpPr/>
          <p:nvPr/>
        </p:nvSpPr>
        <p:spPr>
          <a:xfrm>
            <a:off x="7400544" y="2316480"/>
            <a:ext cx="1889760" cy="609600"/>
          </a:xfrm>
          <a:prstGeom prst="rect">
            <a:avLst/>
          </a:prstGeom>
          <a:noFill/>
          <a:ln/>
        </p:spPr>
        <p:txBody>
          <a:bodyPr wrap="square" lIns="0" tIns="0" rIns="0" bIns="0" rtlCol="0" anchor="ctr"/>
          <a:lstStyle/>
          <a:p>
            <a:pPr algn="ctr"/>
            <a:r>
              <a:rPr lang="en-US" sz="1667" b="1" dirty="0">
                <a:solidFill>
                  <a:srgbClr val="1A2B5E"/>
                </a:solidFill>
                <a:latin typeface="Calibri" pitchFamily="34" charset="0"/>
                <a:ea typeface="Calibri" pitchFamily="34" charset="-122"/>
                <a:cs typeface="Calibri" pitchFamily="34" charset="-120"/>
              </a:rPr>
              <a:t>Repeat</a:t>
            </a:r>
            <a:endParaRPr lang="en-US" sz="1667" dirty="0"/>
          </a:p>
        </p:txBody>
      </p:sp>
      <p:sp>
        <p:nvSpPr>
          <p:cNvPr id="22" name="Text 20"/>
          <p:cNvSpPr/>
          <p:nvPr/>
        </p:nvSpPr>
        <p:spPr>
          <a:xfrm>
            <a:off x="7424928" y="3048000"/>
            <a:ext cx="1840992" cy="2316480"/>
          </a:xfrm>
          <a:prstGeom prst="rect">
            <a:avLst/>
          </a:prstGeom>
          <a:noFill/>
          <a:ln/>
        </p:spPr>
        <p:txBody>
          <a:bodyPr wrap="square" lIns="0" tIns="0" rIns="0" bIns="0" rtlCol="0" anchor="t"/>
          <a:lstStyle/>
          <a:p>
            <a:r>
              <a:rPr lang="en-US" sz="1467" dirty="0">
                <a:solidFill>
                  <a:srgbClr val="2D4060"/>
                </a:solidFill>
                <a:latin typeface="Calibri" pitchFamily="34" charset="0"/>
                <a:ea typeface="Calibri" pitchFamily="34" charset="-122"/>
                <a:cs typeface="Calibri" pitchFamily="34" charset="-120"/>
              </a:rPr>
              <a:t>Steps 2–3 cycle (one "turn") until Claude returns no tool calls.</a:t>
            </a:r>
            <a:endParaRPr lang="en-US" sz="1467" dirty="0"/>
          </a:p>
        </p:txBody>
      </p:sp>
      <p:sp>
        <p:nvSpPr>
          <p:cNvPr id="23" name="Shape 21"/>
          <p:cNvSpPr/>
          <p:nvPr/>
        </p:nvSpPr>
        <p:spPr>
          <a:xfrm>
            <a:off x="9582912" y="1194816"/>
            <a:ext cx="2133600" cy="4389120"/>
          </a:xfrm>
          <a:prstGeom prst="roundRect">
            <a:avLst>
              <a:gd name="adj" fmla="val 5714"/>
            </a:avLst>
          </a:prstGeom>
          <a:solidFill>
            <a:srgbClr val="FFFFFF"/>
          </a:solidFill>
          <a:ln w="12700">
            <a:solidFill>
              <a:srgbClr val="E0EAF4"/>
            </a:solidFill>
            <a:prstDash val="solid"/>
          </a:ln>
          <a:effectLst>
            <a:outerShdw blurRad="101600" dist="25400" dir="2700000" algn="bl" rotWithShape="0">
              <a:srgbClr val="000000">
                <a:alpha val="10000"/>
              </a:srgbClr>
            </a:outerShdw>
          </a:effectLst>
        </p:spPr>
        <p:txBody>
          <a:bodyPr/>
          <a:lstStyle/>
          <a:p>
            <a:endParaRPr lang="en-US"/>
          </a:p>
        </p:txBody>
      </p:sp>
      <p:sp>
        <p:nvSpPr>
          <p:cNvPr id="24" name="Shape 22"/>
          <p:cNvSpPr/>
          <p:nvPr/>
        </p:nvSpPr>
        <p:spPr>
          <a:xfrm>
            <a:off x="10259568" y="1377696"/>
            <a:ext cx="780288" cy="780288"/>
          </a:xfrm>
          <a:prstGeom prst="ellipse">
            <a:avLst/>
          </a:prstGeom>
          <a:solidFill>
            <a:srgbClr val="00B4A0"/>
          </a:solidFill>
          <a:ln w="12700">
            <a:solidFill>
              <a:srgbClr val="00B4A0"/>
            </a:solidFill>
            <a:prstDash val="solid"/>
          </a:ln>
        </p:spPr>
        <p:txBody>
          <a:bodyPr/>
          <a:lstStyle/>
          <a:p>
            <a:endParaRPr lang="en-US"/>
          </a:p>
        </p:txBody>
      </p:sp>
      <p:sp>
        <p:nvSpPr>
          <p:cNvPr id="25" name="Text 23"/>
          <p:cNvSpPr/>
          <p:nvPr/>
        </p:nvSpPr>
        <p:spPr>
          <a:xfrm>
            <a:off x="10259568" y="1377696"/>
            <a:ext cx="780288" cy="780288"/>
          </a:xfrm>
          <a:prstGeom prst="rect">
            <a:avLst/>
          </a:prstGeom>
          <a:noFill/>
          <a:ln/>
        </p:spPr>
        <p:txBody>
          <a:bodyPr wrap="square" lIns="0" tIns="0" rIns="0" bIns="0" rtlCol="0" anchor="ctr"/>
          <a:lstStyle/>
          <a:p>
            <a:pPr algn="ctr"/>
            <a:r>
              <a:rPr lang="en-US" sz="2667" b="1" dirty="0">
                <a:solidFill>
                  <a:srgbClr val="FFFFFF"/>
                </a:solidFill>
                <a:latin typeface="Calibri" pitchFamily="34" charset="0"/>
                <a:ea typeface="Calibri" pitchFamily="34" charset="-122"/>
                <a:cs typeface="Calibri" pitchFamily="34" charset="-120"/>
              </a:rPr>
              <a:t>5</a:t>
            </a:r>
            <a:endParaRPr lang="en-US" sz="2667" dirty="0"/>
          </a:p>
        </p:txBody>
      </p:sp>
      <p:sp>
        <p:nvSpPr>
          <p:cNvPr id="26" name="Text 24"/>
          <p:cNvSpPr/>
          <p:nvPr/>
        </p:nvSpPr>
        <p:spPr>
          <a:xfrm>
            <a:off x="9704832" y="2316480"/>
            <a:ext cx="1889760" cy="609600"/>
          </a:xfrm>
          <a:prstGeom prst="rect">
            <a:avLst/>
          </a:prstGeom>
          <a:noFill/>
          <a:ln/>
        </p:spPr>
        <p:txBody>
          <a:bodyPr wrap="square" lIns="0" tIns="0" rIns="0" bIns="0" rtlCol="0" anchor="ctr"/>
          <a:lstStyle/>
          <a:p>
            <a:pPr algn="ctr"/>
            <a:r>
              <a:rPr lang="en-US" sz="1667" b="1" dirty="0">
                <a:solidFill>
                  <a:srgbClr val="1A2B5E"/>
                </a:solidFill>
                <a:latin typeface="Calibri" pitchFamily="34" charset="0"/>
                <a:ea typeface="Calibri" pitchFamily="34" charset="-122"/>
                <a:cs typeface="Calibri" pitchFamily="34" charset="-120"/>
              </a:rPr>
              <a:t>Return Result</a:t>
            </a:r>
            <a:endParaRPr lang="en-US" sz="1667" dirty="0"/>
          </a:p>
        </p:txBody>
      </p:sp>
      <p:sp>
        <p:nvSpPr>
          <p:cNvPr id="27" name="Text 25"/>
          <p:cNvSpPr/>
          <p:nvPr/>
        </p:nvSpPr>
        <p:spPr>
          <a:xfrm>
            <a:off x="9729216" y="3048000"/>
            <a:ext cx="1840992" cy="2316480"/>
          </a:xfrm>
          <a:prstGeom prst="rect">
            <a:avLst/>
          </a:prstGeom>
          <a:noFill/>
          <a:ln/>
        </p:spPr>
        <p:txBody>
          <a:bodyPr wrap="square" lIns="0" tIns="0" rIns="0" bIns="0" rtlCol="0" anchor="t"/>
          <a:lstStyle/>
          <a:p>
            <a:r>
              <a:rPr lang="en-US" sz="1467" dirty="0">
                <a:solidFill>
                  <a:srgbClr val="2D4060"/>
                </a:solidFill>
                <a:latin typeface="Calibri" pitchFamily="34" charset="0"/>
                <a:ea typeface="Calibri" pitchFamily="34" charset="-122"/>
                <a:cs typeface="Calibri" pitchFamily="34" charset="-120"/>
              </a:rPr>
              <a:t>Emits final AssistantMessage (text only), then ResultMessage with cost and session ID.</a:t>
            </a:r>
            <a:endParaRPr lang="en-US" sz="1467" dirty="0"/>
          </a:p>
        </p:txBody>
      </p:sp>
      <p:sp>
        <p:nvSpPr>
          <p:cNvPr id="28" name="Text 26"/>
          <p:cNvSpPr/>
          <p:nvPr/>
        </p:nvSpPr>
        <p:spPr>
          <a:xfrm>
            <a:off x="609600" y="5876544"/>
            <a:ext cx="10972800" cy="463296"/>
          </a:xfrm>
          <a:prstGeom prst="rect">
            <a:avLst/>
          </a:prstGeom>
          <a:noFill/>
          <a:ln/>
        </p:spPr>
        <p:txBody>
          <a:bodyPr wrap="square" lIns="0" tIns="0" rIns="0" bIns="0" rtlCol="0" anchor="ctr"/>
          <a:lstStyle/>
          <a:p>
            <a:pPr algn="ctr"/>
            <a:r>
              <a:rPr lang="en-US" sz="1467" i="1" dirty="0">
                <a:solidFill>
                  <a:srgbClr val="6B82A0"/>
                </a:solidFill>
                <a:latin typeface="Calibri" pitchFamily="34" charset="0"/>
                <a:ea typeface="Calibri" pitchFamily="34" charset="-122"/>
                <a:cs typeface="Calibri" pitchFamily="34" charset="-120"/>
              </a:rPr>
              <a:t>One turn = Claude responds with tool calls → SDK executes → results feed back → Claude responds again</a:t>
            </a:r>
            <a:endParaRPr lang="en-US" sz="1467"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219456"/>
            <a:ext cx="10972800" cy="792480"/>
          </a:xfrm>
          <a:prstGeom prst="rect">
            <a:avLst/>
          </a:prstGeom>
          <a:noFill/>
          <a:ln/>
        </p:spPr>
        <p:txBody>
          <a:bodyPr wrap="square" lIns="0" tIns="0" rIns="0" bIns="0" rtlCol="0" anchor="ctr"/>
          <a:lstStyle/>
          <a:p>
            <a:r>
              <a:rPr lang="en-US" sz="4533" b="1" dirty="0">
                <a:solidFill>
                  <a:srgbClr val="1A2B5E"/>
                </a:solidFill>
                <a:latin typeface="Calibri" pitchFamily="34" charset="0"/>
                <a:ea typeface="Calibri" pitchFamily="34" charset="-122"/>
                <a:cs typeface="Calibri" pitchFamily="34" charset="-120"/>
              </a:rPr>
              <a:t>Message Types</a:t>
            </a:r>
            <a:endParaRPr lang="en-US" sz="4533" dirty="0"/>
          </a:p>
        </p:txBody>
      </p:sp>
      <p:sp>
        <p:nvSpPr>
          <p:cNvPr id="3" name="Shape 1"/>
          <p:cNvSpPr/>
          <p:nvPr/>
        </p:nvSpPr>
        <p:spPr>
          <a:xfrm>
            <a:off x="487680" y="1219200"/>
            <a:ext cx="11216640" cy="1219200"/>
          </a:xfrm>
          <a:prstGeom prst="roundRect">
            <a:avLst>
              <a:gd name="adj" fmla="val 8000"/>
            </a:avLst>
          </a:prstGeom>
          <a:solidFill>
            <a:srgbClr val="F0EDFF"/>
          </a:solidFill>
          <a:ln w="12700">
            <a:solidFill>
              <a:srgbClr val="6B48C4"/>
            </a:solidFill>
            <a:prstDash val="solid"/>
          </a:ln>
        </p:spPr>
        <p:txBody>
          <a:bodyPr/>
          <a:lstStyle/>
          <a:p>
            <a:endParaRPr lang="en-US"/>
          </a:p>
        </p:txBody>
      </p:sp>
      <p:sp>
        <p:nvSpPr>
          <p:cNvPr id="4" name="Text 2"/>
          <p:cNvSpPr/>
          <p:nvPr/>
        </p:nvSpPr>
        <p:spPr>
          <a:xfrm>
            <a:off x="707136" y="1316736"/>
            <a:ext cx="3048000" cy="1024128"/>
          </a:xfrm>
          <a:prstGeom prst="rect">
            <a:avLst/>
          </a:prstGeom>
          <a:noFill/>
          <a:ln/>
        </p:spPr>
        <p:txBody>
          <a:bodyPr wrap="square" lIns="0" tIns="0" rIns="0" bIns="0" rtlCol="0" anchor="ctr"/>
          <a:lstStyle/>
          <a:p>
            <a:r>
              <a:rPr lang="en-US" b="1" dirty="0">
                <a:solidFill>
                  <a:srgbClr val="6B48C4"/>
                </a:solidFill>
                <a:latin typeface="Courier New" pitchFamily="34" charset="0"/>
                <a:ea typeface="Courier New" pitchFamily="34" charset="-122"/>
                <a:cs typeface="Courier New" pitchFamily="34" charset="-120"/>
              </a:rPr>
              <a:t>SystemMessage</a:t>
            </a:r>
            <a:endParaRPr lang="en-US" dirty="0"/>
          </a:p>
        </p:txBody>
      </p:sp>
      <p:sp>
        <p:nvSpPr>
          <p:cNvPr id="5" name="Text 3"/>
          <p:cNvSpPr/>
          <p:nvPr/>
        </p:nvSpPr>
        <p:spPr>
          <a:xfrm>
            <a:off x="3901440" y="1316736"/>
            <a:ext cx="7559040" cy="1024128"/>
          </a:xfrm>
          <a:prstGeom prst="rect">
            <a:avLst/>
          </a:prstGeom>
          <a:noFill/>
          <a:ln/>
        </p:spPr>
        <p:txBody>
          <a:bodyPr wrap="square" lIns="0" tIns="0" rIns="0" bIns="0" rtlCol="0" anchor="ctr"/>
          <a:lstStyle/>
          <a:p>
            <a:r>
              <a:rPr lang="en-US" sz="1600" dirty="0">
                <a:solidFill>
                  <a:srgbClr val="2D4060"/>
                </a:solidFill>
                <a:latin typeface="Calibri" pitchFamily="34" charset="0"/>
                <a:ea typeface="Calibri" pitchFamily="34" charset="-122"/>
                <a:cs typeface="Calibri" pitchFamily="34" charset="-120"/>
              </a:rPr>
              <a:t>Session lifecycle: init (session start), informational banners, compact_boundary events. Check .subtype to distinguish.</a:t>
            </a:r>
            <a:endParaRPr lang="en-US" sz="1600" dirty="0"/>
          </a:p>
        </p:txBody>
      </p:sp>
      <p:sp>
        <p:nvSpPr>
          <p:cNvPr id="6" name="Shape 4"/>
          <p:cNvSpPr/>
          <p:nvPr/>
        </p:nvSpPr>
        <p:spPr>
          <a:xfrm>
            <a:off x="487680" y="2584704"/>
            <a:ext cx="11216640" cy="1219200"/>
          </a:xfrm>
          <a:prstGeom prst="roundRect">
            <a:avLst>
              <a:gd name="adj" fmla="val 8000"/>
            </a:avLst>
          </a:prstGeom>
          <a:solidFill>
            <a:srgbClr val="E8F3FB"/>
          </a:solidFill>
          <a:ln w="12700">
            <a:solidFill>
              <a:srgbClr val="0D6EAD"/>
            </a:solidFill>
            <a:prstDash val="solid"/>
          </a:ln>
        </p:spPr>
        <p:txBody>
          <a:bodyPr/>
          <a:lstStyle/>
          <a:p>
            <a:endParaRPr lang="en-US"/>
          </a:p>
        </p:txBody>
      </p:sp>
      <p:sp>
        <p:nvSpPr>
          <p:cNvPr id="7" name="Text 5"/>
          <p:cNvSpPr/>
          <p:nvPr/>
        </p:nvSpPr>
        <p:spPr>
          <a:xfrm>
            <a:off x="707136" y="2682240"/>
            <a:ext cx="3048000" cy="1024128"/>
          </a:xfrm>
          <a:prstGeom prst="rect">
            <a:avLst/>
          </a:prstGeom>
          <a:noFill/>
          <a:ln/>
        </p:spPr>
        <p:txBody>
          <a:bodyPr wrap="square" lIns="0" tIns="0" rIns="0" bIns="0" rtlCol="0" anchor="ctr"/>
          <a:lstStyle/>
          <a:p>
            <a:r>
              <a:rPr lang="en-US" b="1" dirty="0">
                <a:solidFill>
                  <a:srgbClr val="0D6EAD"/>
                </a:solidFill>
                <a:latin typeface="Courier New" pitchFamily="34" charset="0"/>
                <a:ea typeface="Courier New" pitchFamily="34" charset="-122"/>
                <a:cs typeface="Courier New" pitchFamily="34" charset="-120"/>
              </a:rPr>
              <a:t>AssistantMessage</a:t>
            </a:r>
            <a:endParaRPr lang="en-US" dirty="0"/>
          </a:p>
        </p:txBody>
      </p:sp>
      <p:sp>
        <p:nvSpPr>
          <p:cNvPr id="8" name="Text 6"/>
          <p:cNvSpPr/>
          <p:nvPr/>
        </p:nvSpPr>
        <p:spPr>
          <a:xfrm>
            <a:off x="3901440" y="2682240"/>
            <a:ext cx="7559040" cy="1024128"/>
          </a:xfrm>
          <a:prstGeom prst="rect">
            <a:avLst/>
          </a:prstGeom>
          <a:noFill/>
          <a:ln/>
        </p:spPr>
        <p:txBody>
          <a:bodyPr wrap="square" lIns="0" tIns="0" rIns="0" bIns="0" rtlCol="0" anchor="ctr"/>
          <a:lstStyle/>
          <a:p>
            <a:r>
              <a:rPr lang="en-US" sz="1600" dirty="0">
                <a:solidFill>
                  <a:srgbClr val="2D4060"/>
                </a:solidFill>
                <a:latin typeface="Calibri" pitchFamily="34" charset="0"/>
                <a:ea typeface="Calibri" pitchFamily="34" charset="-122"/>
                <a:cs typeface="Calibri" pitchFamily="34" charset="-120"/>
              </a:rPr>
              <a:t>One per Claude response. .content is a list of blocks — TextBlock (prose) and/or ToolUseBlock (tool call). Detect with type(block).__name__.</a:t>
            </a:r>
            <a:endParaRPr lang="en-US" sz="1600" dirty="0"/>
          </a:p>
        </p:txBody>
      </p:sp>
      <p:sp>
        <p:nvSpPr>
          <p:cNvPr id="9" name="Shape 7"/>
          <p:cNvSpPr/>
          <p:nvPr/>
        </p:nvSpPr>
        <p:spPr>
          <a:xfrm>
            <a:off x="487680" y="3950208"/>
            <a:ext cx="11216640" cy="1219200"/>
          </a:xfrm>
          <a:prstGeom prst="roundRect">
            <a:avLst>
              <a:gd name="adj" fmla="val 8000"/>
            </a:avLst>
          </a:prstGeom>
          <a:solidFill>
            <a:srgbClr val="E0F7F5"/>
          </a:solidFill>
          <a:ln w="12700">
            <a:solidFill>
              <a:srgbClr val="00888A"/>
            </a:solidFill>
            <a:prstDash val="solid"/>
          </a:ln>
        </p:spPr>
        <p:txBody>
          <a:bodyPr/>
          <a:lstStyle/>
          <a:p>
            <a:endParaRPr lang="en-US"/>
          </a:p>
        </p:txBody>
      </p:sp>
      <p:sp>
        <p:nvSpPr>
          <p:cNvPr id="10" name="Text 8"/>
          <p:cNvSpPr/>
          <p:nvPr/>
        </p:nvSpPr>
        <p:spPr>
          <a:xfrm>
            <a:off x="707136" y="4047744"/>
            <a:ext cx="3048000" cy="1024128"/>
          </a:xfrm>
          <a:prstGeom prst="rect">
            <a:avLst/>
          </a:prstGeom>
          <a:noFill/>
          <a:ln/>
        </p:spPr>
        <p:txBody>
          <a:bodyPr wrap="square" lIns="0" tIns="0" rIns="0" bIns="0" rtlCol="0" anchor="ctr"/>
          <a:lstStyle/>
          <a:p>
            <a:r>
              <a:rPr lang="en-US" b="1" dirty="0">
                <a:solidFill>
                  <a:srgbClr val="00888A"/>
                </a:solidFill>
                <a:latin typeface="Courier New" pitchFamily="34" charset="0"/>
                <a:ea typeface="Courier New" pitchFamily="34" charset="-122"/>
                <a:cs typeface="Courier New" pitchFamily="34" charset="-120"/>
              </a:rPr>
              <a:t>UserMessage</a:t>
            </a:r>
            <a:endParaRPr lang="en-US" dirty="0"/>
          </a:p>
        </p:txBody>
      </p:sp>
      <p:sp>
        <p:nvSpPr>
          <p:cNvPr id="11" name="Text 9"/>
          <p:cNvSpPr/>
          <p:nvPr/>
        </p:nvSpPr>
        <p:spPr>
          <a:xfrm>
            <a:off x="3901440" y="4047744"/>
            <a:ext cx="7559040" cy="1024128"/>
          </a:xfrm>
          <a:prstGeom prst="rect">
            <a:avLst/>
          </a:prstGeom>
          <a:noFill/>
          <a:ln/>
        </p:spPr>
        <p:txBody>
          <a:bodyPr wrap="square" lIns="0" tIns="0" rIns="0" bIns="0" rtlCol="0" anchor="ctr"/>
          <a:lstStyle/>
          <a:p>
            <a:r>
              <a:rPr lang="en-US" sz="1600" dirty="0">
                <a:solidFill>
                  <a:srgbClr val="2D4060"/>
                </a:solidFill>
                <a:latin typeface="Calibri" pitchFamily="34" charset="0"/>
                <a:ea typeface="Calibri" pitchFamily="34" charset="-122"/>
                <a:cs typeface="Calibri" pitchFamily="34" charset="-120"/>
              </a:rPr>
              <a:t>One per tool execution. Carries the tool result content sent back to Claude. One UserMessage per ToolUseBlock executed.</a:t>
            </a:r>
            <a:endParaRPr lang="en-US" sz="1600" dirty="0"/>
          </a:p>
        </p:txBody>
      </p:sp>
      <p:sp>
        <p:nvSpPr>
          <p:cNvPr id="12" name="Shape 10"/>
          <p:cNvSpPr/>
          <p:nvPr/>
        </p:nvSpPr>
        <p:spPr>
          <a:xfrm>
            <a:off x="487680" y="5315712"/>
            <a:ext cx="11216640" cy="1219200"/>
          </a:xfrm>
          <a:prstGeom prst="roundRect">
            <a:avLst>
              <a:gd name="adj" fmla="val 8000"/>
            </a:avLst>
          </a:prstGeom>
          <a:solidFill>
            <a:srgbClr val="FEE2E2"/>
          </a:solidFill>
          <a:ln w="12700">
            <a:solidFill>
              <a:srgbClr val="DC2626"/>
            </a:solidFill>
            <a:prstDash val="solid"/>
          </a:ln>
        </p:spPr>
        <p:txBody>
          <a:bodyPr/>
          <a:lstStyle/>
          <a:p>
            <a:endParaRPr lang="en-US"/>
          </a:p>
        </p:txBody>
      </p:sp>
      <p:sp>
        <p:nvSpPr>
          <p:cNvPr id="13" name="Text 11"/>
          <p:cNvSpPr/>
          <p:nvPr/>
        </p:nvSpPr>
        <p:spPr>
          <a:xfrm>
            <a:off x="707136" y="5413248"/>
            <a:ext cx="3048000" cy="1024128"/>
          </a:xfrm>
          <a:prstGeom prst="rect">
            <a:avLst/>
          </a:prstGeom>
          <a:noFill/>
          <a:ln/>
        </p:spPr>
        <p:txBody>
          <a:bodyPr wrap="square" lIns="0" tIns="0" rIns="0" bIns="0" rtlCol="0" anchor="ctr"/>
          <a:lstStyle/>
          <a:p>
            <a:r>
              <a:rPr lang="en-US" b="1" dirty="0">
                <a:solidFill>
                  <a:srgbClr val="DC2626"/>
                </a:solidFill>
                <a:latin typeface="Courier New" pitchFamily="34" charset="0"/>
                <a:ea typeface="Courier New" pitchFamily="34" charset="-122"/>
                <a:cs typeface="Courier New" pitchFamily="34" charset="-120"/>
              </a:rPr>
              <a:t>ResultMessage</a:t>
            </a:r>
            <a:endParaRPr lang="en-US" dirty="0"/>
          </a:p>
        </p:txBody>
      </p:sp>
      <p:sp>
        <p:nvSpPr>
          <p:cNvPr id="14" name="Text 12"/>
          <p:cNvSpPr/>
          <p:nvPr/>
        </p:nvSpPr>
        <p:spPr>
          <a:xfrm>
            <a:off x="3901440" y="5413248"/>
            <a:ext cx="7559040" cy="1024128"/>
          </a:xfrm>
          <a:prstGeom prst="rect">
            <a:avLst/>
          </a:prstGeom>
          <a:noFill/>
          <a:ln/>
        </p:spPr>
        <p:txBody>
          <a:bodyPr wrap="square" lIns="0" tIns="0" rIns="0" bIns="0" rtlCol="0" anchor="ctr"/>
          <a:lstStyle/>
          <a:p>
            <a:r>
              <a:rPr lang="en-US" sz="1600" dirty="0">
                <a:solidFill>
                  <a:srgbClr val="2D4060"/>
                </a:solidFill>
                <a:latin typeface="Calibri" pitchFamily="34" charset="0"/>
                <a:ea typeface="Calibri" pitchFamily="34" charset="-122"/>
                <a:cs typeface="Calibri" pitchFamily="34" charset="-120"/>
              </a:rPr>
              <a:t>Marks end of the loop. Fields: result (text), total_cost_usd, num_turns, session_id, subtype. Always the last message.</a:t>
            </a:r>
            <a:endParaRPr lang="en-US" sz="1600" dirty="0"/>
          </a:p>
        </p:txBody>
      </p:sp>
      <p:sp>
        <p:nvSpPr>
          <p:cNvPr id="15" name="Text 13"/>
          <p:cNvSpPr/>
          <p:nvPr/>
        </p:nvSpPr>
        <p:spPr>
          <a:xfrm>
            <a:off x="609600" y="6400800"/>
            <a:ext cx="10972800" cy="365760"/>
          </a:xfrm>
          <a:prstGeom prst="rect">
            <a:avLst/>
          </a:prstGeom>
          <a:noFill/>
          <a:ln/>
        </p:spPr>
        <p:txBody>
          <a:bodyPr wrap="square" lIns="0" tIns="0" rIns="0" bIns="0" rtlCol="0" anchor="ctr"/>
          <a:lstStyle/>
          <a:p>
            <a:pPr algn="ctr"/>
            <a:r>
              <a:rPr lang="en-US" sz="1333" i="1" dirty="0">
                <a:solidFill>
                  <a:srgbClr val="6B82A0"/>
                </a:solidFill>
                <a:latin typeface="Calibri" pitchFamily="34" charset="0"/>
                <a:ea typeface="Calibri" pitchFamily="34" charset="-122"/>
                <a:cs typeface="Calibri" pitchFamily="34" charset="-120"/>
              </a:rPr>
              <a:t>Python SDK: access .content directly on AssistantMessage — no .message wrapper (that's TypeScript only)</a:t>
            </a:r>
            <a:endParaRPr lang="en-US" sz="1333"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219456"/>
            <a:ext cx="10972800" cy="792480"/>
          </a:xfrm>
          <a:prstGeom prst="rect">
            <a:avLst/>
          </a:prstGeom>
          <a:noFill/>
          <a:ln/>
        </p:spPr>
        <p:txBody>
          <a:bodyPr wrap="square" lIns="0" tIns="0" rIns="0" bIns="0" rtlCol="0" anchor="ctr"/>
          <a:lstStyle/>
          <a:p>
            <a:r>
              <a:rPr lang="en-US" sz="4533" b="1" dirty="0">
                <a:solidFill>
                  <a:srgbClr val="1A2B5E"/>
                </a:solidFill>
                <a:latin typeface="Calibri" pitchFamily="34" charset="0"/>
                <a:ea typeface="Calibri" pitchFamily="34" charset="-122"/>
                <a:cs typeface="Calibri" pitchFamily="34" charset="-120"/>
              </a:rPr>
              <a:t>Built-in Tools &amp; Permissions</a:t>
            </a:r>
            <a:endParaRPr lang="en-US" sz="4533" dirty="0"/>
          </a:p>
        </p:txBody>
      </p:sp>
      <p:sp>
        <p:nvSpPr>
          <p:cNvPr id="3" name="Shape 1"/>
          <p:cNvSpPr/>
          <p:nvPr/>
        </p:nvSpPr>
        <p:spPr>
          <a:xfrm>
            <a:off x="463296" y="1194816"/>
            <a:ext cx="5486400" cy="1524000"/>
          </a:xfrm>
          <a:prstGeom prst="roundRect">
            <a:avLst>
              <a:gd name="adj" fmla="val 8000"/>
            </a:avLst>
          </a:prstGeom>
          <a:solidFill>
            <a:srgbClr val="FFFFFF"/>
          </a:solidFill>
          <a:ln w="12700">
            <a:solidFill>
              <a:srgbClr val="E0EAF4"/>
            </a:solidFill>
            <a:prstDash val="solid"/>
          </a:ln>
          <a:effectLst>
            <a:outerShdw blurRad="101600" dist="25400" dir="2700000" algn="bl" rotWithShape="0">
              <a:srgbClr val="000000">
                <a:alpha val="10000"/>
              </a:srgbClr>
            </a:outerShdw>
          </a:effectLst>
        </p:spPr>
        <p:txBody>
          <a:bodyPr/>
          <a:lstStyle/>
          <a:p>
            <a:endParaRPr lang="en-US"/>
          </a:p>
        </p:txBody>
      </p:sp>
      <p:sp>
        <p:nvSpPr>
          <p:cNvPr id="4" name="Shape 2"/>
          <p:cNvSpPr/>
          <p:nvPr/>
        </p:nvSpPr>
        <p:spPr>
          <a:xfrm>
            <a:off x="646176" y="1341120"/>
            <a:ext cx="1584960" cy="390144"/>
          </a:xfrm>
          <a:prstGeom prst="roundRect">
            <a:avLst>
              <a:gd name="adj" fmla="val 37500"/>
            </a:avLst>
          </a:prstGeom>
          <a:solidFill>
            <a:srgbClr val="0D6EAD"/>
          </a:solidFill>
          <a:ln w="12700">
            <a:solidFill>
              <a:srgbClr val="0D6EAD"/>
            </a:solidFill>
            <a:prstDash val="solid"/>
          </a:ln>
        </p:spPr>
        <p:txBody>
          <a:bodyPr/>
          <a:lstStyle/>
          <a:p>
            <a:endParaRPr lang="en-US"/>
          </a:p>
        </p:txBody>
      </p:sp>
      <p:sp>
        <p:nvSpPr>
          <p:cNvPr id="5" name="Text 3"/>
          <p:cNvSpPr/>
          <p:nvPr/>
        </p:nvSpPr>
        <p:spPr>
          <a:xfrm>
            <a:off x="646176" y="1341120"/>
            <a:ext cx="1584960" cy="390144"/>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Files</a:t>
            </a:r>
            <a:endParaRPr lang="en-US" sz="1333" dirty="0"/>
          </a:p>
        </p:txBody>
      </p:sp>
      <p:sp>
        <p:nvSpPr>
          <p:cNvPr id="6" name="Text 4"/>
          <p:cNvSpPr/>
          <p:nvPr/>
        </p:nvSpPr>
        <p:spPr>
          <a:xfrm>
            <a:off x="646176" y="1804416"/>
            <a:ext cx="5120640" cy="414528"/>
          </a:xfrm>
          <a:prstGeom prst="rect">
            <a:avLst/>
          </a:prstGeom>
          <a:noFill/>
          <a:ln/>
        </p:spPr>
        <p:txBody>
          <a:bodyPr wrap="square" lIns="0" tIns="0" rIns="0" bIns="0" rtlCol="0" anchor="ctr"/>
          <a:lstStyle/>
          <a:p>
            <a:r>
              <a:rPr lang="en-US" sz="1733" b="1" dirty="0">
                <a:solidFill>
                  <a:srgbClr val="0D6EAD"/>
                </a:solidFill>
                <a:latin typeface="Courier New" pitchFamily="34" charset="0"/>
                <a:ea typeface="Courier New" pitchFamily="34" charset="-122"/>
                <a:cs typeface="Courier New" pitchFamily="34" charset="-120"/>
              </a:rPr>
              <a:t>Read, Edit, Write</a:t>
            </a:r>
            <a:endParaRPr lang="en-US" sz="1733" dirty="0"/>
          </a:p>
        </p:txBody>
      </p:sp>
      <p:sp>
        <p:nvSpPr>
          <p:cNvPr id="7" name="Text 5"/>
          <p:cNvSpPr/>
          <p:nvPr/>
        </p:nvSpPr>
        <p:spPr>
          <a:xfrm>
            <a:off x="646176" y="2231136"/>
            <a:ext cx="5120640" cy="390144"/>
          </a:xfrm>
          <a:prstGeom prst="rect">
            <a:avLst/>
          </a:prstGeom>
          <a:noFill/>
          <a:ln/>
        </p:spPr>
        <p:txBody>
          <a:bodyPr wrap="square" lIns="0" tIns="0" rIns="0" bIns="0" rtlCol="0" anchor="ctr"/>
          <a:lstStyle/>
          <a:p>
            <a:r>
              <a:rPr lang="en-US" sz="1467" dirty="0">
                <a:solidFill>
                  <a:srgbClr val="6B82A0"/>
                </a:solidFill>
                <a:latin typeface="Calibri" pitchFamily="34" charset="0"/>
                <a:ea typeface="Calibri" pitchFamily="34" charset="-122"/>
                <a:cs typeface="Calibri" pitchFamily="34" charset="-120"/>
              </a:rPr>
              <a:t>Read, modify, create files</a:t>
            </a:r>
            <a:endParaRPr lang="en-US" sz="1467" dirty="0"/>
          </a:p>
        </p:txBody>
      </p:sp>
      <p:sp>
        <p:nvSpPr>
          <p:cNvPr id="8" name="Shape 6"/>
          <p:cNvSpPr/>
          <p:nvPr/>
        </p:nvSpPr>
        <p:spPr>
          <a:xfrm>
            <a:off x="6193536" y="1194816"/>
            <a:ext cx="5486400" cy="1524000"/>
          </a:xfrm>
          <a:prstGeom prst="roundRect">
            <a:avLst>
              <a:gd name="adj" fmla="val 8000"/>
            </a:avLst>
          </a:prstGeom>
          <a:solidFill>
            <a:srgbClr val="FFFFFF"/>
          </a:solidFill>
          <a:ln w="12700">
            <a:solidFill>
              <a:srgbClr val="E0EAF4"/>
            </a:solidFill>
            <a:prstDash val="solid"/>
          </a:ln>
          <a:effectLst>
            <a:outerShdw blurRad="101600" dist="25400" dir="2700000" algn="bl" rotWithShape="0">
              <a:srgbClr val="000000">
                <a:alpha val="10000"/>
              </a:srgbClr>
            </a:outerShdw>
          </a:effectLst>
        </p:spPr>
        <p:txBody>
          <a:bodyPr/>
          <a:lstStyle/>
          <a:p>
            <a:endParaRPr lang="en-US"/>
          </a:p>
        </p:txBody>
      </p:sp>
      <p:sp>
        <p:nvSpPr>
          <p:cNvPr id="9" name="Shape 7"/>
          <p:cNvSpPr/>
          <p:nvPr/>
        </p:nvSpPr>
        <p:spPr>
          <a:xfrm>
            <a:off x="6376416" y="1341120"/>
            <a:ext cx="1584960" cy="390144"/>
          </a:xfrm>
          <a:prstGeom prst="roundRect">
            <a:avLst>
              <a:gd name="adj" fmla="val 37500"/>
            </a:avLst>
          </a:prstGeom>
          <a:solidFill>
            <a:srgbClr val="00888A"/>
          </a:solidFill>
          <a:ln w="12700">
            <a:solidFill>
              <a:srgbClr val="00888A"/>
            </a:solidFill>
            <a:prstDash val="solid"/>
          </a:ln>
        </p:spPr>
        <p:txBody>
          <a:bodyPr/>
          <a:lstStyle/>
          <a:p>
            <a:endParaRPr lang="en-US"/>
          </a:p>
        </p:txBody>
      </p:sp>
      <p:sp>
        <p:nvSpPr>
          <p:cNvPr id="10" name="Text 8"/>
          <p:cNvSpPr/>
          <p:nvPr/>
        </p:nvSpPr>
        <p:spPr>
          <a:xfrm>
            <a:off x="6376416" y="1341120"/>
            <a:ext cx="1584960" cy="390144"/>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Search</a:t>
            </a:r>
            <a:endParaRPr lang="en-US" sz="1333" dirty="0"/>
          </a:p>
        </p:txBody>
      </p:sp>
      <p:sp>
        <p:nvSpPr>
          <p:cNvPr id="11" name="Text 9"/>
          <p:cNvSpPr/>
          <p:nvPr/>
        </p:nvSpPr>
        <p:spPr>
          <a:xfrm>
            <a:off x="6376416" y="1804416"/>
            <a:ext cx="5120640" cy="414528"/>
          </a:xfrm>
          <a:prstGeom prst="rect">
            <a:avLst/>
          </a:prstGeom>
          <a:noFill/>
          <a:ln/>
        </p:spPr>
        <p:txBody>
          <a:bodyPr wrap="square" lIns="0" tIns="0" rIns="0" bIns="0" rtlCol="0" anchor="ctr"/>
          <a:lstStyle/>
          <a:p>
            <a:r>
              <a:rPr lang="en-US" sz="1733" b="1" dirty="0">
                <a:solidFill>
                  <a:srgbClr val="00888A"/>
                </a:solidFill>
                <a:latin typeface="Courier New" pitchFamily="34" charset="0"/>
                <a:ea typeface="Courier New" pitchFamily="34" charset="-122"/>
                <a:cs typeface="Courier New" pitchFamily="34" charset="-120"/>
              </a:rPr>
              <a:t>Glob, Grep</a:t>
            </a:r>
            <a:endParaRPr lang="en-US" sz="1733" dirty="0"/>
          </a:p>
        </p:txBody>
      </p:sp>
      <p:sp>
        <p:nvSpPr>
          <p:cNvPr id="12" name="Text 10"/>
          <p:cNvSpPr/>
          <p:nvPr/>
        </p:nvSpPr>
        <p:spPr>
          <a:xfrm>
            <a:off x="6376416" y="2231136"/>
            <a:ext cx="5120640" cy="390144"/>
          </a:xfrm>
          <a:prstGeom prst="rect">
            <a:avLst/>
          </a:prstGeom>
          <a:noFill/>
          <a:ln/>
        </p:spPr>
        <p:txBody>
          <a:bodyPr wrap="square" lIns="0" tIns="0" rIns="0" bIns="0" rtlCol="0" anchor="ctr"/>
          <a:lstStyle/>
          <a:p>
            <a:r>
              <a:rPr lang="en-US" sz="1467" dirty="0">
                <a:solidFill>
                  <a:srgbClr val="6B82A0"/>
                </a:solidFill>
                <a:latin typeface="Calibri" pitchFamily="34" charset="0"/>
                <a:ea typeface="Calibri" pitchFamily="34" charset="-122"/>
                <a:cs typeface="Calibri" pitchFamily="34" charset="-120"/>
              </a:rPr>
              <a:t>Find files and search content</a:t>
            </a:r>
            <a:endParaRPr lang="en-US" sz="1467" dirty="0"/>
          </a:p>
        </p:txBody>
      </p:sp>
      <p:sp>
        <p:nvSpPr>
          <p:cNvPr id="13" name="Shape 11"/>
          <p:cNvSpPr/>
          <p:nvPr/>
        </p:nvSpPr>
        <p:spPr>
          <a:xfrm>
            <a:off x="463296" y="2901696"/>
            <a:ext cx="5486400" cy="1524000"/>
          </a:xfrm>
          <a:prstGeom prst="roundRect">
            <a:avLst>
              <a:gd name="adj" fmla="val 8000"/>
            </a:avLst>
          </a:prstGeom>
          <a:solidFill>
            <a:srgbClr val="FFFFFF"/>
          </a:solidFill>
          <a:ln w="12700">
            <a:solidFill>
              <a:srgbClr val="E0EAF4"/>
            </a:solidFill>
            <a:prstDash val="solid"/>
          </a:ln>
          <a:effectLst>
            <a:outerShdw blurRad="101600" dist="25400" dir="2700000" algn="bl" rotWithShape="0">
              <a:srgbClr val="000000">
                <a:alpha val="10000"/>
              </a:srgbClr>
            </a:outerShdw>
          </a:effectLst>
        </p:spPr>
        <p:txBody>
          <a:bodyPr/>
          <a:lstStyle/>
          <a:p>
            <a:endParaRPr lang="en-US"/>
          </a:p>
        </p:txBody>
      </p:sp>
      <p:sp>
        <p:nvSpPr>
          <p:cNvPr id="14" name="Shape 12"/>
          <p:cNvSpPr/>
          <p:nvPr/>
        </p:nvSpPr>
        <p:spPr>
          <a:xfrm>
            <a:off x="646176" y="3048000"/>
            <a:ext cx="1584960" cy="390144"/>
          </a:xfrm>
          <a:prstGeom prst="roundRect">
            <a:avLst>
              <a:gd name="adj" fmla="val 37500"/>
            </a:avLst>
          </a:prstGeom>
          <a:solidFill>
            <a:srgbClr val="6B48C4"/>
          </a:solidFill>
          <a:ln w="12700">
            <a:solidFill>
              <a:srgbClr val="6B48C4"/>
            </a:solidFill>
            <a:prstDash val="solid"/>
          </a:ln>
        </p:spPr>
        <p:txBody>
          <a:bodyPr/>
          <a:lstStyle/>
          <a:p>
            <a:endParaRPr lang="en-US"/>
          </a:p>
        </p:txBody>
      </p:sp>
      <p:sp>
        <p:nvSpPr>
          <p:cNvPr id="15" name="Text 13"/>
          <p:cNvSpPr/>
          <p:nvPr/>
        </p:nvSpPr>
        <p:spPr>
          <a:xfrm>
            <a:off x="646176" y="3048000"/>
            <a:ext cx="1584960" cy="390144"/>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Shell</a:t>
            </a:r>
            <a:endParaRPr lang="en-US" sz="1333" dirty="0"/>
          </a:p>
        </p:txBody>
      </p:sp>
      <p:sp>
        <p:nvSpPr>
          <p:cNvPr id="16" name="Text 14"/>
          <p:cNvSpPr/>
          <p:nvPr/>
        </p:nvSpPr>
        <p:spPr>
          <a:xfrm>
            <a:off x="646176" y="3511296"/>
            <a:ext cx="5120640" cy="414528"/>
          </a:xfrm>
          <a:prstGeom prst="rect">
            <a:avLst/>
          </a:prstGeom>
          <a:noFill/>
          <a:ln/>
        </p:spPr>
        <p:txBody>
          <a:bodyPr wrap="square" lIns="0" tIns="0" rIns="0" bIns="0" rtlCol="0" anchor="ctr"/>
          <a:lstStyle/>
          <a:p>
            <a:r>
              <a:rPr lang="en-US" sz="1733" b="1" dirty="0">
                <a:solidFill>
                  <a:srgbClr val="6B48C4"/>
                </a:solidFill>
                <a:latin typeface="Courier New" pitchFamily="34" charset="0"/>
                <a:ea typeface="Courier New" pitchFamily="34" charset="-122"/>
                <a:cs typeface="Courier New" pitchFamily="34" charset="-120"/>
              </a:rPr>
              <a:t>Bash, PowerShell</a:t>
            </a:r>
            <a:endParaRPr lang="en-US" sz="1733" dirty="0"/>
          </a:p>
        </p:txBody>
      </p:sp>
      <p:sp>
        <p:nvSpPr>
          <p:cNvPr id="17" name="Text 15"/>
          <p:cNvSpPr/>
          <p:nvPr/>
        </p:nvSpPr>
        <p:spPr>
          <a:xfrm>
            <a:off x="646176" y="3938016"/>
            <a:ext cx="5120640" cy="390144"/>
          </a:xfrm>
          <a:prstGeom prst="rect">
            <a:avLst/>
          </a:prstGeom>
          <a:noFill/>
          <a:ln/>
        </p:spPr>
        <p:txBody>
          <a:bodyPr wrap="square" lIns="0" tIns="0" rIns="0" bIns="0" rtlCol="0" anchor="ctr"/>
          <a:lstStyle/>
          <a:p>
            <a:r>
              <a:rPr lang="en-US" sz="1467" dirty="0">
                <a:solidFill>
                  <a:srgbClr val="6B82A0"/>
                </a:solidFill>
                <a:latin typeface="Calibri" pitchFamily="34" charset="0"/>
                <a:ea typeface="Calibri" pitchFamily="34" charset="-122"/>
                <a:cs typeface="Calibri" pitchFamily="34" charset="-120"/>
              </a:rPr>
              <a:t>Run commands, scripts, git</a:t>
            </a:r>
            <a:endParaRPr lang="en-US" sz="1467" dirty="0"/>
          </a:p>
        </p:txBody>
      </p:sp>
      <p:sp>
        <p:nvSpPr>
          <p:cNvPr id="18" name="Shape 16"/>
          <p:cNvSpPr/>
          <p:nvPr/>
        </p:nvSpPr>
        <p:spPr>
          <a:xfrm>
            <a:off x="6193536" y="2901696"/>
            <a:ext cx="5486400" cy="1524000"/>
          </a:xfrm>
          <a:prstGeom prst="roundRect">
            <a:avLst>
              <a:gd name="adj" fmla="val 8000"/>
            </a:avLst>
          </a:prstGeom>
          <a:solidFill>
            <a:srgbClr val="FFFFFF"/>
          </a:solidFill>
          <a:ln w="12700">
            <a:solidFill>
              <a:srgbClr val="E0EAF4"/>
            </a:solidFill>
            <a:prstDash val="solid"/>
          </a:ln>
          <a:effectLst>
            <a:outerShdw blurRad="101600" dist="25400" dir="2700000" algn="bl" rotWithShape="0">
              <a:srgbClr val="000000">
                <a:alpha val="10000"/>
              </a:srgbClr>
            </a:outerShdw>
          </a:effectLst>
        </p:spPr>
        <p:txBody>
          <a:bodyPr/>
          <a:lstStyle/>
          <a:p>
            <a:endParaRPr lang="en-US"/>
          </a:p>
        </p:txBody>
      </p:sp>
      <p:sp>
        <p:nvSpPr>
          <p:cNvPr id="19" name="Shape 17"/>
          <p:cNvSpPr/>
          <p:nvPr/>
        </p:nvSpPr>
        <p:spPr>
          <a:xfrm>
            <a:off x="6376416" y="3048000"/>
            <a:ext cx="1584960" cy="390144"/>
          </a:xfrm>
          <a:prstGeom prst="roundRect">
            <a:avLst>
              <a:gd name="adj" fmla="val 37500"/>
            </a:avLst>
          </a:prstGeom>
          <a:solidFill>
            <a:srgbClr val="D97706"/>
          </a:solidFill>
          <a:ln w="12700">
            <a:solidFill>
              <a:srgbClr val="D97706"/>
            </a:solidFill>
            <a:prstDash val="solid"/>
          </a:ln>
        </p:spPr>
        <p:txBody>
          <a:bodyPr/>
          <a:lstStyle/>
          <a:p>
            <a:endParaRPr lang="en-US"/>
          </a:p>
        </p:txBody>
      </p:sp>
      <p:sp>
        <p:nvSpPr>
          <p:cNvPr id="20" name="Text 18"/>
          <p:cNvSpPr/>
          <p:nvPr/>
        </p:nvSpPr>
        <p:spPr>
          <a:xfrm>
            <a:off x="6376416" y="3048000"/>
            <a:ext cx="1584960" cy="390144"/>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Web</a:t>
            </a:r>
            <a:endParaRPr lang="en-US" sz="1333" dirty="0"/>
          </a:p>
        </p:txBody>
      </p:sp>
      <p:sp>
        <p:nvSpPr>
          <p:cNvPr id="21" name="Text 19"/>
          <p:cNvSpPr/>
          <p:nvPr/>
        </p:nvSpPr>
        <p:spPr>
          <a:xfrm>
            <a:off x="6376416" y="3511296"/>
            <a:ext cx="5120640" cy="414528"/>
          </a:xfrm>
          <a:prstGeom prst="rect">
            <a:avLst/>
          </a:prstGeom>
          <a:noFill/>
          <a:ln/>
        </p:spPr>
        <p:txBody>
          <a:bodyPr wrap="square" lIns="0" tIns="0" rIns="0" bIns="0" rtlCol="0" anchor="ctr"/>
          <a:lstStyle/>
          <a:p>
            <a:r>
              <a:rPr lang="en-US" sz="1733" b="1" dirty="0">
                <a:solidFill>
                  <a:srgbClr val="D97706"/>
                </a:solidFill>
                <a:latin typeface="Courier New" pitchFamily="34" charset="0"/>
                <a:ea typeface="Courier New" pitchFamily="34" charset="-122"/>
                <a:cs typeface="Courier New" pitchFamily="34" charset="-120"/>
              </a:rPr>
              <a:t>WebSearch, WebFetch</a:t>
            </a:r>
            <a:endParaRPr lang="en-US" sz="1733" dirty="0"/>
          </a:p>
        </p:txBody>
      </p:sp>
      <p:sp>
        <p:nvSpPr>
          <p:cNvPr id="22" name="Text 20"/>
          <p:cNvSpPr/>
          <p:nvPr/>
        </p:nvSpPr>
        <p:spPr>
          <a:xfrm>
            <a:off x="6376416" y="3938016"/>
            <a:ext cx="5120640" cy="390144"/>
          </a:xfrm>
          <a:prstGeom prst="rect">
            <a:avLst/>
          </a:prstGeom>
          <a:noFill/>
          <a:ln/>
        </p:spPr>
        <p:txBody>
          <a:bodyPr wrap="square" lIns="0" tIns="0" rIns="0" bIns="0" rtlCol="0" anchor="ctr"/>
          <a:lstStyle/>
          <a:p>
            <a:r>
              <a:rPr lang="en-US" sz="1467" dirty="0">
                <a:solidFill>
                  <a:srgbClr val="6B82A0"/>
                </a:solidFill>
                <a:latin typeface="Calibri" pitchFamily="34" charset="0"/>
                <a:ea typeface="Calibri" pitchFamily="34" charset="-122"/>
                <a:cs typeface="Calibri" pitchFamily="34" charset="-120"/>
              </a:rPr>
              <a:t>Search the web, fetch pages</a:t>
            </a:r>
            <a:endParaRPr lang="en-US" sz="1467" dirty="0"/>
          </a:p>
        </p:txBody>
      </p:sp>
      <p:sp>
        <p:nvSpPr>
          <p:cNvPr id="23" name="Shape 21"/>
          <p:cNvSpPr/>
          <p:nvPr/>
        </p:nvSpPr>
        <p:spPr>
          <a:xfrm>
            <a:off x="463296" y="4608576"/>
            <a:ext cx="5486400" cy="1524000"/>
          </a:xfrm>
          <a:prstGeom prst="roundRect">
            <a:avLst>
              <a:gd name="adj" fmla="val 8000"/>
            </a:avLst>
          </a:prstGeom>
          <a:solidFill>
            <a:srgbClr val="FFFFFF"/>
          </a:solidFill>
          <a:ln w="12700">
            <a:solidFill>
              <a:srgbClr val="E0EAF4"/>
            </a:solidFill>
            <a:prstDash val="solid"/>
          </a:ln>
          <a:effectLst>
            <a:outerShdw blurRad="101600" dist="25400" dir="2700000" algn="bl" rotWithShape="0">
              <a:srgbClr val="000000">
                <a:alpha val="10000"/>
              </a:srgbClr>
            </a:outerShdw>
          </a:effectLst>
        </p:spPr>
        <p:txBody>
          <a:bodyPr/>
          <a:lstStyle/>
          <a:p>
            <a:endParaRPr lang="en-US"/>
          </a:p>
        </p:txBody>
      </p:sp>
      <p:sp>
        <p:nvSpPr>
          <p:cNvPr id="24" name="Shape 22"/>
          <p:cNvSpPr/>
          <p:nvPr/>
        </p:nvSpPr>
        <p:spPr>
          <a:xfrm>
            <a:off x="646176" y="4754880"/>
            <a:ext cx="1584960" cy="390144"/>
          </a:xfrm>
          <a:prstGeom prst="roundRect">
            <a:avLst>
              <a:gd name="adj" fmla="val 37500"/>
            </a:avLst>
          </a:prstGeom>
          <a:solidFill>
            <a:srgbClr val="DC2626"/>
          </a:solidFill>
          <a:ln w="12700">
            <a:solidFill>
              <a:srgbClr val="DC2626"/>
            </a:solidFill>
            <a:prstDash val="solid"/>
          </a:ln>
        </p:spPr>
        <p:txBody>
          <a:bodyPr/>
          <a:lstStyle/>
          <a:p>
            <a:endParaRPr lang="en-US"/>
          </a:p>
        </p:txBody>
      </p:sp>
      <p:sp>
        <p:nvSpPr>
          <p:cNvPr id="25" name="Text 23"/>
          <p:cNvSpPr/>
          <p:nvPr/>
        </p:nvSpPr>
        <p:spPr>
          <a:xfrm>
            <a:off x="646176" y="4754880"/>
            <a:ext cx="1584960" cy="390144"/>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Agents</a:t>
            </a:r>
            <a:endParaRPr lang="en-US" sz="1333" dirty="0"/>
          </a:p>
        </p:txBody>
      </p:sp>
      <p:sp>
        <p:nvSpPr>
          <p:cNvPr id="26" name="Text 24"/>
          <p:cNvSpPr/>
          <p:nvPr/>
        </p:nvSpPr>
        <p:spPr>
          <a:xfrm>
            <a:off x="646176" y="5218176"/>
            <a:ext cx="5120640" cy="414528"/>
          </a:xfrm>
          <a:prstGeom prst="rect">
            <a:avLst/>
          </a:prstGeom>
          <a:noFill/>
          <a:ln/>
        </p:spPr>
        <p:txBody>
          <a:bodyPr wrap="square" lIns="0" tIns="0" rIns="0" bIns="0" rtlCol="0" anchor="ctr"/>
          <a:lstStyle/>
          <a:p>
            <a:r>
              <a:rPr lang="en-US" sz="1733" b="1" dirty="0">
                <a:solidFill>
                  <a:srgbClr val="DC2626"/>
                </a:solidFill>
                <a:latin typeface="Courier New" pitchFamily="34" charset="0"/>
                <a:ea typeface="Courier New" pitchFamily="34" charset="-122"/>
                <a:cs typeface="Courier New" pitchFamily="34" charset="-120"/>
              </a:rPr>
              <a:t>Agent, Skill, TaskCreate</a:t>
            </a:r>
            <a:endParaRPr lang="en-US" sz="1733" dirty="0"/>
          </a:p>
        </p:txBody>
      </p:sp>
      <p:sp>
        <p:nvSpPr>
          <p:cNvPr id="27" name="Text 25"/>
          <p:cNvSpPr/>
          <p:nvPr/>
        </p:nvSpPr>
        <p:spPr>
          <a:xfrm>
            <a:off x="646176" y="5644896"/>
            <a:ext cx="5120640" cy="390144"/>
          </a:xfrm>
          <a:prstGeom prst="rect">
            <a:avLst/>
          </a:prstGeom>
          <a:noFill/>
          <a:ln/>
        </p:spPr>
        <p:txBody>
          <a:bodyPr wrap="square" lIns="0" tIns="0" rIns="0" bIns="0" rtlCol="0" anchor="ctr"/>
          <a:lstStyle/>
          <a:p>
            <a:r>
              <a:rPr lang="en-US" sz="1467" dirty="0">
                <a:solidFill>
                  <a:srgbClr val="6B82A0"/>
                </a:solidFill>
                <a:latin typeface="Calibri" pitchFamily="34" charset="0"/>
                <a:ea typeface="Calibri" pitchFamily="34" charset="-122"/>
                <a:cs typeface="Calibri" pitchFamily="34" charset="-120"/>
              </a:rPr>
              <a:t>Spawn subagents, invoke skills</a:t>
            </a:r>
            <a:endParaRPr lang="en-US" sz="1467" dirty="0"/>
          </a:p>
        </p:txBody>
      </p:sp>
      <p:sp>
        <p:nvSpPr>
          <p:cNvPr id="28" name="Shape 26"/>
          <p:cNvSpPr/>
          <p:nvPr/>
        </p:nvSpPr>
        <p:spPr>
          <a:xfrm>
            <a:off x="6193536" y="4608576"/>
            <a:ext cx="5486400" cy="1524000"/>
          </a:xfrm>
          <a:prstGeom prst="roundRect">
            <a:avLst>
              <a:gd name="adj" fmla="val 8000"/>
            </a:avLst>
          </a:prstGeom>
          <a:solidFill>
            <a:srgbClr val="FFFFFF"/>
          </a:solidFill>
          <a:ln w="12700">
            <a:solidFill>
              <a:srgbClr val="E0EAF4"/>
            </a:solidFill>
            <a:prstDash val="solid"/>
          </a:ln>
          <a:effectLst>
            <a:outerShdw blurRad="101600" dist="25400" dir="2700000" algn="bl" rotWithShape="0">
              <a:srgbClr val="000000">
                <a:alpha val="10000"/>
              </a:srgbClr>
            </a:outerShdw>
          </a:effectLst>
        </p:spPr>
        <p:txBody>
          <a:bodyPr/>
          <a:lstStyle/>
          <a:p>
            <a:endParaRPr lang="en-US"/>
          </a:p>
        </p:txBody>
      </p:sp>
      <p:sp>
        <p:nvSpPr>
          <p:cNvPr id="29" name="Shape 27"/>
          <p:cNvSpPr/>
          <p:nvPr/>
        </p:nvSpPr>
        <p:spPr>
          <a:xfrm>
            <a:off x="6376416" y="4754880"/>
            <a:ext cx="1584960" cy="390144"/>
          </a:xfrm>
          <a:prstGeom prst="roundRect">
            <a:avLst>
              <a:gd name="adj" fmla="val 37500"/>
            </a:avLst>
          </a:prstGeom>
          <a:solidFill>
            <a:srgbClr val="059669"/>
          </a:solidFill>
          <a:ln w="12700">
            <a:solidFill>
              <a:srgbClr val="059669"/>
            </a:solidFill>
            <a:prstDash val="solid"/>
          </a:ln>
        </p:spPr>
        <p:txBody>
          <a:bodyPr/>
          <a:lstStyle/>
          <a:p>
            <a:endParaRPr lang="en-US"/>
          </a:p>
        </p:txBody>
      </p:sp>
      <p:sp>
        <p:nvSpPr>
          <p:cNvPr id="30" name="Text 28"/>
          <p:cNvSpPr/>
          <p:nvPr/>
        </p:nvSpPr>
        <p:spPr>
          <a:xfrm>
            <a:off x="6376416" y="4754880"/>
            <a:ext cx="1584960" cy="390144"/>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Discovery</a:t>
            </a:r>
            <a:endParaRPr lang="en-US" sz="1333" dirty="0"/>
          </a:p>
        </p:txBody>
      </p:sp>
      <p:sp>
        <p:nvSpPr>
          <p:cNvPr id="31" name="Text 29"/>
          <p:cNvSpPr/>
          <p:nvPr/>
        </p:nvSpPr>
        <p:spPr>
          <a:xfrm>
            <a:off x="6376416" y="5218176"/>
            <a:ext cx="5120640" cy="414528"/>
          </a:xfrm>
          <a:prstGeom prst="rect">
            <a:avLst/>
          </a:prstGeom>
          <a:noFill/>
          <a:ln/>
        </p:spPr>
        <p:txBody>
          <a:bodyPr wrap="square" lIns="0" tIns="0" rIns="0" bIns="0" rtlCol="0" anchor="ctr"/>
          <a:lstStyle/>
          <a:p>
            <a:r>
              <a:rPr lang="en-US" sz="1733" b="1" dirty="0">
                <a:solidFill>
                  <a:srgbClr val="059669"/>
                </a:solidFill>
                <a:latin typeface="Courier New" pitchFamily="34" charset="0"/>
                <a:ea typeface="Courier New" pitchFamily="34" charset="-122"/>
                <a:cs typeface="Courier New" pitchFamily="34" charset="-120"/>
              </a:rPr>
              <a:t>ToolSearch</a:t>
            </a:r>
            <a:endParaRPr lang="en-US" sz="1733" dirty="0"/>
          </a:p>
        </p:txBody>
      </p:sp>
      <p:sp>
        <p:nvSpPr>
          <p:cNvPr id="32" name="Text 30"/>
          <p:cNvSpPr/>
          <p:nvPr/>
        </p:nvSpPr>
        <p:spPr>
          <a:xfrm>
            <a:off x="6376416" y="5644896"/>
            <a:ext cx="5120640" cy="390144"/>
          </a:xfrm>
          <a:prstGeom prst="rect">
            <a:avLst/>
          </a:prstGeom>
          <a:noFill/>
          <a:ln/>
        </p:spPr>
        <p:txBody>
          <a:bodyPr wrap="square" lIns="0" tIns="0" rIns="0" bIns="0" rtlCol="0" anchor="ctr"/>
          <a:lstStyle/>
          <a:p>
            <a:r>
              <a:rPr lang="en-US" sz="1467" dirty="0">
                <a:solidFill>
                  <a:srgbClr val="6B82A0"/>
                </a:solidFill>
                <a:latin typeface="Calibri" pitchFamily="34" charset="0"/>
                <a:ea typeface="Calibri" pitchFamily="34" charset="-122"/>
                <a:cs typeface="Calibri" pitchFamily="34" charset="-120"/>
              </a:rPr>
              <a:t>Load deferred MCP tool schemas</a:t>
            </a:r>
            <a:endParaRPr lang="en-US" sz="1467" dirty="0"/>
          </a:p>
        </p:txBody>
      </p:sp>
      <p:sp>
        <p:nvSpPr>
          <p:cNvPr id="33" name="Text 31"/>
          <p:cNvSpPr/>
          <p:nvPr/>
        </p:nvSpPr>
        <p:spPr>
          <a:xfrm>
            <a:off x="463296" y="6339840"/>
            <a:ext cx="11216640" cy="390144"/>
          </a:xfrm>
          <a:prstGeom prst="rect">
            <a:avLst/>
          </a:prstGeom>
          <a:noFill/>
          <a:ln/>
        </p:spPr>
        <p:txBody>
          <a:bodyPr wrap="square" lIns="0" tIns="0" rIns="0" bIns="0" rtlCol="0" anchor="ctr"/>
          <a:lstStyle/>
          <a:p>
            <a:pPr algn="ctr"/>
            <a:r>
              <a:rPr lang="en-US" sz="1400" i="1" dirty="0">
                <a:solidFill>
                  <a:srgbClr val="6B82A0"/>
                </a:solidFill>
                <a:latin typeface="Courier New" pitchFamily="34" charset="0"/>
                <a:ea typeface="Courier New" pitchFamily="34" charset="-122"/>
                <a:cs typeface="Courier New" pitchFamily="34" charset="-120"/>
              </a:rPr>
              <a:t>allowed_tools: ["Read","Grep"]  ·  disallowed_tools: ["Bash"]  ·  permission_mode: "dontAsk" | "default" | "bypassPermissions"</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219456"/>
            <a:ext cx="10972800" cy="792480"/>
          </a:xfrm>
          <a:prstGeom prst="rect">
            <a:avLst/>
          </a:prstGeom>
          <a:noFill/>
          <a:ln/>
        </p:spPr>
        <p:txBody>
          <a:bodyPr wrap="square" lIns="0" tIns="0" rIns="0" bIns="0" rtlCol="0" anchor="ctr"/>
          <a:lstStyle/>
          <a:p>
            <a:r>
              <a:rPr lang="en-US" sz="4533" b="1" dirty="0">
                <a:solidFill>
                  <a:srgbClr val="1A2B5E"/>
                </a:solidFill>
                <a:latin typeface="Calibri" pitchFamily="34" charset="0"/>
                <a:ea typeface="Calibri" pitchFamily="34" charset="-122"/>
                <a:cs typeface="Calibri" pitchFamily="34" charset="-120"/>
              </a:rPr>
              <a:t>Controlling the Loop</a:t>
            </a:r>
            <a:endParaRPr lang="en-US" sz="4533" dirty="0"/>
          </a:p>
        </p:txBody>
      </p:sp>
      <p:sp>
        <p:nvSpPr>
          <p:cNvPr id="3" name="Shape 1"/>
          <p:cNvSpPr/>
          <p:nvPr/>
        </p:nvSpPr>
        <p:spPr>
          <a:xfrm>
            <a:off x="463296" y="1219200"/>
            <a:ext cx="5510784" cy="2414016"/>
          </a:xfrm>
          <a:prstGeom prst="roundRect">
            <a:avLst>
              <a:gd name="adj" fmla="val 5051"/>
            </a:avLst>
          </a:prstGeom>
          <a:solidFill>
            <a:srgbClr val="FFFFFF"/>
          </a:solidFill>
          <a:ln w="12700">
            <a:solidFill>
              <a:srgbClr val="E0EAF4"/>
            </a:solidFill>
            <a:prstDash val="solid"/>
          </a:ln>
          <a:effectLst>
            <a:outerShdw blurRad="101600" dist="25400" dir="2700000" algn="bl" rotWithShape="0">
              <a:srgbClr val="000000">
                <a:alpha val="10000"/>
              </a:srgbClr>
            </a:outerShdw>
          </a:effectLst>
        </p:spPr>
        <p:txBody>
          <a:bodyPr/>
          <a:lstStyle/>
          <a:p>
            <a:endParaRPr lang="en-US"/>
          </a:p>
        </p:txBody>
      </p:sp>
      <p:sp>
        <p:nvSpPr>
          <p:cNvPr id="4" name="Text 2"/>
          <p:cNvSpPr/>
          <p:nvPr/>
        </p:nvSpPr>
        <p:spPr>
          <a:xfrm>
            <a:off x="682752" y="1365504"/>
            <a:ext cx="4876800" cy="512064"/>
          </a:xfrm>
          <a:prstGeom prst="rect">
            <a:avLst/>
          </a:prstGeom>
          <a:noFill/>
          <a:ln/>
        </p:spPr>
        <p:txBody>
          <a:bodyPr wrap="square" lIns="0" tIns="0" rIns="0" bIns="0" rtlCol="0" anchor="ctr"/>
          <a:lstStyle/>
          <a:p>
            <a:r>
              <a:rPr lang="en-US" sz="2267" b="1" dirty="0">
                <a:solidFill>
                  <a:srgbClr val="0D6EAD"/>
                </a:solidFill>
                <a:latin typeface="Courier New" pitchFamily="34" charset="0"/>
                <a:ea typeface="Courier New" pitchFamily="34" charset="-122"/>
                <a:cs typeface="Courier New" pitchFamily="34" charset="-120"/>
              </a:rPr>
              <a:t>max_turns</a:t>
            </a:r>
            <a:endParaRPr lang="en-US" sz="2267" dirty="0"/>
          </a:p>
        </p:txBody>
      </p:sp>
      <p:sp>
        <p:nvSpPr>
          <p:cNvPr id="5" name="Text 3"/>
          <p:cNvSpPr/>
          <p:nvPr/>
        </p:nvSpPr>
        <p:spPr>
          <a:xfrm>
            <a:off x="682752" y="1901952"/>
            <a:ext cx="4632960" cy="341376"/>
          </a:xfrm>
          <a:prstGeom prst="rect">
            <a:avLst/>
          </a:prstGeom>
          <a:noFill/>
          <a:ln/>
        </p:spPr>
        <p:txBody>
          <a:bodyPr wrap="square" lIns="0" tIns="0" rIns="0" bIns="0" rtlCol="0" anchor="ctr"/>
          <a:lstStyle/>
          <a:p>
            <a:r>
              <a:rPr lang="en-US" sz="1400" i="1" dirty="0">
                <a:solidFill>
                  <a:srgbClr val="6B82A0"/>
                </a:solidFill>
                <a:latin typeface="Calibri" pitchFamily="34" charset="0"/>
                <a:ea typeface="Calibri" pitchFamily="34" charset="-122"/>
                <a:cs typeface="Calibri" pitchFamily="34" charset="-120"/>
              </a:rPr>
              <a:t>type: int</a:t>
            </a:r>
            <a:endParaRPr lang="en-US" sz="1400" dirty="0"/>
          </a:p>
        </p:txBody>
      </p:sp>
      <p:sp>
        <p:nvSpPr>
          <p:cNvPr id="6" name="Text 4"/>
          <p:cNvSpPr/>
          <p:nvPr/>
        </p:nvSpPr>
        <p:spPr>
          <a:xfrm>
            <a:off x="682752" y="2267712"/>
            <a:ext cx="5059680" cy="1219200"/>
          </a:xfrm>
          <a:prstGeom prst="rect">
            <a:avLst/>
          </a:prstGeom>
          <a:noFill/>
          <a:ln/>
        </p:spPr>
        <p:txBody>
          <a:bodyPr wrap="square" lIns="0" tIns="0" rIns="0" bIns="0" rtlCol="0" anchor="ctr"/>
          <a:lstStyle/>
          <a:p>
            <a:r>
              <a:rPr lang="en-US" sz="1600" dirty="0">
                <a:solidFill>
                  <a:srgbClr val="2D4060"/>
                </a:solidFill>
                <a:latin typeface="Calibri" pitchFamily="34" charset="0"/>
                <a:ea typeface="Calibri" pitchFamily="34" charset="-122"/>
                <a:cs typeface="Calibri" pitchFamily="34" charset="-120"/>
              </a:rPr>
              <a:t>Cap on tool-use round trips. On hit → ResultMessage subtype error_max_turns. Prevents runaway sessions.</a:t>
            </a:r>
            <a:endParaRPr lang="en-US" sz="1600" dirty="0"/>
          </a:p>
        </p:txBody>
      </p:sp>
      <p:sp>
        <p:nvSpPr>
          <p:cNvPr id="7" name="Shape 5"/>
          <p:cNvSpPr/>
          <p:nvPr/>
        </p:nvSpPr>
        <p:spPr>
          <a:xfrm>
            <a:off x="6217920" y="1219200"/>
            <a:ext cx="5510784" cy="2414016"/>
          </a:xfrm>
          <a:prstGeom prst="roundRect">
            <a:avLst>
              <a:gd name="adj" fmla="val 5051"/>
            </a:avLst>
          </a:prstGeom>
          <a:solidFill>
            <a:srgbClr val="FFFFFF"/>
          </a:solidFill>
          <a:ln w="12700">
            <a:solidFill>
              <a:srgbClr val="E0EAF4"/>
            </a:solidFill>
            <a:prstDash val="solid"/>
          </a:ln>
          <a:effectLst>
            <a:outerShdw blurRad="101600" dist="25400" dir="2700000" algn="bl" rotWithShape="0">
              <a:srgbClr val="000000">
                <a:alpha val="10000"/>
              </a:srgbClr>
            </a:outerShdw>
          </a:effectLst>
        </p:spPr>
        <p:txBody>
          <a:bodyPr/>
          <a:lstStyle/>
          <a:p>
            <a:endParaRPr lang="en-US"/>
          </a:p>
        </p:txBody>
      </p:sp>
      <p:sp>
        <p:nvSpPr>
          <p:cNvPr id="8" name="Text 6"/>
          <p:cNvSpPr/>
          <p:nvPr/>
        </p:nvSpPr>
        <p:spPr>
          <a:xfrm>
            <a:off x="6437376" y="1365504"/>
            <a:ext cx="4876800" cy="512064"/>
          </a:xfrm>
          <a:prstGeom prst="rect">
            <a:avLst/>
          </a:prstGeom>
          <a:noFill/>
          <a:ln/>
        </p:spPr>
        <p:txBody>
          <a:bodyPr wrap="square" lIns="0" tIns="0" rIns="0" bIns="0" rtlCol="0" anchor="ctr"/>
          <a:lstStyle/>
          <a:p>
            <a:r>
              <a:rPr lang="en-US" sz="2267" b="1" dirty="0">
                <a:solidFill>
                  <a:srgbClr val="DC2626"/>
                </a:solidFill>
                <a:latin typeface="Courier New" pitchFamily="34" charset="0"/>
                <a:ea typeface="Courier New" pitchFamily="34" charset="-122"/>
                <a:cs typeface="Courier New" pitchFamily="34" charset="-120"/>
              </a:rPr>
              <a:t>max_budget_usd</a:t>
            </a:r>
            <a:endParaRPr lang="en-US" sz="2267" dirty="0"/>
          </a:p>
        </p:txBody>
      </p:sp>
      <p:sp>
        <p:nvSpPr>
          <p:cNvPr id="9" name="Text 7"/>
          <p:cNvSpPr/>
          <p:nvPr/>
        </p:nvSpPr>
        <p:spPr>
          <a:xfrm>
            <a:off x="6437376" y="1901952"/>
            <a:ext cx="4632960" cy="341376"/>
          </a:xfrm>
          <a:prstGeom prst="rect">
            <a:avLst/>
          </a:prstGeom>
          <a:noFill/>
          <a:ln/>
        </p:spPr>
        <p:txBody>
          <a:bodyPr wrap="square" lIns="0" tIns="0" rIns="0" bIns="0" rtlCol="0" anchor="ctr"/>
          <a:lstStyle/>
          <a:p>
            <a:r>
              <a:rPr lang="en-US" sz="1400" i="1" dirty="0">
                <a:solidFill>
                  <a:srgbClr val="6B82A0"/>
                </a:solidFill>
                <a:latin typeface="Calibri" pitchFamily="34" charset="0"/>
                <a:ea typeface="Calibri" pitchFamily="34" charset="-122"/>
                <a:cs typeface="Calibri" pitchFamily="34" charset="-120"/>
              </a:rPr>
              <a:t>type: float</a:t>
            </a:r>
            <a:endParaRPr lang="en-US" sz="1400" dirty="0"/>
          </a:p>
        </p:txBody>
      </p:sp>
      <p:sp>
        <p:nvSpPr>
          <p:cNvPr id="10" name="Text 8"/>
          <p:cNvSpPr/>
          <p:nvPr/>
        </p:nvSpPr>
        <p:spPr>
          <a:xfrm>
            <a:off x="6437376" y="2267712"/>
            <a:ext cx="5059680" cy="1219200"/>
          </a:xfrm>
          <a:prstGeom prst="rect">
            <a:avLst/>
          </a:prstGeom>
          <a:noFill/>
          <a:ln/>
        </p:spPr>
        <p:txBody>
          <a:bodyPr wrap="square" lIns="0" tIns="0" rIns="0" bIns="0" rtlCol="0" anchor="ctr"/>
          <a:lstStyle/>
          <a:p>
            <a:r>
              <a:rPr lang="en-US" sz="1600" dirty="0">
                <a:solidFill>
                  <a:srgbClr val="2D4060"/>
                </a:solidFill>
                <a:latin typeface="Calibri" pitchFamily="34" charset="0"/>
                <a:ea typeface="Calibri" pitchFamily="34" charset="-122"/>
                <a:cs typeface="Calibri" pitchFamily="34" charset="-120"/>
              </a:rPr>
              <a:t>Hard spend ceiling in USD. On hit → error_max_budget_usd. Always set this in production — no cap, no ceiling.</a:t>
            </a:r>
            <a:endParaRPr lang="en-US" sz="1600" dirty="0"/>
          </a:p>
        </p:txBody>
      </p:sp>
      <p:sp>
        <p:nvSpPr>
          <p:cNvPr id="11" name="Shape 9"/>
          <p:cNvSpPr/>
          <p:nvPr/>
        </p:nvSpPr>
        <p:spPr>
          <a:xfrm>
            <a:off x="463296" y="3840480"/>
            <a:ext cx="5510784" cy="2414016"/>
          </a:xfrm>
          <a:prstGeom prst="roundRect">
            <a:avLst>
              <a:gd name="adj" fmla="val 5051"/>
            </a:avLst>
          </a:prstGeom>
          <a:solidFill>
            <a:srgbClr val="FFFFFF"/>
          </a:solidFill>
          <a:ln w="12700">
            <a:solidFill>
              <a:srgbClr val="E0EAF4"/>
            </a:solidFill>
            <a:prstDash val="solid"/>
          </a:ln>
          <a:effectLst>
            <a:outerShdw blurRad="101600" dist="25400" dir="2700000" algn="bl" rotWithShape="0">
              <a:srgbClr val="000000">
                <a:alpha val="10000"/>
              </a:srgbClr>
            </a:outerShdw>
          </a:effectLst>
        </p:spPr>
        <p:txBody>
          <a:bodyPr/>
          <a:lstStyle/>
          <a:p>
            <a:endParaRPr lang="en-US"/>
          </a:p>
        </p:txBody>
      </p:sp>
      <p:sp>
        <p:nvSpPr>
          <p:cNvPr id="12" name="Text 10"/>
          <p:cNvSpPr/>
          <p:nvPr/>
        </p:nvSpPr>
        <p:spPr>
          <a:xfrm>
            <a:off x="682752" y="3986784"/>
            <a:ext cx="4876800" cy="512064"/>
          </a:xfrm>
          <a:prstGeom prst="rect">
            <a:avLst/>
          </a:prstGeom>
          <a:noFill/>
          <a:ln/>
        </p:spPr>
        <p:txBody>
          <a:bodyPr wrap="square" lIns="0" tIns="0" rIns="0" bIns="0" rtlCol="0" anchor="ctr"/>
          <a:lstStyle/>
          <a:p>
            <a:r>
              <a:rPr lang="en-US" sz="2267" b="1" dirty="0">
                <a:solidFill>
                  <a:srgbClr val="6B48C4"/>
                </a:solidFill>
                <a:latin typeface="Courier New" pitchFamily="34" charset="0"/>
                <a:ea typeface="Courier New" pitchFamily="34" charset="-122"/>
                <a:cs typeface="Courier New" pitchFamily="34" charset="-120"/>
              </a:rPr>
              <a:t>effort</a:t>
            </a:r>
            <a:endParaRPr lang="en-US" sz="2267" dirty="0"/>
          </a:p>
        </p:txBody>
      </p:sp>
      <p:sp>
        <p:nvSpPr>
          <p:cNvPr id="13" name="Text 11"/>
          <p:cNvSpPr/>
          <p:nvPr/>
        </p:nvSpPr>
        <p:spPr>
          <a:xfrm>
            <a:off x="682752" y="4523232"/>
            <a:ext cx="4632960" cy="341376"/>
          </a:xfrm>
          <a:prstGeom prst="rect">
            <a:avLst/>
          </a:prstGeom>
          <a:noFill/>
          <a:ln/>
        </p:spPr>
        <p:txBody>
          <a:bodyPr wrap="square" lIns="0" tIns="0" rIns="0" bIns="0" rtlCol="0" anchor="ctr"/>
          <a:lstStyle/>
          <a:p>
            <a:r>
              <a:rPr lang="en-US" sz="1400" i="1" dirty="0">
                <a:solidFill>
                  <a:srgbClr val="6B82A0"/>
                </a:solidFill>
                <a:latin typeface="Calibri" pitchFamily="34" charset="0"/>
                <a:ea typeface="Calibri" pitchFamily="34" charset="-122"/>
                <a:cs typeface="Calibri" pitchFamily="34" charset="-120"/>
              </a:rPr>
              <a:t>type: str</a:t>
            </a:r>
            <a:endParaRPr lang="en-US" sz="1400" dirty="0"/>
          </a:p>
        </p:txBody>
      </p:sp>
      <p:sp>
        <p:nvSpPr>
          <p:cNvPr id="14" name="Text 12"/>
          <p:cNvSpPr/>
          <p:nvPr/>
        </p:nvSpPr>
        <p:spPr>
          <a:xfrm>
            <a:off x="682752" y="4888992"/>
            <a:ext cx="5059680" cy="1219200"/>
          </a:xfrm>
          <a:prstGeom prst="rect">
            <a:avLst/>
          </a:prstGeom>
          <a:noFill/>
          <a:ln/>
        </p:spPr>
        <p:txBody>
          <a:bodyPr wrap="square" lIns="0" tIns="0" rIns="0" bIns="0" rtlCol="0" anchor="ctr"/>
          <a:lstStyle/>
          <a:p>
            <a:r>
              <a:rPr lang="en-US" sz="1600" dirty="0">
                <a:solidFill>
                  <a:srgbClr val="2D4060"/>
                </a:solidFill>
                <a:latin typeface="Calibri" pitchFamily="34" charset="0"/>
                <a:ea typeface="Calibri" pitchFamily="34" charset="-122"/>
                <a:cs typeface="Calibri" pitchFamily="34" charset="-120"/>
              </a:rPr>
              <a:t>Reasoning depth: "low" | "medium" | "high" | "xhigh" | "max". "high" enables extended thinking — consumes context fast.</a:t>
            </a:r>
            <a:endParaRPr lang="en-US" sz="1600" dirty="0"/>
          </a:p>
        </p:txBody>
      </p:sp>
      <p:sp>
        <p:nvSpPr>
          <p:cNvPr id="15" name="Shape 13"/>
          <p:cNvSpPr/>
          <p:nvPr/>
        </p:nvSpPr>
        <p:spPr>
          <a:xfrm>
            <a:off x="6217920" y="3840480"/>
            <a:ext cx="5510784" cy="2414016"/>
          </a:xfrm>
          <a:prstGeom prst="roundRect">
            <a:avLst>
              <a:gd name="adj" fmla="val 5051"/>
            </a:avLst>
          </a:prstGeom>
          <a:solidFill>
            <a:srgbClr val="FFFFFF"/>
          </a:solidFill>
          <a:ln w="12700">
            <a:solidFill>
              <a:srgbClr val="E0EAF4"/>
            </a:solidFill>
            <a:prstDash val="solid"/>
          </a:ln>
          <a:effectLst>
            <a:outerShdw blurRad="101600" dist="25400" dir="2700000" algn="bl" rotWithShape="0">
              <a:srgbClr val="000000">
                <a:alpha val="10000"/>
              </a:srgbClr>
            </a:outerShdw>
          </a:effectLst>
        </p:spPr>
        <p:txBody>
          <a:bodyPr/>
          <a:lstStyle/>
          <a:p>
            <a:endParaRPr lang="en-US"/>
          </a:p>
        </p:txBody>
      </p:sp>
      <p:sp>
        <p:nvSpPr>
          <p:cNvPr id="16" name="Text 14"/>
          <p:cNvSpPr/>
          <p:nvPr/>
        </p:nvSpPr>
        <p:spPr>
          <a:xfrm>
            <a:off x="6437376" y="3986784"/>
            <a:ext cx="4876800" cy="512064"/>
          </a:xfrm>
          <a:prstGeom prst="rect">
            <a:avLst/>
          </a:prstGeom>
          <a:noFill/>
          <a:ln/>
        </p:spPr>
        <p:txBody>
          <a:bodyPr wrap="square" lIns="0" tIns="0" rIns="0" bIns="0" rtlCol="0" anchor="ctr"/>
          <a:lstStyle/>
          <a:p>
            <a:r>
              <a:rPr lang="en-US" sz="2267" b="1" dirty="0">
                <a:solidFill>
                  <a:srgbClr val="059669"/>
                </a:solidFill>
                <a:latin typeface="Courier New" pitchFamily="34" charset="0"/>
                <a:ea typeface="Courier New" pitchFamily="34" charset="-122"/>
                <a:cs typeface="Courier New" pitchFamily="34" charset="-120"/>
              </a:rPr>
              <a:t>permission_mode</a:t>
            </a:r>
            <a:endParaRPr lang="en-US" sz="2267" dirty="0"/>
          </a:p>
        </p:txBody>
      </p:sp>
      <p:sp>
        <p:nvSpPr>
          <p:cNvPr id="17" name="Text 15"/>
          <p:cNvSpPr/>
          <p:nvPr/>
        </p:nvSpPr>
        <p:spPr>
          <a:xfrm>
            <a:off x="6437376" y="4523232"/>
            <a:ext cx="4632960" cy="341376"/>
          </a:xfrm>
          <a:prstGeom prst="rect">
            <a:avLst/>
          </a:prstGeom>
          <a:noFill/>
          <a:ln/>
        </p:spPr>
        <p:txBody>
          <a:bodyPr wrap="square" lIns="0" tIns="0" rIns="0" bIns="0" rtlCol="0" anchor="ctr"/>
          <a:lstStyle/>
          <a:p>
            <a:r>
              <a:rPr lang="en-US" sz="1400" i="1" dirty="0">
                <a:solidFill>
                  <a:srgbClr val="6B82A0"/>
                </a:solidFill>
                <a:latin typeface="Calibri" pitchFamily="34" charset="0"/>
                <a:ea typeface="Calibri" pitchFamily="34" charset="-122"/>
                <a:cs typeface="Calibri" pitchFamily="34" charset="-120"/>
              </a:rPr>
              <a:t>type: str</a:t>
            </a:r>
            <a:endParaRPr lang="en-US" sz="1400" dirty="0"/>
          </a:p>
        </p:txBody>
      </p:sp>
      <p:sp>
        <p:nvSpPr>
          <p:cNvPr id="18" name="Text 16"/>
          <p:cNvSpPr/>
          <p:nvPr/>
        </p:nvSpPr>
        <p:spPr>
          <a:xfrm>
            <a:off x="6437376" y="4888992"/>
            <a:ext cx="5059680" cy="1219200"/>
          </a:xfrm>
          <a:prstGeom prst="rect">
            <a:avLst/>
          </a:prstGeom>
          <a:noFill/>
          <a:ln/>
        </p:spPr>
        <p:txBody>
          <a:bodyPr wrap="square" lIns="0" tIns="0" rIns="0" bIns="0" rtlCol="0" anchor="ctr"/>
          <a:lstStyle/>
          <a:p>
            <a:r>
              <a:rPr lang="en-US" sz="1600" dirty="0">
                <a:solidFill>
                  <a:srgbClr val="2D4060"/>
                </a:solidFill>
                <a:latin typeface="Calibri" pitchFamily="34" charset="0"/>
                <a:ea typeface="Calibri" pitchFamily="34" charset="-122"/>
                <a:cs typeface="Calibri" pitchFamily="34" charset="-120"/>
              </a:rPr>
              <a:t>"dontAsk" — approve all tools silently (CI). "default" — callback for unlisted tools. "bypassPermissions" — containers.</a:t>
            </a:r>
            <a:endParaRPr lang="en-US" sz="1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219456"/>
            <a:ext cx="10972800" cy="792480"/>
          </a:xfrm>
          <a:prstGeom prst="rect">
            <a:avLst/>
          </a:prstGeom>
          <a:noFill/>
          <a:ln/>
        </p:spPr>
        <p:txBody>
          <a:bodyPr wrap="square" lIns="0" tIns="0" rIns="0" bIns="0" rtlCol="0" anchor="ctr"/>
          <a:lstStyle/>
          <a:p>
            <a:r>
              <a:rPr lang="en-US" sz="4533" b="1" dirty="0">
                <a:solidFill>
                  <a:srgbClr val="1A2B5E"/>
                </a:solidFill>
                <a:latin typeface="Calibri" pitchFamily="34" charset="0"/>
                <a:ea typeface="Calibri" pitchFamily="34" charset="-122"/>
                <a:cs typeface="Calibri" pitchFamily="34" charset="-120"/>
              </a:rPr>
              <a:t>Effort Levels</a:t>
            </a:r>
            <a:endParaRPr lang="en-US" sz="4533" dirty="0"/>
          </a:p>
        </p:txBody>
      </p:sp>
      <p:sp>
        <p:nvSpPr>
          <p:cNvPr id="3" name="Shape 1"/>
          <p:cNvSpPr/>
          <p:nvPr/>
        </p:nvSpPr>
        <p:spPr>
          <a:xfrm>
            <a:off x="487680" y="1219200"/>
            <a:ext cx="11216640" cy="950976"/>
          </a:xfrm>
          <a:prstGeom prst="roundRect">
            <a:avLst>
              <a:gd name="adj" fmla="val 10256"/>
            </a:avLst>
          </a:prstGeom>
          <a:solidFill>
            <a:srgbClr val="FFFFFF"/>
          </a:solidFill>
          <a:ln w="12700">
            <a:solidFill>
              <a:srgbClr val="E0EAF4"/>
            </a:solidFill>
            <a:prstDash val="solid"/>
          </a:ln>
          <a:effectLst>
            <a:outerShdw blurRad="101600" dist="25400" dir="2700000" algn="bl" rotWithShape="0">
              <a:srgbClr val="000000">
                <a:alpha val="10000"/>
              </a:srgbClr>
            </a:outerShdw>
          </a:effectLst>
        </p:spPr>
        <p:txBody>
          <a:bodyPr/>
          <a:lstStyle/>
          <a:p>
            <a:endParaRPr lang="en-US"/>
          </a:p>
        </p:txBody>
      </p:sp>
      <p:sp>
        <p:nvSpPr>
          <p:cNvPr id="4" name="Shape 2"/>
          <p:cNvSpPr/>
          <p:nvPr/>
        </p:nvSpPr>
        <p:spPr>
          <a:xfrm>
            <a:off x="682752" y="1389888"/>
            <a:ext cx="1365504" cy="585216"/>
          </a:xfrm>
          <a:prstGeom prst="roundRect">
            <a:avLst>
              <a:gd name="adj" fmla="val 20833"/>
            </a:avLst>
          </a:prstGeom>
          <a:solidFill>
            <a:srgbClr val="059669"/>
          </a:solidFill>
          <a:ln w="12700">
            <a:solidFill>
              <a:srgbClr val="059669"/>
            </a:solidFill>
            <a:prstDash val="solid"/>
          </a:ln>
        </p:spPr>
        <p:txBody>
          <a:bodyPr/>
          <a:lstStyle/>
          <a:p>
            <a:endParaRPr lang="en-US"/>
          </a:p>
        </p:txBody>
      </p:sp>
      <p:sp>
        <p:nvSpPr>
          <p:cNvPr id="5" name="Text 3"/>
          <p:cNvSpPr/>
          <p:nvPr/>
        </p:nvSpPr>
        <p:spPr>
          <a:xfrm>
            <a:off x="682752" y="1389888"/>
            <a:ext cx="1365504" cy="585216"/>
          </a:xfrm>
          <a:prstGeom prst="rect">
            <a:avLst/>
          </a:prstGeom>
          <a:noFill/>
          <a:ln/>
        </p:spPr>
        <p:txBody>
          <a:bodyPr wrap="square" lIns="0" tIns="0" rIns="0" bIns="0" rtlCol="0" anchor="ctr"/>
          <a:lstStyle/>
          <a:p>
            <a:pPr algn="ctr"/>
            <a:r>
              <a:rPr lang="en-US" sz="1600" b="1" dirty="0">
                <a:solidFill>
                  <a:srgbClr val="FFFFFF"/>
                </a:solidFill>
                <a:latin typeface="Courier New" pitchFamily="34" charset="0"/>
                <a:ea typeface="Courier New" pitchFamily="34" charset="-122"/>
                <a:cs typeface="Courier New" pitchFamily="34" charset="-120"/>
              </a:rPr>
              <a:t>"low"</a:t>
            </a:r>
            <a:endParaRPr lang="en-US" sz="1600" dirty="0"/>
          </a:p>
        </p:txBody>
      </p:sp>
      <p:sp>
        <p:nvSpPr>
          <p:cNvPr id="6" name="Text 4"/>
          <p:cNvSpPr/>
          <p:nvPr/>
        </p:nvSpPr>
        <p:spPr>
          <a:xfrm>
            <a:off x="2218944" y="1316736"/>
            <a:ext cx="4328160" cy="755904"/>
          </a:xfrm>
          <a:prstGeom prst="rect">
            <a:avLst/>
          </a:prstGeom>
          <a:noFill/>
          <a:ln/>
        </p:spPr>
        <p:txBody>
          <a:bodyPr wrap="square" lIns="0" tIns="0" rIns="0" bIns="0" rtlCol="0" anchor="ctr"/>
          <a:lstStyle/>
          <a:p>
            <a:r>
              <a:rPr lang="en-US" sz="1667" b="1" dirty="0">
                <a:solidFill>
                  <a:srgbClr val="1A2B5E"/>
                </a:solidFill>
                <a:latin typeface="Calibri" pitchFamily="34" charset="0"/>
                <a:ea typeface="Calibri" pitchFamily="34" charset="-122"/>
                <a:cs typeface="Calibri" pitchFamily="34" charset="-120"/>
              </a:rPr>
              <a:t>Minimal reasoning. Fast, cheap.</a:t>
            </a:r>
            <a:endParaRPr lang="en-US" sz="1667" dirty="0"/>
          </a:p>
        </p:txBody>
      </p:sp>
      <p:sp>
        <p:nvSpPr>
          <p:cNvPr id="7" name="Text 5"/>
          <p:cNvSpPr/>
          <p:nvPr/>
        </p:nvSpPr>
        <p:spPr>
          <a:xfrm>
            <a:off x="6705600" y="1316736"/>
            <a:ext cx="4754880" cy="755904"/>
          </a:xfrm>
          <a:prstGeom prst="rect">
            <a:avLst/>
          </a:prstGeom>
          <a:noFill/>
          <a:ln/>
        </p:spPr>
        <p:txBody>
          <a:bodyPr wrap="square" lIns="0" tIns="0" rIns="0" bIns="0" rtlCol="0" anchor="ctr"/>
          <a:lstStyle/>
          <a:p>
            <a:r>
              <a:rPr lang="en-US" sz="1533" dirty="0">
                <a:solidFill>
                  <a:srgbClr val="6B82A0"/>
                </a:solidFill>
                <a:latin typeface="Calibri" pitchFamily="34" charset="0"/>
                <a:ea typeface="Calibri" pitchFamily="34" charset="-122"/>
                <a:cs typeface="Calibri" pitchFamily="34" charset="-120"/>
              </a:rPr>
              <a:t>File lookups, simple greps, directory listings.</a:t>
            </a:r>
            <a:endParaRPr lang="en-US" sz="1533" dirty="0"/>
          </a:p>
        </p:txBody>
      </p:sp>
      <p:sp>
        <p:nvSpPr>
          <p:cNvPr id="8" name="Shape 6"/>
          <p:cNvSpPr/>
          <p:nvPr/>
        </p:nvSpPr>
        <p:spPr>
          <a:xfrm>
            <a:off x="487680" y="2292096"/>
            <a:ext cx="11216640" cy="950976"/>
          </a:xfrm>
          <a:prstGeom prst="roundRect">
            <a:avLst>
              <a:gd name="adj" fmla="val 10256"/>
            </a:avLst>
          </a:prstGeom>
          <a:solidFill>
            <a:srgbClr val="FFFFFF"/>
          </a:solidFill>
          <a:ln w="12700">
            <a:solidFill>
              <a:srgbClr val="E0EAF4"/>
            </a:solidFill>
            <a:prstDash val="solid"/>
          </a:ln>
          <a:effectLst>
            <a:outerShdw blurRad="101600" dist="25400" dir="2700000" algn="bl" rotWithShape="0">
              <a:srgbClr val="000000">
                <a:alpha val="10000"/>
              </a:srgbClr>
            </a:outerShdw>
          </a:effectLst>
        </p:spPr>
        <p:txBody>
          <a:bodyPr/>
          <a:lstStyle/>
          <a:p>
            <a:endParaRPr lang="en-US"/>
          </a:p>
        </p:txBody>
      </p:sp>
      <p:sp>
        <p:nvSpPr>
          <p:cNvPr id="9" name="Shape 7"/>
          <p:cNvSpPr/>
          <p:nvPr/>
        </p:nvSpPr>
        <p:spPr>
          <a:xfrm>
            <a:off x="682752" y="2462784"/>
            <a:ext cx="1365504" cy="585216"/>
          </a:xfrm>
          <a:prstGeom prst="roundRect">
            <a:avLst>
              <a:gd name="adj" fmla="val 20833"/>
            </a:avLst>
          </a:prstGeom>
          <a:solidFill>
            <a:srgbClr val="0D6EAD"/>
          </a:solidFill>
          <a:ln w="12700">
            <a:solidFill>
              <a:srgbClr val="0D6EAD"/>
            </a:solidFill>
            <a:prstDash val="solid"/>
          </a:ln>
        </p:spPr>
        <p:txBody>
          <a:bodyPr/>
          <a:lstStyle/>
          <a:p>
            <a:endParaRPr lang="en-US"/>
          </a:p>
        </p:txBody>
      </p:sp>
      <p:sp>
        <p:nvSpPr>
          <p:cNvPr id="10" name="Text 8"/>
          <p:cNvSpPr/>
          <p:nvPr/>
        </p:nvSpPr>
        <p:spPr>
          <a:xfrm>
            <a:off x="682752" y="2462784"/>
            <a:ext cx="1365504" cy="585216"/>
          </a:xfrm>
          <a:prstGeom prst="rect">
            <a:avLst/>
          </a:prstGeom>
          <a:noFill/>
          <a:ln/>
        </p:spPr>
        <p:txBody>
          <a:bodyPr wrap="square" lIns="0" tIns="0" rIns="0" bIns="0" rtlCol="0" anchor="ctr"/>
          <a:lstStyle/>
          <a:p>
            <a:pPr algn="ctr"/>
            <a:r>
              <a:rPr lang="en-US" sz="1600" b="1" dirty="0">
                <a:solidFill>
                  <a:srgbClr val="FFFFFF"/>
                </a:solidFill>
                <a:latin typeface="Courier New" pitchFamily="34" charset="0"/>
                <a:ea typeface="Courier New" pitchFamily="34" charset="-122"/>
                <a:cs typeface="Courier New" pitchFamily="34" charset="-120"/>
              </a:rPr>
              <a:t>"medium"</a:t>
            </a:r>
            <a:endParaRPr lang="en-US" sz="1600" dirty="0"/>
          </a:p>
        </p:txBody>
      </p:sp>
      <p:sp>
        <p:nvSpPr>
          <p:cNvPr id="11" name="Text 9"/>
          <p:cNvSpPr/>
          <p:nvPr/>
        </p:nvSpPr>
        <p:spPr>
          <a:xfrm>
            <a:off x="2218944" y="2389632"/>
            <a:ext cx="4328160" cy="755904"/>
          </a:xfrm>
          <a:prstGeom prst="rect">
            <a:avLst/>
          </a:prstGeom>
          <a:noFill/>
          <a:ln/>
        </p:spPr>
        <p:txBody>
          <a:bodyPr wrap="square" lIns="0" tIns="0" rIns="0" bIns="0" rtlCol="0" anchor="ctr"/>
          <a:lstStyle/>
          <a:p>
            <a:r>
              <a:rPr lang="en-US" sz="1667" b="1" dirty="0">
                <a:solidFill>
                  <a:srgbClr val="1A2B5E"/>
                </a:solidFill>
                <a:latin typeface="Calibri" pitchFamily="34" charset="0"/>
                <a:ea typeface="Calibri" pitchFamily="34" charset="-122"/>
                <a:cs typeface="Calibri" pitchFamily="34" charset="-120"/>
              </a:rPr>
              <a:t>Balanced reasoning and speed.</a:t>
            </a:r>
            <a:endParaRPr lang="en-US" sz="1667" dirty="0"/>
          </a:p>
        </p:txBody>
      </p:sp>
      <p:sp>
        <p:nvSpPr>
          <p:cNvPr id="12" name="Text 10"/>
          <p:cNvSpPr/>
          <p:nvPr/>
        </p:nvSpPr>
        <p:spPr>
          <a:xfrm>
            <a:off x="6705600" y="2389632"/>
            <a:ext cx="4754880" cy="755904"/>
          </a:xfrm>
          <a:prstGeom prst="rect">
            <a:avLst/>
          </a:prstGeom>
          <a:noFill/>
          <a:ln/>
        </p:spPr>
        <p:txBody>
          <a:bodyPr wrap="square" lIns="0" tIns="0" rIns="0" bIns="0" rtlCol="0" anchor="ctr"/>
          <a:lstStyle/>
          <a:p>
            <a:r>
              <a:rPr lang="en-US" sz="1533" dirty="0">
                <a:solidFill>
                  <a:srgbClr val="6B82A0"/>
                </a:solidFill>
                <a:latin typeface="Calibri" pitchFamily="34" charset="0"/>
                <a:ea typeface="Calibri" pitchFamily="34" charset="-122"/>
                <a:cs typeface="Calibri" pitchFamily="34" charset="-120"/>
              </a:rPr>
              <a:t>Routine edits, standard tasks. Recommended default.</a:t>
            </a:r>
            <a:endParaRPr lang="en-US" sz="1533" dirty="0"/>
          </a:p>
        </p:txBody>
      </p:sp>
      <p:sp>
        <p:nvSpPr>
          <p:cNvPr id="13" name="Shape 11"/>
          <p:cNvSpPr/>
          <p:nvPr/>
        </p:nvSpPr>
        <p:spPr>
          <a:xfrm>
            <a:off x="487680" y="3364992"/>
            <a:ext cx="11216640" cy="950976"/>
          </a:xfrm>
          <a:prstGeom prst="roundRect">
            <a:avLst>
              <a:gd name="adj" fmla="val 10256"/>
            </a:avLst>
          </a:prstGeom>
          <a:solidFill>
            <a:srgbClr val="FFFFFF"/>
          </a:solidFill>
          <a:ln w="12700">
            <a:solidFill>
              <a:srgbClr val="E0EAF4"/>
            </a:solidFill>
            <a:prstDash val="solid"/>
          </a:ln>
          <a:effectLst>
            <a:outerShdw blurRad="101600" dist="25400" dir="2700000" algn="bl" rotWithShape="0">
              <a:srgbClr val="000000">
                <a:alpha val="10000"/>
              </a:srgbClr>
            </a:outerShdw>
          </a:effectLst>
        </p:spPr>
        <p:txBody>
          <a:bodyPr/>
          <a:lstStyle/>
          <a:p>
            <a:endParaRPr lang="en-US"/>
          </a:p>
        </p:txBody>
      </p:sp>
      <p:sp>
        <p:nvSpPr>
          <p:cNvPr id="14" name="Shape 12"/>
          <p:cNvSpPr/>
          <p:nvPr/>
        </p:nvSpPr>
        <p:spPr>
          <a:xfrm>
            <a:off x="682752" y="3535680"/>
            <a:ext cx="1365504" cy="585216"/>
          </a:xfrm>
          <a:prstGeom prst="roundRect">
            <a:avLst>
              <a:gd name="adj" fmla="val 20833"/>
            </a:avLst>
          </a:prstGeom>
          <a:solidFill>
            <a:srgbClr val="D97706"/>
          </a:solidFill>
          <a:ln w="12700">
            <a:solidFill>
              <a:srgbClr val="D97706"/>
            </a:solidFill>
            <a:prstDash val="solid"/>
          </a:ln>
        </p:spPr>
        <p:txBody>
          <a:bodyPr/>
          <a:lstStyle/>
          <a:p>
            <a:endParaRPr lang="en-US"/>
          </a:p>
        </p:txBody>
      </p:sp>
      <p:sp>
        <p:nvSpPr>
          <p:cNvPr id="15" name="Text 13"/>
          <p:cNvSpPr/>
          <p:nvPr/>
        </p:nvSpPr>
        <p:spPr>
          <a:xfrm>
            <a:off x="682752" y="3535680"/>
            <a:ext cx="1365504" cy="585216"/>
          </a:xfrm>
          <a:prstGeom prst="rect">
            <a:avLst/>
          </a:prstGeom>
          <a:noFill/>
          <a:ln/>
        </p:spPr>
        <p:txBody>
          <a:bodyPr wrap="square" lIns="0" tIns="0" rIns="0" bIns="0" rtlCol="0" anchor="ctr"/>
          <a:lstStyle/>
          <a:p>
            <a:pPr algn="ctr"/>
            <a:r>
              <a:rPr lang="en-US" sz="1600" b="1" dirty="0">
                <a:solidFill>
                  <a:srgbClr val="FFFFFF"/>
                </a:solidFill>
                <a:latin typeface="Courier New" pitchFamily="34" charset="0"/>
                <a:ea typeface="Courier New" pitchFamily="34" charset="-122"/>
                <a:cs typeface="Courier New" pitchFamily="34" charset="-120"/>
              </a:rPr>
              <a:t>"high"</a:t>
            </a:r>
            <a:endParaRPr lang="en-US" sz="1600" dirty="0"/>
          </a:p>
        </p:txBody>
      </p:sp>
      <p:sp>
        <p:nvSpPr>
          <p:cNvPr id="16" name="Text 14"/>
          <p:cNvSpPr/>
          <p:nvPr/>
        </p:nvSpPr>
        <p:spPr>
          <a:xfrm>
            <a:off x="2218944" y="3462528"/>
            <a:ext cx="4328160" cy="755904"/>
          </a:xfrm>
          <a:prstGeom prst="rect">
            <a:avLst/>
          </a:prstGeom>
          <a:noFill/>
          <a:ln/>
        </p:spPr>
        <p:txBody>
          <a:bodyPr wrap="square" lIns="0" tIns="0" rIns="0" bIns="0" rtlCol="0" anchor="ctr"/>
          <a:lstStyle/>
          <a:p>
            <a:r>
              <a:rPr lang="en-US" sz="1667" b="1" dirty="0">
                <a:solidFill>
                  <a:srgbClr val="1A2B5E"/>
                </a:solidFill>
                <a:latin typeface="Calibri" pitchFamily="34" charset="0"/>
                <a:ea typeface="Calibri" pitchFamily="34" charset="-122"/>
                <a:cs typeface="Calibri" pitchFamily="34" charset="-120"/>
              </a:rPr>
              <a:t>Thorough analysis. Extended thinking ON.</a:t>
            </a:r>
            <a:endParaRPr lang="en-US" sz="1667" dirty="0"/>
          </a:p>
        </p:txBody>
      </p:sp>
      <p:sp>
        <p:nvSpPr>
          <p:cNvPr id="17" name="Text 15"/>
          <p:cNvSpPr/>
          <p:nvPr/>
        </p:nvSpPr>
        <p:spPr>
          <a:xfrm>
            <a:off x="6705600" y="3462528"/>
            <a:ext cx="4754880" cy="755904"/>
          </a:xfrm>
          <a:prstGeom prst="rect">
            <a:avLst/>
          </a:prstGeom>
          <a:noFill/>
          <a:ln/>
        </p:spPr>
        <p:txBody>
          <a:bodyPr wrap="square" lIns="0" tIns="0" rIns="0" bIns="0" rtlCol="0" anchor="ctr"/>
          <a:lstStyle/>
          <a:p>
            <a:r>
              <a:rPr lang="en-US" sz="1533" dirty="0">
                <a:solidFill>
                  <a:srgbClr val="6B82A0"/>
                </a:solidFill>
                <a:latin typeface="Calibri" pitchFamily="34" charset="0"/>
                <a:ea typeface="Calibri" pitchFamily="34" charset="-122"/>
                <a:cs typeface="Calibri" pitchFamily="34" charset="-120"/>
              </a:rPr>
              <a:t>Refactors, debugging. Burns context fast — use with care.</a:t>
            </a:r>
            <a:endParaRPr lang="en-US" sz="1533" dirty="0"/>
          </a:p>
        </p:txBody>
      </p:sp>
      <p:sp>
        <p:nvSpPr>
          <p:cNvPr id="18" name="Shape 16"/>
          <p:cNvSpPr/>
          <p:nvPr/>
        </p:nvSpPr>
        <p:spPr>
          <a:xfrm>
            <a:off x="487680" y="4437888"/>
            <a:ext cx="11216640" cy="950976"/>
          </a:xfrm>
          <a:prstGeom prst="roundRect">
            <a:avLst>
              <a:gd name="adj" fmla="val 10256"/>
            </a:avLst>
          </a:prstGeom>
          <a:solidFill>
            <a:srgbClr val="FFFFFF"/>
          </a:solidFill>
          <a:ln w="12700">
            <a:solidFill>
              <a:srgbClr val="E0EAF4"/>
            </a:solidFill>
            <a:prstDash val="solid"/>
          </a:ln>
          <a:effectLst>
            <a:outerShdw blurRad="101600" dist="25400" dir="2700000" algn="bl" rotWithShape="0">
              <a:srgbClr val="000000">
                <a:alpha val="10000"/>
              </a:srgbClr>
            </a:outerShdw>
          </a:effectLst>
        </p:spPr>
        <p:txBody>
          <a:bodyPr/>
          <a:lstStyle/>
          <a:p>
            <a:endParaRPr lang="en-US"/>
          </a:p>
        </p:txBody>
      </p:sp>
      <p:sp>
        <p:nvSpPr>
          <p:cNvPr id="19" name="Shape 17"/>
          <p:cNvSpPr/>
          <p:nvPr/>
        </p:nvSpPr>
        <p:spPr>
          <a:xfrm>
            <a:off x="682752" y="4608576"/>
            <a:ext cx="1365504" cy="585216"/>
          </a:xfrm>
          <a:prstGeom prst="roundRect">
            <a:avLst>
              <a:gd name="adj" fmla="val 20833"/>
            </a:avLst>
          </a:prstGeom>
          <a:solidFill>
            <a:srgbClr val="DC2626"/>
          </a:solidFill>
          <a:ln w="12700">
            <a:solidFill>
              <a:srgbClr val="DC2626"/>
            </a:solidFill>
            <a:prstDash val="solid"/>
          </a:ln>
        </p:spPr>
        <p:txBody>
          <a:bodyPr/>
          <a:lstStyle/>
          <a:p>
            <a:endParaRPr lang="en-US"/>
          </a:p>
        </p:txBody>
      </p:sp>
      <p:sp>
        <p:nvSpPr>
          <p:cNvPr id="20" name="Text 18"/>
          <p:cNvSpPr/>
          <p:nvPr/>
        </p:nvSpPr>
        <p:spPr>
          <a:xfrm>
            <a:off x="682752" y="4608576"/>
            <a:ext cx="1365504" cy="585216"/>
          </a:xfrm>
          <a:prstGeom prst="rect">
            <a:avLst/>
          </a:prstGeom>
          <a:noFill/>
          <a:ln/>
        </p:spPr>
        <p:txBody>
          <a:bodyPr wrap="square" lIns="0" tIns="0" rIns="0" bIns="0" rtlCol="0" anchor="ctr"/>
          <a:lstStyle/>
          <a:p>
            <a:pPr algn="ctr"/>
            <a:r>
              <a:rPr lang="en-US" sz="1600" b="1" dirty="0">
                <a:solidFill>
                  <a:srgbClr val="FFFFFF"/>
                </a:solidFill>
                <a:latin typeface="Courier New" pitchFamily="34" charset="0"/>
                <a:ea typeface="Courier New" pitchFamily="34" charset="-122"/>
                <a:cs typeface="Courier New" pitchFamily="34" charset="-120"/>
              </a:rPr>
              <a:t>"xhigh"</a:t>
            </a:r>
            <a:endParaRPr lang="en-US" sz="1600" dirty="0"/>
          </a:p>
        </p:txBody>
      </p:sp>
      <p:sp>
        <p:nvSpPr>
          <p:cNvPr id="21" name="Text 19"/>
          <p:cNvSpPr/>
          <p:nvPr/>
        </p:nvSpPr>
        <p:spPr>
          <a:xfrm>
            <a:off x="2218944" y="4535424"/>
            <a:ext cx="4328160" cy="755904"/>
          </a:xfrm>
          <a:prstGeom prst="rect">
            <a:avLst/>
          </a:prstGeom>
          <a:noFill/>
          <a:ln/>
        </p:spPr>
        <p:txBody>
          <a:bodyPr wrap="square" lIns="0" tIns="0" rIns="0" bIns="0" rtlCol="0" anchor="ctr"/>
          <a:lstStyle/>
          <a:p>
            <a:r>
              <a:rPr lang="en-US" sz="1667" b="1" dirty="0">
                <a:solidFill>
                  <a:srgbClr val="1A2B5E"/>
                </a:solidFill>
                <a:latin typeface="Calibri" pitchFamily="34" charset="0"/>
                <a:ea typeface="Calibri" pitchFamily="34" charset="-122"/>
                <a:cs typeface="Calibri" pitchFamily="34" charset="-120"/>
              </a:rPr>
              <a:t>Extended reasoning depth.</a:t>
            </a:r>
            <a:endParaRPr lang="en-US" sz="1667" dirty="0"/>
          </a:p>
        </p:txBody>
      </p:sp>
      <p:sp>
        <p:nvSpPr>
          <p:cNvPr id="22" name="Text 20"/>
          <p:cNvSpPr/>
          <p:nvPr/>
        </p:nvSpPr>
        <p:spPr>
          <a:xfrm>
            <a:off x="6705600" y="4535424"/>
            <a:ext cx="4754880" cy="755904"/>
          </a:xfrm>
          <a:prstGeom prst="rect">
            <a:avLst/>
          </a:prstGeom>
          <a:noFill/>
          <a:ln/>
        </p:spPr>
        <p:txBody>
          <a:bodyPr wrap="square" lIns="0" tIns="0" rIns="0" bIns="0" rtlCol="0" anchor="ctr"/>
          <a:lstStyle/>
          <a:p>
            <a:r>
              <a:rPr lang="en-US" sz="1533" dirty="0">
                <a:solidFill>
                  <a:srgbClr val="6B82A0"/>
                </a:solidFill>
                <a:latin typeface="Calibri" pitchFamily="34" charset="0"/>
                <a:ea typeface="Calibri" pitchFamily="34" charset="-122"/>
                <a:cs typeface="Calibri" pitchFamily="34" charset="-120"/>
              </a:rPr>
              <a:t>Recommended on Fable 5, Opus 4.8+, Sonnet 5 for agentic tasks.</a:t>
            </a:r>
            <a:endParaRPr lang="en-US" sz="1533" dirty="0"/>
          </a:p>
        </p:txBody>
      </p:sp>
      <p:sp>
        <p:nvSpPr>
          <p:cNvPr id="23" name="Shape 21"/>
          <p:cNvSpPr/>
          <p:nvPr/>
        </p:nvSpPr>
        <p:spPr>
          <a:xfrm>
            <a:off x="487680" y="5510784"/>
            <a:ext cx="11216640" cy="950976"/>
          </a:xfrm>
          <a:prstGeom prst="roundRect">
            <a:avLst>
              <a:gd name="adj" fmla="val 10256"/>
            </a:avLst>
          </a:prstGeom>
          <a:solidFill>
            <a:srgbClr val="FFFFFF"/>
          </a:solidFill>
          <a:ln w="12700">
            <a:solidFill>
              <a:srgbClr val="E0EAF4"/>
            </a:solidFill>
            <a:prstDash val="solid"/>
          </a:ln>
          <a:effectLst>
            <a:outerShdw blurRad="101600" dist="25400" dir="2700000" algn="bl" rotWithShape="0">
              <a:srgbClr val="000000">
                <a:alpha val="10000"/>
              </a:srgbClr>
            </a:outerShdw>
          </a:effectLst>
        </p:spPr>
        <p:txBody>
          <a:bodyPr/>
          <a:lstStyle/>
          <a:p>
            <a:endParaRPr lang="en-US"/>
          </a:p>
        </p:txBody>
      </p:sp>
      <p:sp>
        <p:nvSpPr>
          <p:cNvPr id="24" name="Shape 22"/>
          <p:cNvSpPr/>
          <p:nvPr/>
        </p:nvSpPr>
        <p:spPr>
          <a:xfrm>
            <a:off x="682752" y="5681472"/>
            <a:ext cx="1365504" cy="585216"/>
          </a:xfrm>
          <a:prstGeom prst="roundRect">
            <a:avLst>
              <a:gd name="adj" fmla="val 20833"/>
            </a:avLst>
          </a:prstGeom>
          <a:solidFill>
            <a:srgbClr val="6B48C4"/>
          </a:solidFill>
          <a:ln w="12700">
            <a:solidFill>
              <a:srgbClr val="6B48C4"/>
            </a:solidFill>
            <a:prstDash val="solid"/>
          </a:ln>
        </p:spPr>
        <p:txBody>
          <a:bodyPr/>
          <a:lstStyle/>
          <a:p>
            <a:endParaRPr lang="en-US"/>
          </a:p>
        </p:txBody>
      </p:sp>
      <p:sp>
        <p:nvSpPr>
          <p:cNvPr id="25" name="Text 23"/>
          <p:cNvSpPr/>
          <p:nvPr/>
        </p:nvSpPr>
        <p:spPr>
          <a:xfrm>
            <a:off x="682752" y="5681472"/>
            <a:ext cx="1365504" cy="585216"/>
          </a:xfrm>
          <a:prstGeom prst="rect">
            <a:avLst/>
          </a:prstGeom>
          <a:noFill/>
          <a:ln/>
        </p:spPr>
        <p:txBody>
          <a:bodyPr wrap="square" lIns="0" tIns="0" rIns="0" bIns="0" rtlCol="0" anchor="ctr"/>
          <a:lstStyle/>
          <a:p>
            <a:pPr algn="ctr"/>
            <a:r>
              <a:rPr lang="en-US" sz="1600" b="1" dirty="0">
                <a:solidFill>
                  <a:srgbClr val="FFFFFF"/>
                </a:solidFill>
                <a:latin typeface="Courier New" pitchFamily="34" charset="0"/>
                <a:ea typeface="Courier New" pitchFamily="34" charset="-122"/>
                <a:cs typeface="Courier New" pitchFamily="34" charset="-120"/>
              </a:rPr>
              <a:t>"max"</a:t>
            </a:r>
            <a:endParaRPr lang="en-US" sz="1600" dirty="0"/>
          </a:p>
        </p:txBody>
      </p:sp>
      <p:sp>
        <p:nvSpPr>
          <p:cNvPr id="26" name="Text 24"/>
          <p:cNvSpPr/>
          <p:nvPr/>
        </p:nvSpPr>
        <p:spPr>
          <a:xfrm>
            <a:off x="2218944" y="5608320"/>
            <a:ext cx="4328160" cy="755904"/>
          </a:xfrm>
          <a:prstGeom prst="rect">
            <a:avLst/>
          </a:prstGeom>
          <a:noFill/>
          <a:ln/>
        </p:spPr>
        <p:txBody>
          <a:bodyPr wrap="square" lIns="0" tIns="0" rIns="0" bIns="0" rtlCol="0" anchor="ctr"/>
          <a:lstStyle/>
          <a:p>
            <a:r>
              <a:rPr lang="en-US" sz="1667" b="1" dirty="0">
                <a:solidFill>
                  <a:srgbClr val="1A2B5E"/>
                </a:solidFill>
                <a:latin typeface="Calibri" pitchFamily="34" charset="0"/>
                <a:ea typeface="Calibri" pitchFamily="34" charset="-122"/>
                <a:cs typeface="Calibri" pitchFamily="34" charset="-120"/>
              </a:rPr>
              <a:t>Maximum reasoning depth.</a:t>
            </a:r>
            <a:endParaRPr lang="en-US" sz="1667" dirty="0"/>
          </a:p>
        </p:txBody>
      </p:sp>
      <p:sp>
        <p:nvSpPr>
          <p:cNvPr id="27" name="Text 25"/>
          <p:cNvSpPr/>
          <p:nvPr/>
        </p:nvSpPr>
        <p:spPr>
          <a:xfrm>
            <a:off x="6705600" y="5608320"/>
            <a:ext cx="4754880" cy="755904"/>
          </a:xfrm>
          <a:prstGeom prst="rect">
            <a:avLst/>
          </a:prstGeom>
          <a:noFill/>
          <a:ln/>
        </p:spPr>
        <p:txBody>
          <a:bodyPr wrap="square" lIns="0" tIns="0" rIns="0" bIns="0" rtlCol="0" anchor="ctr"/>
          <a:lstStyle/>
          <a:p>
            <a:r>
              <a:rPr lang="en-US" sz="1533" dirty="0">
                <a:solidFill>
                  <a:srgbClr val="6B82A0"/>
                </a:solidFill>
                <a:latin typeface="Calibri" pitchFamily="34" charset="0"/>
                <a:ea typeface="Calibri" pitchFamily="34" charset="-122"/>
                <a:cs typeface="Calibri" pitchFamily="34" charset="-120"/>
              </a:rPr>
              <a:t>Multi-step problems needing deep analysis and planning.</a:t>
            </a:r>
            <a:endParaRPr lang="en-US" sz="1533" dirty="0"/>
          </a:p>
        </p:txBody>
      </p:sp>
      <p:sp>
        <p:nvSpPr>
          <p:cNvPr id="28" name="Text 26"/>
          <p:cNvSpPr/>
          <p:nvPr/>
        </p:nvSpPr>
        <p:spPr>
          <a:xfrm>
            <a:off x="487680" y="6608064"/>
            <a:ext cx="11216640" cy="365760"/>
          </a:xfrm>
          <a:prstGeom prst="rect">
            <a:avLst/>
          </a:prstGeom>
          <a:noFill/>
          <a:ln/>
        </p:spPr>
        <p:txBody>
          <a:bodyPr wrap="square" lIns="0" tIns="0" rIns="0" bIns="0" rtlCol="0" anchor="ctr"/>
          <a:lstStyle/>
          <a:p>
            <a:pPr algn="ctr"/>
            <a:r>
              <a:rPr lang="en-US" sz="1333" i="1" dirty="0">
                <a:solidFill>
                  <a:srgbClr val="6B82A0"/>
                </a:solidFill>
                <a:latin typeface="Calibri" pitchFamily="34" charset="0"/>
                <a:ea typeface="Calibri" pitchFamily="34" charset="-122"/>
                <a:cs typeface="Calibri" pitchFamily="34" charset="-120"/>
              </a:rPr>
              <a:t>effort trades latency and token cost for reasoning depth  ·  lower effort = faster and cheaper, less thorough</a:t>
            </a:r>
            <a:endParaRPr lang="en-US" sz="1333"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219456"/>
            <a:ext cx="10972800" cy="792480"/>
          </a:xfrm>
          <a:prstGeom prst="rect">
            <a:avLst/>
          </a:prstGeom>
          <a:noFill/>
          <a:ln/>
        </p:spPr>
        <p:txBody>
          <a:bodyPr wrap="square" lIns="0" tIns="0" rIns="0" bIns="0" rtlCol="0" anchor="ctr"/>
          <a:lstStyle/>
          <a:p>
            <a:r>
              <a:rPr lang="en-US" sz="4533" b="1" dirty="0">
                <a:solidFill>
                  <a:srgbClr val="1A2B5E"/>
                </a:solidFill>
                <a:latin typeface="Calibri" pitchFamily="34" charset="0"/>
                <a:ea typeface="Calibri" pitchFamily="34" charset="-122"/>
                <a:cs typeface="Calibri" pitchFamily="34" charset="-120"/>
              </a:rPr>
              <a:t>Context Window &amp; Compaction</a:t>
            </a:r>
            <a:endParaRPr lang="en-US" sz="4533" dirty="0"/>
          </a:p>
        </p:txBody>
      </p:sp>
      <p:sp>
        <p:nvSpPr>
          <p:cNvPr id="3" name="Shape 1"/>
          <p:cNvSpPr/>
          <p:nvPr/>
        </p:nvSpPr>
        <p:spPr>
          <a:xfrm>
            <a:off x="487680" y="1194816"/>
            <a:ext cx="6096000" cy="5425440"/>
          </a:xfrm>
          <a:prstGeom prst="roundRect">
            <a:avLst>
              <a:gd name="adj" fmla="val 2247"/>
            </a:avLst>
          </a:prstGeom>
          <a:solidFill>
            <a:srgbClr val="FFFFFF"/>
          </a:solidFill>
          <a:ln w="12700">
            <a:solidFill>
              <a:srgbClr val="E0EAF4"/>
            </a:solidFill>
            <a:prstDash val="solid"/>
          </a:ln>
          <a:effectLst>
            <a:outerShdw blurRad="101600" dist="25400" dir="2700000" algn="bl" rotWithShape="0">
              <a:srgbClr val="000000">
                <a:alpha val="10000"/>
              </a:srgbClr>
            </a:outerShdw>
          </a:effectLst>
        </p:spPr>
        <p:txBody>
          <a:bodyPr/>
          <a:lstStyle/>
          <a:p>
            <a:endParaRPr lang="en-US"/>
          </a:p>
        </p:txBody>
      </p:sp>
      <p:sp>
        <p:nvSpPr>
          <p:cNvPr id="4" name="Text 2"/>
          <p:cNvSpPr/>
          <p:nvPr/>
        </p:nvSpPr>
        <p:spPr>
          <a:xfrm>
            <a:off x="731520" y="1316736"/>
            <a:ext cx="5608320" cy="512064"/>
          </a:xfrm>
          <a:prstGeom prst="rect">
            <a:avLst/>
          </a:prstGeom>
          <a:noFill/>
          <a:ln/>
        </p:spPr>
        <p:txBody>
          <a:bodyPr wrap="square" lIns="0" tIns="0" rIns="0" bIns="0" rtlCol="0" anchor="ctr"/>
          <a:lstStyle/>
          <a:p>
            <a:r>
              <a:rPr lang="en-US" sz="2000" b="1" dirty="0">
                <a:solidFill>
                  <a:srgbClr val="1A2B5E"/>
                </a:solidFill>
                <a:latin typeface="Calibri" pitchFamily="34" charset="0"/>
                <a:ea typeface="Calibri" pitchFamily="34" charset="-122"/>
                <a:cs typeface="Calibri" pitchFamily="34" charset="-120"/>
              </a:rPr>
              <a:t>What Consumes Context</a:t>
            </a:r>
            <a:endParaRPr lang="en-US" sz="2000" dirty="0"/>
          </a:p>
        </p:txBody>
      </p:sp>
      <p:sp>
        <p:nvSpPr>
          <p:cNvPr id="5" name="Shape 3"/>
          <p:cNvSpPr/>
          <p:nvPr/>
        </p:nvSpPr>
        <p:spPr>
          <a:xfrm>
            <a:off x="707136" y="2023872"/>
            <a:ext cx="292608" cy="292608"/>
          </a:xfrm>
          <a:prstGeom prst="ellipse">
            <a:avLst/>
          </a:prstGeom>
          <a:solidFill>
            <a:srgbClr val="00B4A0"/>
          </a:solidFill>
          <a:ln w="12700">
            <a:solidFill>
              <a:srgbClr val="00B4A0"/>
            </a:solidFill>
            <a:prstDash val="solid"/>
          </a:ln>
        </p:spPr>
        <p:txBody>
          <a:bodyPr/>
          <a:lstStyle/>
          <a:p>
            <a:endParaRPr lang="en-US"/>
          </a:p>
        </p:txBody>
      </p:sp>
      <p:sp>
        <p:nvSpPr>
          <p:cNvPr id="6" name="Text 4"/>
          <p:cNvSpPr/>
          <p:nvPr/>
        </p:nvSpPr>
        <p:spPr>
          <a:xfrm>
            <a:off x="1121664" y="1950720"/>
            <a:ext cx="5242560" cy="414528"/>
          </a:xfrm>
          <a:prstGeom prst="rect">
            <a:avLst/>
          </a:prstGeom>
          <a:noFill/>
          <a:ln/>
        </p:spPr>
        <p:txBody>
          <a:bodyPr wrap="square" lIns="0" tIns="0" rIns="0" bIns="0" rtlCol="0" anchor="ctr"/>
          <a:lstStyle/>
          <a:p>
            <a:r>
              <a:rPr lang="en-US" sz="1667" b="1" dirty="0">
                <a:solidFill>
                  <a:srgbClr val="0D6EAD"/>
                </a:solidFill>
                <a:latin typeface="Calibri" pitchFamily="34" charset="0"/>
                <a:ea typeface="Calibri" pitchFamily="34" charset="-122"/>
                <a:cs typeface="Calibri" pitchFamily="34" charset="-120"/>
              </a:rPr>
              <a:t>System prompt</a:t>
            </a:r>
            <a:endParaRPr lang="en-US" sz="1667" dirty="0"/>
          </a:p>
        </p:txBody>
      </p:sp>
      <p:sp>
        <p:nvSpPr>
          <p:cNvPr id="7" name="Text 5"/>
          <p:cNvSpPr/>
          <p:nvPr/>
        </p:nvSpPr>
        <p:spPr>
          <a:xfrm>
            <a:off x="1121664" y="2340864"/>
            <a:ext cx="5242560" cy="365760"/>
          </a:xfrm>
          <a:prstGeom prst="rect">
            <a:avLst/>
          </a:prstGeom>
          <a:noFill/>
          <a:ln/>
        </p:spPr>
        <p:txBody>
          <a:bodyPr wrap="square" lIns="0" tIns="0" rIns="0" bIns="0" rtlCol="0" anchor="ctr"/>
          <a:lstStyle/>
          <a:p>
            <a:r>
              <a:rPr lang="en-US" sz="1467" dirty="0">
                <a:solidFill>
                  <a:srgbClr val="6B82A0"/>
                </a:solidFill>
                <a:latin typeface="Calibri" pitchFamily="34" charset="0"/>
                <a:ea typeface="Calibri" pitchFamily="34" charset="-122"/>
                <a:cs typeface="Calibri" pitchFamily="34" charset="-120"/>
              </a:rPr>
              <a:t>Small, fixed, every request</a:t>
            </a:r>
            <a:endParaRPr lang="en-US" sz="1467" dirty="0"/>
          </a:p>
        </p:txBody>
      </p:sp>
      <p:sp>
        <p:nvSpPr>
          <p:cNvPr id="8" name="Shape 6"/>
          <p:cNvSpPr/>
          <p:nvPr/>
        </p:nvSpPr>
        <p:spPr>
          <a:xfrm>
            <a:off x="707136" y="2901696"/>
            <a:ext cx="292608" cy="292608"/>
          </a:xfrm>
          <a:prstGeom prst="ellipse">
            <a:avLst/>
          </a:prstGeom>
          <a:solidFill>
            <a:srgbClr val="00B4A0"/>
          </a:solidFill>
          <a:ln w="12700">
            <a:solidFill>
              <a:srgbClr val="00B4A0"/>
            </a:solidFill>
            <a:prstDash val="solid"/>
          </a:ln>
        </p:spPr>
        <p:txBody>
          <a:bodyPr/>
          <a:lstStyle/>
          <a:p>
            <a:endParaRPr lang="en-US"/>
          </a:p>
        </p:txBody>
      </p:sp>
      <p:sp>
        <p:nvSpPr>
          <p:cNvPr id="9" name="Text 7"/>
          <p:cNvSpPr/>
          <p:nvPr/>
        </p:nvSpPr>
        <p:spPr>
          <a:xfrm>
            <a:off x="1121664" y="2828544"/>
            <a:ext cx="5242560" cy="414528"/>
          </a:xfrm>
          <a:prstGeom prst="rect">
            <a:avLst/>
          </a:prstGeom>
          <a:noFill/>
          <a:ln/>
        </p:spPr>
        <p:txBody>
          <a:bodyPr wrap="square" lIns="0" tIns="0" rIns="0" bIns="0" rtlCol="0" anchor="ctr"/>
          <a:lstStyle/>
          <a:p>
            <a:r>
              <a:rPr lang="en-US" sz="1667" b="1" dirty="0">
                <a:solidFill>
                  <a:srgbClr val="0D6EAD"/>
                </a:solidFill>
                <a:latin typeface="Calibri" pitchFamily="34" charset="0"/>
                <a:ea typeface="Calibri" pitchFamily="34" charset="-122"/>
                <a:cs typeface="Calibri" pitchFamily="34" charset="-120"/>
              </a:rPr>
              <a:t>CLAUDE.md + rules</a:t>
            </a:r>
            <a:endParaRPr lang="en-US" sz="1667" dirty="0"/>
          </a:p>
        </p:txBody>
      </p:sp>
      <p:sp>
        <p:nvSpPr>
          <p:cNvPr id="10" name="Text 8"/>
          <p:cNvSpPr/>
          <p:nvPr/>
        </p:nvSpPr>
        <p:spPr>
          <a:xfrm>
            <a:off x="1121664" y="3218688"/>
            <a:ext cx="5242560" cy="365760"/>
          </a:xfrm>
          <a:prstGeom prst="rect">
            <a:avLst/>
          </a:prstGeom>
          <a:noFill/>
          <a:ln/>
        </p:spPr>
        <p:txBody>
          <a:bodyPr wrap="square" lIns="0" tIns="0" rIns="0" bIns="0" rtlCol="0" anchor="ctr"/>
          <a:lstStyle/>
          <a:p>
            <a:r>
              <a:rPr lang="en-US" sz="1467" dirty="0">
                <a:solidFill>
                  <a:srgbClr val="6B82A0"/>
                </a:solidFill>
                <a:latin typeface="Calibri" pitchFamily="34" charset="0"/>
                <a:ea typeface="Calibri" pitchFamily="34" charset="-122"/>
                <a:cs typeface="Calibri" pitchFamily="34" charset="-120"/>
              </a:rPr>
              <a:t>Full content, cached after first hit</a:t>
            </a:r>
            <a:endParaRPr lang="en-US" sz="1467" dirty="0"/>
          </a:p>
        </p:txBody>
      </p:sp>
      <p:sp>
        <p:nvSpPr>
          <p:cNvPr id="11" name="Shape 9"/>
          <p:cNvSpPr/>
          <p:nvPr/>
        </p:nvSpPr>
        <p:spPr>
          <a:xfrm>
            <a:off x="707136" y="3779520"/>
            <a:ext cx="292608" cy="292608"/>
          </a:xfrm>
          <a:prstGeom prst="ellipse">
            <a:avLst/>
          </a:prstGeom>
          <a:solidFill>
            <a:srgbClr val="00B4A0"/>
          </a:solidFill>
          <a:ln w="12700">
            <a:solidFill>
              <a:srgbClr val="00B4A0"/>
            </a:solidFill>
            <a:prstDash val="solid"/>
          </a:ln>
        </p:spPr>
        <p:txBody>
          <a:bodyPr/>
          <a:lstStyle/>
          <a:p>
            <a:endParaRPr lang="en-US"/>
          </a:p>
        </p:txBody>
      </p:sp>
      <p:sp>
        <p:nvSpPr>
          <p:cNvPr id="12" name="Text 10"/>
          <p:cNvSpPr/>
          <p:nvPr/>
        </p:nvSpPr>
        <p:spPr>
          <a:xfrm>
            <a:off x="1121664" y="3706368"/>
            <a:ext cx="5242560" cy="414528"/>
          </a:xfrm>
          <a:prstGeom prst="rect">
            <a:avLst/>
          </a:prstGeom>
          <a:noFill/>
          <a:ln/>
        </p:spPr>
        <p:txBody>
          <a:bodyPr wrap="square" lIns="0" tIns="0" rIns="0" bIns="0" rtlCol="0" anchor="ctr"/>
          <a:lstStyle/>
          <a:p>
            <a:r>
              <a:rPr lang="en-US" sz="1667" b="1" dirty="0">
                <a:solidFill>
                  <a:srgbClr val="0D6EAD"/>
                </a:solidFill>
                <a:latin typeface="Calibri" pitchFamily="34" charset="0"/>
                <a:ea typeface="Calibri" pitchFamily="34" charset="-122"/>
                <a:cs typeface="Calibri" pitchFamily="34" charset="-120"/>
              </a:rPr>
              <a:t>Tool definitions</a:t>
            </a:r>
            <a:endParaRPr lang="en-US" sz="1667" dirty="0"/>
          </a:p>
        </p:txBody>
      </p:sp>
      <p:sp>
        <p:nvSpPr>
          <p:cNvPr id="13" name="Text 11"/>
          <p:cNvSpPr/>
          <p:nvPr/>
        </p:nvSpPr>
        <p:spPr>
          <a:xfrm>
            <a:off x="1121664" y="4096512"/>
            <a:ext cx="5242560" cy="365760"/>
          </a:xfrm>
          <a:prstGeom prst="rect">
            <a:avLst/>
          </a:prstGeom>
          <a:noFill/>
          <a:ln/>
        </p:spPr>
        <p:txBody>
          <a:bodyPr wrap="square" lIns="0" tIns="0" rIns="0" bIns="0" rtlCol="0" anchor="ctr"/>
          <a:lstStyle/>
          <a:p>
            <a:r>
              <a:rPr lang="en-US" sz="1467" dirty="0">
                <a:solidFill>
                  <a:srgbClr val="6B82A0"/>
                </a:solidFill>
                <a:latin typeface="Calibri" pitchFamily="34" charset="0"/>
                <a:ea typeface="Calibri" pitchFamily="34" charset="-122"/>
                <a:cs typeface="Calibri" pitchFamily="34" charset="-120"/>
              </a:rPr>
              <a:t>All loaded tools' schemas</a:t>
            </a:r>
            <a:endParaRPr lang="en-US" sz="1467" dirty="0"/>
          </a:p>
        </p:txBody>
      </p:sp>
      <p:sp>
        <p:nvSpPr>
          <p:cNvPr id="14" name="Shape 12"/>
          <p:cNvSpPr/>
          <p:nvPr/>
        </p:nvSpPr>
        <p:spPr>
          <a:xfrm>
            <a:off x="707136" y="4657344"/>
            <a:ext cx="292608" cy="292608"/>
          </a:xfrm>
          <a:prstGeom prst="ellipse">
            <a:avLst/>
          </a:prstGeom>
          <a:solidFill>
            <a:srgbClr val="00B4A0"/>
          </a:solidFill>
          <a:ln w="12700">
            <a:solidFill>
              <a:srgbClr val="00B4A0"/>
            </a:solidFill>
            <a:prstDash val="solid"/>
          </a:ln>
        </p:spPr>
        <p:txBody>
          <a:bodyPr/>
          <a:lstStyle/>
          <a:p>
            <a:endParaRPr lang="en-US"/>
          </a:p>
        </p:txBody>
      </p:sp>
      <p:sp>
        <p:nvSpPr>
          <p:cNvPr id="15" name="Text 13"/>
          <p:cNvSpPr/>
          <p:nvPr/>
        </p:nvSpPr>
        <p:spPr>
          <a:xfrm>
            <a:off x="1121664" y="4584192"/>
            <a:ext cx="5242560" cy="414528"/>
          </a:xfrm>
          <a:prstGeom prst="rect">
            <a:avLst/>
          </a:prstGeom>
          <a:noFill/>
          <a:ln/>
        </p:spPr>
        <p:txBody>
          <a:bodyPr wrap="square" lIns="0" tIns="0" rIns="0" bIns="0" rtlCol="0" anchor="ctr"/>
          <a:lstStyle/>
          <a:p>
            <a:r>
              <a:rPr lang="en-US" sz="1667" b="1" dirty="0">
                <a:solidFill>
                  <a:srgbClr val="0D6EAD"/>
                </a:solidFill>
                <a:latin typeface="Calibri" pitchFamily="34" charset="0"/>
                <a:ea typeface="Calibri" pitchFamily="34" charset="-122"/>
                <a:cs typeface="Calibri" pitchFamily="34" charset="-120"/>
              </a:rPr>
              <a:t>Conversation history</a:t>
            </a:r>
            <a:endParaRPr lang="en-US" sz="1667" dirty="0"/>
          </a:p>
        </p:txBody>
      </p:sp>
      <p:sp>
        <p:nvSpPr>
          <p:cNvPr id="16" name="Text 14"/>
          <p:cNvSpPr/>
          <p:nvPr/>
        </p:nvSpPr>
        <p:spPr>
          <a:xfrm>
            <a:off x="1121664" y="4974336"/>
            <a:ext cx="5242560" cy="365760"/>
          </a:xfrm>
          <a:prstGeom prst="rect">
            <a:avLst/>
          </a:prstGeom>
          <a:noFill/>
          <a:ln/>
        </p:spPr>
        <p:txBody>
          <a:bodyPr wrap="square" lIns="0" tIns="0" rIns="0" bIns="0" rtlCol="0" anchor="ctr"/>
          <a:lstStyle/>
          <a:p>
            <a:r>
              <a:rPr lang="en-US" sz="1467" dirty="0">
                <a:solidFill>
                  <a:srgbClr val="6B82A0"/>
                </a:solidFill>
                <a:latin typeface="Calibri" pitchFamily="34" charset="0"/>
                <a:ea typeface="Calibri" pitchFamily="34" charset="-122"/>
                <a:cs typeface="Calibri" pitchFamily="34" charset="-120"/>
              </a:rPr>
              <a:t>Grows each turn — biggest cost driver</a:t>
            </a:r>
            <a:endParaRPr lang="en-US" sz="1467" dirty="0"/>
          </a:p>
        </p:txBody>
      </p:sp>
      <p:sp>
        <p:nvSpPr>
          <p:cNvPr id="17" name="Shape 15"/>
          <p:cNvSpPr/>
          <p:nvPr/>
        </p:nvSpPr>
        <p:spPr>
          <a:xfrm>
            <a:off x="707136" y="5535168"/>
            <a:ext cx="292608" cy="292608"/>
          </a:xfrm>
          <a:prstGeom prst="ellipse">
            <a:avLst/>
          </a:prstGeom>
          <a:solidFill>
            <a:srgbClr val="00B4A0"/>
          </a:solidFill>
          <a:ln w="12700">
            <a:solidFill>
              <a:srgbClr val="00B4A0"/>
            </a:solidFill>
            <a:prstDash val="solid"/>
          </a:ln>
        </p:spPr>
        <p:txBody>
          <a:bodyPr/>
          <a:lstStyle/>
          <a:p>
            <a:endParaRPr lang="en-US"/>
          </a:p>
        </p:txBody>
      </p:sp>
      <p:sp>
        <p:nvSpPr>
          <p:cNvPr id="18" name="Text 16"/>
          <p:cNvSpPr/>
          <p:nvPr/>
        </p:nvSpPr>
        <p:spPr>
          <a:xfrm>
            <a:off x="1121664" y="5462016"/>
            <a:ext cx="5242560" cy="414528"/>
          </a:xfrm>
          <a:prstGeom prst="rect">
            <a:avLst/>
          </a:prstGeom>
          <a:noFill/>
          <a:ln/>
        </p:spPr>
        <p:txBody>
          <a:bodyPr wrap="square" lIns="0" tIns="0" rIns="0" bIns="0" rtlCol="0" anchor="ctr"/>
          <a:lstStyle/>
          <a:p>
            <a:r>
              <a:rPr lang="en-US" sz="1667" b="1" dirty="0">
                <a:solidFill>
                  <a:srgbClr val="0D6EAD"/>
                </a:solidFill>
                <a:latin typeface="Calibri" pitchFamily="34" charset="0"/>
                <a:ea typeface="Calibri" pitchFamily="34" charset="-122"/>
                <a:cs typeface="Calibri" pitchFamily="34" charset="-120"/>
              </a:rPr>
              <a:t>Tool inputs/outputs</a:t>
            </a:r>
            <a:endParaRPr lang="en-US" sz="1667" dirty="0"/>
          </a:p>
        </p:txBody>
      </p:sp>
      <p:sp>
        <p:nvSpPr>
          <p:cNvPr id="19" name="Text 17"/>
          <p:cNvSpPr/>
          <p:nvPr/>
        </p:nvSpPr>
        <p:spPr>
          <a:xfrm>
            <a:off x="1121664" y="5852160"/>
            <a:ext cx="5242560" cy="365760"/>
          </a:xfrm>
          <a:prstGeom prst="rect">
            <a:avLst/>
          </a:prstGeom>
          <a:noFill/>
          <a:ln/>
        </p:spPr>
        <p:txBody>
          <a:bodyPr wrap="square" lIns="0" tIns="0" rIns="0" bIns="0" rtlCol="0" anchor="ctr"/>
          <a:lstStyle/>
          <a:p>
            <a:r>
              <a:rPr lang="en-US" sz="1467" dirty="0">
                <a:solidFill>
                  <a:srgbClr val="6B82A0"/>
                </a:solidFill>
                <a:latin typeface="Calibri" pitchFamily="34" charset="0"/>
                <a:ea typeface="Calibri" pitchFamily="34" charset="-122"/>
                <a:cs typeface="Calibri" pitchFamily="34" charset="-120"/>
              </a:rPr>
              <a:t>Large file reads = thousands of tokens</a:t>
            </a:r>
            <a:endParaRPr lang="en-US" sz="1467" dirty="0"/>
          </a:p>
        </p:txBody>
      </p:sp>
      <p:sp>
        <p:nvSpPr>
          <p:cNvPr id="20" name="Shape 18"/>
          <p:cNvSpPr/>
          <p:nvPr/>
        </p:nvSpPr>
        <p:spPr>
          <a:xfrm>
            <a:off x="6827520" y="1194816"/>
            <a:ext cx="4998720" cy="5425440"/>
          </a:xfrm>
          <a:prstGeom prst="roundRect">
            <a:avLst>
              <a:gd name="adj" fmla="val 2439"/>
            </a:avLst>
          </a:prstGeom>
          <a:solidFill>
            <a:srgbClr val="E0F7F5"/>
          </a:solidFill>
          <a:ln w="12700">
            <a:solidFill>
              <a:srgbClr val="B2E0D8"/>
            </a:solidFill>
            <a:prstDash val="solid"/>
          </a:ln>
          <a:effectLst>
            <a:outerShdw blurRad="101600" dist="25400" dir="2700000" algn="bl" rotWithShape="0">
              <a:srgbClr val="000000">
                <a:alpha val="10000"/>
              </a:srgbClr>
            </a:outerShdw>
          </a:effectLst>
        </p:spPr>
        <p:txBody>
          <a:bodyPr/>
          <a:lstStyle/>
          <a:p>
            <a:endParaRPr lang="en-US"/>
          </a:p>
        </p:txBody>
      </p:sp>
      <p:sp>
        <p:nvSpPr>
          <p:cNvPr id="21" name="Text 19"/>
          <p:cNvSpPr/>
          <p:nvPr/>
        </p:nvSpPr>
        <p:spPr>
          <a:xfrm>
            <a:off x="7071360" y="1316736"/>
            <a:ext cx="4511040" cy="512064"/>
          </a:xfrm>
          <a:prstGeom prst="rect">
            <a:avLst/>
          </a:prstGeom>
          <a:noFill/>
          <a:ln/>
        </p:spPr>
        <p:txBody>
          <a:bodyPr wrap="square" lIns="0" tIns="0" rIns="0" bIns="0" rtlCol="0" anchor="ctr"/>
          <a:lstStyle/>
          <a:p>
            <a:r>
              <a:rPr lang="en-US" sz="2000" b="1" dirty="0">
                <a:solidFill>
                  <a:srgbClr val="1A2B5E"/>
                </a:solidFill>
                <a:latin typeface="Calibri" pitchFamily="34" charset="0"/>
                <a:ea typeface="Calibri" pitchFamily="34" charset="-122"/>
                <a:cs typeface="Calibri" pitchFamily="34" charset="-120"/>
              </a:rPr>
              <a:t>Automatic Compaction</a:t>
            </a:r>
            <a:endParaRPr lang="en-US" sz="2000" dirty="0"/>
          </a:p>
        </p:txBody>
      </p:sp>
      <p:sp>
        <p:nvSpPr>
          <p:cNvPr id="22" name="Text 20"/>
          <p:cNvSpPr/>
          <p:nvPr/>
        </p:nvSpPr>
        <p:spPr>
          <a:xfrm>
            <a:off x="7071360" y="1950720"/>
            <a:ext cx="4535424" cy="4511040"/>
          </a:xfrm>
          <a:prstGeom prst="rect">
            <a:avLst/>
          </a:prstGeom>
          <a:noFill/>
          <a:ln/>
        </p:spPr>
        <p:txBody>
          <a:bodyPr wrap="square" lIns="0" tIns="0" rIns="0" bIns="0" rtlCol="0" anchor="t"/>
          <a:lstStyle/>
          <a:p>
            <a:r>
              <a:rPr lang="en-US" sz="1667" dirty="0">
                <a:solidFill>
                  <a:srgbClr val="2D4060"/>
                </a:solidFill>
                <a:latin typeface="Calibri" pitchFamily="34" charset="0"/>
                <a:ea typeface="Calibri" pitchFamily="34" charset="-122"/>
                <a:cs typeface="Calibri" pitchFamily="34" charset="-120"/>
              </a:rPr>
              <a:t>When the context window nears its limit, the SDK automatically summarizes older history, keeping recent exchanges and key decisions.
</a:t>
            </a:r>
            <a:endParaRPr lang="en-US" sz="1667" dirty="0"/>
          </a:p>
          <a:p>
            <a:r>
              <a:rPr lang="en-US" sz="1600" b="1" dirty="0">
                <a:solidFill>
                  <a:srgbClr val="00B4A0"/>
                </a:solidFill>
                <a:latin typeface="Calibri" pitchFamily="34" charset="0"/>
                <a:ea typeface="Calibri" pitchFamily="34" charset="-122"/>
                <a:cs typeface="Calibri" pitchFamily="34" charset="-120"/>
              </a:rPr>
              <a:t>Fires compact_boundary SystemMessage in stream.
</a:t>
            </a:r>
            <a:endParaRPr lang="en-US" sz="1667" dirty="0"/>
          </a:p>
          <a:p>
            <a:r>
              <a:rPr lang="en-US" sz="800" dirty="0">
                <a:solidFill>
                  <a:srgbClr val="2D4060"/>
                </a:solidFill>
                <a:latin typeface="Calibri" pitchFamily="34" charset="0"/>
                <a:ea typeface="Calibri" pitchFamily="34" charset="-122"/>
                <a:cs typeface="Calibri" pitchFamily="34" charset="-120"/>
              </a:rPr>
              <a:t> </a:t>
            </a:r>
            <a:endParaRPr lang="en-US" sz="1667" dirty="0"/>
          </a:p>
          <a:p>
            <a:r>
              <a:rPr lang="en-US" sz="1667" b="1" dirty="0">
                <a:solidFill>
                  <a:srgbClr val="2D4060"/>
                </a:solidFill>
                <a:latin typeface="Calibri" pitchFamily="34" charset="0"/>
                <a:ea typeface="Calibri" pitchFamily="34" charset="-122"/>
                <a:cs typeface="Calibri" pitchFamily="34" charset="-120"/>
              </a:rPr>
              <a:t>Strategies to manage context:</a:t>
            </a:r>
            <a:endParaRPr lang="en-US" sz="1667" dirty="0"/>
          </a:p>
          <a:p>
            <a:pPr marL="457189" indent="-457189">
              <a:buSzPct val="100000"/>
              <a:buChar char="•"/>
            </a:pPr>
            <a:r>
              <a:rPr lang="en-US" sz="1667" dirty="0">
                <a:solidFill>
                  <a:srgbClr val="2D4060"/>
                </a:solidFill>
                <a:latin typeface="Calibri" pitchFamily="34" charset="0"/>
                <a:ea typeface="Calibri" pitchFamily="34" charset="-122"/>
                <a:cs typeface="Calibri" pitchFamily="34" charset="-120"/>
              </a:rPr>
              <a:t>Use subagents — each gets fresh context</a:t>
            </a:r>
            <a:endParaRPr lang="en-US" sz="1667" dirty="0"/>
          </a:p>
          <a:p>
            <a:pPr marL="457189" indent="-457189">
              <a:buSzPct val="100000"/>
              <a:buChar char="•"/>
            </a:pPr>
            <a:r>
              <a:rPr lang="en-US" sz="1667" dirty="0">
                <a:solidFill>
                  <a:srgbClr val="2D4060"/>
                </a:solidFill>
                <a:latin typeface="Calibri" pitchFamily="34" charset="0"/>
                <a:ea typeface="Calibri" pitchFamily="34" charset="-122"/>
                <a:cs typeface="Calibri" pitchFamily="34" charset="-120"/>
              </a:rPr>
              <a:t>Scope allowed_tools to minimum needed</a:t>
            </a:r>
            <a:endParaRPr lang="en-US" sz="1667" dirty="0"/>
          </a:p>
          <a:p>
            <a:pPr marL="457189" indent="-457189">
              <a:buSzPct val="100000"/>
              <a:buChar char="•"/>
            </a:pPr>
            <a:r>
              <a:rPr lang="en-US" sz="1667" dirty="0">
                <a:solidFill>
                  <a:srgbClr val="2D4060"/>
                </a:solidFill>
                <a:latin typeface="Calibri" pitchFamily="34" charset="0"/>
                <a:ea typeface="Calibri" pitchFamily="34" charset="-122"/>
                <a:cs typeface="Calibri" pitchFamily="34" charset="-120"/>
              </a:rPr>
              <a:t>Use effort: "low" for cheap steps</a:t>
            </a:r>
            <a:endParaRPr lang="en-US" sz="1667" dirty="0"/>
          </a:p>
          <a:p>
            <a:pPr marL="457189" indent="-457189">
              <a:buSzPct val="100000"/>
              <a:buChar char="•"/>
            </a:pPr>
            <a:r>
              <a:rPr lang="en-US" sz="1667" dirty="0">
                <a:solidFill>
                  <a:srgbClr val="2D4060"/>
                </a:solidFill>
                <a:latin typeface="Calibri" pitchFamily="34" charset="0"/>
                <a:ea typeface="Calibri" pitchFamily="34" charset="-122"/>
                <a:cs typeface="Calibri" pitchFamily="34" charset="-120"/>
              </a:rPr>
              <a:t>Put rules in CLAUDE.md (injected, cached)</a:t>
            </a:r>
            <a:endParaRPr lang="en-US" sz="1667"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219456"/>
            <a:ext cx="10972800" cy="792480"/>
          </a:xfrm>
          <a:prstGeom prst="rect">
            <a:avLst/>
          </a:prstGeom>
          <a:noFill/>
          <a:ln/>
        </p:spPr>
        <p:txBody>
          <a:bodyPr wrap="square" lIns="0" tIns="0" rIns="0" bIns="0" rtlCol="0" anchor="ctr"/>
          <a:lstStyle/>
          <a:p>
            <a:r>
              <a:rPr lang="en-US" sz="4533" b="1" dirty="0">
                <a:solidFill>
                  <a:srgbClr val="1A2B5E"/>
                </a:solidFill>
                <a:latin typeface="Calibri" pitchFamily="34" charset="0"/>
                <a:ea typeface="Calibri" pitchFamily="34" charset="-122"/>
                <a:cs typeface="Calibri" pitchFamily="34" charset="-120"/>
              </a:rPr>
              <a:t>Handling Results — ResultMessage.subtype</a:t>
            </a:r>
            <a:endParaRPr lang="en-US" sz="4533" dirty="0"/>
          </a:p>
        </p:txBody>
      </p:sp>
      <p:sp>
        <p:nvSpPr>
          <p:cNvPr id="3" name="Shape 1"/>
          <p:cNvSpPr/>
          <p:nvPr/>
        </p:nvSpPr>
        <p:spPr>
          <a:xfrm>
            <a:off x="487680" y="1219200"/>
            <a:ext cx="11216640" cy="1182624"/>
          </a:xfrm>
          <a:prstGeom prst="roundRect">
            <a:avLst>
              <a:gd name="adj" fmla="val 8247"/>
            </a:avLst>
          </a:prstGeom>
          <a:solidFill>
            <a:srgbClr val="ECFDF5"/>
          </a:solidFill>
          <a:ln w="12700">
            <a:solidFill>
              <a:srgbClr val="059669"/>
            </a:solidFill>
            <a:prstDash val="solid"/>
          </a:ln>
        </p:spPr>
        <p:txBody>
          <a:bodyPr/>
          <a:lstStyle/>
          <a:p>
            <a:endParaRPr lang="en-US"/>
          </a:p>
        </p:txBody>
      </p:sp>
      <p:sp>
        <p:nvSpPr>
          <p:cNvPr id="4" name="Text 2"/>
          <p:cNvSpPr/>
          <p:nvPr/>
        </p:nvSpPr>
        <p:spPr>
          <a:xfrm>
            <a:off x="707136" y="1341120"/>
            <a:ext cx="3779520" cy="938784"/>
          </a:xfrm>
          <a:prstGeom prst="rect">
            <a:avLst/>
          </a:prstGeom>
          <a:noFill/>
          <a:ln/>
        </p:spPr>
        <p:txBody>
          <a:bodyPr wrap="square" lIns="0" tIns="0" rIns="0" bIns="0" rtlCol="0" anchor="ctr"/>
          <a:lstStyle/>
          <a:p>
            <a:r>
              <a:rPr lang="en-US" sz="1733" b="1" dirty="0">
                <a:solidFill>
                  <a:srgbClr val="059669"/>
                </a:solidFill>
                <a:latin typeface="Courier New" pitchFamily="34" charset="0"/>
                <a:ea typeface="Courier New" pitchFamily="34" charset="-122"/>
                <a:cs typeface="Courier New" pitchFamily="34" charset="-120"/>
              </a:rPr>
              <a:t>"success"</a:t>
            </a:r>
            <a:endParaRPr lang="en-US" sz="1733" dirty="0"/>
          </a:p>
        </p:txBody>
      </p:sp>
      <p:sp>
        <p:nvSpPr>
          <p:cNvPr id="5" name="Shape 3"/>
          <p:cNvSpPr/>
          <p:nvPr/>
        </p:nvSpPr>
        <p:spPr>
          <a:xfrm>
            <a:off x="4572000" y="1584960"/>
            <a:ext cx="877824" cy="438912"/>
          </a:xfrm>
          <a:prstGeom prst="roundRect">
            <a:avLst>
              <a:gd name="adj" fmla="val 27778"/>
            </a:avLst>
          </a:prstGeom>
          <a:solidFill>
            <a:srgbClr val="059669"/>
          </a:solidFill>
          <a:ln w="12700">
            <a:solidFill>
              <a:srgbClr val="059669"/>
            </a:solidFill>
            <a:prstDash val="solid"/>
          </a:ln>
        </p:spPr>
        <p:txBody>
          <a:bodyPr/>
          <a:lstStyle/>
          <a:p>
            <a:endParaRPr lang="en-US"/>
          </a:p>
        </p:txBody>
      </p:sp>
      <p:sp>
        <p:nvSpPr>
          <p:cNvPr id="6" name="Text 4"/>
          <p:cNvSpPr/>
          <p:nvPr/>
        </p:nvSpPr>
        <p:spPr>
          <a:xfrm>
            <a:off x="4572000" y="1584960"/>
            <a:ext cx="877824" cy="438912"/>
          </a:xfrm>
          <a:prstGeom prst="rect">
            <a:avLst/>
          </a:prstGeom>
          <a:noFill/>
          <a:ln/>
        </p:spPr>
        <p:txBody>
          <a:bodyPr wrap="square" lIns="0" tIns="0" rIns="0" bIns="0" rtlCol="0" anchor="ctr"/>
          <a:lstStyle/>
          <a:p>
            <a:pPr algn="ctr"/>
            <a:r>
              <a:rPr lang="en-US" sz="1267" b="1" dirty="0">
                <a:solidFill>
                  <a:srgbClr val="FFFFFF"/>
                </a:solidFill>
                <a:latin typeface="Calibri" pitchFamily="34" charset="0"/>
                <a:ea typeface="Calibri" pitchFamily="34" charset="-122"/>
                <a:cs typeface="Calibri" pitchFamily="34" charset="-120"/>
              </a:rPr>
              <a:t>.result ✓</a:t>
            </a:r>
            <a:endParaRPr lang="en-US" sz="1267" dirty="0"/>
          </a:p>
        </p:txBody>
      </p:sp>
      <p:sp>
        <p:nvSpPr>
          <p:cNvPr id="7" name="Text 5"/>
          <p:cNvSpPr/>
          <p:nvPr/>
        </p:nvSpPr>
        <p:spPr>
          <a:xfrm>
            <a:off x="5608320" y="1341120"/>
            <a:ext cx="5913120" cy="938784"/>
          </a:xfrm>
          <a:prstGeom prst="rect">
            <a:avLst/>
          </a:prstGeom>
          <a:noFill/>
          <a:ln/>
        </p:spPr>
        <p:txBody>
          <a:bodyPr wrap="square" lIns="0" tIns="0" rIns="0" bIns="0" rtlCol="0" anchor="ctr"/>
          <a:lstStyle/>
          <a:p>
            <a:r>
              <a:rPr lang="en-US" sz="1600" dirty="0">
                <a:solidFill>
                  <a:srgbClr val="2D4060"/>
                </a:solidFill>
                <a:latin typeface="Calibri" pitchFamily="34" charset="0"/>
                <a:ea typeface="Calibri" pitchFamily="34" charset="-122"/>
                <a:cs typeface="Calibri" pitchFamily="34" charset="-120"/>
              </a:rPr>
              <a:t>Claude finished normally. Read .result for final text output.</a:t>
            </a:r>
            <a:endParaRPr lang="en-US" sz="1600" dirty="0"/>
          </a:p>
        </p:txBody>
      </p:sp>
      <p:sp>
        <p:nvSpPr>
          <p:cNvPr id="8" name="Shape 6"/>
          <p:cNvSpPr/>
          <p:nvPr/>
        </p:nvSpPr>
        <p:spPr>
          <a:xfrm>
            <a:off x="487680" y="2560320"/>
            <a:ext cx="11216640" cy="1182624"/>
          </a:xfrm>
          <a:prstGeom prst="roundRect">
            <a:avLst>
              <a:gd name="adj" fmla="val 8247"/>
            </a:avLst>
          </a:prstGeom>
          <a:solidFill>
            <a:srgbClr val="FFFBEB"/>
          </a:solidFill>
          <a:ln w="12700">
            <a:solidFill>
              <a:srgbClr val="D97706"/>
            </a:solidFill>
            <a:prstDash val="solid"/>
          </a:ln>
        </p:spPr>
        <p:txBody>
          <a:bodyPr/>
          <a:lstStyle/>
          <a:p>
            <a:endParaRPr lang="en-US"/>
          </a:p>
        </p:txBody>
      </p:sp>
      <p:sp>
        <p:nvSpPr>
          <p:cNvPr id="9" name="Text 7"/>
          <p:cNvSpPr/>
          <p:nvPr/>
        </p:nvSpPr>
        <p:spPr>
          <a:xfrm>
            <a:off x="707136" y="2682240"/>
            <a:ext cx="3779520" cy="938784"/>
          </a:xfrm>
          <a:prstGeom prst="rect">
            <a:avLst/>
          </a:prstGeom>
          <a:noFill/>
          <a:ln/>
        </p:spPr>
        <p:txBody>
          <a:bodyPr wrap="square" lIns="0" tIns="0" rIns="0" bIns="0" rtlCol="0" anchor="ctr"/>
          <a:lstStyle/>
          <a:p>
            <a:r>
              <a:rPr lang="en-US" sz="1733" b="1" dirty="0">
                <a:solidFill>
                  <a:srgbClr val="D97706"/>
                </a:solidFill>
                <a:latin typeface="Courier New" pitchFamily="34" charset="0"/>
                <a:ea typeface="Courier New" pitchFamily="34" charset="-122"/>
                <a:cs typeface="Courier New" pitchFamily="34" charset="-120"/>
              </a:rPr>
              <a:t>"error_max_turns"</a:t>
            </a:r>
            <a:endParaRPr lang="en-US" sz="1733" dirty="0"/>
          </a:p>
        </p:txBody>
      </p:sp>
      <p:sp>
        <p:nvSpPr>
          <p:cNvPr id="10" name="Shape 8"/>
          <p:cNvSpPr/>
          <p:nvPr/>
        </p:nvSpPr>
        <p:spPr>
          <a:xfrm>
            <a:off x="4572000" y="2926080"/>
            <a:ext cx="877824" cy="438912"/>
          </a:xfrm>
          <a:prstGeom prst="roundRect">
            <a:avLst>
              <a:gd name="adj" fmla="val 27778"/>
            </a:avLst>
          </a:prstGeom>
          <a:solidFill>
            <a:srgbClr val="9CA3AF"/>
          </a:solidFill>
          <a:ln w="12700">
            <a:solidFill>
              <a:srgbClr val="9CA3AF"/>
            </a:solidFill>
            <a:prstDash val="solid"/>
          </a:ln>
        </p:spPr>
        <p:txBody>
          <a:bodyPr/>
          <a:lstStyle/>
          <a:p>
            <a:endParaRPr lang="en-US"/>
          </a:p>
        </p:txBody>
      </p:sp>
      <p:sp>
        <p:nvSpPr>
          <p:cNvPr id="11" name="Text 9"/>
          <p:cNvSpPr/>
          <p:nvPr/>
        </p:nvSpPr>
        <p:spPr>
          <a:xfrm>
            <a:off x="4572000" y="2926080"/>
            <a:ext cx="877824" cy="438912"/>
          </a:xfrm>
          <a:prstGeom prst="rect">
            <a:avLst/>
          </a:prstGeom>
          <a:noFill/>
          <a:ln/>
        </p:spPr>
        <p:txBody>
          <a:bodyPr wrap="square" lIns="0" tIns="0" rIns="0" bIns="0" rtlCol="0" anchor="ctr"/>
          <a:lstStyle/>
          <a:p>
            <a:pPr algn="ctr"/>
            <a:r>
              <a:rPr lang="en-US" sz="1267" b="1" dirty="0">
                <a:solidFill>
                  <a:srgbClr val="FFFFFF"/>
                </a:solidFill>
                <a:latin typeface="Calibri" pitchFamily="34" charset="0"/>
                <a:ea typeface="Calibri" pitchFamily="34" charset="-122"/>
                <a:cs typeface="Calibri" pitchFamily="34" charset="-120"/>
              </a:rPr>
              <a:t>.result ✗</a:t>
            </a:r>
            <a:endParaRPr lang="en-US" sz="1267" dirty="0"/>
          </a:p>
        </p:txBody>
      </p:sp>
      <p:sp>
        <p:nvSpPr>
          <p:cNvPr id="12" name="Text 10"/>
          <p:cNvSpPr/>
          <p:nvPr/>
        </p:nvSpPr>
        <p:spPr>
          <a:xfrm>
            <a:off x="5608320" y="2682240"/>
            <a:ext cx="5913120" cy="938784"/>
          </a:xfrm>
          <a:prstGeom prst="rect">
            <a:avLst/>
          </a:prstGeom>
          <a:noFill/>
          <a:ln/>
        </p:spPr>
        <p:txBody>
          <a:bodyPr wrap="square" lIns="0" tIns="0" rIns="0" bIns="0" rtlCol="0" anchor="ctr"/>
          <a:lstStyle/>
          <a:p>
            <a:r>
              <a:rPr lang="en-US" sz="1600" dirty="0">
                <a:solidFill>
                  <a:srgbClr val="2D4060"/>
                </a:solidFill>
                <a:latin typeface="Calibri" pitchFamily="34" charset="0"/>
                <a:ea typeface="Calibri" pitchFamily="34" charset="-122"/>
                <a:cs typeface="Calibri" pitchFamily="34" charset="-120"/>
              </a:rPr>
              <a:t>Hit the maxTurns limit before completing. Save session_id to resume.</a:t>
            </a:r>
            <a:endParaRPr lang="en-US" sz="1600" dirty="0"/>
          </a:p>
        </p:txBody>
      </p:sp>
      <p:sp>
        <p:nvSpPr>
          <p:cNvPr id="13" name="Shape 11"/>
          <p:cNvSpPr/>
          <p:nvPr/>
        </p:nvSpPr>
        <p:spPr>
          <a:xfrm>
            <a:off x="487680" y="3901440"/>
            <a:ext cx="11216640" cy="1182624"/>
          </a:xfrm>
          <a:prstGeom prst="roundRect">
            <a:avLst>
              <a:gd name="adj" fmla="val 8247"/>
            </a:avLst>
          </a:prstGeom>
          <a:solidFill>
            <a:srgbClr val="FEF2F2"/>
          </a:solidFill>
          <a:ln w="12700">
            <a:solidFill>
              <a:srgbClr val="DC2626"/>
            </a:solidFill>
            <a:prstDash val="solid"/>
          </a:ln>
        </p:spPr>
        <p:txBody>
          <a:bodyPr/>
          <a:lstStyle/>
          <a:p>
            <a:endParaRPr lang="en-US"/>
          </a:p>
        </p:txBody>
      </p:sp>
      <p:sp>
        <p:nvSpPr>
          <p:cNvPr id="14" name="Text 12"/>
          <p:cNvSpPr/>
          <p:nvPr/>
        </p:nvSpPr>
        <p:spPr>
          <a:xfrm>
            <a:off x="707136" y="4023360"/>
            <a:ext cx="3779520" cy="938784"/>
          </a:xfrm>
          <a:prstGeom prst="rect">
            <a:avLst/>
          </a:prstGeom>
          <a:noFill/>
          <a:ln/>
        </p:spPr>
        <p:txBody>
          <a:bodyPr wrap="square" lIns="0" tIns="0" rIns="0" bIns="0" rtlCol="0" anchor="ctr"/>
          <a:lstStyle/>
          <a:p>
            <a:r>
              <a:rPr lang="en-US" sz="1733" b="1" dirty="0">
                <a:solidFill>
                  <a:srgbClr val="DC2626"/>
                </a:solidFill>
                <a:latin typeface="Courier New" pitchFamily="34" charset="0"/>
                <a:ea typeface="Courier New" pitchFamily="34" charset="-122"/>
                <a:cs typeface="Courier New" pitchFamily="34" charset="-120"/>
              </a:rPr>
              <a:t>"error_max_budget_usd"</a:t>
            </a:r>
            <a:endParaRPr lang="en-US" sz="1733" dirty="0"/>
          </a:p>
        </p:txBody>
      </p:sp>
      <p:sp>
        <p:nvSpPr>
          <p:cNvPr id="15" name="Shape 13"/>
          <p:cNvSpPr/>
          <p:nvPr/>
        </p:nvSpPr>
        <p:spPr>
          <a:xfrm>
            <a:off x="4572000" y="4267200"/>
            <a:ext cx="877824" cy="438912"/>
          </a:xfrm>
          <a:prstGeom prst="roundRect">
            <a:avLst>
              <a:gd name="adj" fmla="val 27778"/>
            </a:avLst>
          </a:prstGeom>
          <a:solidFill>
            <a:srgbClr val="9CA3AF"/>
          </a:solidFill>
          <a:ln w="12700">
            <a:solidFill>
              <a:srgbClr val="9CA3AF"/>
            </a:solidFill>
            <a:prstDash val="solid"/>
          </a:ln>
        </p:spPr>
        <p:txBody>
          <a:bodyPr/>
          <a:lstStyle/>
          <a:p>
            <a:endParaRPr lang="en-US"/>
          </a:p>
        </p:txBody>
      </p:sp>
      <p:sp>
        <p:nvSpPr>
          <p:cNvPr id="16" name="Text 14"/>
          <p:cNvSpPr/>
          <p:nvPr/>
        </p:nvSpPr>
        <p:spPr>
          <a:xfrm>
            <a:off x="4572000" y="4267200"/>
            <a:ext cx="877824" cy="438912"/>
          </a:xfrm>
          <a:prstGeom prst="rect">
            <a:avLst/>
          </a:prstGeom>
          <a:noFill/>
          <a:ln/>
        </p:spPr>
        <p:txBody>
          <a:bodyPr wrap="square" lIns="0" tIns="0" rIns="0" bIns="0" rtlCol="0" anchor="ctr"/>
          <a:lstStyle/>
          <a:p>
            <a:pPr algn="ctr"/>
            <a:r>
              <a:rPr lang="en-US" sz="1267" b="1" dirty="0">
                <a:solidFill>
                  <a:srgbClr val="FFFFFF"/>
                </a:solidFill>
                <a:latin typeface="Calibri" pitchFamily="34" charset="0"/>
                <a:ea typeface="Calibri" pitchFamily="34" charset="-122"/>
                <a:cs typeface="Calibri" pitchFamily="34" charset="-120"/>
              </a:rPr>
              <a:t>.result ✗</a:t>
            </a:r>
            <a:endParaRPr lang="en-US" sz="1267" dirty="0"/>
          </a:p>
        </p:txBody>
      </p:sp>
      <p:sp>
        <p:nvSpPr>
          <p:cNvPr id="17" name="Text 15"/>
          <p:cNvSpPr/>
          <p:nvPr/>
        </p:nvSpPr>
        <p:spPr>
          <a:xfrm>
            <a:off x="5608320" y="4023360"/>
            <a:ext cx="5913120" cy="938784"/>
          </a:xfrm>
          <a:prstGeom prst="rect">
            <a:avLst/>
          </a:prstGeom>
          <a:noFill/>
          <a:ln/>
        </p:spPr>
        <p:txBody>
          <a:bodyPr wrap="square" lIns="0" tIns="0" rIns="0" bIns="0" rtlCol="0" anchor="ctr"/>
          <a:lstStyle/>
          <a:p>
            <a:r>
              <a:rPr lang="en-US" sz="1600" dirty="0">
                <a:solidFill>
                  <a:srgbClr val="2D4060"/>
                </a:solidFill>
                <a:latin typeface="Calibri" pitchFamily="34" charset="0"/>
                <a:ea typeface="Calibri" pitchFamily="34" charset="-122"/>
                <a:cs typeface="Calibri" pitchFamily="34" charset="-120"/>
              </a:rPr>
              <a:t>Hit the maxBudgetUsd ceiling. Partial work may have been done. Resume or raise cap.</a:t>
            </a:r>
            <a:endParaRPr lang="en-US" sz="1600" dirty="0"/>
          </a:p>
        </p:txBody>
      </p:sp>
      <p:sp>
        <p:nvSpPr>
          <p:cNvPr id="18" name="Shape 16"/>
          <p:cNvSpPr/>
          <p:nvPr/>
        </p:nvSpPr>
        <p:spPr>
          <a:xfrm>
            <a:off x="487680" y="5242560"/>
            <a:ext cx="11216640" cy="1182624"/>
          </a:xfrm>
          <a:prstGeom prst="roundRect">
            <a:avLst>
              <a:gd name="adj" fmla="val 8247"/>
            </a:avLst>
          </a:prstGeom>
          <a:solidFill>
            <a:srgbClr val="F5F3FF"/>
          </a:solidFill>
          <a:ln w="12700">
            <a:solidFill>
              <a:srgbClr val="6B48C4"/>
            </a:solidFill>
            <a:prstDash val="solid"/>
          </a:ln>
        </p:spPr>
        <p:txBody>
          <a:bodyPr/>
          <a:lstStyle/>
          <a:p>
            <a:endParaRPr lang="en-US"/>
          </a:p>
        </p:txBody>
      </p:sp>
      <p:sp>
        <p:nvSpPr>
          <p:cNvPr id="19" name="Text 17"/>
          <p:cNvSpPr/>
          <p:nvPr/>
        </p:nvSpPr>
        <p:spPr>
          <a:xfrm>
            <a:off x="707136" y="5364480"/>
            <a:ext cx="3779520" cy="938784"/>
          </a:xfrm>
          <a:prstGeom prst="rect">
            <a:avLst/>
          </a:prstGeom>
          <a:noFill/>
          <a:ln/>
        </p:spPr>
        <p:txBody>
          <a:bodyPr wrap="square" lIns="0" tIns="0" rIns="0" bIns="0" rtlCol="0" anchor="ctr"/>
          <a:lstStyle/>
          <a:p>
            <a:r>
              <a:rPr lang="en-US" sz="1733" b="1" dirty="0">
                <a:solidFill>
                  <a:srgbClr val="6B48C4"/>
                </a:solidFill>
                <a:latin typeface="Courier New" pitchFamily="34" charset="0"/>
                <a:ea typeface="Courier New" pitchFamily="34" charset="-122"/>
                <a:cs typeface="Courier New" pitchFamily="34" charset="-120"/>
              </a:rPr>
              <a:t>"error_during_execution"</a:t>
            </a:r>
            <a:endParaRPr lang="en-US" sz="1733" dirty="0"/>
          </a:p>
        </p:txBody>
      </p:sp>
      <p:sp>
        <p:nvSpPr>
          <p:cNvPr id="20" name="Shape 18"/>
          <p:cNvSpPr/>
          <p:nvPr/>
        </p:nvSpPr>
        <p:spPr>
          <a:xfrm>
            <a:off x="4572000" y="5608320"/>
            <a:ext cx="877824" cy="438912"/>
          </a:xfrm>
          <a:prstGeom prst="roundRect">
            <a:avLst>
              <a:gd name="adj" fmla="val 27778"/>
            </a:avLst>
          </a:prstGeom>
          <a:solidFill>
            <a:srgbClr val="9CA3AF"/>
          </a:solidFill>
          <a:ln w="12700">
            <a:solidFill>
              <a:srgbClr val="9CA3AF"/>
            </a:solidFill>
            <a:prstDash val="solid"/>
          </a:ln>
        </p:spPr>
        <p:txBody>
          <a:bodyPr/>
          <a:lstStyle/>
          <a:p>
            <a:endParaRPr lang="en-US"/>
          </a:p>
        </p:txBody>
      </p:sp>
      <p:sp>
        <p:nvSpPr>
          <p:cNvPr id="21" name="Text 19"/>
          <p:cNvSpPr/>
          <p:nvPr/>
        </p:nvSpPr>
        <p:spPr>
          <a:xfrm>
            <a:off x="4572000" y="5608320"/>
            <a:ext cx="877824" cy="438912"/>
          </a:xfrm>
          <a:prstGeom prst="rect">
            <a:avLst/>
          </a:prstGeom>
          <a:noFill/>
          <a:ln/>
        </p:spPr>
        <p:txBody>
          <a:bodyPr wrap="square" lIns="0" tIns="0" rIns="0" bIns="0" rtlCol="0" anchor="ctr"/>
          <a:lstStyle/>
          <a:p>
            <a:pPr algn="ctr"/>
            <a:r>
              <a:rPr lang="en-US" sz="1267" b="1" dirty="0">
                <a:solidFill>
                  <a:srgbClr val="FFFFFF"/>
                </a:solidFill>
                <a:latin typeface="Calibri" pitchFamily="34" charset="0"/>
                <a:ea typeface="Calibri" pitchFamily="34" charset="-122"/>
                <a:cs typeface="Calibri" pitchFamily="34" charset="-120"/>
              </a:rPr>
              <a:t>.result ✗</a:t>
            </a:r>
            <a:endParaRPr lang="en-US" sz="1267" dirty="0"/>
          </a:p>
        </p:txBody>
      </p:sp>
      <p:sp>
        <p:nvSpPr>
          <p:cNvPr id="22" name="Text 20"/>
          <p:cNvSpPr/>
          <p:nvPr/>
        </p:nvSpPr>
        <p:spPr>
          <a:xfrm>
            <a:off x="5608320" y="5364480"/>
            <a:ext cx="5913120" cy="938784"/>
          </a:xfrm>
          <a:prstGeom prst="rect">
            <a:avLst/>
          </a:prstGeom>
          <a:noFill/>
          <a:ln/>
        </p:spPr>
        <p:txBody>
          <a:bodyPr wrap="square" lIns="0" tIns="0" rIns="0" bIns="0" rtlCol="0" anchor="ctr"/>
          <a:lstStyle/>
          <a:p>
            <a:r>
              <a:rPr lang="en-US" sz="1600" dirty="0">
                <a:solidFill>
                  <a:srgbClr val="2D4060"/>
                </a:solidFill>
                <a:latin typeface="Calibri" pitchFamily="34" charset="0"/>
                <a:ea typeface="Calibri" pitchFamily="34" charset="-122"/>
                <a:cs typeface="Calibri" pitchFamily="34" charset="-120"/>
              </a:rPr>
              <a:t>An error interrupted the loop (API failure, cancel). Retry or inspect logs.</a:t>
            </a:r>
            <a:endParaRPr lang="en-US" sz="1600" dirty="0"/>
          </a:p>
        </p:txBody>
      </p:sp>
      <p:sp>
        <p:nvSpPr>
          <p:cNvPr id="23" name="Text 21"/>
          <p:cNvSpPr/>
          <p:nvPr/>
        </p:nvSpPr>
        <p:spPr>
          <a:xfrm>
            <a:off x="487680" y="6656832"/>
            <a:ext cx="11216640" cy="365760"/>
          </a:xfrm>
          <a:prstGeom prst="rect">
            <a:avLst/>
          </a:prstGeom>
          <a:noFill/>
          <a:ln/>
        </p:spPr>
        <p:txBody>
          <a:bodyPr wrap="square" lIns="0" tIns="0" rIns="0" bIns="0" rtlCol="0" anchor="ctr"/>
          <a:lstStyle/>
          <a:p>
            <a:pPr algn="ctr"/>
            <a:r>
              <a:rPr lang="en-US" sz="1333" i="1" dirty="0">
                <a:solidFill>
                  <a:srgbClr val="6B82A0"/>
                </a:solidFill>
                <a:latin typeface="Calibri" pitchFamily="34" charset="0"/>
                <a:ea typeface="Calibri" pitchFamily="34" charset="-122"/>
                <a:cs typeface="Calibri" pitchFamily="34" charset="-120"/>
              </a:rPr>
              <a:t>All subtypes carry: total_cost_usd  ·  num_turns  ·  session_id — even on error paths</a:t>
            </a:r>
            <a:endParaRPr lang="en-US" sz="1333"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p:cNvGrpSpPr/>
        <p:nvPr/>
      </p:nvGrpSpPr>
      <p:grpSpPr>
        <a:xfrm>
          <a:off x="0" y="0"/>
          <a:ext cx="0" cy="0"/>
          <a:chOff x="0" y="0"/>
          <a:chExt cx="0" cy="0"/>
        </a:xfrm>
      </p:grpSpPr>
      <p:sp>
        <p:nvSpPr>
          <p:cNvPr id="2" name="Text 0"/>
          <p:cNvSpPr/>
          <p:nvPr/>
        </p:nvSpPr>
        <p:spPr>
          <a:xfrm>
            <a:off x="853440" y="487680"/>
            <a:ext cx="10363200" cy="914400"/>
          </a:xfrm>
          <a:prstGeom prst="rect">
            <a:avLst/>
          </a:prstGeom>
          <a:noFill/>
          <a:ln/>
        </p:spPr>
        <p:txBody>
          <a:bodyPr wrap="square" lIns="0" tIns="0" rIns="0" bIns="0" rtlCol="0" anchor="ctr"/>
          <a:lstStyle/>
          <a:p>
            <a:r>
              <a:rPr lang="en-US" sz="5067" b="1" dirty="0">
                <a:solidFill>
                  <a:srgbClr val="FFFFFF"/>
                </a:solidFill>
                <a:latin typeface="Calibri" pitchFamily="34" charset="0"/>
                <a:ea typeface="Calibri" pitchFamily="34" charset="-122"/>
                <a:cs typeface="Calibri" pitchFamily="34" charset="-120"/>
              </a:rPr>
              <a:t>Key Takeaways</a:t>
            </a:r>
            <a:endParaRPr lang="en-US" sz="5067" dirty="0"/>
          </a:p>
        </p:txBody>
      </p:sp>
      <p:sp>
        <p:nvSpPr>
          <p:cNvPr id="3" name="Shape 1"/>
          <p:cNvSpPr/>
          <p:nvPr/>
        </p:nvSpPr>
        <p:spPr>
          <a:xfrm>
            <a:off x="609600" y="1719072"/>
            <a:ext cx="463296" cy="463296"/>
          </a:xfrm>
          <a:prstGeom prst="ellipse">
            <a:avLst/>
          </a:prstGeom>
          <a:solidFill>
            <a:srgbClr val="00B4A0"/>
          </a:solidFill>
          <a:ln w="12700">
            <a:solidFill>
              <a:srgbClr val="00B4A0"/>
            </a:solidFill>
            <a:prstDash val="solid"/>
          </a:ln>
        </p:spPr>
        <p:txBody>
          <a:bodyPr/>
          <a:lstStyle/>
          <a:p>
            <a:endParaRPr lang="en-US"/>
          </a:p>
        </p:txBody>
      </p:sp>
      <p:sp>
        <p:nvSpPr>
          <p:cNvPr id="4" name="Text 2"/>
          <p:cNvSpPr/>
          <p:nvPr/>
        </p:nvSpPr>
        <p:spPr>
          <a:xfrm>
            <a:off x="609600" y="1719072"/>
            <a:ext cx="463296" cy="463296"/>
          </a:xfrm>
          <a:prstGeom prst="rect">
            <a:avLst/>
          </a:prstGeom>
          <a:noFill/>
          <a:ln/>
        </p:spPr>
        <p:txBody>
          <a:bodyPr wrap="square" lIns="0" tIns="0" rIns="0" bIns="0" rtlCol="0" anchor="ctr"/>
          <a:lstStyle/>
          <a:p>
            <a:pPr algn="ct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5" name="Text 3"/>
          <p:cNvSpPr/>
          <p:nvPr/>
        </p:nvSpPr>
        <p:spPr>
          <a:xfrm>
            <a:off x="1280160" y="1645920"/>
            <a:ext cx="10424160" cy="707136"/>
          </a:xfrm>
          <a:prstGeom prst="rect">
            <a:avLst/>
          </a:prstGeom>
          <a:noFill/>
          <a:ln/>
        </p:spPr>
        <p:txBody>
          <a:bodyPr wrap="square" lIns="0" tIns="0" rIns="0" bIns="0" rtlCol="0" anchor="ctr"/>
          <a:lstStyle/>
          <a:p>
            <a:r>
              <a:rPr lang="en-US" dirty="0">
                <a:solidFill>
                  <a:srgbClr val="C8D8F0"/>
                </a:solidFill>
                <a:latin typeface="Calibri" pitchFamily="34" charset="0"/>
                <a:ea typeface="Calibri" pitchFamily="34" charset="-122"/>
                <a:cs typeface="Calibri" pitchFamily="34" charset="-120"/>
              </a:rPr>
              <a:t>query() runs the same loop as the CLI — same tools, hooks, and CLAUDE.md, driven by your code</a:t>
            </a:r>
            <a:endParaRPr lang="en-US" dirty="0"/>
          </a:p>
        </p:txBody>
      </p:sp>
      <p:sp>
        <p:nvSpPr>
          <p:cNvPr id="6" name="Shape 4"/>
          <p:cNvSpPr/>
          <p:nvPr/>
        </p:nvSpPr>
        <p:spPr>
          <a:xfrm>
            <a:off x="609600" y="2548128"/>
            <a:ext cx="463296" cy="463296"/>
          </a:xfrm>
          <a:prstGeom prst="ellipse">
            <a:avLst/>
          </a:prstGeom>
          <a:solidFill>
            <a:srgbClr val="00B4A0"/>
          </a:solidFill>
          <a:ln w="12700">
            <a:solidFill>
              <a:srgbClr val="00B4A0"/>
            </a:solidFill>
            <a:prstDash val="solid"/>
          </a:ln>
        </p:spPr>
        <p:txBody>
          <a:bodyPr/>
          <a:lstStyle/>
          <a:p>
            <a:endParaRPr lang="en-US"/>
          </a:p>
        </p:txBody>
      </p:sp>
      <p:sp>
        <p:nvSpPr>
          <p:cNvPr id="7" name="Text 5"/>
          <p:cNvSpPr/>
          <p:nvPr/>
        </p:nvSpPr>
        <p:spPr>
          <a:xfrm>
            <a:off x="609600" y="2548128"/>
            <a:ext cx="463296" cy="463296"/>
          </a:xfrm>
          <a:prstGeom prst="rect">
            <a:avLst/>
          </a:prstGeom>
          <a:noFill/>
          <a:ln/>
        </p:spPr>
        <p:txBody>
          <a:bodyPr wrap="square" lIns="0" tIns="0" rIns="0" bIns="0" rtlCol="0" anchor="ctr"/>
          <a:lstStyle/>
          <a:p>
            <a:pPr algn="ct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8" name="Text 6"/>
          <p:cNvSpPr/>
          <p:nvPr/>
        </p:nvSpPr>
        <p:spPr>
          <a:xfrm>
            <a:off x="1280160" y="2474976"/>
            <a:ext cx="10424160" cy="707136"/>
          </a:xfrm>
          <a:prstGeom prst="rect">
            <a:avLst/>
          </a:prstGeom>
          <a:noFill/>
          <a:ln/>
        </p:spPr>
        <p:txBody>
          <a:bodyPr wrap="square" lIns="0" tIns="0" rIns="0" bIns="0" rtlCol="0" anchor="ctr"/>
          <a:lstStyle/>
          <a:p>
            <a:r>
              <a:rPr lang="en-US" dirty="0">
                <a:solidFill>
                  <a:srgbClr val="C8D8F0"/>
                </a:solidFill>
                <a:latin typeface="Calibri" pitchFamily="34" charset="0"/>
                <a:ea typeface="Calibri" pitchFamily="34" charset="-122"/>
                <a:cs typeface="Calibri" pitchFamily="34" charset="-120"/>
              </a:rPr>
              <a:t>Always set max_budget_usd in production — no cap means no ceiling on spend</a:t>
            </a:r>
            <a:endParaRPr lang="en-US" dirty="0"/>
          </a:p>
        </p:txBody>
      </p:sp>
      <p:sp>
        <p:nvSpPr>
          <p:cNvPr id="9" name="Shape 7"/>
          <p:cNvSpPr/>
          <p:nvPr/>
        </p:nvSpPr>
        <p:spPr>
          <a:xfrm>
            <a:off x="609600" y="3377184"/>
            <a:ext cx="463296" cy="463296"/>
          </a:xfrm>
          <a:prstGeom prst="ellipse">
            <a:avLst/>
          </a:prstGeom>
          <a:solidFill>
            <a:srgbClr val="00B4A0"/>
          </a:solidFill>
          <a:ln w="12700">
            <a:solidFill>
              <a:srgbClr val="00B4A0"/>
            </a:solidFill>
            <a:prstDash val="solid"/>
          </a:ln>
        </p:spPr>
        <p:txBody>
          <a:bodyPr/>
          <a:lstStyle/>
          <a:p>
            <a:endParaRPr lang="en-US"/>
          </a:p>
        </p:txBody>
      </p:sp>
      <p:sp>
        <p:nvSpPr>
          <p:cNvPr id="10" name="Text 8"/>
          <p:cNvSpPr/>
          <p:nvPr/>
        </p:nvSpPr>
        <p:spPr>
          <a:xfrm>
            <a:off x="609600" y="3377184"/>
            <a:ext cx="463296" cy="463296"/>
          </a:xfrm>
          <a:prstGeom prst="rect">
            <a:avLst/>
          </a:prstGeom>
          <a:noFill/>
          <a:ln/>
        </p:spPr>
        <p:txBody>
          <a:bodyPr wrap="square" lIns="0" tIns="0" rIns="0" bIns="0" rtlCol="0" anchor="ctr"/>
          <a:lstStyle/>
          <a:p>
            <a:pPr algn="ct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1" name="Text 9"/>
          <p:cNvSpPr/>
          <p:nvPr/>
        </p:nvSpPr>
        <p:spPr>
          <a:xfrm>
            <a:off x="1280160" y="3304032"/>
            <a:ext cx="10424160" cy="707136"/>
          </a:xfrm>
          <a:prstGeom prst="rect">
            <a:avLst/>
          </a:prstGeom>
          <a:noFill/>
          <a:ln/>
        </p:spPr>
        <p:txBody>
          <a:bodyPr wrap="square" lIns="0" tIns="0" rIns="0" bIns="0" rtlCol="0" anchor="ctr"/>
          <a:lstStyle/>
          <a:p>
            <a:r>
              <a:rPr lang="en-US" dirty="0">
                <a:solidFill>
                  <a:srgbClr val="C8D8F0"/>
                </a:solidFill>
                <a:latin typeface="Calibri" pitchFamily="34" charset="0"/>
                <a:ea typeface="Calibri" pitchFamily="34" charset="-122"/>
                <a:cs typeface="Calibri" pitchFamily="34" charset="-120"/>
              </a:rPr>
              <a:t>effort="high" enables extended thinking — powerful for complex tasks, burns context fast</a:t>
            </a:r>
            <a:endParaRPr lang="en-US" dirty="0"/>
          </a:p>
        </p:txBody>
      </p:sp>
      <p:sp>
        <p:nvSpPr>
          <p:cNvPr id="12" name="Shape 10"/>
          <p:cNvSpPr/>
          <p:nvPr/>
        </p:nvSpPr>
        <p:spPr>
          <a:xfrm>
            <a:off x="609600" y="4206240"/>
            <a:ext cx="463296" cy="463296"/>
          </a:xfrm>
          <a:prstGeom prst="ellipse">
            <a:avLst/>
          </a:prstGeom>
          <a:solidFill>
            <a:srgbClr val="00B4A0"/>
          </a:solidFill>
          <a:ln w="12700">
            <a:solidFill>
              <a:srgbClr val="00B4A0"/>
            </a:solidFill>
            <a:prstDash val="solid"/>
          </a:ln>
        </p:spPr>
        <p:txBody>
          <a:bodyPr/>
          <a:lstStyle/>
          <a:p>
            <a:endParaRPr lang="en-US"/>
          </a:p>
        </p:txBody>
      </p:sp>
      <p:sp>
        <p:nvSpPr>
          <p:cNvPr id="13" name="Text 11"/>
          <p:cNvSpPr/>
          <p:nvPr/>
        </p:nvSpPr>
        <p:spPr>
          <a:xfrm>
            <a:off x="609600" y="4206240"/>
            <a:ext cx="463296" cy="463296"/>
          </a:xfrm>
          <a:prstGeom prst="rect">
            <a:avLst/>
          </a:prstGeom>
          <a:noFill/>
          <a:ln/>
        </p:spPr>
        <p:txBody>
          <a:bodyPr wrap="square" lIns="0" tIns="0" rIns="0" bIns="0" rtlCol="0" anchor="ctr"/>
          <a:lstStyle/>
          <a:p>
            <a:pPr algn="ct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4" name="Text 12"/>
          <p:cNvSpPr/>
          <p:nvPr/>
        </p:nvSpPr>
        <p:spPr>
          <a:xfrm>
            <a:off x="1280160" y="4133088"/>
            <a:ext cx="10424160" cy="707136"/>
          </a:xfrm>
          <a:prstGeom prst="rect">
            <a:avLst/>
          </a:prstGeom>
          <a:noFill/>
          <a:ln/>
        </p:spPr>
        <p:txBody>
          <a:bodyPr wrap="square" lIns="0" tIns="0" rIns="0" bIns="0" rtlCol="0" anchor="ctr"/>
          <a:lstStyle/>
          <a:p>
            <a:r>
              <a:rPr lang="en-US" dirty="0">
                <a:solidFill>
                  <a:srgbClr val="C8D8F0"/>
                </a:solidFill>
                <a:latin typeface="Calibri" pitchFamily="34" charset="0"/>
                <a:ea typeface="Calibri" pitchFamily="34" charset="-122"/>
                <a:cs typeface="Calibri" pitchFamily="34" charset="-120"/>
              </a:rPr>
              <a:t>session_id on every ResultMessage — resume partial runs without restarting from zero</a:t>
            </a:r>
            <a:endParaRPr lang="en-US" dirty="0"/>
          </a:p>
        </p:txBody>
      </p:sp>
      <p:sp>
        <p:nvSpPr>
          <p:cNvPr id="15" name="Shape 13"/>
          <p:cNvSpPr/>
          <p:nvPr/>
        </p:nvSpPr>
        <p:spPr>
          <a:xfrm>
            <a:off x="609600" y="5035296"/>
            <a:ext cx="463296" cy="463296"/>
          </a:xfrm>
          <a:prstGeom prst="ellipse">
            <a:avLst/>
          </a:prstGeom>
          <a:solidFill>
            <a:srgbClr val="00B4A0"/>
          </a:solidFill>
          <a:ln w="12700">
            <a:solidFill>
              <a:srgbClr val="00B4A0"/>
            </a:solidFill>
            <a:prstDash val="solid"/>
          </a:ln>
        </p:spPr>
        <p:txBody>
          <a:bodyPr/>
          <a:lstStyle/>
          <a:p>
            <a:endParaRPr lang="en-US"/>
          </a:p>
        </p:txBody>
      </p:sp>
      <p:sp>
        <p:nvSpPr>
          <p:cNvPr id="16" name="Text 14"/>
          <p:cNvSpPr/>
          <p:nvPr/>
        </p:nvSpPr>
        <p:spPr>
          <a:xfrm>
            <a:off x="609600" y="5035296"/>
            <a:ext cx="463296" cy="463296"/>
          </a:xfrm>
          <a:prstGeom prst="rect">
            <a:avLst/>
          </a:prstGeom>
          <a:noFill/>
          <a:ln/>
        </p:spPr>
        <p:txBody>
          <a:bodyPr wrap="square" lIns="0" tIns="0" rIns="0" bIns="0" rtlCol="0" anchor="ctr"/>
          <a:lstStyle/>
          <a:p>
            <a:pPr algn="ct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7" name="Text 15"/>
          <p:cNvSpPr/>
          <p:nvPr/>
        </p:nvSpPr>
        <p:spPr>
          <a:xfrm>
            <a:off x="1280160" y="4962144"/>
            <a:ext cx="10424160" cy="707136"/>
          </a:xfrm>
          <a:prstGeom prst="rect">
            <a:avLst/>
          </a:prstGeom>
          <a:noFill/>
          <a:ln/>
        </p:spPr>
        <p:txBody>
          <a:bodyPr wrap="square" lIns="0" tIns="0" rIns="0" bIns="0" rtlCol="0" anchor="ctr"/>
          <a:lstStyle/>
          <a:p>
            <a:r>
              <a:rPr lang="en-US" dirty="0">
                <a:solidFill>
                  <a:srgbClr val="C8D8F0"/>
                </a:solidFill>
                <a:latin typeface="Calibri" pitchFamily="34" charset="0"/>
                <a:ea typeface="Calibri" pitchFamily="34" charset="-122"/>
                <a:cs typeface="Calibri" pitchFamily="34" charset="-120"/>
              </a:rPr>
              <a:t>setting_sources=["project"] loads CLAUDE.md, skills, and hooks — full project context</a:t>
            </a:r>
            <a:endParaRPr lang="en-US" dirty="0"/>
          </a:p>
        </p:txBody>
      </p:sp>
      <p:sp>
        <p:nvSpPr>
          <p:cNvPr id="18" name="Shape 16"/>
          <p:cNvSpPr/>
          <p:nvPr/>
        </p:nvSpPr>
        <p:spPr>
          <a:xfrm>
            <a:off x="609600" y="5864352"/>
            <a:ext cx="463296" cy="463296"/>
          </a:xfrm>
          <a:prstGeom prst="ellipse">
            <a:avLst/>
          </a:prstGeom>
          <a:solidFill>
            <a:srgbClr val="00B4A0"/>
          </a:solidFill>
          <a:ln w="12700">
            <a:solidFill>
              <a:srgbClr val="00B4A0"/>
            </a:solidFill>
            <a:prstDash val="solid"/>
          </a:ln>
        </p:spPr>
        <p:txBody>
          <a:bodyPr/>
          <a:lstStyle/>
          <a:p>
            <a:endParaRPr lang="en-US"/>
          </a:p>
        </p:txBody>
      </p:sp>
      <p:sp>
        <p:nvSpPr>
          <p:cNvPr id="19" name="Text 17"/>
          <p:cNvSpPr/>
          <p:nvPr/>
        </p:nvSpPr>
        <p:spPr>
          <a:xfrm>
            <a:off x="609600" y="5864352"/>
            <a:ext cx="463296" cy="463296"/>
          </a:xfrm>
          <a:prstGeom prst="rect">
            <a:avLst/>
          </a:prstGeom>
          <a:noFill/>
          <a:ln/>
        </p:spPr>
        <p:txBody>
          <a:bodyPr wrap="square" lIns="0" tIns="0" rIns="0" bIns="0" rtlCol="0" anchor="ctr"/>
          <a:lstStyle/>
          <a:p>
            <a:pPr algn="ct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0" name="Text 18"/>
          <p:cNvSpPr/>
          <p:nvPr/>
        </p:nvSpPr>
        <p:spPr>
          <a:xfrm>
            <a:off x="1280160" y="5791200"/>
            <a:ext cx="10424160" cy="707136"/>
          </a:xfrm>
          <a:prstGeom prst="rect">
            <a:avLst/>
          </a:prstGeom>
          <a:noFill/>
          <a:ln/>
        </p:spPr>
        <p:txBody>
          <a:bodyPr wrap="square" lIns="0" tIns="0" rIns="0" bIns="0" rtlCol="0" anchor="ctr"/>
          <a:lstStyle/>
          <a:p>
            <a:r>
              <a:rPr lang="en-US" dirty="0">
                <a:solidFill>
                  <a:srgbClr val="C8D8F0"/>
                </a:solidFill>
                <a:latin typeface="Calibri" pitchFamily="34" charset="0"/>
                <a:ea typeface="Calibri" pitchFamily="34" charset="-122"/>
                <a:cs typeface="Calibri" pitchFamily="34" charset="-120"/>
              </a:rPr>
              <a:t>Use subagents for subtasks — each gets fresh context; only a compact summary returns</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2158</TotalTime>
  <Words>12511</Words>
  <Application>Microsoft Office PowerPoint</Application>
  <PresentationFormat>Widescreen</PresentationFormat>
  <Paragraphs>1045</Paragraphs>
  <Slides>49</Slides>
  <Notes>29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49</vt:i4>
      </vt:variant>
    </vt:vector>
  </HeadingPairs>
  <TitlesOfParts>
    <vt:vector size="59" baseType="lpstr">
      <vt:lpstr>Anthropic Sans</vt:lpstr>
      <vt:lpstr>Arial</vt:lpstr>
      <vt:lpstr>Calibri</vt:lpstr>
      <vt:lpstr>Cambria</vt:lpstr>
      <vt:lpstr>Cambrian</vt:lpstr>
      <vt:lpstr>Courier New</vt:lpstr>
      <vt:lpstr>Lora</vt:lpstr>
      <vt:lpstr>Poppins</vt:lpstr>
      <vt:lpstr>ui-monospace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Code in Use</dc:title>
  <dc:subject>PptxGenJS Presentation</dc:subject>
  <dc:creator>Claude</dc:creator>
  <cp:lastModifiedBy>Dmitry Lukyanov</cp:lastModifiedBy>
  <cp:revision>8</cp:revision>
  <dcterms:created xsi:type="dcterms:W3CDTF">2026-07-01T18:48:56Z</dcterms:created>
  <dcterms:modified xsi:type="dcterms:W3CDTF">2026-07-07T21:01:12Z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9f76668-480c-456f-a974-d9c5df8d304f_Enabled">
    <vt:lpwstr>true</vt:lpwstr>
  </property>
  <property fmtid="{D5CDD505-2E9C-101B-9397-08002B2CF9AE}" pid="3" name="MSIP_Label_69f76668-480c-456f-a974-d9c5df8d304f_SetDate">
    <vt:lpwstr>2026-07-01T18:52:03Z</vt:lpwstr>
  </property>
  <property fmtid="{D5CDD505-2E9C-101B-9397-08002B2CF9AE}" pid="4" name="MSIP_Label_69f76668-480c-456f-a974-d9c5df8d304f_Method">
    <vt:lpwstr>Privileged</vt:lpwstr>
  </property>
  <property fmtid="{D5CDD505-2E9C-101B-9397-08002B2CF9AE}" pid="5" name="MSIP_Label_69f76668-480c-456f-a974-d9c5df8d304f_Name">
    <vt:lpwstr>Public</vt:lpwstr>
  </property>
  <property fmtid="{D5CDD505-2E9C-101B-9397-08002B2CF9AE}" pid="6" name="MSIP_Label_69f76668-480c-456f-a974-d9c5df8d304f_SiteId">
    <vt:lpwstr>13f4a58e-593f-4cb8-b6d2-e7522c242a94</vt:lpwstr>
  </property>
  <property fmtid="{D5CDD505-2E9C-101B-9397-08002B2CF9AE}" pid="7" name="MSIP_Label_69f76668-480c-456f-a974-d9c5df8d304f_ActionId">
    <vt:lpwstr>09313402-bbd0-45d6-bc16-9f524626d6ee</vt:lpwstr>
  </property>
  <property fmtid="{D5CDD505-2E9C-101B-9397-08002B2CF9AE}" pid="8" name="MSIP_Label_69f76668-480c-456f-a974-d9c5df8d304f_ContentBits">
    <vt:lpwstr>0</vt:lpwstr>
  </property>
  <property fmtid="{D5CDD505-2E9C-101B-9397-08002B2CF9AE}" pid="9" name="MSIP_Label_69f76668-480c-456f-a974-d9c5df8d304f_Tag">
    <vt:lpwstr>10, 0, 1, 1</vt:lpwstr>
  </property>
</Properties>
</file>